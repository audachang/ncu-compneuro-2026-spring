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79.jpg" ContentType="image/jpeg"/>
  <Override PartName="/ppt/media/image83.jpg" ContentType="image/jpeg"/>
  <Override PartName="/ppt/media/image86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6"/>
  </p:notesMasterIdLst>
  <p:sldIdLst>
    <p:sldId id="356" r:id="rId2"/>
    <p:sldId id="256" r:id="rId3"/>
    <p:sldId id="257" r:id="rId4"/>
    <p:sldId id="258" r:id="rId5"/>
    <p:sldId id="775" r:id="rId6"/>
    <p:sldId id="269" r:id="rId7"/>
    <p:sldId id="259" r:id="rId8"/>
    <p:sldId id="260" r:id="rId9"/>
    <p:sldId id="261" r:id="rId10"/>
    <p:sldId id="266" r:id="rId11"/>
    <p:sldId id="278" r:id="rId12"/>
    <p:sldId id="262" r:id="rId13"/>
    <p:sldId id="263" r:id="rId14"/>
    <p:sldId id="264" r:id="rId15"/>
    <p:sldId id="265" r:id="rId16"/>
    <p:sldId id="771" r:id="rId17"/>
    <p:sldId id="772" r:id="rId18"/>
    <p:sldId id="776" r:id="rId19"/>
    <p:sldId id="289" r:id="rId20"/>
    <p:sldId id="290" r:id="rId21"/>
    <p:sldId id="291" r:id="rId22"/>
    <p:sldId id="777" r:id="rId23"/>
    <p:sldId id="288" r:id="rId24"/>
    <p:sldId id="778" r:id="rId25"/>
    <p:sldId id="272" r:id="rId26"/>
    <p:sldId id="267" r:id="rId27"/>
    <p:sldId id="584" r:id="rId28"/>
    <p:sldId id="271" r:id="rId29"/>
    <p:sldId id="268" r:id="rId30"/>
    <p:sldId id="270" r:id="rId31"/>
    <p:sldId id="788" r:id="rId32"/>
    <p:sldId id="293" r:id="rId33"/>
    <p:sldId id="294" r:id="rId34"/>
    <p:sldId id="295" r:id="rId35"/>
    <p:sldId id="296" r:id="rId36"/>
    <p:sldId id="780" r:id="rId37"/>
    <p:sldId id="781" r:id="rId38"/>
    <p:sldId id="782" r:id="rId39"/>
    <p:sldId id="768" r:id="rId40"/>
    <p:sldId id="769" r:id="rId41"/>
    <p:sldId id="774" r:id="rId42"/>
    <p:sldId id="770" r:id="rId43"/>
    <p:sldId id="784" r:id="rId44"/>
    <p:sldId id="786" r:id="rId45"/>
  </p:sldIdLst>
  <p:sldSz cx="12192000" cy="6858000"/>
  <p:notesSz cx="7102475" cy="10233025"/>
  <p:custDataLst>
    <p:tags r:id="rId4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AD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963" autoAdjust="0"/>
  </p:normalViewPr>
  <p:slideViewPr>
    <p:cSldViewPr snapToGrid="0">
      <p:cViewPr>
        <p:scale>
          <a:sx n="84" d="100"/>
          <a:sy n="84" d="100"/>
        </p:scale>
        <p:origin x="44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4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DEF197A6-BE36-4D6D-BBE6-9633BE34F474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79F3A-03C4-4B1C-8AE5-8FD8BC8EDFEC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BFA6-A909-4E15-BD17-37683E4F3322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33676-1B6B-4BBE-8D4C-954E38BB0491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7526-C717-4892-B54A-A9E2325524B8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B1B73-38BC-436D-8EE6-E273345841B6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717CB-8512-4BB3-8685-CAA32E7FBC3C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30070-0EA1-4A0D-8F4A-D7975CE73EDC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61D9-77D5-4763-AC3C-234694E90E17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18C68-2AD3-4F03-96E0-FA5130A87C35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180E-6827-4A87-80C3-07C58CD3A140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9576-551E-420E-B928-DD4922C9618D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329A6EE-4D16-488F-9F14-27146B16CAB9}" type="datetime1">
              <a:rPr lang="en-US" altLang="zh-TW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sychopy.org/api/api.html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hyperlink" Target="https://discourse.psychopy.org/" TargetMode="External"/><Relationship Id="rId5" Type="http://schemas.openxmlformats.org/officeDocument/2006/relationships/hyperlink" Target="https://www.psychopy.org/PsychoPyManual.pdf" TargetMode="External"/><Relationship Id="rId10" Type="http://schemas.openxmlformats.org/officeDocument/2006/relationships/image" Target="../media/image18.jp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4.png"/><Relationship Id="rId7" Type="http://schemas.openxmlformats.org/officeDocument/2006/relationships/image" Target="../media/image7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68.png"/><Relationship Id="rId5" Type="http://schemas.openxmlformats.org/officeDocument/2006/relationships/image" Target="../media/image70.jpg"/><Relationship Id="rId10" Type="http://schemas.openxmlformats.org/officeDocument/2006/relationships/image" Target="../media/image67.png"/><Relationship Id="rId4" Type="http://schemas.openxmlformats.org/officeDocument/2006/relationships/image" Target="../media/image69.png"/><Relationship Id="rId9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2.png"/><Relationship Id="rId7" Type="http://schemas.openxmlformats.org/officeDocument/2006/relationships/image" Target="../media/image7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67.png"/><Relationship Id="rId10" Type="http://schemas.openxmlformats.org/officeDocument/2006/relationships/image" Target="../media/image78.png"/><Relationship Id="rId4" Type="http://schemas.openxmlformats.org/officeDocument/2006/relationships/image" Target="../media/image73.png"/><Relationship Id="rId9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gif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gif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gi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115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906317"/>
            <a:ext cx="9216167" cy="1232744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3200" dirty="0" err="1"/>
              <a:t>Psychopy</a:t>
            </a:r>
            <a:r>
              <a:rPr lang="en-US" altLang="zh-TW" sz="3200" dirty="0"/>
              <a:t> Objects</a:t>
            </a:r>
            <a:br>
              <a:rPr lang="en-US" altLang="zh-TW" sz="3200" dirty="0"/>
            </a:br>
            <a:r>
              <a:rPr lang="en-US" altLang="zh-TW" sz="3200" dirty="0"/>
              <a:t>Structure of an Experiment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3159" y="3300302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2025-03-20</a:t>
            </a:r>
          </a:p>
          <a:p>
            <a:r>
              <a:rPr lang="zh-TW" altLang="en-US" dirty="0"/>
              <a:t>講師：張智宏</a:t>
            </a:r>
            <a:endParaRPr lang="en-US" altLang="zh-TW" dirty="0"/>
          </a:p>
          <a:p>
            <a:r>
              <a:rPr lang="zh-TW" altLang="en-US" dirty="0"/>
              <a:t>教室</a:t>
            </a:r>
            <a:r>
              <a:rPr lang="en-US" altLang="zh-TW" dirty="0"/>
              <a:t>: S5-Ideabrain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174" y="2150175"/>
            <a:ext cx="5391149" cy="2285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0699" y="4800008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7674" y="4909148"/>
            <a:ext cx="5045868" cy="262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274" y="2161875"/>
            <a:ext cx="7511576" cy="4251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3998" y="2115665"/>
            <a:ext cx="1531802" cy="2101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228" y="3202110"/>
            <a:ext cx="1438054" cy="21014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746712" y="2239862"/>
            <a:ext cx="2603500" cy="1101090"/>
            <a:chOff x="2746712" y="2239862"/>
            <a:chExt cx="2603500" cy="1101090"/>
          </a:xfrm>
        </p:grpSpPr>
        <p:sp>
          <p:nvSpPr>
            <p:cNvPr id="7" name="object 7"/>
            <p:cNvSpPr/>
            <p:nvPr/>
          </p:nvSpPr>
          <p:spPr>
            <a:xfrm>
              <a:off x="2751475" y="2244625"/>
              <a:ext cx="2554605" cy="1074420"/>
            </a:xfrm>
            <a:custGeom>
              <a:avLst/>
              <a:gdLst/>
              <a:ahLst/>
              <a:cxnLst/>
              <a:rect l="l" t="t" r="r" b="b"/>
              <a:pathLst>
                <a:path w="2554604" h="1074420">
                  <a:moveTo>
                    <a:pt x="0" y="0"/>
                  </a:moveTo>
                  <a:lnTo>
                    <a:pt x="2554020" y="107434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99395" y="3304463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44" y="31261"/>
                  </a:moveTo>
                  <a:lnTo>
                    <a:pt x="0" y="29003"/>
                  </a:lnTo>
                  <a:lnTo>
                    <a:pt x="12200" y="0"/>
                  </a:lnTo>
                  <a:lnTo>
                    <a:pt x="45944" y="312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99395" y="3304463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9003"/>
                  </a:moveTo>
                  <a:lnTo>
                    <a:pt x="45944" y="31261"/>
                  </a:lnTo>
                  <a:lnTo>
                    <a:pt x="12200" y="0"/>
                  </a:lnTo>
                  <a:lnTo>
                    <a:pt x="0" y="2900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612237" y="3398387"/>
            <a:ext cx="4795520" cy="822325"/>
            <a:chOff x="2612237" y="3398387"/>
            <a:chExt cx="4795520" cy="822325"/>
          </a:xfrm>
        </p:grpSpPr>
        <p:sp>
          <p:nvSpPr>
            <p:cNvPr id="11" name="object 11"/>
            <p:cNvSpPr/>
            <p:nvPr/>
          </p:nvSpPr>
          <p:spPr>
            <a:xfrm>
              <a:off x="2616999" y="3403150"/>
              <a:ext cx="4743450" cy="797560"/>
            </a:xfrm>
            <a:custGeom>
              <a:avLst/>
              <a:gdLst/>
              <a:ahLst/>
              <a:cxnLst/>
              <a:rect l="l" t="t" r="r" b="b"/>
              <a:pathLst>
                <a:path w="4743450" h="797560">
                  <a:moveTo>
                    <a:pt x="0" y="0"/>
                  </a:moveTo>
                  <a:lnTo>
                    <a:pt x="4743340" y="79722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57732" y="418486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29"/>
                  </a:moveTo>
                  <a:lnTo>
                    <a:pt x="5215" y="0"/>
                  </a:lnTo>
                  <a:lnTo>
                    <a:pt x="45235" y="22679"/>
                  </a:lnTo>
                  <a:lnTo>
                    <a:pt x="0" y="31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57732" y="418486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1029"/>
                  </a:moveTo>
                  <a:lnTo>
                    <a:pt x="45235" y="22679"/>
                  </a:lnTo>
                  <a:lnTo>
                    <a:pt x="5215" y="0"/>
                  </a:lnTo>
                  <a:lnTo>
                    <a:pt x="0" y="310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5165" y="4772695"/>
            <a:ext cx="2026964" cy="13081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3896" y="4953670"/>
            <a:ext cx="1864692" cy="13081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0622" y="5134645"/>
            <a:ext cx="1753865" cy="1308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00899" y="3934695"/>
            <a:ext cx="1756395" cy="13081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93507" y="4115968"/>
            <a:ext cx="850428" cy="10492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9520187" y="3405103"/>
            <a:ext cx="737235" cy="406400"/>
            <a:chOff x="9520187" y="3405103"/>
            <a:chExt cx="737235" cy="406400"/>
          </a:xfrm>
        </p:grpSpPr>
        <p:sp>
          <p:nvSpPr>
            <p:cNvPr id="20" name="object 20"/>
            <p:cNvSpPr/>
            <p:nvPr/>
          </p:nvSpPr>
          <p:spPr>
            <a:xfrm>
              <a:off x="9562901" y="3430557"/>
              <a:ext cx="689610" cy="375920"/>
            </a:xfrm>
            <a:custGeom>
              <a:avLst/>
              <a:gdLst/>
              <a:ahLst/>
              <a:cxnLst/>
              <a:rect l="l" t="t" r="r" b="b"/>
              <a:pathLst>
                <a:path w="689609" h="375920">
                  <a:moveTo>
                    <a:pt x="689323" y="37584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524950" y="340986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30419" y="34505"/>
                  </a:moveTo>
                  <a:lnTo>
                    <a:pt x="0" y="0"/>
                  </a:lnTo>
                  <a:lnTo>
                    <a:pt x="45481" y="6879"/>
                  </a:lnTo>
                  <a:lnTo>
                    <a:pt x="30419" y="345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4950" y="340986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81" y="6879"/>
                  </a:moveTo>
                  <a:lnTo>
                    <a:pt x="0" y="0"/>
                  </a:lnTo>
                  <a:lnTo>
                    <a:pt x="30419" y="34505"/>
                  </a:lnTo>
                  <a:lnTo>
                    <a:pt x="45481" y="687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標題 22">
            <a:extLst>
              <a:ext uri="{FF2B5EF4-FFF2-40B4-BE49-F238E27FC236}">
                <a16:creationId xmlns:a16="http://schemas.microsoft.com/office/drawing/2014/main" id="{328AC2A9-7E96-2559-3CE9-762D1BD2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Psychopy</a:t>
            </a:r>
            <a:r>
              <a:rPr lang="en-US" altLang="zh-TW" dirty="0"/>
              <a:t>: Coder &amp; Builder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4200091" cy="305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455" y="2114623"/>
            <a:ext cx="2818060" cy="2111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12465" y="2956842"/>
            <a:ext cx="76200" cy="31115"/>
          </a:xfrm>
          <a:custGeom>
            <a:avLst/>
            <a:gdLst/>
            <a:ahLst/>
            <a:cxnLst/>
            <a:rect l="l" t="t" r="r" b="b"/>
            <a:pathLst>
              <a:path w="76200" h="31114">
                <a:moveTo>
                  <a:pt x="71288" y="30658"/>
                </a:moveTo>
                <a:lnTo>
                  <a:pt x="4514" y="30658"/>
                </a:lnTo>
                <a:lnTo>
                  <a:pt x="2728" y="29517"/>
                </a:lnTo>
                <a:lnTo>
                  <a:pt x="545" y="24854"/>
                </a:lnTo>
                <a:lnTo>
                  <a:pt x="0" y="20835"/>
                </a:lnTo>
                <a:lnTo>
                  <a:pt x="0" y="9624"/>
                </a:lnTo>
                <a:lnTo>
                  <a:pt x="545" y="5704"/>
                </a:lnTo>
                <a:lnTo>
                  <a:pt x="2728" y="1140"/>
                </a:lnTo>
                <a:lnTo>
                  <a:pt x="4514" y="0"/>
                </a:lnTo>
                <a:lnTo>
                  <a:pt x="70098" y="0"/>
                </a:lnTo>
                <a:lnTo>
                  <a:pt x="75753" y="12402"/>
                </a:lnTo>
                <a:lnTo>
                  <a:pt x="75753" y="15180"/>
                </a:lnTo>
                <a:lnTo>
                  <a:pt x="75753" y="20935"/>
                </a:lnTo>
                <a:lnTo>
                  <a:pt x="75207" y="24953"/>
                </a:lnTo>
                <a:lnTo>
                  <a:pt x="73024" y="29517"/>
                </a:lnTo>
                <a:lnTo>
                  <a:pt x="71288" y="30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6584" y="2839714"/>
            <a:ext cx="2188368" cy="26119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91371" y="2828105"/>
            <a:ext cx="6057900" cy="273685"/>
            <a:chOff x="3891371" y="2828105"/>
            <a:chExt cx="6057900" cy="273685"/>
          </a:xfrm>
        </p:grpSpPr>
        <p:pic>
          <p:nvPicPr>
            <p:cNvPr id="7" name="object 7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4142" y="2828105"/>
              <a:ext cx="6034732" cy="2730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91371" y="3066694"/>
              <a:ext cx="6054725" cy="27940"/>
            </a:xfrm>
            <a:custGeom>
              <a:avLst/>
              <a:gdLst/>
              <a:ahLst/>
              <a:cxnLst/>
              <a:rect l="l" t="t" r="r" b="b"/>
              <a:pathLst>
                <a:path w="6054725" h="27939">
                  <a:moveTo>
                    <a:pt x="6054476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6054476" y="0"/>
                  </a:lnTo>
                  <a:lnTo>
                    <a:pt x="6054476" y="27431"/>
                  </a:lnTo>
                  <a:close/>
                </a:path>
              </a:pathLst>
            </a:custGeom>
            <a:solidFill>
              <a:srgbClr val="056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212465" y="3680741"/>
            <a:ext cx="76200" cy="31115"/>
          </a:xfrm>
          <a:custGeom>
            <a:avLst/>
            <a:gdLst/>
            <a:ahLst/>
            <a:cxnLst/>
            <a:rect l="l" t="t" r="r" b="b"/>
            <a:pathLst>
              <a:path w="76200" h="31114">
                <a:moveTo>
                  <a:pt x="71288" y="30658"/>
                </a:moveTo>
                <a:lnTo>
                  <a:pt x="4514" y="30658"/>
                </a:lnTo>
                <a:lnTo>
                  <a:pt x="2728" y="29517"/>
                </a:lnTo>
                <a:lnTo>
                  <a:pt x="545" y="24854"/>
                </a:lnTo>
                <a:lnTo>
                  <a:pt x="0" y="20835"/>
                </a:lnTo>
                <a:lnTo>
                  <a:pt x="0" y="9624"/>
                </a:lnTo>
                <a:lnTo>
                  <a:pt x="545" y="5705"/>
                </a:lnTo>
                <a:lnTo>
                  <a:pt x="2728" y="1140"/>
                </a:lnTo>
                <a:lnTo>
                  <a:pt x="4514" y="0"/>
                </a:lnTo>
                <a:lnTo>
                  <a:pt x="70098" y="0"/>
                </a:lnTo>
                <a:lnTo>
                  <a:pt x="75753" y="12402"/>
                </a:lnTo>
                <a:lnTo>
                  <a:pt x="75753" y="15180"/>
                </a:lnTo>
                <a:lnTo>
                  <a:pt x="75753" y="20935"/>
                </a:lnTo>
                <a:lnTo>
                  <a:pt x="75207" y="24953"/>
                </a:lnTo>
                <a:lnTo>
                  <a:pt x="73024" y="29517"/>
                </a:lnTo>
                <a:lnTo>
                  <a:pt x="71288" y="30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29278" y="3562423"/>
            <a:ext cx="2794290" cy="211782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411079" y="3552005"/>
            <a:ext cx="4984115" cy="273685"/>
            <a:chOff x="4411079" y="3552005"/>
            <a:chExt cx="4984115" cy="273685"/>
          </a:xfrm>
        </p:grpSpPr>
        <p:pic>
          <p:nvPicPr>
            <p:cNvPr id="12" name="object 12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3850" y="3552005"/>
              <a:ext cx="4938712" cy="2730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11079" y="3790594"/>
              <a:ext cx="4984115" cy="27940"/>
            </a:xfrm>
            <a:custGeom>
              <a:avLst/>
              <a:gdLst/>
              <a:ahLst/>
              <a:cxnLst/>
              <a:rect l="l" t="t" r="r" b="b"/>
              <a:pathLst>
                <a:path w="4984115" h="27939">
                  <a:moveTo>
                    <a:pt x="4984104" y="27432"/>
                  </a:moveTo>
                  <a:lnTo>
                    <a:pt x="0" y="27432"/>
                  </a:lnTo>
                  <a:lnTo>
                    <a:pt x="0" y="0"/>
                  </a:lnTo>
                  <a:lnTo>
                    <a:pt x="4984104" y="0"/>
                  </a:lnTo>
                  <a:lnTo>
                    <a:pt x="4984104" y="27432"/>
                  </a:lnTo>
                  <a:close/>
                </a:path>
              </a:pathLst>
            </a:custGeom>
            <a:solidFill>
              <a:srgbClr val="0563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671154" y="4047454"/>
            <a:ext cx="73025" cy="20955"/>
          </a:xfrm>
          <a:custGeom>
            <a:avLst/>
            <a:gdLst/>
            <a:ahLst/>
            <a:cxnLst/>
            <a:rect l="l" t="t" r="r" b="b"/>
            <a:pathLst>
              <a:path w="73025" h="20954">
                <a:moveTo>
                  <a:pt x="69254" y="20389"/>
                </a:moveTo>
                <a:lnTo>
                  <a:pt x="3571" y="20389"/>
                </a:lnTo>
                <a:lnTo>
                  <a:pt x="2232" y="19645"/>
                </a:lnTo>
                <a:lnTo>
                  <a:pt x="446" y="16569"/>
                </a:lnTo>
                <a:lnTo>
                  <a:pt x="0" y="13890"/>
                </a:lnTo>
                <a:lnTo>
                  <a:pt x="0" y="6350"/>
                </a:lnTo>
                <a:lnTo>
                  <a:pt x="446" y="3720"/>
                </a:lnTo>
                <a:lnTo>
                  <a:pt x="2232" y="744"/>
                </a:lnTo>
                <a:lnTo>
                  <a:pt x="3571" y="0"/>
                </a:lnTo>
                <a:lnTo>
                  <a:pt x="68361" y="0"/>
                </a:lnTo>
                <a:lnTo>
                  <a:pt x="72776" y="8235"/>
                </a:lnTo>
                <a:lnTo>
                  <a:pt x="72776" y="10120"/>
                </a:lnTo>
                <a:lnTo>
                  <a:pt x="72776" y="13989"/>
                </a:lnTo>
                <a:lnTo>
                  <a:pt x="72330" y="16668"/>
                </a:lnTo>
                <a:lnTo>
                  <a:pt x="70544" y="19645"/>
                </a:lnTo>
                <a:lnTo>
                  <a:pt x="69254" y="20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43462" y="4013312"/>
            <a:ext cx="4657724" cy="1209674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B7AB61A1-63C3-8197-D466-4002093D9252}"/>
              </a:ext>
            </a:extLst>
          </p:cNvPr>
          <p:cNvSpPr txBox="1"/>
          <p:nvPr/>
        </p:nvSpPr>
        <p:spPr>
          <a:xfrm>
            <a:off x="1224324" y="55238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Forum:  </a:t>
            </a:r>
            <a:r>
              <a:rPr lang="zh-TW" altLang="en-US" dirty="0">
                <a:hlinkClick r:id="rId11"/>
              </a:rPr>
              <a:t>https://discourse.psychopy.org/</a:t>
            </a:r>
            <a:r>
              <a:rPr lang="zh-TW" altLang="en-US" dirty="0"/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E8E8B8E-992A-F1B0-3164-00E12A42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Basic Structure of a </a:t>
            </a:r>
            <a:r>
              <a:rPr lang="en-US" altLang="zh-TW" dirty="0" err="1"/>
              <a:t>Psychopy</a:t>
            </a:r>
            <a:r>
              <a:rPr lang="en-US" altLang="zh-TW" dirty="0"/>
              <a:t> Code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8BB2EDA-E645-F795-B639-8357867CF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2" y="1484295"/>
            <a:ext cx="4632468" cy="4654766"/>
          </a:xfrm>
        </p:spPr>
        <p:txBody>
          <a:bodyPr/>
          <a:lstStyle/>
          <a:p>
            <a:r>
              <a:rPr lang="en-US" altLang="zh-TW" dirty="0"/>
              <a:t>Module Imports and Initialization</a:t>
            </a:r>
          </a:p>
          <a:p>
            <a:r>
              <a:rPr lang="en-US" altLang="zh-TW" dirty="0"/>
              <a:t>Window and Stimuli Setup</a:t>
            </a:r>
          </a:p>
          <a:p>
            <a:r>
              <a:rPr lang="en-US" altLang="zh-TW" dirty="0"/>
              <a:t>Trial Loop and Stimulus Presentation</a:t>
            </a:r>
          </a:p>
          <a:p>
            <a:r>
              <a:rPr lang="en-US" altLang="zh-TW" dirty="0"/>
              <a:t>Response Collection and Event Handling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DE154627-B144-D732-FFE5-D3AA055BA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2924" y="1564978"/>
            <a:ext cx="6792555" cy="4357886"/>
          </a:xfrm>
        </p:spPr>
      </p:pic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11CEB8F-058B-FE3B-D379-46E265E5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9EF483B-66FD-62A1-AA19-971C2146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91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標題 20">
            <a:extLst>
              <a:ext uri="{FF2B5EF4-FFF2-40B4-BE49-F238E27FC236}">
                <a16:creationId xmlns:a16="http://schemas.microsoft.com/office/drawing/2014/main" id="{6293BDDC-55F9-2253-5E97-66DF6F72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Import Libraries</a:t>
            </a:r>
            <a:endParaRPr lang="zh-TW" altLang="en-US" dirty="0"/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920658E2-260C-616D-A59F-C0627124A1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From </a:t>
            </a:r>
            <a:r>
              <a:rPr lang="en-US" altLang="zh-TW" dirty="0" err="1"/>
              <a:t>psychopy</a:t>
            </a:r>
            <a:r>
              <a:rPr lang="en-US" altLang="zh-TW" dirty="0"/>
              <a:t> import core, visual, event libraries to access essential functionality</a:t>
            </a:r>
          </a:p>
          <a:p>
            <a:pPr lvl="1"/>
            <a:r>
              <a:rPr lang="en-US" altLang="zh-TW" dirty="0"/>
              <a:t>Core module provides timing functions and control flow operations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3" name="內容版面配置區 22">
            <a:extLst>
              <a:ext uri="{FF2B5EF4-FFF2-40B4-BE49-F238E27FC236}">
                <a16:creationId xmlns:a16="http://schemas.microsoft.com/office/drawing/2014/main" id="{85AA3CE4-7288-71F8-B370-BE672AC9F8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Visual module contains classes for creating stimuli like text, shapes, and images</a:t>
            </a:r>
          </a:p>
          <a:p>
            <a:pPr lvl="1"/>
            <a:r>
              <a:rPr lang="en-US" altLang="zh-TW" dirty="0"/>
              <a:t>Event module allows recording of keyboard and mouse responses from participants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3611"/>
            <a:ext cx="2764432" cy="304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6206" y="2079186"/>
            <a:ext cx="3115071" cy="2729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7840" y="1842033"/>
            <a:ext cx="434975" cy="10541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Arial"/>
                <a:cs typeface="Arial"/>
              </a:rPr>
              <a:t>→</a:t>
            </a:r>
          </a:p>
          <a:p>
            <a:pPr marL="6604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→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99002" y="2194230"/>
            <a:ext cx="3885307" cy="1309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6206" y="2601572"/>
            <a:ext cx="2959397" cy="26506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6514" y="2708580"/>
            <a:ext cx="1179041" cy="1309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6482" y="3532654"/>
            <a:ext cx="6463754" cy="26149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398736" y="4057608"/>
            <a:ext cx="325120" cy="167640"/>
          </a:xfrm>
          <a:custGeom>
            <a:avLst/>
            <a:gdLst/>
            <a:ahLst/>
            <a:cxnLst/>
            <a:rect l="l" t="t" r="r" b="b"/>
            <a:pathLst>
              <a:path w="325119" h="167639">
                <a:moveTo>
                  <a:pt x="3522" y="167084"/>
                </a:moveTo>
                <a:lnTo>
                  <a:pt x="2629" y="167084"/>
                </a:lnTo>
                <a:lnTo>
                  <a:pt x="1885" y="166687"/>
                </a:lnTo>
                <a:lnTo>
                  <a:pt x="0" y="149869"/>
                </a:lnTo>
                <a:lnTo>
                  <a:pt x="198" y="145901"/>
                </a:lnTo>
                <a:lnTo>
                  <a:pt x="117822" y="83294"/>
                </a:lnTo>
                <a:lnTo>
                  <a:pt x="6498" y="29567"/>
                </a:lnTo>
                <a:lnTo>
                  <a:pt x="0" y="17809"/>
                </a:lnTo>
                <a:lnTo>
                  <a:pt x="49" y="6399"/>
                </a:lnTo>
                <a:lnTo>
                  <a:pt x="446" y="3026"/>
                </a:lnTo>
                <a:lnTo>
                  <a:pt x="793" y="1835"/>
                </a:lnTo>
                <a:lnTo>
                  <a:pt x="1885" y="347"/>
                </a:lnTo>
                <a:lnTo>
                  <a:pt x="2629" y="0"/>
                </a:lnTo>
                <a:lnTo>
                  <a:pt x="4514" y="198"/>
                </a:lnTo>
                <a:lnTo>
                  <a:pt x="5605" y="595"/>
                </a:lnTo>
                <a:lnTo>
                  <a:pt x="6796" y="1289"/>
                </a:lnTo>
                <a:lnTo>
                  <a:pt x="143718" y="70197"/>
                </a:lnTo>
                <a:lnTo>
                  <a:pt x="144809" y="70792"/>
                </a:lnTo>
                <a:lnTo>
                  <a:pt x="145752" y="72231"/>
                </a:lnTo>
                <a:lnTo>
                  <a:pt x="147339" y="76795"/>
                </a:lnTo>
                <a:lnTo>
                  <a:pt x="147736" y="79870"/>
                </a:lnTo>
                <a:lnTo>
                  <a:pt x="147736" y="85724"/>
                </a:lnTo>
                <a:lnTo>
                  <a:pt x="147587" y="87510"/>
                </a:lnTo>
                <a:lnTo>
                  <a:pt x="147290" y="89098"/>
                </a:lnTo>
                <a:lnTo>
                  <a:pt x="147091" y="90685"/>
                </a:lnTo>
                <a:lnTo>
                  <a:pt x="146794" y="92074"/>
                </a:lnTo>
                <a:lnTo>
                  <a:pt x="146397" y="93265"/>
                </a:lnTo>
                <a:lnTo>
                  <a:pt x="146099" y="94356"/>
                </a:lnTo>
                <a:lnTo>
                  <a:pt x="143123" y="97283"/>
                </a:lnTo>
                <a:lnTo>
                  <a:pt x="5605" y="166637"/>
                </a:lnTo>
                <a:lnTo>
                  <a:pt x="4514" y="166984"/>
                </a:lnTo>
                <a:lnTo>
                  <a:pt x="3522" y="167084"/>
                </a:lnTo>
                <a:close/>
              </a:path>
              <a:path w="325119" h="167639">
                <a:moveTo>
                  <a:pt x="180603" y="167084"/>
                </a:moveTo>
                <a:lnTo>
                  <a:pt x="179710" y="167084"/>
                </a:lnTo>
                <a:lnTo>
                  <a:pt x="178965" y="166687"/>
                </a:lnTo>
                <a:lnTo>
                  <a:pt x="177080" y="149869"/>
                </a:lnTo>
                <a:lnTo>
                  <a:pt x="177279" y="145901"/>
                </a:lnTo>
                <a:lnTo>
                  <a:pt x="294903" y="83294"/>
                </a:lnTo>
                <a:lnTo>
                  <a:pt x="183579" y="29567"/>
                </a:lnTo>
                <a:lnTo>
                  <a:pt x="177080" y="17809"/>
                </a:lnTo>
                <a:lnTo>
                  <a:pt x="177130" y="6399"/>
                </a:lnTo>
                <a:lnTo>
                  <a:pt x="177527" y="3026"/>
                </a:lnTo>
                <a:lnTo>
                  <a:pt x="177874" y="1835"/>
                </a:lnTo>
                <a:lnTo>
                  <a:pt x="178965" y="347"/>
                </a:lnTo>
                <a:lnTo>
                  <a:pt x="179710" y="0"/>
                </a:lnTo>
                <a:lnTo>
                  <a:pt x="181595" y="198"/>
                </a:lnTo>
                <a:lnTo>
                  <a:pt x="182686" y="595"/>
                </a:lnTo>
                <a:lnTo>
                  <a:pt x="183877" y="1289"/>
                </a:lnTo>
                <a:lnTo>
                  <a:pt x="320799" y="70197"/>
                </a:lnTo>
                <a:lnTo>
                  <a:pt x="321890" y="70792"/>
                </a:lnTo>
                <a:lnTo>
                  <a:pt x="322833" y="72231"/>
                </a:lnTo>
                <a:lnTo>
                  <a:pt x="324420" y="76795"/>
                </a:lnTo>
                <a:lnTo>
                  <a:pt x="324817" y="79870"/>
                </a:lnTo>
                <a:lnTo>
                  <a:pt x="324817" y="85724"/>
                </a:lnTo>
                <a:lnTo>
                  <a:pt x="324668" y="87510"/>
                </a:lnTo>
                <a:lnTo>
                  <a:pt x="324371" y="89098"/>
                </a:lnTo>
                <a:lnTo>
                  <a:pt x="324172" y="90685"/>
                </a:lnTo>
                <a:lnTo>
                  <a:pt x="323874" y="92074"/>
                </a:lnTo>
                <a:lnTo>
                  <a:pt x="323478" y="93265"/>
                </a:lnTo>
                <a:lnTo>
                  <a:pt x="323180" y="94356"/>
                </a:lnTo>
                <a:lnTo>
                  <a:pt x="320203" y="97283"/>
                </a:lnTo>
                <a:lnTo>
                  <a:pt x="182686" y="166637"/>
                </a:lnTo>
                <a:lnTo>
                  <a:pt x="181595" y="166984"/>
                </a:lnTo>
                <a:lnTo>
                  <a:pt x="180603" y="16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22067" y="3998027"/>
            <a:ext cx="671925" cy="24631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26522" y="3999217"/>
            <a:ext cx="1326685" cy="3050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62662" y="4010677"/>
            <a:ext cx="948559" cy="29363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18625" y="3999217"/>
            <a:ext cx="2590127" cy="292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50416" y="2051652"/>
            <a:ext cx="9484995" cy="309880"/>
            <a:chOff x="950416" y="2051652"/>
            <a:chExt cx="9484995" cy="3098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416" y="2056117"/>
              <a:ext cx="1396240" cy="3050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6732" y="2056266"/>
              <a:ext cx="2125923" cy="2457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1838" y="2051652"/>
              <a:ext cx="5903269" cy="30956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603" y="2439002"/>
            <a:ext cx="2918467" cy="3097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803" y="3465817"/>
            <a:ext cx="8041693" cy="3050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4193" y="3848703"/>
            <a:ext cx="3573742" cy="30956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59792" y="3353333"/>
            <a:ext cx="563245" cy="113728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60798" y="4220935"/>
            <a:ext cx="4685555" cy="265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50416" y="2051652"/>
            <a:ext cx="9888855" cy="309880"/>
            <a:chOff x="950416" y="2051652"/>
            <a:chExt cx="9888855" cy="3098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0416" y="2056117"/>
              <a:ext cx="1396240" cy="3050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6732" y="2056266"/>
              <a:ext cx="2230610" cy="2457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454" y="2051652"/>
              <a:ext cx="6187293" cy="30613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9603" y="2439002"/>
            <a:ext cx="4442751" cy="30971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59792" y="3353333"/>
            <a:ext cx="106045" cy="80010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800" dirty="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803" y="3465817"/>
            <a:ext cx="2915817" cy="3052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4193" y="3848703"/>
            <a:ext cx="3850473" cy="309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6206" y="1501785"/>
            <a:ext cx="278765" cy="143510"/>
          </a:xfrm>
          <a:custGeom>
            <a:avLst/>
            <a:gdLst/>
            <a:ahLst/>
            <a:cxnLst/>
            <a:rect l="l" t="t" r="r" b="b"/>
            <a:pathLst>
              <a:path w="278764" h="143510">
                <a:moveTo>
                  <a:pt x="3075" y="143271"/>
                </a:moveTo>
                <a:lnTo>
                  <a:pt x="2282" y="143271"/>
                </a:lnTo>
                <a:lnTo>
                  <a:pt x="1637" y="142924"/>
                </a:lnTo>
                <a:lnTo>
                  <a:pt x="0" y="128438"/>
                </a:lnTo>
                <a:lnTo>
                  <a:pt x="198" y="125065"/>
                </a:lnTo>
                <a:lnTo>
                  <a:pt x="5010" y="118566"/>
                </a:lnTo>
                <a:lnTo>
                  <a:pt x="101004" y="71387"/>
                </a:lnTo>
                <a:lnTo>
                  <a:pt x="5605" y="25399"/>
                </a:lnTo>
                <a:lnTo>
                  <a:pt x="4316" y="24804"/>
                </a:lnTo>
                <a:lnTo>
                  <a:pt x="3274" y="24258"/>
                </a:lnTo>
                <a:lnTo>
                  <a:pt x="0" y="15279"/>
                </a:lnTo>
                <a:lnTo>
                  <a:pt x="49" y="5506"/>
                </a:lnTo>
                <a:lnTo>
                  <a:pt x="446" y="2629"/>
                </a:lnTo>
                <a:lnTo>
                  <a:pt x="744" y="1587"/>
                </a:lnTo>
                <a:lnTo>
                  <a:pt x="1637" y="297"/>
                </a:lnTo>
                <a:lnTo>
                  <a:pt x="2282" y="0"/>
                </a:lnTo>
                <a:lnTo>
                  <a:pt x="3869" y="198"/>
                </a:lnTo>
                <a:lnTo>
                  <a:pt x="4812" y="545"/>
                </a:lnTo>
                <a:lnTo>
                  <a:pt x="5903" y="1141"/>
                </a:lnTo>
                <a:lnTo>
                  <a:pt x="124172" y="60721"/>
                </a:lnTo>
                <a:lnTo>
                  <a:pt x="124966" y="61962"/>
                </a:lnTo>
                <a:lnTo>
                  <a:pt x="125561" y="63946"/>
                </a:lnTo>
                <a:lnTo>
                  <a:pt x="126255" y="65831"/>
                </a:lnTo>
                <a:lnTo>
                  <a:pt x="126603" y="68460"/>
                </a:lnTo>
                <a:lnTo>
                  <a:pt x="126503" y="75058"/>
                </a:lnTo>
                <a:lnTo>
                  <a:pt x="126107" y="77737"/>
                </a:lnTo>
                <a:lnTo>
                  <a:pt x="5903" y="142378"/>
                </a:lnTo>
                <a:lnTo>
                  <a:pt x="3869" y="143172"/>
                </a:lnTo>
                <a:lnTo>
                  <a:pt x="3075" y="143271"/>
                </a:lnTo>
                <a:close/>
              </a:path>
              <a:path w="278764" h="143510">
                <a:moveTo>
                  <a:pt x="154880" y="143271"/>
                </a:moveTo>
                <a:lnTo>
                  <a:pt x="154086" y="143271"/>
                </a:lnTo>
                <a:lnTo>
                  <a:pt x="153441" y="142924"/>
                </a:lnTo>
                <a:lnTo>
                  <a:pt x="151804" y="128438"/>
                </a:lnTo>
                <a:lnTo>
                  <a:pt x="152003" y="125065"/>
                </a:lnTo>
                <a:lnTo>
                  <a:pt x="156815" y="118566"/>
                </a:lnTo>
                <a:lnTo>
                  <a:pt x="252809" y="71387"/>
                </a:lnTo>
                <a:lnTo>
                  <a:pt x="157410" y="25399"/>
                </a:lnTo>
                <a:lnTo>
                  <a:pt x="156120" y="24804"/>
                </a:lnTo>
                <a:lnTo>
                  <a:pt x="155078" y="24258"/>
                </a:lnTo>
                <a:lnTo>
                  <a:pt x="151804" y="15279"/>
                </a:lnTo>
                <a:lnTo>
                  <a:pt x="151854" y="5506"/>
                </a:lnTo>
                <a:lnTo>
                  <a:pt x="152251" y="2629"/>
                </a:lnTo>
                <a:lnTo>
                  <a:pt x="152548" y="1587"/>
                </a:lnTo>
                <a:lnTo>
                  <a:pt x="153441" y="297"/>
                </a:lnTo>
                <a:lnTo>
                  <a:pt x="154086" y="0"/>
                </a:lnTo>
                <a:lnTo>
                  <a:pt x="155674" y="198"/>
                </a:lnTo>
                <a:lnTo>
                  <a:pt x="156616" y="545"/>
                </a:lnTo>
                <a:lnTo>
                  <a:pt x="157708" y="1141"/>
                </a:lnTo>
                <a:lnTo>
                  <a:pt x="275976" y="60721"/>
                </a:lnTo>
                <a:lnTo>
                  <a:pt x="276770" y="61962"/>
                </a:lnTo>
                <a:lnTo>
                  <a:pt x="277366" y="63946"/>
                </a:lnTo>
                <a:lnTo>
                  <a:pt x="278060" y="65831"/>
                </a:lnTo>
                <a:lnTo>
                  <a:pt x="278407" y="68460"/>
                </a:lnTo>
                <a:lnTo>
                  <a:pt x="278308" y="75058"/>
                </a:lnTo>
                <a:lnTo>
                  <a:pt x="277911" y="77737"/>
                </a:lnTo>
                <a:lnTo>
                  <a:pt x="157708" y="142378"/>
                </a:lnTo>
                <a:lnTo>
                  <a:pt x="155674" y="143172"/>
                </a:lnTo>
                <a:lnTo>
                  <a:pt x="154880" y="1432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148" y="1450687"/>
            <a:ext cx="575964" cy="2111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8849" y="1451729"/>
            <a:ext cx="1137163" cy="2614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9924" y="1461552"/>
            <a:ext cx="813196" cy="2516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5096" y="1451729"/>
            <a:ext cx="1359396" cy="25047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9623" y="1895331"/>
            <a:ext cx="1723683" cy="1571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206" y="2276535"/>
            <a:ext cx="7309792" cy="2625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943" y="2722815"/>
            <a:ext cx="4159367" cy="1583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96206" y="3105209"/>
            <a:ext cx="6333182" cy="2655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7943" y="3552234"/>
            <a:ext cx="3295240" cy="1576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96206" y="3933885"/>
            <a:ext cx="2304256" cy="2655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9623" y="4378082"/>
            <a:ext cx="9419778" cy="1989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96206" y="4762560"/>
            <a:ext cx="1440309" cy="2653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27943" y="5209585"/>
            <a:ext cx="3805944" cy="19630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96206" y="5591235"/>
            <a:ext cx="2068661" cy="26253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27943" y="6038260"/>
            <a:ext cx="2486502" cy="19615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96206" y="6419910"/>
            <a:ext cx="1677689" cy="26253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58648" y="743575"/>
            <a:ext cx="1264815" cy="326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1595561"/>
            <a:ext cx="3800000" cy="197142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608418"/>
            <a:ext cx="4906195" cy="2803540"/>
          </a:xfrm>
          <a:prstGeom prst="rect">
            <a:avLst/>
          </a:prstGeom>
        </p:spPr>
      </p:pic>
      <p:pic>
        <p:nvPicPr>
          <p:cNvPr id="1026" name="Picture 2" descr="http://images.anandtech.com/reviews/video/triplebuffer/doub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1912453"/>
            <a:ext cx="3655848" cy="449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標題 8">
            <a:extLst>
              <a:ext uri="{FF2B5EF4-FFF2-40B4-BE49-F238E27FC236}">
                <a16:creationId xmlns:a16="http://schemas.microsoft.com/office/drawing/2014/main" id="{540FFACE-1A9D-43FE-B7C9-3297935E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828" y="188640"/>
            <a:ext cx="9601200" cy="1485900"/>
          </a:xfrm>
        </p:spPr>
        <p:txBody>
          <a:bodyPr/>
          <a:lstStyle/>
          <a:p>
            <a:r>
              <a:rPr lang="en-US" altLang="zh-TW" dirty="0"/>
              <a:t>Mechanisms of Computer Graphic &amp; Videos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4955F5-1A28-4787-AB15-0E89BBC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BEE4E-5644-4546-85B0-9FD6EF34DB4C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AF42B0-2082-4533-A1E5-4765575D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E2B9F8-C938-4DE2-BEB6-5E59B562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9754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87" y="2578912"/>
            <a:ext cx="1027852" cy="53198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827" y="2373114"/>
            <a:ext cx="768792" cy="15254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930737" y="4594487"/>
            <a:ext cx="2534920" cy="1626235"/>
            <a:chOff x="2930737" y="4594487"/>
            <a:chExt cx="2534920" cy="1626235"/>
          </a:xfrm>
        </p:grpSpPr>
        <p:sp>
          <p:nvSpPr>
            <p:cNvPr id="9" name="object 9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9658" y="2045844"/>
            <a:ext cx="805479" cy="12308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89958" y="4398719"/>
            <a:ext cx="1108509" cy="15299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860385" y="3788654"/>
            <a:ext cx="2313940" cy="1579880"/>
            <a:chOff x="5860385" y="3788654"/>
            <a:chExt cx="2313940" cy="1579880"/>
          </a:xfrm>
        </p:grpSpPr>
        <p:sp>
          <p:nvSpPr>
            <p:cNvPr id="14" name="object 14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558461" y="1569995"/>
                  </a:moveTo>
                  <a:lnTo>
                    <a:pt x="0" y="1412324"/>
                  </a:ln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0" y="1412324"/>
                  </a:move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lnTo>
                    <a:pt x="0" y="1412324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17" name="object 17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52374" y="4640454"/>
            <a:ext cx="459672" cy="351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84827" y="2117212"/>
            <a:ext cx="3773170" cy="993775"/>
            <a:chOff x="384827" y="2117212"/>
            <a:chExt cx="3773170" cy="9937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827" y="2373114"/>
              <a:ext cx="768792" cy="1525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87" y="2117212"/>
              <a:ext cx="3408574" cy="99368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930737" y="4594487"/>
            <a:ext cx="2534920" cy="1626235"/>
            <a:chOff x="2930737" y="4594487"/>
            <a:chExt cx="2534920" cy="1626235"/>
          </a:xfrm>
        </p:grpSpPr>
        <p:sp>
          <p:nvSpPr>
            <p:cNvPr id="10" name="object 10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3434" y="1276600"/>
            <a:ext cx="472065" cy="47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2571" y="1824157"/>
            <a:ext cx="495374" cy="15299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75907" y="2988414"/>
            <a:ext cx="609733" cy="12248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79658" y="2045844"/>
            <a:ext cx="805479" cy="12308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89958" y="4398719"/>
            <a:ext cx="1108509" cy="152995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860385" y="3788654"/>
            <a:ext cx="2313940" cy="1579880"/>
            <a:chOff x="5860385" y="3788654"/>
            <a:chExt cx="2313940" cy="1579880"/>
          </a:xfrm>
        </p:grpSpPr>
        <p:sp>
          <p:nvSpPr>
            <p:cNvPr id="18" name="object 18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558461" y="1569995"/>
                  </a:moveTo>
                  <a:lnTo>
                    <a:pt x="0" y="1412324"/>
                  </a:ln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0" y="1412324"/>
                  </a:move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lnTo>
                    <a:pt x="0" y="1412324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21" name="object 21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52374" y="4640454"/>
            <a:ext cx="459672" cy="351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30737" y="4398719"/>
            <a:ext cx="2534920" cy="1821814"/>
            <a:chOff x="2930737" y="4398719"/>
            <a:chExt cx="2534920" cy="1821814"/>
          </a:xfrm>
        </p:grpSpPr>
        <p:sp>
          <p:nvSpPr>
            <p:cNvPr id="7" name="object 7"/>
            <p:cNvSpPr/>
            <p:nvPr/>
          </p:nvSpPr>
          <p:spPr>
            <a:xfrm>
              <a:off x="2935500" y="4599250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5500" y="4599250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9958" y="4398719"/>
              <a:ext cx="1108509" cy="152995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5907" y="2988414"/>
            <a:ext cx="609733" cy="12248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860385" y="3788654"/>
            <a:ext cx="2313940" cy="1579880"/>
            <a:chOff x="5860385" y="3788654"/>
            <a:chExt cx="2313940" cy="1579880"/>
          </a:xfrm>
        </p:grpSpPr>
        <p:sp>
          <p:nvSpPr>
            <p:cNvPr id="12" name="object 12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558461" y="1569995"/>
                  </a:moveTo>
                  <a:lnTo>
                    <a:pt x="0" y="1412324"/>
                  </a:ln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65147" y="3793416"/>
              <a:ext cx="2304415" cy="1570355"/>
            </a:xfrm>
            <a:custGeom>
              <a:avLst/>
              <a:gdLst/>
              <a:ahLst/>
              <a:cxnLst/>
              <a:rect l="l" t="t" r="r" b="b"/>
              <a:pathLst>
                <a:path w="2304415" h="1570354">
                  <a:moveTo>
                    <a:pt x="0" y="1412324"/>
                  </a:moveTo>
                  <a:lnTo>
                    <a:pt x="157661" y="853895"/>
                  </a:lnTo>
                  <a:lnTo>
                    <a:pt x="257861" y="1032920"/>
                  </a:lnTo>
                  <a:lnTo>
                    <a:pt x="2103600" y="0"/>
                  </a:lnTo>
                  <a:lnTo>
                    <a:pt x="2304000" y="358049"/>
                  </a:lnTo>
                  <a:lnTo>
                    <a:pt x="458261" y="1390970"/>
                  </a:lnTo>
                  <a:lnTo>
                    <a:pt x="558461" y="1569995"/>
                  </a:lnTo>
                  <a:lnTo>
                    <a:pt x="0" y="1412324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15" name="object 15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52374" y="4640454"/>
            <a:ext cx="459672" cy="35115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79658" y="2045844"/>
            <a:ext cx="805479" cy="123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839" y="902867"/>
            <a:ext cx="2543295" cy="30524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30737" y="2295662"/>
            <a:ext cx="2534920" cy="1626235"/>
            <a:chOff x="2930737" y="2295662"/>
            <a:chExt cx="2534920" cy="1626235"/>
          </a:xfrm>
        </p:grpSpPr>
        <p:sp>
          <p:nvSpPr>
            <p:cNvPr id="4" name="object 4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5500" y="2300424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930737" y="4594487"/>
            <a:ext cx="2534920" cy="1626235"/>
            <a:chOff x="2930737" y="4594487"/>
            <a:chExt cx="2534920" cy="1626235"/>
          </a:xfrm>
        </p:grpSpPr>
        <p:sp>
          <p:nvSpPr>
            <p:cNvPr id="7" name="object 7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5500" y="45992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5907" y="2988414"/>
            <a:ext cx="609733" cy="12248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3308" y="2037281"/>
            <a:ext cx="1108509" cy="15299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660063" y="2700831"/>
            <a:ext cx="2526665" cy="1028065"/>
            <a:chOff x="5660063" y="2700831"/>
            <a:chExt cx="2526665" cy="1028065"/>
          </a:xfrm>
        </p:grpSpPr>
        <p:sp>
          <p:nvSpPr>
            <p:cNvPr id="12" name="object 12"/>
            <p:cNvSpPr/>
            <p:nvPr/>
          </p:nvSpPr>
          <p:spPr>
            <a:xfrm>
              <a:off x="5664825" y="2705594"/>
              <a:ext cx="2517140" cy="1018540"/>
            </a:xfrm>
            <a:custGeom>
              <a:avLst/>
              <a:gdLst/>
              <a:ahLst/>
              <a:cxnLst/>
              <a:rect l="l" t="t" r="r" b="b"/>
              <a:pathLst>
                <a:path w="2517140" h="1018539">
                  <a:moveTo>
                    <a:pt x="2436299" y="1018488"/>
                  </a:moveTo>
                  <a:lnTo>
                    <a:pt x="362232" y="603675"/>
                  </a:lnTo>
                  <a:lnTo>
                    <a:pt x="322032" y="804900"/>
                  </a:lnTo>
                  <a:lnTo>
                    <a:pt x="0" y="321963"/>
                  </a:lnTo>
                  <a:lnTo>
                    <a:pt x="482832" y="0"/>
                  </a:lnTo>
                  <a:lnTo>
                    <a:pt x="442632" y="201224"/>
                  </a:lnTo>
                  <a:lnTo>
                    <a:pt x="2516699" y="616038"/>
                  </a:lnTo>
                  <a:lnTo>
                    <a:pt x="2436299" y="101848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64825" y="2705594"/>
              <a:ext cx="2517140" cy="1018540"/>
            </a:xfrm>
            <a:custGeom>
              <a:avLst/>
              <a:gdLst/>
              <a:ahLst/>
              <a:cxnLst/>
              <a:rect l="l" t="t" r="r" b="b"/>
              <a:pathLst>
                <a:path w="2517140" h="1018539">
                  <a:moveTo>
                    <a:pt x="0" y="321963"/>
                  </a:moveTo>
                  <a:lnTo>
                    <a:pt x="482832" y="0"/>
                  </a:lnTo>
                  <a:lnTo>
                    <a:pt x="442632" y="201224"/>
                  </a:lnTo>
                  <a:lnTo>
                    <a:pt x="2516699" y="616038"/>
                  </a:lnTo>
                  <a:lnTo>
                    <a:pt x="2436299" y="1018488"/>
                  </a:lnTo>
                  <a:lnTo>
                    <a:pt x="362232" y="603675"/>
                  </a:lnTo>
                  <a:lnTo>
                    <a:pt x="322032" y="804900"/>
                  </a:lnTo>
                  <a:lnTo>
                    <a:pt x="0" y="321963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454149" y="2833799"/>
            <a:ext cx="2563495" cy="1654810"/>
            <a:chOff x="8454149" y="2833799"/>
            <a:chExt cx="2563495" cy="1654810"/>
          </a:xfrm>
        </p:grpSpPr>
        <p:sp>
          <p:nvSpPr>
            <p:cNvPr id="15" name="object 15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2525399" y="1616399"/>
                  </a:moveTo>
                  <a:lnTo>
                    <a:pt x="0" y="1616399"/>
                  </a:lnTo>
                  <a:lnTo>
                    <a:pt x="0" y="0"/>
                  </a:lnTo>
                  <a:lnTo>
                    <a:pt x="2525399" y="0"/>
                  </a:lnTo>
                  <a:lnTo>
                    <a:pt x="2525399" y="1616399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73199" y="2852849"/>
              <a:ext cx="2525395" cy="1616710"/>
            </a:xfrm>
            <a:custGeom>
              <a:avLst/>
              <a:gdLst/>
              <a:ahLst/>
              <a:cxnLst/>
              <a:rect l="l" t="t" r="r" b="b"/>
              <a:pathLst>
                <a:path w="2525395" h="1616710">
                  <a:moveTo>
                    <a:pt x="0" y="0"/>
                  </a:moveTo>
                  <a:lnTo>
                    <a:pt x="2525399" y="0"/>
                  </a:lnTo>
                  <a:lnTo>
                    <a:pt x="2525399" y="1616399"/>
                  </a:lnTo>
                  <a:lnTo>
                    <a:pt x="0" y="16163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38370" y="2550113"/>
            <a:ext cx="617376" cy="14957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5280" y="3537884"/>
            <a:ext cx="526061" cy="17524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3607" y="3559464"/>
            <a:ext cx="609733" cy="12248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584414" y="3595940"/>
            <a:ext cx="1461135" cy="1461135"/>
            <a:chOff x="5584414" y="3595940"/>
            <a:chExt cx="1461135" cy="146113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4414" y="3595940"/>
              <a:ext cx="1460820" cy="14608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00175" y="4302294"/>
              <a:ext cx="380333" cy="20382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79658" y="4347719"/>
            <a:ext cx="805479" cy="123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F0A0-66EE-2084-AE28-992298A7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標題 20">
            <a:extLst>
              <a:ext uri="{FF2B5EF4-FFF2-40B4-BE49-F238E27FC236}">
                <a16:creationId xmlns:a16="http://schemas.microsoft.com/office/drawing/2014/main" id="{1A4E7582-F887-A68F-86D3-3342F528C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Create Window</a:t>
            </a:r>
            <a:endParaRPr lang="zh-TW" altLang="en-US" dirty="0"/>
          </a:p>
        </p:txBody>
      </p:sp>
      <p:sp>
        <p:nvSpPr>
          <p:cNvPr id="22" name="內容版面配置區 21">
            <a:extLst>
              <a:ext uri="{FF2B5EF4-FFF2-40B4-BE49-F238E27FC236}">
                <a16:creationId xmlns:a16="http://schemas.microsoft.com/office/drawing/2014/main" id="{AFFB9A91-CD26-CA68-440F-F53F7D3549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Create a 500 x 500 pixel window as your visual workspace</a:t>
            </a:r>
          </a:p>
          <a:p>
            <a:pPr lvl="1"/>
            <a:r>
              <a:rPr lang="en-US" altLang="zh-TW" dirty="0"/>
              <a:t>This window serves as the display canvas for all your stimuli</a:t>
            </a:r>
          </a:p>
          <a:p>
            <a:pPr lvl="1"/>
            <a:r>
              <a:rPr lang="en-US" altLang="zh-TW" dirty="0"/>
              <a:t>Use win = </a:t>
            </a:r>
            <a:r>
              <a:rPr lang="en-US" altLang="zh-TW" dirty="0" err="1"/>
              <a:t>visual.Window</a:t>
            </a:r>
            <a:r>
              <a:rPr lang="en-US" altLang="zh-TW" dirty="0"/>
              <a:t>(500</a:t>
            </a:r>
            <a:r>
              <a:rPr lang="en-US" altLang="zh-TW" dirty="0">
                <a:sym typeface="Wingdings 2" panose="05020102010507070707" pitchFamily="18" charset="2"/>
              </a:rPr>
              <a:t></a:t>
            </a:r>
            <a:r>
              <a:rPr lang="en-US" altLang="zh-TW" dirty="0"/>
              <a:t>500) with default background color (usually gray)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23" name="內容版面配置區 22">
            <a:extLst>
              <a:ext uri="{FF2B5EF4-FFF2-40B4-BE49-F238E27FC236}">
                <a16:creationId xmlns:a16="http://schemas.microsoft.com/office/drawing/2014/main" id="{6D2B1DB9-A3E4-5104-37E4-F3F93956A6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Remember to close window at script end using </a:t>
            </a:r>
            <a:r>
              <a:rPr lang="en-US" altLang="zh-TW" dirty="0" err="1"/>
              <a:t>win.close</a:t>
            </a:r>
            <a:r>
              <a:rPr lang="en-US" altLang="zh-TW" dirty="0"/>
              <a:t>() to free system resources</a:t>
            </a:r>
          </a:p>
          <a:p>
            <a:pPr lvl="1"/>
            <a:r>
              <a:rPr lang="en-US" altLang="zh-TW" dirty="0"/>
              <a:t>Forgetting to close the window may lead to memory leaks or frozen </a:t>
            </a:r>
            <a:r>
              <a:rPr lang="en-US" altLang="zh-TW" dirty="0" err="1"/>
              <a:t>PsychoPy</a:t>
            </a:r>
            <a:r>
              <a:rPr lang="en-US" altLang="zh-TW" dirty="0"/>
              <a:t> sessions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356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74EB-646D-82CF-AED4-D2F09DE3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E20DD7-1AA6-689C-2FFE-2725BCA1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</a:t>
            </a:r>
            <a:r>
              <a:rPr lang="en-US" altLang="zh-TW" b="1" dirty="0"/>
              <a:t>Create Stimulus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A0CE8E-726B-FFBA-C97D-BB91417C1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Choose any letter character to display as your visual stimulus</a:t>
            </a:r>
          </a:p>
          <a:p>
            <a:pPr lvl="1"/>
            <a:r>
              <a:rPr lang="en-US" altLang="zh-TW" dirty="0"/>
              <a:t>Create using </a:t>
            </a:r>
          </a:p>
          <a:p>
            <a:pPr lvl="2"/>
            <a:r>
              <a:rPr lang="en-US" altLang="zh-TW" dirty="0"/>
              <a:t>text = </a:t>
            </a:r>
            <a:r>
              <a:rPr lang="en-US" altLang="zh-TW" dirty="0" err="1"/>
              <a:t>visual.TextStim</a:t>
            </a:r>
            <a:r>
              <a:rPr lang="en-US" altLang="zh-TW" dirty="0"/>
              <a:t>(win, text='X') with win as your window object</a:t>
            </a:r>
          </a:p>
          <a:p>
            <a:pPr lvl="1"/>
            <a:r>
              <a:rPr lang="en-US" altLang="zh-TW" dirty="0"/>
              <a:t>Default settings include centered position, white color, and standard font size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BDEC58-5B7A-49D4-673B-92404B9A0D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Present stimulus on screen by calling the draw() method followed by </a:t>
            </a:r>
            <a:r>
              <a:rPr lang="en-US" altLang="zh-TW" dirty="0" err="1"/>
              <a:t>win.flip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The flip() function updates the display to show everything that's been drawn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AA07CF-5F3E-9B47-058D-BEA120B61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24C8AA-A76D-749F-6F9E-75A78AF8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99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Presentation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Temporal issues</a:t>
            </a:r>
          </a:p>
          <a:p>
            <a:pPr lvl="1"/>
            <a:r>
              <a:rPr lang="en-US" altLang="zh-TW" dirty="0"/>
              <a:t>Refresh rate</a:t>
            </a:r>
          </a:p>
          <a:p>
            <a:pPr lvl="1"/>
            <a:r>
              <a:rPr lang="en-US" altLang="zh-TW" dirty="0"/>
              <a:t>Synchronization </a:t>
            </a:r>
          </a:p>
          <a:p>
            <a:endParaRPr lang="en-US" altLang="zh-TW" dirty="0"/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Spatial issues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Visual angle</a:t>
            </a:r>
          </a:p>
          <a:p>
            <a:pPr lvl="2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Pixel size</a:t>
            </a:r>
          </a:p>
          <a:p>
            <a:pPr lvl="2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Viewing distance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Visual fields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FD6348-C808-4AB5-8B86-785BDADC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5056D-C97F-40AD-81E8-12980A938B31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ED04D6-D941-4A6E-B37E-AB93140E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8E7176-1D61-4E63-AF40-8C2222B1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81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1">
            <a:extLst>
              <a:ext uri="{FF2B5EF4-FFF2-40B4-BE49-F238E27FC236}">
                <a16:creationId xmlns:a16="http://schemas.microsoft.com/office/drawing/2014/main" id="{9472F068-3A06-49F2-86E1-BB477D49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Tearing</a:t>
            </a:r>
            <a:r>
              <a:rPr lang="zh-TW" altLang="en-US" dirty="0"/>
              <a:t> </a:t>
            </a:r>
            <a:r>
              <a:rPr lang="en-US" altLang="zh-TW" dirty="0"/>
              <a:t>when flip occurs during drawing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DA11689-D62F-4611-8FB1-EE7882946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749CA-3063-4811-9813-5B1CFAC073D6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CC209C-29E8-4322-B2A4-746DD326E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2B1795-0E59-45CC-BCFB-A6E77DBC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30D17A-C2DB-4733-AF43-E363FF481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1591207"/>
            <a:ext cx="6574097" cy="3848252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B52A4B77-7592-4E95-B140-7817D08BF3DC}"/>
              </a:ext>
            </a:extLst>
          </p:cNvPr>
          <p:cNvGrpSpPr/>
          <p:nvPr/>
        </p:nvGrpSpPr>
        <p:grpSpPr>
          <a:xfrm>
            <a:off x="7536160" y="1556792"/>
            <a:ext cx="4248150" cy="3787341"/>
            <a:chOff x="7536160" y="2406563"/>
            <a:chExt cx="4248150" cy="3787341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C85F36A6-2CC9-42F0-BD2A-45DF72B69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6160" y="2406563"/>
              <a:ext cx="4248150" cy="1828800"/>
            </a:xfrm>
            <a:prstGeom prst="rect">
              <a:avLst/>
            </a:prstGeom>
          </p:spPr>
        </p:pic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27D619D4-070B-4E61-89BD-BA59C4E7F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6160" y="4365104"/>
              <a:ext cx="4248150" cy="1828800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3DCD0915-4B18-4B79-8782-8BD616150D7E}"/>
              </a:ext>
            </a:extLst>
          </p:cNvPr>
          <p:cNvSpPr/>
          <p:nvPr/>
        </p:nvSpPr>
        <p:spPr>
          <a:xfrm>
            <a:off x="767408" y="5682341"/>
            <a:ext cx="6574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http://andesengineering.com/OSG_ProducerArticles/Synchronization/index.html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7CB36E-2016-469C-A5AA-9E59778786B0}"/>
              </a:ext>
            </a:extLst>
          </p:cNvPr>
          <p:cNvSpPr/>
          <p:nvPr/>
        </p:nvSpPr>
        <p:spPr>
          <a:xfrm>
            <a:off x="7608168" y="5682339"/>
            <a:ext cx="41761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https://software.intel.com/content/www/us/en/develop/articles/video-frame-display-synchronization.html?wapkw=(T)</a:t>
            </a:r>
          </a:p>
        </p:txBody>
      </p:sp>
    </p:spTree>
    <p:extLst>
      <p:ext uri="{BB962C8B-B14F-4D97-AF65-F5344CB8AC3E}">
        <p14:creationId xmlns:p14="http://schemas.microsoft.com/office/powerpoint/2010/main" val="2227821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1E40589-A4DC-4192-A706-FE01B40E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6B278-4076-4353-9F66-1F24A2606ED0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1DDB013-B6FA-477E-A88D-7ECD7D0B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AC154D-94BD-4CB2-8287-FA568DF0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5" name="Screen tearing frame by frame example">
            <a:hlinkClick r:id="" action="ppaction://media"/>
            <a:extLst>
              <a:ext uri="{FF2B5EF4-FFF2-40B4-BE49-F238E27FC236}">
                <a16:creationId xmlns:a16="http://schemas.microsoft.com/office/drawing/2014/main" id="{F400A10B-7F37-413D-97EA-162346CAADB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6523" end="5718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29146" y="476672"/>
            <a:ext cx="8839882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8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72B8C4EB-37F5-46FA-9AE7-4FECAB74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/>
              <a:t>Flip during </a:t>
            </a:r>
            <a:r>
              <a:rPr lang="en-US" altLang="zh-TW" dirty="0"/>
              <a:t>the Vertical Blanking Interval (</a:t>
            </a:r>
            <a:r>
              <a:rPr lang="en-US" altLang="zh-TW"/>
              <a:t>Vertical Retrace)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AA74D5E-3779-438A-80C7-2E2A3AEF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F37B-664D-420D-8708-47DE4F93E1D4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BA081C2-4BFB-4FFD-832E-E2BA68AE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241D76-D798-4E73-823A-254C4FA1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E7C136-68D5-4191-95E9-3454FB61B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13" y="2386575"/>
            <a:ext cx="6769360" cy="35318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384C1E4-CC03-401A-9A06-73BD3AA7D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208" y="2363181"/>
            <a:ext cx="401002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02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Refresh Rate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Number of times that the image on the display is drawn each second. </a:t>
            </a:r>
          </a:p>
          <a:p>
            <a:pPr lvl="1"/>
            <a:r>
              <a:rPr lang="en-US" altLang="zh-TW" dirty="0"/>
              <a:t>Influencing the actual time point when your visual stimuli are presented on the monitor</a:t>
            </a:r>
          </a:p>
          <a:p>
            <a:pPr lvl="1"/>
            <a:r>
              <a:rPr lang="en-US" altLang="zh-TW" dirty="0"/>
              <a:t>Determined by horizontal scan rate and resolution</a:t>
            </a:r>
          </a:p>
          <a:p>
            <a:r>
              <a:rPr lang="en-GB" altLang="zh-TW" dirty="0">
                <a:solidFill>
                  <a:schemeClr val="tx1"/>
                </a:solidFill>
              </a:rPr>
              <a:t>Most monitors </a:t>
            </a:r>
          </a:p>
          <a:p>
            <a:pPr lvl="1"/>
            <a:r>
              <a:rPr lang="en-GB" altLang="zh-TW" dirty="0">
                <a:solidFill>
                  <a:schemeClr val="tx1"/>
                </a:solidFill>
              </a:rPr>
              <a:t>60 Hz  ~ update every 16.67 </a:t>
            </a:r>
            <a:r>
              <a:rPr lang="en-GB" altLang="zh-TW" dirty="0" err="1">
                <a:solidFill>
                  <a:schemeClr val="tx1"/>
                </a:solidFill>
              </a:rPr>
              <a:t>ms</a:t>
            </a:r>
            <a:r>
              <a:rPr lang="en-GB" altLang="zh-TW" dirty="0">
                <a:solidFill>
                  <a:schemeClr val="tx1"/>
                </a:solidFill>
              </a:rPr>
              <a:t> .</a:t>
            </a:r>
          </a:p>
          <a:p>
            <a:r>
              <a:rPr lang="en-GB" altLang="zh-TW" dirty="0">
                <a:solidFill>
                  <a:schemeClr val="tx1"/>
                </a:solidFill>
              </a:rPr>
              <a:t>The refresh rate limits the points in time at which you can present a stimulus. </a:t>
            </a:r>
          </a:p>
          <a:p>
            <a:pPr lvl="1"/>
            <a:r>
              <a:rPr lang="en-GB" altLang="zh-TW" dirty="0">
                <a:solidFill>
                  <a:schemeClr val="tx1"/>
                </a:solidFill>
              </a:rPr>
              <a:t>For example, it will be impossible to display a stimulus for exactly 225 </a:t>
            </a:r>
            <a:r>
              <a:rPr lang="en-GB" altLang="zh-TW" dirty="0" err="1">
                <a:solidFill>
                  <a:schemeClr val="tx1"/>
                </a:solidFill>
              </a:rPr>
              <a:t>ms</a:t>
            </a:r>
            <a:r>
              <a:rPr lang="en-GB" altLang="zh-TW" dirty="0">
                <a:solidFill>
                  <a:schemeClr val="tx1"/>
                </a:solidFill>
              </a:rPr>
              <a:t>, as 225 is not a multiple of 16.67; only 216.71 or 233.38 </a:t>
            </a:r>
            <a:r>
              <a:rPr lang="en-GB" altLang="zh-TW" dirty="0" err="1">
                <a:solidFill>
                  <a:schemeClr val="tx1"/>
                </a:solidFill>
              </a:rPr>
              <a:t>ms</a:t>
            </a:r>
            <a:r>
              <a:rPr lang="en-GB" altLang="zh-TW" dirty="0">
                <a:solidFill>
                  <a:schemeClr val="tx1"/>
                </a:solidFill>
              </a:rPr>
              <a:t> are possible.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56753F-C96C-4DC4-B024-7D0E9F14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800D-6DDD-41BC-AAC1-DC674A7384D9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674727-FFF9-42B4-8BD8-61EA31CF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B758AF-98EE-472F-BCA8-29BADCB0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9" name="Grafik 4">
            <a:extLst>
              <a:ext uri="{FF2B5EF4-FFF2-40B4-BE49-F238E27FC236}">
                <a16:creationId xmlns:a16="http://schemas.microsoft.com/office/drawing/2014/main" id="{65E909A1-7119-C14A-BCA4-347FBF5EA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49561" y="946986"/>
            <a:ext cx="4322082" cy="4654550"/>
          </a:xfrm>
          <a:prstGeom prst="rect">
            <a:avLst/>
          </a:prstGeom>
        </p:spPr>
      </p:pic>
      <p:sp>
        <p:nvSpPr>
          <p:cNvPr id="10" name="Textfeld 7">
            <a:extLst>
              <a:ext uri="{FF2B5EF4-FFF2-40B4-BE49-F238E27FC236}">
                <a16:creationId xmlns:a16="http://schemas.microsoft.com/office/drawing/2014/main" id="{87EA846B-CD37-FE4F-A238-60F53C1485E1}"/>
              </a:ext>
            </a:extLst>
          </p:cNvPr>
          <p:cNvSpPr txBox="1"/>
          <p:nvPr/>
        </p:nvSpPr>
        <p:spPr>
          <a:xfrm>
            <a:off x="6296507" y="5673641"/>
            <a:ext cx="46281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https://</a:t>
            </a:r>
            <a:r>
              <a:rPr lang="en-GB" sz="900" dirty="0" err="1">
                <a:latin typeface="Euphemia UCAS" panose="020B0503040102020104" pitchFamily="34" charset="-79"/>
                <a:cs typeface="Euphemia UCAS" panose="020B0503040102020104" pitchFamily="34" charset="-79"/>
              </a:rPr>
              <a:t>en.wikipedia.org</a:t>
            </a:r>
            <a:r>
              <a:rPr lang="en-GB" sz="9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/wiki/</a:t>
            </a:r>
            <a:r>
              <a:rPr lang="en-GB" sz="900" dirty="0" err="1">
                <a:latin typeface="Euphemia UCAS" panose="020B0503040102020104" pitchFamily="34" charset="-79"/>
                <a:cs typeface="Euphemia UCAS" panose="020B0503040102020104" pitchFamily="34" charset="-79"/>
              </a:rPr>
              <a:t>Refresh_rate</a:t>
            </a:r>
            <a:r>
              <a:rPr lang="en-GB" sz="900" dirty="0">
                <a:latin typeface="Euphemia UCAS" panose="020B0503040102020104" pitchFamily="34" charset="-79"/>
                <a:cs typeface="Euphemia UCAS" panose="020B0503040102020104" pitchFamily="34" charset="-79"/>
              </a:rPr>
              <a:t>#/media/</a:t>
            </a:r>
            <a:r>
              <a:rPr lang="en-GB" sz="900" dirty="0" err="1">
                <a:latin typeface="Euphemia UCAS" panose="020B0503040102020104" pitchFamily="34" charset="-79"/>
                <a:cs typeface="Euphemia UCAS" panose="020B0503040102020104" pitchFamily="34" charset="-79"/>
              </a:rPr>
              <a:t>File:Waveform_video_comparison.gif</a:t>
            </a:r>
            <a:endParaRPr lang="en-GB" sz="900" dirty="0">
              <a:latin typeface="Euphemia UCAS" panose="020B0503040102020104" pitchFamily="34" charset="-79"/>
              <a:cs typeface="Euphemia UCAS" panose="020B0503040102020104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1797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FEFDB7-2C9D-4086-9A78-4CE3B3E7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013F-9B3C-4E05-9E8F-FF3863F08503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AC2BFD-F408-4F00-A89F-F5616E12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E24B2C-6CEC-4263-BE04-D750988E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D7DF9C-6049-4231-892D-F0C351D11A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20" r="13033"/>
          <a:stretch/>
        </p:blipFill>
        <p:spPr>
          <a:xfrm>
            <a:off x="2893564" y="172010"/>
            <a:ext cx="7636587" cy="583264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9968BE2-F3F1-4B62-90DD-E14B5B50BE24}"/>
              </a:ext>
            </a:extLst>
          </p:cNvPr>
          <p:cNvSpPr/>
          <p:nvPr/>
        </p:nvSpPr>
        <p:spPr>
          <a:xfrm>
            <a:off x="5735960" y="6039659"/>
            <a:ext cx="63916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https://www.intel.com/content/www/us/en/gaming/resources/what-to-look-for-in-a-gaming-monitor.html</a:t>
            </a:r>
          </a:p>
        </p:txBody>
      </p:sp>
    </p:spTree>
    <p:extLst>
      <p:ext uri="{BB962C8B-B14F-4D97-AF65-F5344CB8AC3E}">
        <p14:creationId xmlns:p14="http://schemas.microsoft.com/office/powerpoint/2010/main" val="212264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Cathode Ray Tube (CRT)</a:t>
            </a:r>
            <a:endParaRPr lang="zh-TW" altLang="en-US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447928" y="2348880"/>
            <a:ext cx="6180356" cy="3703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 descr="Cathode Ray 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72" y="2924944"/>
            <a:ext cx="4068872" cy="196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AAD3D11-7260-415F-987E-AEB7BD46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E461-654A-42AB-88DE-DE0A31617080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2791E1-AB4F-470C-890E-09CABF255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A94439-C98D-49BB-8D80-08412B16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06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LCD Panels Have No Reliable Refresh Rate</a:t>
            </a:r>
            <a:endParaRPr lang="zh-TW" altLang="en-US" dirty="0"/>
          </a:p>
        </p:txBody>
      </p:sp>
      <p:pic>
        <p:nvPicPr>
          <p:cNvPr id="10244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8349" y="2643183"/>
            <a:ext cx="2847619" cy="2561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96067" y="2643183"/>
            <a:ext cx="2847619" cy="257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版面配置區 3"/>
          <p:cNvSpPr>
            <a:spLocks noGrp="1"/>
          </p:cNvSpPr>
          <p:nvPr>
            <p:ph type="body" sz="quarter" idx="1"/>
          </p:nvPr>
        </p:nvSpPr>
        <p:spPr>
          <a:xfrm>
            <a:off x="1707511" y="1800821"/>
            <a:ext cx="5079991" cy="823912"/>
          </a:xfrm>
        </p:spPr>
        <p:txBody>
          <a:bodyPr/>
          <a:lstStyle/>
          <a:p>
            <a:r>
              <a:rPr lang="en-US" altLang="zh-TW" dirty="0"/>
              <a:t>Off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3"/>
          </p:nvPr>
        </p:nvSpPr>
        <p:spPr>
          <a:xfrm>
            <a:off x="6494106" y="1790946"/>
            <a:ext cx="5105400" cy="823912"/>
          </a:xfrm>
        </p:spPr>
        <p:txBody>
          <a:bodyPr/>
          <a:lstStyle/>
          <a:p>
            <a:r>
              <a:rPr lang="en-US" altLang="zh-TW" dirty="0"/>
              <a:t>On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2309787" y="5572140"/>
            <a:ext cx="850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LCD monitors have “Response time”, which is quite variable among pixels. 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90EEAD2-86A0-4A96-8733-5A3EDF01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59B61-09F9-4F2C-BBEF-B254008ACB22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C984EF-28AB-46FA-9666-1C359A37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F397ED-458D-4F71-8F8C-EA20FA08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33334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943" y="1623465"/>
            <a:ext cx="5674630" cy="1970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536" y="2014627"/>
            <a:ext cx="2081998" cy="3061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943" y="2880765"/>
            <a:ext cx="3530612" cy="196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1536" y="3271927"/>
            <a:ext cx="3220002" cy="3061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7943" y="4280940"/>
            <a:ext cx="3844118" cy="197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536" y="4672102"/>
            <a:ext cx="2691190" cy="3097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943" y="5679032"/>
            <a:ext cx="3537458" cy="198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1536" y="6072277"/>
            <a:ext cx="2247968" cy="306139"/>
          </a:xfrm>
          <a:prstGeom prst="rect">
            <a:avLst/>
          </a:prstGeom>
        </p:spPr>
      </p:pic>
      <p:sp>
        <p:nvSpPr>
          <p:cNvPr id="11" name="標題 10">
            <a:extLst>
              <a:ext uri="{FF2B5EF4-FFF2-40B4-BE49-F238E27FC236}">
                <a16:creationId xmlns:a16="http://schemas.microsoft.com/office/drawing/2014/main" id="{9E30E678-C21B-578B-8956-BB5C779A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Timing</a:t>
            </a:r>
            <a:r>
              <a:rPr lang="zh-TW" altLang="en-US" dirty="0"/>
              <a:t> </a:t>
            </a:r>
            <a:r>
              <a:rPr lang="en-US" altLang="zh-TW" dirty="0"/>
              <a:t>Stimuli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Events, Trials, Blocks, &amp; Run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15D52-50D7-4F8D-B2A9-2690EB5B2ECE}" type="datetime1">
              <a:rPr lang="en-US" altLang="zh-TW" smtClean="0"/>
              <a:t>3/19/2026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91" y="2060848"/>
            <a:ext cx="4918317" cy="3733801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7560874" y="632870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......</a:t>
            </a: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8DAA374-7088-4771-9D33-56AE396B905F}"/>
              </a:ext>
            </a:extLst>
          </p:cNvPr>
          <p:cNvGrpSpPr/>
          <p:nvPr/>
        </p:nvGrpSpPr>
        <p:grpSpPr>
          <a:xfrm>
            <a:off x="6399356" y="2060848"/>
            <a:ext cx="5313268" cy="4268654"/>
            <a:chOff x="5824180" y="2286150"/>
            <a:chExt cx="5313268" cy="4268654"/>
          </a:xfrm>
        </p:grpSpPr>
        <p:sp>
          <p:nvSpPr>
            <p:cNvPr id="7" name="文字方塊 6"/>
            <p:cNvSpPr txBox="1"/>
            <p:nvPr/>
          </p:nvSpPr>
          <p:spPr>
            <a:xfrm>
              <a:off x="5824180" y="2286150"/>
              <a:ext cx="386035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Trial #1   spatial cue/incongruent target</a:t>
              </a:r>
            </a:p>
            <a:p>
              <a:r>
                <a:rPr lang="en-US" dirty="0"/>
                <a:t>Trial #2   center cue/congruent target</a:t>
              </a:r>
            </a:p>
            <a:p>
              <a:r>
                <a:rPr lang="en-US" dirty="0"/>
                <a:t>Trial #3   spatial cue/congruent target</a:t>
              </a:r>
            </a:p>
            <a:p>
              <a:r>
                <a:rPr lang="en-US" dirty="0"/>
                <a:t>.........</a:t>
              </a:r>
            </a:p>
            <a:p>
              <a:r>
                <a:rPr lang="en-US" dirty="0"/>
                <a:t>Trial #N   no cue/incongruent target</a:t>
              </a:r>
            </a:p>
          </p:txBody>
        </p:sp>
        <p:sp>
          <p:nvSpPr>
            <p:cNvPr id="8" name="右大括弧 7"/>
            <p:cNvSpPr/>
            <p:nvPr/>
          </p:nvSpPr>
          <p:spPr>
            <a:xfrm>
              <a:off x="9707004" y="2438400"/>
              <a:ext cx="288758" cy="1222409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文字方塊 8"/>
            <p:cNvSpPr txBox="1"/>
            <p:nvPr/>
          </p:nvSpPr>
          <p:spPr>
            <a:xfrm rot="5400000">
              <a:off x="9693787" y="2864938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Block #1</a:t>
              </a: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7038777" y="3996288"/>
              <a:ext cx="1536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Resting Period</a:t>
              </a: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867296" y="4598430"/>
              <a:ext cx="386035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Trial #1   spatial cue/incongruent target</a:t>
              </a:r>
            </a:p>
            <a:p>
              <a:r>
                <a:rPr lang="en-US" dirty="0"/>
                <a:t>Trial #2   center cue/congruent target</a:t>
              </a:r>
            </a:p>
            <a:p>
              <a:r>
                <a:rPr lang="en-US" dirty="0"/>
                <a:t>Trial #3   spatial cue/congruent target</a:t>
              </a:r>
            </a:p>
            <a:p>
              <a:r>
                <a:rPr lang="en-US" dirty="0"/>
                <a:t>.........</a:t>
              </a:r>
            </a:p>
            <a:p>
              <a:r>
                <a:rPr lang="en-US" dirty="0"/>
                <a:t>Trial #N   no cue/incongruent target</a:t>
              </a:r>
            </a:p>
          </p:txBody>
        </p:sp>
        <p:sp>
          <p:nvSpPr>
            <p:cNvPr id="12" name="右大括弧 11"/>
            <p:cNvSpPr/>
            <p:nvPr/>
          </p:nvSpPr>
          <p:spPr>
            <a:xfrm>
              <a:off x="9750120" y="4750681"/>
              <a:ext cx="288758" cy="1222409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文字方塊 12"/>
            <p:cNvSpPr txBox="1"/>
            <p:nvPr/>
          </p:nvSpPr>
          <p:spPr>
            <a:xfrm rot="5400000">
              <a:off x="9736903" y="5177219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Block #2</a:t>
              </a:r>
            </a:p>
          </p:txBody>
        </p:sp>
        <p:sp>
          <p:nvSpPr>
            <p:cNvPr id="15" name="右大括弧 14"/>
            <p:cNvSpPr/>
            <p:nvPr/>
          </p:nvSpPr>
          <p:spPr>
            <a:xfrm>
              <a:off x="10430683" y="2528363"/>
              <a:ext cx="288758" cy="4026441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文字方塊 15"/>
            <p:cNvSpPr txBox="1"/>
            <p:nvPr/>
          </p:nvSpPr>
          <p:spPr>
            <a:xfrm rot="5400000">
              <a:off x="10518207" y="4407586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Run 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2843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81158" y="571480"/>
            <a:ext cx="3214710" cy="221457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738414" y="1214423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/>
              <a:t>餐桌</a:t>
            </a:r>
          </a:p>
        </p:txBody>
      </p:sp>
      <p:sp>
        <p:nvSpPr>
          <p:cNvPr id="8" name="矩形 7"/>
          <p:cNvSpPr/>
          <p:nvPr/>
        </p:nvSpPr>
        <p:spPr>
          <a:xfrm>
            <a:off x="6238876" y="587809"/>
            <a:ext cx="3286148" cy="221457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7167570" y="128586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800" dirty="0"/>
              <a:t>沙發</a:t>
            </a: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738282" y="3214686"/>
            <a:ext cx="7429552" cy="158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738283" y="3429000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t</a:t>
            </a:r>
            <a:r>
              <a:rPr lang="en-US" altLang="zh-TW" sz="4000" baseline="-25000" dirty="0"/>
              <a:t>0</a:t>
            </a:r>
            <a:endParaRPr lang="zh-TW" altLang="en-US" sz="4000" baseline="-250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4881555" y="3500438"/>
            <a:ext cx="546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t</a:t>
            </a:r>
            <a:r>
              <a:rPr lang="en-US" altLang="zh-TW" sz="4000" baseline="-25000" dirty="0"/>
              <a:t>1</a:t>
            </a:r>
            <a:endParaRPr lang="zh-TW" altLang="en-US" sz="4000" baseline="-25000" dirty="0"/>
          </a:p>
        </p:txBody>
      </p:sp>
      <p:cxnSp>
        <p:nvCxnSpPr>
          <p:cNvPr id="23" name="直線接點 22"/>
          <p:cNvCxnSpPr/>
          <p:nvPr/>
        </p:nvCxnSpPr>
        <p:spPr>
          <a:xfrm rot="5400000">
            <a:off x="4846629" y="3195296"/>
            <a:ext cx="500066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 rot="5400000">
            <a:off x="5988049" y="3210831"/>
            <a:ext cx="500066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rot="5400000">
            <a:off x="1631919" y="3178173"/>
            <a:ext cx="500066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6054935" y="3457945"/>
            <a:ext cx="5517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t</a:t>
            </a:r>
            <a:r>
              <a:rPr lang="en-US" altLang="zh-TW" sz="4000" baseline="-25000" dirty="0"/>
              <a:t>2</a:t>
            </a:r>
            <a:endParaRPr lang="zh-TW" altLang="en-US" sz="4000" baseline="-250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809720" y="4286257"/>
            <a:ext cx="864399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SOA = t</a:t>
            </a:r>
            <a:r>
              <a:rPr lang="en-US" altLang="zh-TW" sz="3200" baseline="-25000" dirty="0"/>
              <a:t>2</a:t>
            </a:r>
            <a:r>
              <a:rPr lang="en-US" altLang="zh-TW" sz="3200" dirty="0"/>
              <a:t>-t</a:t>
            </a:r>
            <a:r>
              <a:rPr lang="en-US" altLang="zh-TW" sz="3200" baseline="-25000" dirty="0"/>
              <a:t>0</a:t>
            </a:r>
            <a:r>
              <a:rPr lang="zh-TW" altLang="en-US" sz="3200" baseline="-25000" dirty="0"/>
              <a:t> </a:t>
            </a:r>
            <a:r>
              <a:rPr lang="zh-TW" altLang="en-US" sz="3200" dirty="0"/>
              <a:t> </a:t>
            </a:r>
            <a:endParaRPr lang="en-US" altLang="zh-TW" sz="3200" dirty="0"/>
          </a:p>
          <a:p>
            <a:r>
              <a:rPr lang="en-US" altLang="zh-TW" sz="3200" dirty="0"/>
              <a:t>refresh rate = d, </a:t>
            </a:r>
          </a:p>
          <a:p>
            <a:r>
              <a:rPr lang="en-US" altLang="zh-TW" sz="3200" dirty="0"/>
              <a:t>SOA must be equal to n*d, where n is a positive integer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3B302B-BF93-4BCA-911D-B2AE7348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7CC2-F227-4D39-B142-D09835678AC2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84BA699-5C3E-4C9E-95F1-885C4274A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63A93-25DC-4F3B-A64D-B211777D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445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50416" y="1643152"/>
            <a:ext cx="7830184" cy="309880"/>
            <a:chOff x="950416" y="1643152"/>
            <a:chExt cx="7830184" cy="309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416" y="1647617"/>
              <a:ext cx="1396240" cy="3050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5694" y="1653719"/>
              <a:ext cx="2246231" cy="2986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5864" y="1643152"/>
              <a:ext cx="4114407" cy="30956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580" y="2030502"/>
            <a:ext cx="3374491" cy="3095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90434" y="3056127"/>
            <a:ext cx="9549704" cy="3062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6854" y="3440202"/>
            <a:ext cx="8379450" cy="3095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53207" y="3799432"/>
            <a:ext cx="5513561" cy="19898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86780" y="4074061"/>
            <a:ext cx="1916908" cy="30435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59792" y="3057863"/>
            <a:ext cx="563245" cy="298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•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•</a:t>
            </a: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63923" y="4441085"/>
            <a:ext cx="9182100" cy="26536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58119" y="4778925"/>
            <a:ext cx="1314003" cy="2095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40656" y="5107835"/>
            <a:ext cx="9001323" cy="2653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43236" y="5444037"/>
            <a:ext cx="8514010" cy="26268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52761" y="5777412"/>
            <a:ext cx="8836670" cy="26268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52017" y="6110787"/>
            <a:ext cx="5576739" cy="262681"/>
          </a:xfrm>
          <a:prstGeom prst="rect">
            <a:avLst/>
          </a:prstGeom>
        </p:spPr>
      </p:pic>
      <p:sp>
        <p:nvSpPr>
          <p:cNvPr id="19" name="標題 18">
            <a:extLst>
              <a:ext uri="{FF2B5EF4-FFF2-40B4-BE49-F238E27FC236}">
                <a16:creationId xmlns:a16="http://schemas.microsoft.com/office/drawing/2014/main" id="{D5036CA1-50A7-C7CF-6B92-E1295BBA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20" y="364648"/>
            <a:ext cx="8886884" cy="1043078"/>
          </a:xfrm>
        </p:spPr>
        <p:txBody>
          <a:bodyPr/>
          <a:lstStyle/>
          <a:p>
            <a:r>
              <a:rPr lang="en-US" altLang="zh-TW" dirty="0"/>
              <a:t>Recording Responses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455" y="902867"/>
            <a:ext cx="2003153" cy="305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943" y="1623465"/>
            <a:ext cx="5674630" cy="1970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536" y="2014627"/>
            <a:ext cx="2081998" cy="3061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943" y="2880765"/>
            <a:ext cx="6278798" cy="197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536" y="3271927"/>
            <a:ext cx="3220002" cy="3061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7943" y="4280940"/>
            <a:ext cx="3844118" cy="197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1536" y="4672102"/>
            <a:ext cx="2691190" cy="3097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7943" y="5679032"/>
            <a:ext cx="3537458" cy="1989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1536" y="6072277"/>
            <a:ext cx="2247968" cy="3061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Presentation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Temporal issues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Refresh rate</a:t>
            </a:r>
          </a:p>
          <a:p>
            <a:pPr lvl="1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Synchronization </a:t>
            </a:r>
          </a:p>
          <a:p>
            <a:endParaRPr lang="en-US" altLang="zh-TW" dirty="0"/>
          </a:p>
          <a:p>
            <a:r>
              <a:rPr lang="en-US" altLang="zh-TW" dirty="0"/>
              <a:t>Spatial issues</a:t>
            </a:r>
          </a:p>
          <a:p>
            <a:pPr lvl="1"/>
            <a:r>
              <a:rPr lang="en-US" altLang="zh-TW" dirty="0"/>
              <a:t>Visual angle</a:t>
            </a:r>
          </a:p>
          <a:p>
            <a:pPr lvl="2"/>
            <a:r>
              <a:rPr lang="en-US" altLang="zh-TW" dirty="0"/>
              <a:t>Pixel size</a:t>
            </a:r>
          </a:p>
          <a:p>
            <a:pPr lvl="2"/>
            <a:r>
              <a:rPr lang="en-US" altLang="zh-TW" dirty="0"/>
              <a:t>Viewing distance</a:t>
            </a:r>
          </a:p>
          <a:p>
            <a:pPr lvl="1"/>
            <a:r>
              <a:rPr lang="en-US" altLang="zh-TW" dirty="0"/>
              <a:t>Visual fields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FD6348-C808-4AB5-8B86-785BDADCD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5056D-C97F-40AD-81E8-12980A938B31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ED04D6-D941-4A6E-B37E-AB93140E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8E7176-1D61-4E63-AF40-8C2222B1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66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76FE2A9-2686-41B5-A564-D0A13A89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Unit of Window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E22602-9CD6-4401-8720-D2B140A5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8E15-C487-4AD1-80A2-DA810DC4D251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665D38-A214-43B8-9CBC-163DF5BC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D0F6B-3104-4F14-9E37-45191B0C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32</a:t>
            </a:fld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EF8CD2E4-1355-2410-6146-AC0562520648}"/>
              </a:ext>
            </a:extLst>
          </p:cNvPr>
          <p:cNvGrpSpPr/>
          <p:nvPr/>
        </p:nvGrpSpPr>
        <p:grpSpPr>
          <a:xfrm>
            <a:off x="2358440" y="1412776"/>
            <a:ext cx="7475120" cy="4032448"/>
            <a:chOff x="2941360" y="1700808"/>
            <a:chExt cx="7475120" cy="403244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9AE35C-0DB8-4368-AC9A-3523506DDB7E}"/>
                </a:ext>
              </a:extLst>
            </p:cNvPr>
            <p:cNvSpPr/>
            <p:nvPr/>
          </p:nvSpPr>
          <p:spPr>
            <a:xfrm>
              <a:off x="3109588" y="1844774"/>
              <a:ext cx="7162876" cy="37444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E0D66CB-9C2F-48B0-A6EA-9CFB33018C2E}"/>
                </a:ext>
              </a:extLst>
            </p:cNvPr>
            <p:cNvCxnSpPr>
              <a:cxnSpLocks/>
            </p:cNvCxnSpPr>
            <p:nvPr/>
          </p:nvCxnSpPr>
          <p:spPr>
            <a:xfrm>
              <a:off x="3108006" y="3717032"/>
              <a:ext cx="71628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D727E0CB-5852-40DF-9835-C9FBED6317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97544" y="3719294"/>
              <a:ext cx="3749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40FF59B-1140-436C-AFD3-B814BF3C9E58}"/>
                </a:ext>
              </a:extLst>
            </p:cNvPr>
            <p:cNvSpPr txBox="1"/>
            <p:nvPr/>
          </p:nvSpPr>
          <p:spPr>
            <a:xfrm>
              <a:off x="6672064" y="3326447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FABF4E0-745F-4672-BEC4-AA283CF1032F}"/>
                </a:ext>
              </a:extLst>
            </p:cNvPr>
            <p:cNvSpPr txBox="1"/>
            <p:nvPr/>
          </p:nvSpPr>
          <p:spPr>
            <a:xfrm>
              <a:off x="6616097" y="5219908"/>
              <a:ext cx="738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-Y)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38D63F0-C936-4B50-8679-CE6C655AAE15}"/>
                </a:ext>
              </a:extLst>
            </p:cNvPr>
            <p:cNvSpPr txBox="1"/>
            <p:nvPr/>
          </p:nvSpPr>
          <p:spPr>
            <a:xfrm>
              <a:off x="6689444" y="1812995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+Y)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2A57E03A-5050-4425-9DDB-163DDDBF42E4}"/>
                </a:ext>
              </a:extLst>
            </p:cNvPr>
            <p:cNvSpPr/>
            <p:nvPr/>
          </p:nvSpPr>
          <p:spPr>
            <a:xfrm>
              <a:off x="6528048" y="170080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BE82D50A-799B-4DAC-82EA-19EBA8B1947A}"/>
                </a:ext>
              </a:extLst>
            </p:cNvPr>
            <p:cNvSpPr/>
            <p:nvPr/>
          </p:nvSpPr>
          <p:spPr>
            <a:xfrm>
              <a:off x="6528048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E217ECC-9F09-439C-A894-FB92755BCA5C}"/>
                </a:ext>
              </a:extLst>
            </p:cNvPr>
            <p:cNvSpPr/>
            <p:nvPr/>
          </p:nvSpPr>
          <p:spPr>
            <a:xfrm>
              <a:off x="6541760" y="545893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0A6750E-F0CE-45D9-8FD1-CF54F731D051}"/>
                </a:ext>
              </a:extLst>
            </p:cNvPr>
            <p:cNvSpPr/>
            <p:nvPr/>
          </p:nvSpPr>
          <p:spPr>
            <a:xfrm>
              <a:off x="2941360" y="357301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94DA9AD-E6A2-4CAA-BC65-FD924EF874FA}"/>
                </a:ext>
              </a:extLst>
            </p:cNvPr>
            <p:cNvSpPr/>
            <p:nvPr/>
          </p:nvSpPr>
          <p:spPr>
            <a:xfrm>
              <a:off x="10142160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74CD2DC-5986-4C2D-A949-F30B3E7C73DB}"/>
                </a:ext>
              </a:extLst>
            </p:cNvPr>
            <p:cNvSpPr txBox="1"/>
            <p:nvPr/>
          </p:nvSpPr>
          <p:spPr>
            <a:xfrm>
              <a:off x="3071664" y="3347700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(-X,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C86C786-2372-4B30-83E0-DFF93822F4C1}"/>
                </a:ext>
              </a:extLst>
            </p:cNvPr>
            <p:cNvSpPr txBox="1"/>
            <p:nvPr/>
          </p:nvSpPr>
          <p:spPr>
            <a:xfrm>
              <a:off x="9579508" y="3257996"/>
              <a:ext cx="8274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(+X,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088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76FE2A9-2686-41B5-A564-D0A13A89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Height Units: For 4:3 aspect ratio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E22602-9CD6-4401-8720-D2B140A5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AC8FB-D142-410D-A293-2564BE4F3F31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665D38-A214-43B8-9CBC-163DF5BC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D0F6B-3104-4F14-9E37-45191B0C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33</a:t>
            </a:fld>
            <a:endParaRPr lang="zh-TW" altLang="en-US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828A8E83-45C5-D378-4323-5EAF1F41B858}"/>
              </a:ext>
            </a:extLst>
          </p:cNvPr>
          <p:cNvGrpSpPr/>
          <p:nvPr/>
        </p:nvGrpSpPr>
        <p:grpSpPr>
          <a:xfrm>
            <a:off x="2351525" y="1412776"/>
            <a:ext cx="7488950" cy="4032448"/>
            <a:chOff x="2941360" y="1700808"/>
            <a:chExt cx="7488950" cy="403244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9AE35C-0DB8-4368-AC9A-3523506DDB7E}"/>
                </a:ext>
              </a:extLst>
            </p:cNvPr>
            <p:cNvSpPr/>
            <p:nvPr/>
          </p:nvSpPr>
          <p:spPr>
            <a:xfrm>
              <a:off x="3109588" y="1844774"/>
              <a:ext cx="7162876" cy="37444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E0D66CB-9C2F-48B0-A6EA-9CFB33018C2E}"/>
                </a:ext>
              </a:extLst>
            </p:cNvPr>
            <p:cNvCxnSpPr>
              <a:cxnSpLocks/>
            </p:cNvCxnSpPr>
            <p:nvPr/>
          </p:nvCxnSpPr>
          <p:spPr>
            <a:xfrm>
              <a:off x="3108006" y="3717032"/>
              <a:ext cx="71628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D727E0CB-5852-40DF-9835-C9FBED6317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97544" y="3719294"/>
              <a:ext cx="3749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40FF59B-1140-436C-AFD3-B814BF3C9E58}"/>
                </a:ext>
              </a:extLst>
            </p:cNvPr>
            <p:cNvSpPr txBox="1"/>
            <p:nvPr/>
          </p:nvSpPr>
          <p:spPr>
            <a:xfrm>
              <a:off x="6672064" y="3326447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FABF4E0-745F-4672-BEC4-AA283CF1032F}"/>
                </a:ext>
              </a:extLst>
            </p:cNvPr>
            <p:cNvSpPr txBox="1"/>
            <p:nvPr/>
          </p:nvSpPr>
          <p:spPr>
            <a:xfrm>
              <a:off x="6616097" y="5219908"/>
              <a:ext cx="958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-0.5)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38D63F0-C936-4B50-8679-CE6C655AAE15}"/>
                </a:ext>
              </a:extLst>
            </p:cNvPr>
            <p:cNvSpPr txBox="1"/>
            <p:nvPr/>
          </p:nvSpPr>
          <p:spPr>
            <a:xfrm>
              <a:off x="6689444" y="1812995"/>
              <a:ext cx="103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+0.5)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2A57E03A-5050-4425-9DDB-163DDDBF42E4}"/>
                </a:ext>
              </a:extLst>
            </p:cNvPr>
            <p:cNvSpPr/>
            <p:nvPr/>
          </p:nvSpPr>
          <p:spPr>
            <a:xfrm>
              <a:off x="6528048" y="170080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BE82D50A-799B-4DAC-82EA-19EBA8B1947A}"/>
                </a:ext>
              </a:extLst>
            </p:cNvPr>
            <p:cNvSpPr/>
            <p:nvPr/>
          </p:nvSpPr>
          <p:spPr>
            <a:xfrm>
              <a:off x="6528048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E217ECC-9F09-439C-A894-FB92755BCA5C}"/>
                </a:ext>
              </a:extLst>
            </p:cNvPr>
            <p:cNvSpPr/>
            <p:nvPr/>
          </p:nvSpPr>
          <p:spPr>
            <a:xfrm>
              <a:off x="6541760" y="545893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0A6750E-F0CE-45D9-8FD1-CF54F731D051}"/>
                </a:ext>
              </a:extLst>
            </p:cNvPr>
            <p:cNvSpPr/>
            <p:nvPr/>
          </p:nvSpPr>
          <p:spPr>
            <a:xfrm>
              <a:off x="2941360" y="357301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94DA9AD-E6A2-4CAA-BC65-FD924EF874FA}"/>
                </a:ext>
              </a:extLst>
            </p:cNvPr>
            <p:cNvSpPr/>
            <p:nvPr/>
          </p:nvSpPr>
          <p:spPr>
            <a:xfrm>
              <a:off x="10142160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74CD2DC-5986-4C2D-A949-F30B3E7C73DB}"/>
                </a:ext>
              </a:extLst>
            </p:cNvPr>
            <p:cNvSpPr txBox="1"/>
            <p:nvPr/>
          </p:nvSpPr>
          <p:spPr>
            <a:xfrm>
              <a:off x="3071664" y="3347700"/>
              <a:ext cx="1231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(-0.667,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C86C786-2372-4B30-83E0-DFF93822F4C1}"/>
                </a:ext>
              </a:extLst>
            </p:cNvPr>
            <p:cNvSpPr txBox="1"/>
            <p:nvPr/>
          </p:nvSpPr>
          <p:spPr>
            <a:xfrm>
              <a:off x="9120336" y="3347700"/>
              <a:ext cx="13099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(+0.667,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661C5C6-4FA6-4639-855D-584B05F315C7}"/>
                </a:ext>
              </a:extLst>
            </p:cNvPr>
            <p:cNvSpPr/>
            <p:nvPr/>
          </p:nvSpPr>
          <p:spPr>
            <a:xfrm>
              <a:off x="3105416" y="5219908"/>
              <a:ext cx="15504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(-0.6667,-0.5)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29D1B90-87D3-417F-A6EB-9913EB450787}"/>
                </a:ext>
              </a:extLst>
            </p:cNvPr>
            <p:cNvSpPr/>
            <p:nvPr/>
          </p:nvSpPr>
          <p:spPr>
            <a:xfrm>
              <a:off x="8544272" y="1877671"/>
              <a:ext cx="17187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(+0.6667,+0.5)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2E6B814-0F78-41B2-A04F-97054BE2022E}"/>
              </a:ext>
            </a:extLst>
          </p:cNvPr>
          <p:cNvSpPr/>
          <p:nvPr/>
        </p:nvSpPr>
        <p:spPr>
          <a:xfrm>
            <a:off x="6966739" y="6309320"/>
            <a:ext cx="3468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Requires : No monitor information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2034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76FE2A9-2686-41B5-A564-D0A13A89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Height Units: For 16:10 aspect ratio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E22602-9CD6-4401-8720-D2B140A5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2B319-5A11-4586-BC98-93D057322508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665D38-A214-43B8-9CBC-163DF5BC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D0F6B-3104-4F14-9E37-45191B0C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34</a:t>
            </a:fld>
            <a:endParaRPr lang="zh-TW" altLang="en-US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0FE566D-EDD0-87E9-E933-62437FEC9942}"/>
              </a:ext>
            </a:extLst>
          </p:cNvPr>
          <p:cNvGrpSpPr/>
          <p:nvPr/>
        </p:nvGrpSpPr>
        <p:grpSpPr>
          <a:xfrm>
            <a:off x="2358440" y="1412776"/>
            <a:ext cx="7475120" cy="4032448"/>
            <a:chOff x="2941360" y="1700808"/>
            <a:chExt cx="7475120" cy="403244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9AE35C-0DB8-4368-AC9A-3523506DDB7E}"/>
                </a:ext>
              </a:extLst>
            </p:cNvPr>
            <p:cNvSpPr/>
            <p:nvPr/>
          </p:nvSpPr>
          <p:spPr>
            <a:xfrm>
              <a:off x="3109588" y="1844774"/>
              <a:ext cx="7162876" cy="37444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E0D66CB-9C2F-48B0-A6EA-9CFB33018C2E}"/>
                </a:ext>
              </a:extLst>
            </p:cNvPr>
            <p:cNvCxnSpPr>
              <a:cxnSpLocks/>
            </p:cNvCxnSpPr>
            <p:nvPr/>
          </p:nvCxnSpPr>
          <p:spPr>
            <a:xfrm>
              <a:off x="3108006" y="3717032"/>
              <a:ext cx="71628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D727E0CB-5852-40DF-9835-C9FBED6317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97544" y="3719294"/>
              <a:ext cx="3749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40FF59B-1140-436C-AFD3-B814BF3C9E58}"/>
                </a:ext>
              </a:extLst>
            </p:cNvPr>
            <p:cNvSpPr txBox="1"/>
            <p:nvPr/>
          </p:nvSpPr>
          <p:spPr>
            <a:xfrm>
              <a:off x="6672064" y="3326447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FABF4E0-745F-4672-BEC4-AA283CF1032F}"/>
                </a:ext>
              </a:extLst>
            </p:cNvPr>
            <p:cNvSpPr txBox="1"/>
            <p:nvPr/>
          </p:nvSpPr>
          <p:spPr>
            <a:xfrm>
              <a:off x="6616097" y="5219908"/>
              <a:ext cx="958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-0.5)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38D63F0-C936-4B50-8679-CE6C655AAE15}"/>
                </a:ext>
              </a:extLst>
            </p:cNvPr>
            <p:cNvSpPr txBox="1"/>
            <p:nvPr/>
          </p:nvSpPr>
          <p:spPr>
            <a:xfrm>
              <a:off x="6689444" y="1812995"/>
              <a:ext cx="103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+0.5)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2A57E03A-5050-4425-9DDB-163DDDBF42E4}"/>
                </a:ext>
              </a:extLst>
            </p:cNvPr>
            <p:cNvSpPr/>
            <p:nvPr/>
          </p:nvSpPr>
          <p:spPr>
            <a:xfrm>
              <a:off x="6528048" y="170080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BE82D50A-799B-4DAC-82EA-19EBA8B1947A}"/>
                </a:ext>
              </a:extLst>
            </p:cNvPr>
            <p:cNvSpPr/>
            <p:nvPr/>
          </p:nvSpPr>
          <p:spPr>
            <a:xfrm>
              <a:off x="6528048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E217ECC-9F09-439C-A894-FB92755BCA5C}"/>
                </a:ext>
              </a:extLst>
            </p:cNvPr>
            <p:cNvSpPr/>
            <p:nvPr/>
          </p:nvSpPr>
          <p:spPr>
            <a:xfrm>
              <a:off x="6541760" y="545893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0A6750E-F0CE-45D9-8FD1-CF54F731D051}"/>
                </a:ext>
              </a:extLst>
            </p:cNvPr>
            <p:cNvSpPr/>
            <p:nvPr/>
          </p:nvSpPr>
          <p:spPr>
            <a:xfrm>
              <a:off x="2941360" y="357301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94DA9AD-E6A2-4CAA-BC65-FD924EF874FA}"/>
                </a:ext>
              </a:extLst>
            </p:cNvPr>
            <p:cNvSpPr/>
            <p:nvPr/>
          </p:nvSpPr>
          <p:spPr>
            <a:xfrm>
              <a:off x="10142160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74CD2DC-5986-4C2D-A949-F30B3E7C73DB}"/>
                </a:ext>
              </a:extLst>
            </p:cNvPr>
            <p:cNvSpPr txBox="1"/>
            <p:nvPr/>
          </p:nvSpPr>
          <p:spPr>
            <a:xfrm>
              <a:off x="3071664" y="3347700"/>
              <a:ext cx="958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(-0.8,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C86C786-2372-4B30-83E0-DFF93822F4C1}"/>
                </a:ext>
              </a:extLst>
            </p:cNvPr>
            <p:cNvSpPr txBox="1"/>
            <p:nvPr/>
          </p:nvSpPr>
          <p:spPr>
            <a:xfrm>
              <a:off x="9307009" y="3275692"/>
              <a:ext cx="103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(+0.8,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661C5C6-4FA6-4639-855D-584B05F315C7}"/>
                </a:ext>
              </a:extLst>
            </p:cNvPr>
            <p:cNvSpPr/>
            <p:nvPr/>
          </p:nvSpPr>
          <p:spPr>
            <a:xfrm>
              <a:off x="3105416" y="5219908"/>
              <a:ext cx="11528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(-0.8,-0.5)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29D1B90-87D3-417F-A6EB-9913EB450787}"/>
                </a:ext>
              </a:extLst>
            </p:cNvPr>
            <p:cNvSpPr/>
            <p:nvPr/>
          </p:nvSpPr>
          <p:spPr>
            <a:xfrm>
              <a:off x="8976790" y="1835532"/>
              <a:ext cx="13676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(+0.8, +0.5)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24030DE-08F2-48EC-8590-828C9D4CEDA9}"/>
              </a:ext>
            </a:extLst>
          </p:cNvPr>
          <p:cNvSpPr/>
          <p:nvPr/>
        </p:nvSpPr>
        <p:spPr>
          <a:xfrm>
            <a:off x="7095555" y="6251074"/>
            <a:ext cx="3468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Requires : No monitor information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1495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76FE2A9-2686-41B5-A564-D0A13A89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Normalized (“norm”) Units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E22602-9CD6-4401-8720-D2B140A5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15EC2-EEBF-4633-95F4-1F097E671BAA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7665D38-A214-43B8-9CBC-163DF5BC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D0F6B-3104-4F14-9E37-45191B0C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35</a:t>
            </a:fld>
            <a:endParaRPr lang="zh-TW" altLang="en-US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CA143D24-2830-70BA-11B5-A5E70A3BE2C2}"/>
              </a:ext>
            </a:extLst>
          </p:cNvPr>
          <p:cNvGrpSpPr/>
          <p:nvPr/>
        </p:nvGrpSpPr>
        <p:grpSpPr>
          <a:xfrm>
            <a:off x="2358440" y="1412776"/>
            <a:ext cx="7475120" cy="4032448"/>
            <a:chOff x="2941360" y="1700808"/>
            <a:chExt cx="7475120" cy="403244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99AE35C-0DB8-4368-AC9A-3523506DDB7E}"/>
                </a:ext>
              </a:extLst>
            </p:cNvPr>
            <p:cNvSpPr/>
            <p:nvPr/>
          </p:nvSpPr>
          <p:spPr>
            <a:xfrm>
              <a:off x="3109588" y="1844774"/>
              <a:ext cx="7162876" cy="37444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E0D66CB-9C2F-48B0-A6EA-9CFB33018C2E}"/>
                </a:ext>
              </a:extLst>
            </p:cNvPr>
            <p:cNvCxnSpPr>
              <a:cxnSpLocks/>
            </p:cNvCxnSpPr>
            <p:nvPr/>
          </p:nvCxnSpPr>
          <p:spPr>
            <a:xfrm>
              <a:off x="3108006" y="3717032"/>
              <a:ext cx="7162876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D727E0CB-5852-40DF-9835-C9FBED6317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797544" y="3719294"/>
              <a:ext cx="37490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140FF59B-1140-436C-AFD3-B814BF3C9E58}"/>
                </a:ext>
              </a:extLst>
            </p:cNvPr>
            <p:cNvSpPr txBox="1"/>
            <p:nvPr/>
          </p:nvSpPr>
          <p:spPr>
            <a:xfrm>
              <a:off x="6672064" y="3326447"/>
              <a:ext cx="704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AFABF4E0-745F-4672-BEC4-AA283CF1032F}"/>
                </a:ext>
              </a:extLst>
            </p:cNvPr>
            <p:cNvSpPr txBox="1"/>
            <p:nvPr/>
          </p:nvSpPr>
          <p:spPr>
            <a:xfrm>
              <a:off x="6672064" y="5157192"/>
              <a:ext cx="7649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-1)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38D63F0-C936-4B50-8679-CE6C655AAE15}"/>
                </a:ext>
              </a:extLst>
            </p:cNvPr>
            <p:cNvSpPr txBox="1"/>
            <p:nvPr/>
          </p:nvSpPr>
          <p:spPr>
            <a:xfrm>
              <a:off x="6689444" y="1812995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(0, +1)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2A57E03A-5050-4425-9DDB-163DDDBF42E4}"/>
                </a:ext>
              </a:extLst>
            </p:cNvPr>
            <p:cNvSpPr/>
            <p:nvPr/>
          </p:nvSpPr>
          <p:spPr>
            <a:xfrm>
              <a:off x="6528048" y="170080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BE82D50A-799B-4DAC-82EA-19EBA8B1947A}"/>
                </a:ext>
              </a:extLst>
            </p:cNvPr>
            <p:cNvSpPr/>
            <p:nvPr/>
          </p:nvSpPr>
          <p:spPr>
            <a:xfrm>
              <a:off x="6528048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E217ECC-9F09-439C-A894-FB92755BCA5C}"/>
                </a:ext>
              </a:extLst>
            </p:cNvPr>
            <p:cNvSpPr/>
            <p:nvPr/>
          </p:nvSpPr>
          <p:spPr>
            <a:xfrm>
              <a:off x="6541760" y="545893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0A6750E-F0CE-45D9-8FD1-CF54F731D051}"/>
                </a:ext>
              </a:extLst>
            </p:cNvPr>
            <p:cNvSpPr/>
            <p:nvPr/>
          </p:nvSpPr>
          <p:spPr>
            <a:xfrm>
              <a:off x="2941360" y="3573016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94DA9AD-E6A2-4CAA-BC65-FD924EF874FA}"/>
                </a:ext>
              </a:extLst>
            </p:cNvPr>
            <p:cNvSpPr/>
            <p:nvPr/>
          </p:nvSpPr>
          <p:spPr>
            <a:xfrm>
              <a:off x="10142160" y="3586728"/>
              <a:ext cx="274320" cy="27432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74CD2DC-5986-4C2D-A949-F30B3E7C73DB}"/>
                </a:ext>
              </a:extLst>
            </p:cNvPr>
            <p:cNvSpPr txBox="1"/>
            <p:nvPr/>
          </p:nvSpPr>
          <p:spPr>
            <a:xfrm>
              <a:off x="3071664" y="3347700"/>
              <a:ext cx="763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(-1,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CC86C786-2372-4B30-83E0-DFF93822F4C1}"/>
                </a:ext>
              </a:extLst>
            </p:cNvPr>
            <p:cNvSpPr txBox="1"/>
            <p:nvPr/>
          </p:nvSpPr>
          <p:spPr>
            <a:xfrm>
              <a:off x="9486725" y="3331658"/>
              <a:ext cx="841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(+1, 0)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661C5C6-4FA6-4639-855D-584B05F315C7}"/>
                </a:ext>
              </a:extLst>
            </p:cNvPr>
            <p:cNvSpPr/>
            <p:nvPr/>
          </p:nvSpPr>
          <p:spPr>
            <a:xfrm>
              <a:off x="3105416" y="5219908"/>
              <a:ext cx="7631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(-1,-1)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29D1B90-87D3-417F-A6EB-9913EB450787}"/>
                </a:ext>
              </a:extLst>
            </p:cNvPr>
            <p:cNvSpPr/>
            <p:nvPr/>
          </p:nvSpPr>
          <p:spPr>
            <a:xfrm>
              <a:off x="9336179" y="1803448"/>
              <a:ext cx="9202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b="1" dirty="0">
                  <a:solidFill>
                    <a:schemeClr val="bg1"/>
                  </a:solidFill>
                </a:rPr>
                <a:t>(+1,+1)</a:t>
              </a:r>
              <a:endParaRPr lang="zh-TW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6A6D4BC7-2E8A-42E2-BC62-322D69C7D63D}"/>
              </a:ext>
            </a:extLst>
          </p:cNvPr>
          <p:cNvSpPr/>
          <p:nvPr/>
        </p:nvSpPr>
        <p:spPr>
          <a:xfrm>
            <a:off x="574431" y="6166636"/>
            <a:ext cx="3468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Requires : No monitor information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2187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Angle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relative extent of visual area occupied by the visual image</a:t>
            </a:r>
          </a:p>
          <a:p>
            <a:pPr lvl="1"/>
            <a:r>
              <a:rPr lang="en-US" altLang="zh-TW" dirty="0"/>
              <a:t>Expressed in visual degree(s)</a:t>
            </a:r>
            <a:endParaRPr lang="zh-TW" altLang="en-US" dirty="0"/>
          </a:p>
        </p:txBody>
      </p:sp>
      <p:pic>
        <p:nvPicPr>
          <p:cNvPr id="4098" name="Picture 2" descr="http://upload.wikimedia.org/wikipedia/commons/2/23/EyeOpticsV400y.jpg"/>
          <p:cNvPicPr>
            <a:picLocks noChangeAspect="1" noChangeArrowheads="1"/>
          </p:cNvPicPr>
          <p:nvPr/>
        </p:nvPicPr>
        <p:blipFill>
          <a:blip r:embed="rId2" cstate="print"/>
          <a:srcRect b="16850"/>
          <a:stretch>
            <a:fillRect/>
          </a:stretch>
        </p:blipFill>
        <p:spPr bwMode="auto">
          <a:xfrm>
            <a:off x="1881158" y="4000504"/>
            <a:ext cx="4143404" cy="2428892"/>
          </a:xfrm>
          <a:prstGeom prst="rect">
            <a:avLst/>
          </a:prstGeom>
          <a:noFill/>
        </p:spPr>
      </p:pic>
      <p:sp>
        <p:nvSpPr>
          <p:cNvPr id="5" name="文字方塊 4"/>
          <p:cNvSpPr txBox="1"/>
          <p:nvPr/>
        </p:nvSpPr>
        <p:spPr>
          <a:xfrm>
            <a:off x="6238876" y="4429133"/>
            <a:ext cx="3589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V = 2 </a:t>
            </a:r>
            <a:r>
              <a:rPr lang="en-US" altLang="zh-TW" sz="3600" dirty="0" err="1"/>
              <a:t>arctan</a:t>
            </a:r>
            <a:r>
              <a:rPr lang="en-US" altLang="zh-TW" sz="3600" dirty="0"/>
              <a:t>(S/2D)</a:t>
            </a:r>
            <a:endParaRPr lang="zh-TW" altLang="en-US" sz="36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8596331" y="3929066"/>
            <a:ext cx="1607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In radians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167439" y="5429265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/>
              <a:t>V*180/pi </a:t>
            </a:r>
            <a:r>
              <a:rPr lang="en-US" altLang="zh-TW" sz="3600" dirty="0">
                <a:sym typeface="Wingdings" pitchFamily="2" charset="2"/>
              </a:rPr>
              <a:t> degrees</a:t>
            </a:r>
            <a:endParaRPr lang="zh-TW" altLang="en-US" sz="36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77CA18-3972-4120-A8F1-1A542A0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FD07C-3620-47A5-810E-F1F9B19BD578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855D708-B26E-454C-94E1-84ABCE20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A49BC6E-7ECE-490F-8983-A8278C27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43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Degree and Pixels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Plot a square with known number of pixels</a:t>
            </a:r>
          </a:p>
          <a:p>
            <a:endParaRPr lang="en-US" altLang="zh-TW" dirty="0"/>
          </a:p>
          <a:p>
            <a:r>
              <a:rPr lang="en-US" altLang="zh-TW" dirty="0"/>
              <a:t>Determine the visual angle of the square</a:t>
            </a:r>
          </a:p>
          <a:p>
            <a:endParaRPr lang="en-US" altLang="zh-TW" dirty="0"/>
          </a:p>
          <a:p>
            <a:r>
              <a:rPr lang="en-US" altLang="zh-TW" dirty="0"/>
              <a:t>Calculate the visual angle per pixel</a:t>
            </a:r>
          </a:p>
          <a:p>
            <a:endParaRPr lang="en-US" altLang="zh-TW" dirty="0"/>
          </a:p>
          <a:p>
            <a:r>
              <a:rPr lang="en-US" altLang="zh-TW" dirty="0"/>
              <a:t>Then one can determine the visual angle of any visual stimulus with known number of pixels as the boundary box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BD2444-1429-419C-8A31-8FE968DA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2136-55CD-40D7-B96F-7A6282C0BF31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1158EA-5C62-4FFD-9F59-6CC89F57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8227D4-E0AB-4389-96CD-EEF3F6CD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860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238348" y="2428868"/>
            <a:ext cx="1928826" cy="20002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左大括弧 5"/>
          <p:cNvSpPr/>
          <p:nvPr/>
        </p:nvSpPr>
        <p:spPr>
          <a:xfrm rot="5400000">
            <a:off x="2988447" y="1107265"/>
            <a:ext cx="500066" cy="2000264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1452530" y="1000109"/>
            <a:ext cx="3786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100 pixels, 4.5 degree at 57 cm viewing distance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595934" y="3071811"/>
            <a:ext cx="3786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On this particular display, Each pixel is 0.045 degree.</a:t>
            </a:r>
            <a:endParaRPr lang="zh-TW" altLang="en-US" sz="2400" dirty="0"/>
          </a:p>
        </p:txBody>
      </p:sp>
      <p:sp>
        <p:nvSpPr>
          <p:cNvPr id="10" name="向右箭號 9"/>
          <p:cNvSpPr/>
          <p:nvPr/>
        </p:nvSpPr>
        <p:spPr>
          <a:xfrm>
            <a:off x="4738678" y="3214686"/>
            <a:ext cx="71438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6667505" y="4143380"/>
            <a:ext cx="103105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b="1" dirty="0"/>
              <a:t>國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5310182" y="5229044"/>
            <a:ext cx="428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Thus if the bounding box of the character is 45 pixels, it is 0.045*25 = 1.125 degree </a:t>
            </a:r>
            <a:endParaRPr lang="zh-TW" altLang="en-US" sz="2400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3BEA46B-667D-47CA-97F9-113E1E86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952D7-6890-43BB-9569-29CF07C80BAB}" type="datetime1">
              <a:rPr lang="en-US" altLang="zh-TW" smtClean="0"/>
              <a:t>3/19/2026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638BC62-C5CE-4F24-BF79-BA97A9AF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Programming &amp; Big Data, 2024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1AB1F1-C5A3-4429-9B0B-7084CDD3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865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969C5-2B67-1DF6-2141-1DC862BE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</a:t>
            </a:r>
            <a:r>
              <a:rPr lang="en-US" altLang="zh-TW" b="1" dirty="0"/>
              <a:t>Record Response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4B6E7D-1069-CB5D-A73B-D5570A2A37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</a:t>
            </a:r>
            <a:r>
              <a:rPr lang="en-US" altLang="zh-TW" dirty="0" err="1"/>
              <a:t>event.waitKeys</a:t>
            </a:r>
            <a:r>
              <a:rPr lang="en-US" altLang="zh-TW" dirty="0"/>
              <a:t>() with </a:t>
            </a:r>
            <a:r>
              <a:rPr lang="en-US" altLang="zh-TW" dirty="0" err="1"/>
              <a:t>maxWait</a:t>
            </a:r>
            <a:r>
              <a:rPr lang="en-US" altLang="zh-TW" dirty="0"/>
              <a:t>=3 parameter to limit response collection time</a:t>
            </a:r>
          </a:p>
          <a:p>
            <a:r>
              <a:rPr lang="en-US" altLang="zh-TW" dirty="0"/>
              <a:t>This function pauses script execution while waiting for keyboard input</a:t>
            </a:r>
          </a:p>
          <a:p>
            <a:r>
              <a:rPr lang="en-US" altLang="zh-TW" dirty="0"/>
              <a:t>Set </a:t>
            </a:r>
            <a:r>
              <a:rPr lang="en-US" altLang="zh-TW" dirty="0" err="1"/>
              <a:t>timeStamped</a:t>
            </a:r>
            <a:r>
              <a:rPr lang="en-US" altLang="zh-TW" dirty="0"/>
              <a:t>=False initially to focus only on which key was pressed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2AB5A5-9E6E-4968-1029-57FF17888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Save the recorded key to a variable (e.g., key = </a:t>
            </a:r>
            <a:r>
              <a:rPr lang="en-US" altLang="zh-TW" dirty="0" err="1"/>
              <a:t>event.waitKeys</a:t>
            </a:r>
            <a:r>
              <a:rPr lang="en-US" altLang="zh-TW" dirty="0"/>
              <a:t>(</a:t>
            </a:r>
            <a:r>
              <a:rPr lang="en-US" altLang="zh-TW" dirty="0" err="1"/>
              <a:t>maxWait</a:t>
            </a:r>
            <a:r>
              <a:rPr lang="en-US" altLang="zh-TW" dirty="0"/>
              <a:t>=3))</a:t>
            </a:r>
          </a:p>
          <a:p>
            <a:r>
              <a:rPr lang="en-US" altLang="zh-TW" dirty="0"/>
              <a:t>Handle case when no key is pressed by checking if return value is None</a:t>
            </a:r>
          </a:p>
          <a:p>
            <a:r>
              <a:rPr lang="en-US" altLang="zh-TW" dirty="0"/>
              <a:t>Implement proper error handling to prevent crashes when participants don't respond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DD0626-CF58-22EB-2561-7410080F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589A4B-27C7-52C1-53A7-7D62E7E8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54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ACA344-ABF7-AC15-F49A-9ED4C7DB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Exercise: Record Reaction Time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BA5BD0-66A3-B1E9-4F18-22AFD06AC5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Set </a:t>
            </a:r>
            <a:r>
              <a:rPr lang="en-US" altLang="zh-TW" dirty="0" err="1"/>
              <a:t>timeStamped</a:t>
            </a:r>
            <a:r>
              <a:rPr lang="en-US" altLang="zh-TW" dirty="0"/>
              <a:t>=True to capture both keypress and precise timing information</a:t>
            </a:r>
          </a:p>
          <a:p>
            <a:r>
              <a:rPr lang="en-US" altLang="zh-TW" dirty="0"/>
              <a:t>This returns a tuple containing (</a:t>
            </a:r>
            <a:r>
              <a:rPr lang="en-US" altLang="zh-TW" dirty="0" err="1"/>
              <a:t>keyname</a:t>
            </a:r>
            <a:r>
              <a:rPr lang="en-US" altLang="zh-TW" dirty="0"/>
              <a:t>, </a:t>
            </a:r>
            <a:r>
              <a:rPr lang="en-US" altLang="zh-TW" dirty="0" err="1"/>
              <a:t>reaction_time</a:t>
            </a:r>
            <a:r>
              <a:rPr lang="en-US" altLang="zh-TW" dirty="0"/>
              <a:t>) for each response</a:t>
            </a:r>
          </a:p>
          <a:p>
            <a:r>
              <a:rPr lang="en-US" altLang="zh-TW" dirty="0"/>
              <a:t>Store key and RT in separate variables using tuple unpacking: key, rt = </a:t>
            </a:r>
            <a:r>
              <a:rPr lang="en-US" altLang="zh-TW" dirty="0" err="1"/>
              <a:t>event.waitKeys</a:t>
            </a:r>
            <a:r>
              <a:rPr lang="en-US" altLang="zh-TW" dirty="0"/>
              <a:t>(</a:t>
            </a:r>
            <a:r>
              <a:rPr lang="en-US" altLang="zh-TW" dirty="0" err="1"/>
              <a:t>maxWait</a:t>
            </a:r>
            <a:r>
              <a:rPr lang="en-US" altLang="zh-TW" dirty="0"/>
              <a:t>=3, </a:t>
            </a:r>
            <a:r>
              <a:rPr lang="en-US" altLang="zh-TW" dirty="0" err="1"/>
              <a:t>timeStamped</a:t>
            </a:r>
            <a:r>
              <a:rPr lang="en-US" altLang="zh-TW" dirty="0"/>
              <a:t>=True)</a:t>
            </a:r>
          </a:p>
          <a:p>
            <a:r>
              <a:rPr lang="en-US" altLang="zh-TW" dirty="0"/>
              <a:t>Reaction time is measured relative to when </a:t>
            </a:r>
            <a:r>
              <a:rPr lang="en-US" altLang="zh-TW" dirty="0" err="1"/>
              <a:t>waitKeys</a:t>
            </a:r>
            <a:r>
              <a:rPr lang="en-US" altLang="zh-TW" dirty="0"/>
              <a:t>() was called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7CA11B-A19F-467F-00CF-9A8A98AE52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Higher precision timing allows for more accurate measurement of cognitive processes</a:t>
            </a:r>
          </a:p>
          <a:p>
            <a:r>
              <a:rPr lang="en-US" altLang="zh-TW" dirty="0"/>
              <a:t>Use these values for later analysis of participant performance</a:t>
            </a:r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75DD50-FF88-3F45-4265-D9D4F085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3D0D2-6715-9BA2-74D1-AD4C5A1A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8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9D5D-E471-8D8B-7A16-F2B0F252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CFB873-6FED-2201-F052-DBD03684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Exercise: Create Loop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6F535C-A778-E53C-6E1D-120EEE66BC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Implement a for or while loop to present different letters in sequence</a:t>
            </a:r>
          </a:p>
          <a:p>
            <a:r>
              <a:rPr lang="en-US" altLang="zh-TW" dirty="0"/>
              <a:t>Use the .</a:t>
            </a:r>
            <a:r>
              <a:rPr lang="en-US" altLang="zh-TW" dirty="0" err="1"/>
              <a:t>setText</a:t>
            </a:r>
            <a:r>
              <a:rPr lang="en-US" altLang="zh-TW" dirty="0"/>
              <a:t>() method to change the letter on each iteration (e.g., </a:t>
            </a:r>
            <a:r>
              <a:rPr lang="en-US" altLang="zh-TW" dirty="0" err="1"/>
              <a:t>text.setText</a:t>
            </a:r>
            <a:r>
              <a:rPr lang="en-US" altLang="zh-TW" dirty="0"/>
              <a:t>('A'))</a:t>
            </a:r>
          </a:p>
          <a:p>
            <a:r>
              <a:rPr lang="en-US" altLang="zh-TW" dirty="0"/>
              <a:t>This modifies the existing stimulus rather than creating new objects each time</a:t>
            </a:r>
          </a:p>
          <a:p>
            <a:r>
              <a:rPr lang="en-US" altLang="zh-TW" dirty="0"/>
              <a:t>Store all response keys in a </a:t>
            </a:r>
            <a:r>
              <a:rPr lang="en-US" altLang="zh-TW" dirty="0" err="1"/>
              <a:t>keys_list</a:t>
            </a:r>
            <a:r>
              <a:rPr lang="en-US" altLang="zh-TW" dirty="0"/>
              <a:t> = [] and reaction times in an </a:t>
            </a:r>
            <a:r>
              <a:rPr lang="en-US" altLang="zh-TW" dirty="0" err="1"/>
              <a:t>rt_list</a:t>
            </a:r>
            <a:r>
              <a:rPr lang="en-US" altLang="zh-TW" dirty="0"/>
              <a:t> = []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1A413F-3D6B-D647-971E-49D4148D56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Append each new response to appropriate list using .append() method</a:t>
            </a:r>
          </a:p>
          <a:p>
            <a:r>
              <a:rPr lang="en-US" altLang="zh-TW" dirty="0"/>
              <a:t>This creates a complete record of participant performance across all trials</a:t>
            </a:r>
          </a:p>
          <a:p>
            <a:r>
              <a:rPr lang="en-US" altLang="zh-TW" dirty="0"/>
              <a:t>Save Presentation Times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CAB895-5351-8865-D28D-1DF063A3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4FF801-5CA3-C4CB-7459-368AD649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80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D10885-B239-8DD7-A3CE-62508D8BC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Exercise: </a:t>
            </a:r>
            <a:r>
              <a:rPr lang="en-US" altLang="zh-TW" b="1" dirty="0"/>
              <a:t>Save Presentation Times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218C7B-28B8-97BC-397E-EBC38F45F6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Record precise timestamps when stimuli appear using </a:t>
            </a:r>
            <a:r>
              <a:rPr lang="en-US" altLang="zh-TW" dirty="0" err="1"/>
              <a:t>core.getTime</a:t>
            </a:r>
            <a:r>
              <a:rPr lang="en-US" altLang="zh-TW" dirty="0"/>
              <a:t>() before </a:t>
            </a:r>
            <a:r>
              <a:rPr lang="en-US" altLang="zh-TW" dirty="0" err="1"/>
              <a:t>win.flip</a:t>
            </a:r>
            <a:r>
              <a:rPr lang="en-US" altLang="zh-TW" dirty="0"/>
              <a:t>()</a:t>
            </a:r>
          </a:p>
          <a:p>
            <a:pPr lvl="1"/>
            <a:r>
              <a:rPr lang="en-US" altLang="zh-TW" dirty="0"/>
              <a:t>Store these values in a </a:t>
            </a:r>
            <a:r>
              <a:rPr lang="en-US" altLang="zh-TW" dirty="0" err="1"/>
              <a:t>presentation_times</a:t>
            </a:r>
            <a:r>
              <a:rPr lang="en-US" altLang="zh-TW" dirty="0"/>
              <a:t> = [] list for later analysis</a:t>
            </a:r>
          </a:p>
          <a:p>
            <a:pPr lvl="1"/>
            <a:r>
              <a:rPr lang="en-US" altLang="zh-TW" dirty="0"/>
              <a:t>Timing accuracy is crucial for proper synchronization between stimulus and response</a:t>
            </a:r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26B09D-6062-438A-8BAC-6E41CEE555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dirty="0"/>
              <a:t>These timestamps can reveal lag between intended and actual stimulus presentations</a:t>
            </a:r>
          </a:p>
          <a:p>
            <a:pPr lvl="1"/>
            <a:r>
              <a:rPr lang="en-US" altLang="zh-TW" dirty="0"/>
              <a:t>Compare with reaction times to calculate precise response latencies for each trial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411D1D-48EB-C767-32AF-4093FF17D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2025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3B5BFC-686D-3357-15A0-A324A295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45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39080D7-639A-8743-9560-B2A024EF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Create dialogue boxes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F90EFD2-38DB-5445-9642-E10B10EEDD76}"/>
              </a:ext>
            </a:extLst>
          </p:cNvPr>
          <p:cNvSpPr txBox="1"/>
          <p:nvPr/>
        </p:nvSpPr>
        <p:spPr>
          <a:xfrm>
            <a:off x="4180114" y="4955842"/>
            <a:ext cx="8292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Task 1: Try to rebuild this dialogue box! Add it to the experiment script from last session</a:t>
            </a:r>
            <a:r>
              <a:rPr lang="en-GB" sz="1200" dirty="0"/>
              <a:t> (week5/06_Experiment/Initiate_Experiment_empty.py)</a:t>
            </a:r>
            <a:r>
              <a:rPr lang="en-GB" dirty="0"/>
              <a:t>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11454BE-36CF-0240-9B0A-C3F1CAC74D8F}"/>
              </a:ext>
            </a:extLst>
          </p:cNvPr>
          <p:cNvSpPr txBox="1"/>
          <p:nvPr/>
        </p:nvSpPr>
        <p:spPr>
          <a:xfrm>
            <a:off x="4180114" y="5779226"/>
            <a:ext cx="6873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Task 2: If the cancel button has been pressed, have </a:t>
            </a:r>
            <a:r>
              <a:rPr lang="en-GB" b="1" dirty="0" err="1"/>
              <a:t>PsychoPy</a:t>
            </a:r>
            <a:endParaRPr lang="en-GB" b="1" dirty="0"/>
          </a:p>
          <a:p>
            <a:r>
              <a:rPr lang="en-GB" b="1" dirty="0"/>
              <a:t>             stop the experiment ( to stop: </a:t>
            </a:r>
            <a:r>
              <a:rPr lang="en-GB" b="1" dirty="0" err="1"/>
              <a:t>core.quit</a:t>
            </a:r>
            <a:r>
              <a:rPr lang="en-GB" b="1" dirty="0"/>
              <a:t>() )!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C7EC43E-7724-9544-9228-F0A49761F700}"/>
              </a:ext>
            </a:extLst>
          </p:cNvPr>
          <p:cNvSpPr/>
          <p:nvPr/>
        </p:nvSpPr>
        <p:spPr>
          <a:xfrm>
            <a:off x="652620" y="1350174"/>
            <a:ext cx="4025276" cy="305723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u="sng" dirty="0">
                <a:solidFill>
                  <a:schemeClr val="tx1"/>
                </a:solidFill>
              </a:rPr>
              <a:t>What?</a:t>
            </a:r>
          </a:p>
          <a:p>
            <a:r>
              <a:rPr lang="en-GB" dirty="0">
                <a:solidFill>
                  <a:schemeClr val="tx1"/>
                </a:solidFill>
              </a:rPr>
              <a:t>Creates a little dialogue box that asks for certain inputs from the experimenter.</a:t>
            </a:r>
          </a:p>
          <a:p>
            <a:endParaRPr lang="en-GB" u="sng" dirty="0">
              <a:solidFill>
                <a:schemeClr val="tx1"/>
              </a:solidFill>
            </a:endParaRPr>
          </a:p>
          <a:p>
            <a:r>
              <a:rPr lang="en-GB" u="sng" dirty="0">
                <a:solidFill>
                  <a:schemeClr val="tx1"/>
                </a:solidFill>
              </a:rPr>
              <a:t>Why?</a:t>
            </a:r>
          </a:p>
          <a:p>
            <a:r>
              <a:rPr lang="en-GB" dirty="0">
                <a:solidFill>
                  <a:schemeClr val="tx1"/>
                </a:solidFill>
              </a:rPr>
              <a:t>Experiments usually need input from the experimenter: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subject-ID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condition</a:t>
            </a:r>
          </a:p>
          <a:p>
            <a:r>
              <a:rPr lang="en-GB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16F99FC-9B4F-D64C-A29B-D66B73FC6B54}"/>
              </a:ext>
            </a:extLst>
          </p:cNvPr>
          <p:cNvSpPr txBox="1"/>
          <p:nvPr/>
        </p:nvSpPr>
        <p:spPr>
          <a:xfrm>
            <a:off x="4677896" y="1509186"/>
            <a:ext cx="7273145" cy="273921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psychopy.</a:t>
            </a:r>
            <a:r>
              <a:rPr lang="en-GB" sz="2000" b="1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gui.DlgFromDict</a:t>
            </a:r>
            <a:r>
              <a:rPr lang="en-GB" sz="2000" b="1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(</a:t>
            </a:r>
            <a:r>
              <a:rPr lang="en-GB" sz="14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dictionary</a:t>
            </a:r>
            <a:r>
              <a:rPr lang="en-GB" sz="20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,</a:t>
            </a:r>
            <a:r>
              <a:rPr lang="en-GB" sz="2000" b="1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 </a:t>
            </a:r>
            <a:r>
              <a:rPr lang="en-GB" sz="14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title=“</a:t>
            </a:r>
            <a:r>
              <a:rPr lang="en-GB" sz="14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title_of_the_window</a:t>
            </a:r>
            <a:r>
              <a:rPr lang="en-GB" sz="14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”, </a:t>
            </a:r>
          </a:p>
          <a:p>
            <a:r>
              <a:rPr lang="en-GB" sz="14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order=[</a:t>
            </a:r>
            <a:r>
              <a:rPr lang="en-GB" sz="14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list_of_fieldnames_in_order</a:t>
            </a:r>
            <a:r>
              <a:rPr lang="en-GB" sz="14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], fixed=[</a:t>
            </a:r>
            <a:r>
              <a:rPr lang="en-GB" sz="14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list_of_unchangeable_fields</a:t>
            </a:r>
            <a:r>
              <a:rPr lang="en-GB" sz="14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]…</a:t>
            </a:r>
            <a:r>
              <a:rPr lang="en-GB" sz="2000" b="1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creates a dialogue box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pass a dictionary with the following forms “allowed”: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{“field1_name”:[“drop”, “down”, “menu”]}  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{“field2_name”: “”}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{“field3_name”: “pre-set value”}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{“field4_name”: True}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important attributes: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.dictionary --&gt; contains the filled-in dictionary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.OK  --&gt; returns True or False, depending on whether dialogue box was ended </a:t>
            </a:r>
          </a:p>
          <a:p>
            <a:pPr lvl="2"/>
            <a:r>
              <a:rPr lang="en-GB" sz="12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via “ok” button press or not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2BE91B4-5F0A-7C47-84E5-52C103DF2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20" y="4572000"/>
            <a:ext cx="3409918" cy="206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72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39080D7-639A-8743-9560-B2A024EF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Euphemia UCAS" panose="020B0503040102020104" pitchFamily="34" charset="-79"/>
                <a:cs typeface="Euphemia UCAS" panose="020B0503040102020104" pitchFamily="34" charset="-79"/>
              </a:rPr>
              <a:t>Logging data: Python “standard”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68E50D4-F089-C846-9DE6-7885B40B061A}"/>
              </a:ext>
            </a:extLst>
          </p:cNvPr>
          <p:cNvSpPr txBox="1"/>
          <p:nvPr/>
        </p:nvSpPr>
        <p:spPr>
          <a:xfrm>
            <a:off x="4926091" y="2777461"/>
            <a:ext cx="6974172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with open(</a:t>
            </a:r>
            <a:r>
              <a:rPr lang="en-GB" sz="20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logfile_name</a:t>
            </a:r>
            <a:r>
              <a:rPr lang="en-GB" sz="20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, mode=‘a’/’w’/’r’) as </a:t>
            </a:r>
            <a:r>
              <a:rPr lang="en-GB" sz="20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some_var</a:t>
            </a:r>
            <a:r>
              <a:rPr lang="en-GB" sz="20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:</a:t>
            </a:r>
          </a:p>
          <a:p>
            <a:r>
              <a:rPr lang="en-GB" sz="20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	print(“some string!”, file=</a:t>
            </a:r>
            <a:r>
              <a:rPr lang="en-GB" sz="2000" dirty="0" err="1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some_var</a:t>
            </a:r>
            <a:r>
              <a:rPr lang="en-GB" sz="2000" dirty="0">
                <a:latin typeface="Euphemia UCAS" panose="020B0503040102020104" pitchFamily="34" charset="-79"/>
                <a:ea typeface="Apple Color Emoji" pitchFamily="2" charset="0"/>
                <a:cs typeface="Euphemia UCAS" panose="020B0503040102020104" pitchFamily="34" charset="-79"/>
              </a:rPr>
              <a:t>)</a:t>
            </a:r>
            <a:endParaRPr lang="en-GB" sz="1200" dirty="0">
              <a:latin typeface="Euphemia UCAS" panose="020B0503040102020104" pitchFamily="34" charset="-79"/>
              <a:ea typeface="Apple Color Emoji" pitchFamily="2" charset="0"/>
              <a:cs typeface="Euphemia UCAS" panose="020B0503040102020104" pitchFamily="34" charset="-79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650EAE9-9D0D-2442-A975-7A7ABAD32353}"/>
              </a:ext>
            </a:extLst>
          </p:cNvPr>
          <p:cNvSpPr txBox="1"/>
          <p:nvPr/>
        </p:nvSpPr>
        <p:spPr>
          <a:xfrm>
            <a:off x="4926091" y="5441806"/>
            <a:ext cx="6974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Task: Create a logfile and first write the subject-ID down. After each trial, write the key press of the respective trial into the logfile (also misses as “miss”). Also, make the subject-ID part of the file name.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F010F15-331E-3E42-A385-2758C6139BF4}"/>
              </a:ext>
            </a:extLst>
          </p:cNvPr>
          <p:cNvSpPr txBox="1"/>
          <p:nvPr/>
        </p:nvSpPr>
        <p:spPr>
          <a:xfrm>
            <a:off x="4926091" y="1684904"/>
            <a:ext cx="6974172" cy="92333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We can simply use python’s built-in commands to write data to a file. That is, the way of logging data shown on this slide is not at all specific to </a:t>
            </a:r>
            <a:r>
              <a:rPr lang="en-GB" dirty="0" err="1"/>
              <a:t>PsychoPy</a:t>
            </a:r>
            <a:r>
              <a:rPr lang="en-GB" dirty="0"/>
              <a:t>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BCBF461-5740-6545-9F4A-1AAE10BAED14}"/>
              </a:ext>
            </a:extLst>
          </p:cNvPr>
          <p:cNvSpPr/>
          <p:nvPr/>
        </p:nvSpPr>
        <p:spPr>
          <a:xfrm>
            <a:off x="485502" y="1371810"/>
            <a:ext cx="4204064" cy="370964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u="sng" dirty="0">
                <a:solidFill>
                  <a:schemeClr val="tx1"/>
                </a:solidFill>
              </a:rPr>
              <a:t>What?</a:t>
            </a:r>
          </a:p>
          <a:p>
            <a:r>
              <a:rPr lang="en-GB" dirty="0">
                <a:solidFill>
                  <a:schemeClr val="tx1"/>
                </a:solidFill>
              </a:rPr>
              <a:t>Create a logfile to store all </a:t>
            </a:r>
            <a:r>
              <a:rPr lang="en-GB" dirty="0" err="1">
                <a:solidFill>
                  <a:schemeClr val="tx1"/>
                </a:solidFill>
              </a:rPr>
              <a:t>infos</a:t>
            </a:r>
            <a:r>
              <a:rPr lang="en-GB" dirty="0">
                <a:solidFill>
                  <a:schemeClr val="tx1"/>
                </a:solidFill>
              </a:rPr>
              <a:t> like RTs and key presses.</a:t>
            </a:r>
            <a:endParaRPr lang="en-GB" u="sng" dirty="0">
              <a:solidFill>
                <a:schemeClr val="tx1"/>
              </a:solidFill>
            </a:endParaRPr>
          </a:p>
          <a:p>
            <a:endParaRPr lang="en-GB" u="sng" dirty="0">
              <a:solidFill>
                <a:schemeClr val="tx1"/>
              </a:solidFill>
            </a:endParaRPr>
          </a:p>
          <a:p>
            <a:r>
              <a:rPr lang="en-GB" u="sng" dirty="0">
                <a:solidFill>
                  <a:schemeClr val="tx1"/>
                </a:solidFill>
              </a:rPr>
              <a:t>Why?</a:t>
            </a:r>
          </a:p>
          <a:p>
            <a:r>
              <a:rPr lang="en-GB" dirty="0">
                <a:solidFill>
                  <a:schemeClr val="tx1"/>
                </a:solidFill>
              </a:rPr>
              <a:t>For analysis!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173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8811</TotalTime>
  <Words>2110</Words>
  <Application>Microsoft Office PowerPoint</Application>
  <PresentationFormat>寬螢幕</PresentationFormat>
  <Paragraphs>302</Paragraphs>
  <Slides>44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52" baseType="lpstr">
      <vt:lpstr>Euphemia UCAS</vt:lpstr>
      <vt:lpstr>微軟正黑體</vt:lpstr>
      <vt:lpstr>Aptos</vt:lpstr>
      <vt:lpstr>Arial</vt:lpstr>
      <vt:lpstr>Neue Haas Grotesk Text Pro</vt:lpstr>
      <vt:lpstr>Wingdings</vt:lpstr>
      <vt:lpstr>Wingdings 2</vt:lpstr>
      <vt:lpstr>SwellVTI</vt:lpstr>
      <vt:lpstr>Psychopy Objects Structure of an Experiment</vt:lpstr>
      <vt:lpstr>PowerPoint 簡報</vt:lpstr>
      <vt:lpstr>Psychopy: Coder &amp; Builder</vt:lpstr>
      <vt:lpstr>PowerPoint 簡報</vt:lpstr>
      <vt:lpstr>Basic Structure of a Psychopy Code</vt:lpstr>
      <vt:lpstr>Exercise: Import Libraries</vt:lpstr>
      <vt:lpstr>PowerPoint 簡報</vt:lpstr>
      <vt:lpstr>PowerPoint 簡報</vt:lpstr>
      <vt:lpstr>PowerPoint 簡報</vt:lpstr>
      <vt:lpstr>PowerPoint 簡報</vt:lpstr>
      <vt:lpstr>Mechanisms of Computer Graphic &amp; Videos</vt:lpstr>
      <vt:lpstr>PowerPoint 簡報</vt:lpstr>
      <vt:lpstr>PowerPoint 簡報</vt:lpstr>
      <vt:lpstr>PowerPoint 簡報</vt:lpstr>
      <vt:lpstr>PowerPoint 簡報</vt:lpstr>
      <vt:lpstr>Exercise: Create Window</vt:lpstr>
      <vt:lpstr>Exercise: Create Stimulus</vt:lpstr>
      <vt:lpstr>Visual Presentation</vt:lpstr>
      <vt:lpstr>Tearing when flip occurs during drawing</vt:lpstr>
      <vt:lpstr>PowerPoint 簡報</vt:lpstr>
      <vt:lpstr>Flip during the Vertical Blanking Interval (Vertical Retrace)</vt:lpstr>
      <vt:lpstr>Refresh Rate </vt:lpstr>
      <vt:lpstr>PowerPoint 簡報</vt:lpstr>
      <vt:lpstr>Cathode Ray Tube (CRT)</vt:lpstr>
      <vt:lpstr>LCD Panels Have No Reliable Refresh Rate</vt:lpstr>
      <vt:lpstr>Timing Stimuli</vt:lpstr>
      <vt:lpstr>Events, Trials, Blocks, &amp; Run</vt:lpstr>
      <vt:lpstr>PowerPoint 簡報</vt:lpstr>
      <vt:lpstr>Recording Responses</vt:lpstr>
      <vt:lpstr>PowerPoint 簡報</vt:lpstr>
      <vt:lpstr>Visual Presentation</vt:lpstr>
      <vt:lpstr>Unit of Window</vt:lpstr>
      <vt:lpstr>Height Units: For 4:3 aspect ratio</vt:lpstr>
      <vt:lpstr>Height Units: For 16:10 aspect ratio</vt:lpstr>
      <vt:lpstr>Normalized (“norm”) Units</vt:lpstr>
      <vt:lpstr>Visual Angle</vt:lpstr>
      <vt:lpstr>Visual Degree and Pixels</vt:lpstr>
      <vt:lpstr>PowerPoint 簡報</vt:lpstr>
      <vt:lpstr>Exercise: Record Response</vt:lpstr>
      <vt:lpstr>Exercise: Record Reaction Time</vt:lpstr>
      <vt:lpstr>Exercise: Create Loop</vt:lpstr>
      <vt:lpstr>Exercise: Save Presentation Times</vt:lpstr>
      <vt:lpstr>Create dialogue boxes</vt:lpstr>
      <vt:lpstr>Logging data: Python “standard”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212</cp:revision>
  <cp:lastPrinted>2025-03-20T00:42:11Z</cp:lastPrinted>
  <dcterms:created xsi:type="dcterms:W3CDTF">2024-10-23T10:48:05Z</dcterms:created>
  <dcterms:modified xsi:type="dcterms:W3CDTF">2026-03-19T06:24:50Z</dcterms:modified>
</cp:coreProperties>
</file>