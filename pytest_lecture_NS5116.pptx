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70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212112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0"/>
            <a:ext cx="164592" cy="51435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949440" y="-731520"/>
            <a:ext cx="2926080" cy="2926080"/>
          </a:xfrm>
          <a:prstGeom prst="ellipse">
            <a:avLst/>
          </a:prstGeom>
          <a:solidFill>
            <a:srgbClr val="028090">
              <a:alpha val="35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0" y="2926080"/>
            <a:ext cx="2011680" cy="201168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" y="137160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pytest</a:t>
            </a:r>
            <a:endParaRPr lang="en-US" sz="72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測試框架的強大選擇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51560" y="2880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從第一個 assert 到 API mocking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1005840" y="4023360"/>
            <a:ext cx="713232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4114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電腦硬體與程式語言在行為科學實驗與大數據分析之應用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440740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張智宏 Erik Chang · 國立中央大學認知神經科學研究所 · 2026 Spring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為什麼要寫 test？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testing matters for behavioral &amp; neuroimaging research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35204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3520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25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真實情境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169164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你剛完成 </a:t>
            </a:r>
            <a:r>
              <a:rPr lang="en-US" sz="1300" b="1" dirty="0">
                <a:solidFill>
                  <a:srgbClr val="028090"/>
                </a:solidFill>
              </a:rPr>
              <a:t>Stroop</a:t>
            </a:r>
            <a:r>
              <a:rPr lang="en-US" sz="1300" dirty="0">
                <a:solidFill>
                  <a:srgbClr val="1F2933"/>
                </a:solidFill>
              </a:rPr>
              <a:t> 實驗，寫了一個 </a:t>
            </a:r>
            <a:r>
              <a:rPr lang="en-US" sz="13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compute_dprime()</a:t>
            </a:r>
            <a:r>
              <a:rPr lang="en-US" sz="1300" dirty="0">
                <a:solidFill>
                  <a:srgbClr val="1F2933"/>
                </a:solidFill>
              </a:rPr>
              <a:t> 函式。三個月後論文 revision，reviewer 質疑你的分析結果。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你要如何證明：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</a:rPr>
              <a:t>  • 程式碼沒有 bug？
  • 改寫後仍然得到相同答案？
  • 邊界情況（hit=0, FA=0）有處理？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09160" y="1188720"/>
            <a:ext cx="3977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73752" y="1353312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73752" y="13533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394960" y="135331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Correctness 正確性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10328" y="1874520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確保函式回傳值符合預期 — 不再憑直覺『跑起來看起來對』。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709160" y="2377440"/>
            <a:ext cx="397764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73752" y="2542032"/>
            <a:ext cx="411480" cy="41148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73752" y="254203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↻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5394960" y="254203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Reproducibility 再現性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910328" y="3063240"/>
            <a:ext cx="35935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別人（或半年後的你）clone repo 後跑 pytest，立刻知道分析是否仍然成立。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709160" y="3566160"/>
            <a:ext cx="3977640" cy="114300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73752" y="3730752"/>
            <a:ext cx="411480" cy="4114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73752" y="37307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5394960" y="3730752"/>
            <a:ext cx="3154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信心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910328" y="4251960"/>
            <a:ext cx="359359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重構 / 加 feature 後一鍵驗證；reviewer 改方法時不怕『順手改壞其他地方』。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testing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什麼是 pytest？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生態系最受歡迎的 testing framework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8229600" cy="960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280160"/>
            <a:ext cx="7955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</a:t>
            </a:r>
            <a:r>
              <a:rPr lang="en-US" sz="1600" dirty="0">
                <a:solidFill>
                  <a:srgbClr val="FFFFFF"/>
                </a:solidFill>
              </a:rPr>
              <a:t>是 Python 用來執行 </a:t>
            </a:r>
            <a:r>
              <a:rPr lang="en-US" sz="1600" b="1" dirty="0">
                <a:solidFill>
                  <a:srgbClr val="02C39A"/>
                </a:solidFill>
              </a:rPr>
              <a:t>unit test（單元測試）</a:t>
            </a:r>
            <a:r>
              <a:rPr lang="en-US" sz="1600" dirty="0">
                <a:solidFill>
                  <a:srgbClr val="FFFFFF"/>
                </a:solidFill>
              </a:rPr>
              <a:t> 與 </a:t>
            </a:r>
            <a:r>
              <a:rPr lang="en-US" sz="1600" b="1" dirty="0">
                <a:solidFill>
                  <a:srgbClr val="02C39A"/>
                </a:solidFill>
              </a:rPr>
              <a:t>functional test（功能測試）</a:t>
            </a:r>
            <a:r>
              <a:rPr lang="en-US" sz="1600" dirty="0">
                <a:solidFill>
                  <a:srgbClr val="FFFFFF"/>
                </a:solidFill>
              </a:rPr>
              <a:t> 的框架。</a:t>
            </a:r>
            <a:endParaRPr lang="en-US" sz="20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</a:rPr>
              <a:t>相較於內建的 </a:t>
            </a:r>
            <a:r>
              <a:rPr lang="en-US" sz="14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unittest</a:t>
            </a:r>
            <a:r>
              <a:rPr lang="en-US" sz="1400" dirty="0">
                <a:solidFill>
                  <a:srgbClr val="CADCFC"/>
                </a:solidFill>
              </a:rPr>
              <a:t>，pytest 語法更簡潔、錯誤訊息更易讀、擴展性更高。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26517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441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2660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簡潔語法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566928" y="2935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function 定義 test，免繼承 class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46120" y="2331720"/>
            <a:ext cx="26517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46120" y="233172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55848" y="2441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55848" y="2660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自動發現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3355848" y="2935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test_*.py / test_* 函式自動被收集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331720"/>
            <a:ext cx="26517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35040" y="233172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44768" y="244144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44768" y="266090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機制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6144768" y="293522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前置與清理一次寫好，多 test 共用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57200" y="3566160"/>
            <a:ext cx="26517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" y="356616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3675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參數化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66928" y="41696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@parametrize 一次測多組 input/output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46120" y="3566160"/>
            <a:ext cx="26517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246120" y="356616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55848" y="3675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355848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詳細錯誤</a:t>
            </a:r>
            <a:endParaRPr lang="en-US" sz="1350" dirty="0"/>
          </a:p>
        </p:txBody>
      </p:sp>
      <p:sp>
        <p:nvSpPr>
          <p:cNvPr id="31" name="Text 29"/>
          <p:cNvSpPr/>
          <p:nvPr/>
        </p:nvSpPr>
        <p:spPr>
          <a:xfrm>
            <a:off x="3355848" y="41696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失敗自動顯示變數值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35040" y="3566160"/>
            <a:ext cx="2651760" cy="10972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035040" y="3566160"/>
            <a:ext cx="2651760" cy="54864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144768" y="3675888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144768" y="389534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豐富外掛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6144768" y="4169664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pytest-cov, pytest-django, pytest-httpx ...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pytest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 — 30 秒搞定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28016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280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2801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透過 pip 安裝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097280" y="1783080"/>
            <a:ext cx="7589520" cy="54864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97280" y="1783080"/>
            <a:ext cx="64008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61872" y="1856232"/>
            <a:ext cx="7333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6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pytest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02920" y="26060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6060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確認安裝成功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097280" y="3108960"/>
            <a:ext cx="7589520" cy="82296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97280" y="3108960"/>
            <a:ext cx="64008" cy="8229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61872" y="3182112"/>
            <a:ext cx="733348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--version</a:t>
            </a:r>
            <a:endParaRPr lang="en-US" sz="1400" dirty="0"/>
          </a:p>
          <a:p>
            <a:pPr marL="0" indent="0" algn="l">
              <a:buNone/>
            </a:pP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 8.x.x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160520"/>
            <a:ext cx="8229600" cy="594360"/>
          </a:xfrm>
          <a:prstGeom prst="rect">
            <a:avLst/>
          </a:prstGeom>
          <a:solidFill>
            <a:srgbClr val="FFF7E0"/>
          </a:solidFill>
          <a:ln w="9525">
            <a:solidFill>
              <a:srgbClr val="E8C44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4206240"/>
            <a:ext cx="365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000000"/>
                </a:solidFill>
              </a:rPr>
              <a:t>💡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05840" y="42062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</a:rPr>
              <a:t>建議：</a:t>
            </a:r>
            <a:r>
              <a:rPr lang="en-US" sz="1200" dirty="0">
                <a:solidFill>
                  <a:srgbClr val="1F2933"/>
                </a:solidFill>
              </a:rPr>
              <a:t>在每個專案的 </a:t>
            </a:r>
            <a:r>
              <a:rPr lang="en-US" sz="1200" i="1" dirty="0">
                <a:solidFill>
                  <a:srgbClr val="B85042"/>
                </a:solidFill>
              </a:rPr>
              <a:t>virtual environment</a:t>
            </a:r>
            <a:r>
              <a:rPr lang="en-US" sz="1200" dirty="0">
                <a:solidFill>
                  <a:srgbClr val="1F2933"/>
                </a:solidFill>
              </a:rPr>
              <a:t> 中安裝（conda env / venv），避免不同專案 pytest 版本衝突。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Installation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你的第一個 test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your first pytest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檔案命名：必須以 test_ 開頭，函式名也是 test_*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📝 test_sample.py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4114800" cy="219456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691640"/>
            <a:ext cx="64008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764792"/>
            <a:ext cx="385876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test_sample.py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test_addition():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1 + 1 == 2</a:t>
            </a:r>
            <a:endParaRPr lang="en-US" sz="1300" dirty="0"/>
          </a:p>
          <a:p>
            <a:pPr marL="0" indent="0" algn="l">
              <a:buNone/>
            </a:pP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test_subtraction():</a:t>
            </a:r>
            <a:endParaRPr lang="en-US" sz="1300" dirty="0"/>
          </a:p>
          <a:p>
            <a:pPr marL="0" indent="0" algn="l">
              <a:buNone/>
            </a:pPr>
            <a:r>
              <a:rPr lang="en-US" sz="13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5 - 3 ==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54880" y="14173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💻 Terminal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754880" y="1691640"/>
            <a:ext cx="3931920" cy="2194560"/>
          </a:xfrm>
          <a:prstGeom prst="rect">
            <a:avLst/>
          </a:prstGeom>
          <a:solidFill>
            <a:srgbClr val="1F2933"/>
          </a:solidFill>
          <a:ln w="9525">
            <a:solidFill>
              <a:srgbClr val="1F293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754880" y="1691640"/>
            <a:ext cx="64008" cy="21945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19472" y="1764792"/>
            <a:ext cx="367588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 test session starts ==========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collected 2 items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test_sample.py ..              [100%]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 2 passed in 0.12s ===========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E7F4F4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3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兩個點 </a:t>
            </a:r>
            <a:r>
              <a:rPr lang="en-US" sz="1600" b="1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</a:t>
            </a:r>
            <a:r>
              <a:rPr lang="en-US" sz="1300" dirty="0">
                <a:solidFill>
                  <a:srgbClr val="1F2933"/>
                </a:solidFill>
              </a:rPr>
              <a:t> = 兩個 test 都 pass。  失敗會顯示 </a:t>
            </a:r>
            <a:r>
              <a:rPr lang="en-US" sz="1600" b="1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</a:t>
            </a:r>
            <a:r>
              <a:rPr lang="en-US" sz="1300" dirty="0">
                <a:solidFill>
                  <a:srgbClr val="1F2933"/>
                </a:solidFill>
              </a:rPr>
              <a:t>，並附上詳細錯誤訊息。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Basic usage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assert：pytest 的核心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內建的 assertion keyword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3B3A"/>
                </a:solidFill>
              </a:rPr>
              <a:t>語法：</a:t>
            </a:r>
            <a:r>
              <a:rPr lang="en-US" sz="1400" b="1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assert </a:t>
            </a:r>
            <a:r>
              <a:rPr lang="en-US" sz="14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&lt;條件&gt;, </a:t>
            </a:r>
            <a:r>
              <a:rPr lang="en-US" sz="14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"錯誤訊息（可選）"</a:t>
            </a:r>
            <a:r>
              <a:rPr lang="en-US" sz="1200" i="1" dirty="0">
                <a:solidFill>
                  <a:srgbClr val="5F6B72"/>
                </a:solidFill>
              </a:rPr>
              <a:t>    →  條件為 True 繼續執行；False 拋出 AssertionError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87452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 1 — 基本 assert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148840"/>
            <a:ext cx="4114800" cy="128016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148840"/>
            <a:ext cx="6400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221992"/>
            <a:ext cx="385876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1 + 1 == 2     # ✓ 通過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2 * 2 == 5     # ✗ 拋出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   # AssertionError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754880" y="1874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 2 — 帶錯誤訊息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148840"/>
            <a:ext cx="3931920" cy="128016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148840"/>
            <a:ext cx="64008" cy="12801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221992"/>
            <a:ext cx="3675888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10 &gt; 5, "10 應該大於 5"   # ✓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 3 &gt; 5, "3 不可能大於 5"  # ✗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AssertionError: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3 不可能大於 5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5204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實戰應用 — 檢查 d-prime 計算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57200" y="3794760"/>
            <a:ext cx="8229600" cy="91440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7200" y="3794760"/>
            <a:ext cx="64008" cy="9144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21792" y="3867912"/>
            <a:ext cx="7973568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compute_dprime(hits, false_alarms):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hits / 10 - false_alarms / 10   # toy version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test_dprime():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compute_dprime(8, 2) == 0.6     # 預期 hit rate 0.8 - FA rate 0.2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 vs. if — 不要搞混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tools for different jobs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10312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18872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比較項目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292608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118872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486400" y="1188720"/>
            <a:ext cx="3200400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77840" y="11887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判斷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169164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169164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用途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60320" y="169164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69164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驗證條件是否成立；False → 拋錯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486400" y="169164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577840" y="169164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流程控制；不會自動拋錯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194560"/>
            <a:ext cx="2103120" cy="502920"/>
          </a:xfrm>
          <a:prstGeom prst="rect">
            <a:avLst/>
          </a:prstGeom>
          <a:solidFill>
            <a:srgbClr val="EEF4F4"/>
          </a:solidFill>
          <a:ln w="6350">
            <a:solidFill>
              <a:srgbClr val="D6DEE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219456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影響執行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2560320" y="2194560"/>
            <a:ext cx="2926080" cy="502920"/>
          </a:xfrm>
          <a:prstGeom prst="rect">
            <a:avLst/>
          </a:prstGeom>
          <a:solidFill>
            <a:srgbClr val="EEF4F4"/>
          </a:solidFill>
          <a:ln w="6350">
            <a:solidFill>
              <a:srgbClr val="D6DE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51760" y="21945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終止程式 + AssertionError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5486400" y="2194560"/>
            <a:ext cx="3200400" cy="502920"/>
          </a:xfrm>
          <a:prstGeom prst="rect">
            <a:avLst/>
          </a:prstGeom>
          <a:solidFill>
            <a:srgbClr val="EEF4F4"/>
          </a:solidFill>
          <a:ln w="6350">
            <a:solidFill>
              <a:srgbClr val="D6DE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577840" y="219456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繼續執行，除非手動 raise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2697480"/>
            <a:ext cx="21031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2697480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使用時機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60320" y="2697480"/>
            <a:ext cx="292608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69748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/ debug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486400" y="2697480"/>
            <a:ext cx="320040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D6DEE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577840" y="269748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一般程式邏輯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30175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範例：x = 10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291840"/>
            <a:ext cx="8229600" cy="141732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291840"/>
            <a:ext cx="64008" cy="1417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3364992"/>
            <a:ext cx="7973568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= 10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使用 assert — 如果 x &lt;= 5，程式會 raise AssertionError 並終止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x &gt; 5, "x 應該要大於 5"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使用 if — 只是輸出訊息，程式仍然繼續執行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x &lt;= 5: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print("錯誤：x 應該要大於 5")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assert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13716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0" y="3200400"/>
            <a:ext cx="3657600" cy="3657600"/>
          </a:xfrm>
          <a:prstGeom prst="ellipse">
            <a:avLst/>
          </a:prstGeom>
          <a:solidFill>
            <a:srgbClr val="02C39A">
              <a:alpha val="30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14400" y="21488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進階功能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914400" y="3108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 · Parametrize · API testing · Mocking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Fixture：測試環境的前置與清理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&amp; teardown reusable across tests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8686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8872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Fixture </a:t>
            </a:r>
            <a:r>
              <a:rPr lang="en-US" sz="1400" dirty="0">
                <a:solidFill>
                  <a:srgbClr val="FFFFFF"/>
                </a:solidFill>
              </a:rPr>
              <a:t>= 一種特殊的 function，</a:t>
            </a:r>
            <a:r>
              <a:rPr lang="en-US" sz="1400" b="1" dirty="0">
                <a:solidFill>
                  <a:srgbClr val="02C39A"/>
                </a:solidFill>
              </a:rPr>
              <a:t>在 test 執行前準備資源，在 test 結束後清理。</a:t>
            </a:r>
            <a:endParaRPr lang="en-US" sz="1600" dirty="0"/>
          </a:p>
          <a:p>
            <a:pPr marL="0" indent="0">
              <a:buNone/>
            </a:pPr>
            <a:r>
              <a:rPr lang="en-US" sz="1200" i="1" dirty="0">
                <a:solidFill>
                  <a:srgbClr val="CADCFC"/>
                </a:solidFill>
              </a:rPr>
              <a:t>適用情境：建立模擬資料、開啟資料庫連線、設定 mock API、暫存檔案的建立與刪除…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沒有 fixture — 每個 test 都要手動建立資料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57200" y="2377440"/>
            <a:ext cx="4114800" cy="155448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37744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450592"/>
            <a:ext cx="385876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test_sum():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sample_data = [1, 2, 3, 4, 5]   # 重複...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sum(sample_data) == 15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test_max():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sample_data = [1, 2, 3, 4, 5]   # 又重複...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max(sample_data) == 5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2103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用 fixture — 一次定義，多 test 共用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0" y="2377440"/>
            <a:ext cx="3931920" cy="155448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754880" y="2377440"/>
            <a:ext cx="64008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19472" y="2450592"/>
            <a:ext cx="367588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sample_data():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[1, 2, 3, 4, 5]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test_sum(sample_data):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sum(sample_data) == 15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4069080"/>
            <a:ext cx="8229600" cy="640080"/>
          </a:xfrm>
          <a:prstGeom prst="rect">
            <a:avLst/>
          </a:prstGeom>
          <a:solidFill>
            <a:srgbClr val="E7F4F4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4114800"/>
            <a:ext cx="7955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3A"/>
                </a:solidFill>
              </a:rPr>
              <a:t>執行流程：</a:t>
            </a:r>
            <a:r>
              <a:rPr lang="en-US" sz="1200" dirty="0">
                <a:solidFill>
                  <a:srgbClr val="1F2933"/>
                </a:solidFill>
              </a:rPr>
              <a:t> pytest 看到 </a:t>
            </a: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test_sum(sample_data)</a:t>
            </a:r>
            <a:r>
              <a:rPr lang="en-US" sz="1200" dirty="0">
                <a:solidFill>
                  <a:srgbClr val="1F2933"/>
                </a:solidFill>
              </a:rPr>
              <a:t> 的參數名 → 自動找 </a:t>
            </a: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r>
              <a:rPr lang="en-US" sz="1200" dirty="0">
                <a:solidFill>
                  <a:srgbClr val="1F2933"/>
                </a:solidFill>
              </a:rPr>
              <a:t> 同名函式 → 執行並把回傳值注入。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進階：yield 做 setup + teardown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Cleanup with yield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5120640" cy="283464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097280"/>
            <a:ext cx="64008" cy="2834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170432"/>
            <a:ext cx="486460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setup_and_cleanup():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print("=== 測試開始前：初始化 ===")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{"name": "Alice", "age": 25}     # 準備測試資料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yield data                              # ← test 在這裡執行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print("=== 測試結束後：清理 ===")        # teardown 階段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test_user_data(setup_and_cleanup):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user = setup_and_cleanup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user["name"] == "Alice"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user["age"] == 25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760720" y="10972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執行順序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760720" y="1463040"/>
            <a:ext cx="457200" cy="45720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6072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355080" y="150876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(yield 之前)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89320" y="1965960"/>
            <a:ext cx="0" cy="365760"/>
          </a:xfrm>
          <a:prstGeom prst="line">
            <a:avLst/>
          </a:prstGeom>
          <a:noFill/>
          <a:ln w="19050">
            <a:solidFill>
              <a:srgbClr val="5F6B72"/>
            </a:solidFill>
            <a:prstDash val="dash"/>
          </a:ln>
        </p:spPr>
      </p:sp>
      <p:sp>
        <p:nvSpPr>
          <p:cNvPr id="13" name="Shape 11"/>
          <p:cNvSpPr/>
          <p:nvPr/>
        </p:nvSpPr>
        <p:spPr>
          <a:xfrm>
            <a:off x="5760720" y="2331720"/>
            <a:ext cx="457200" cy="45720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2331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55080" y="237744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函式執行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89320" y="2834640"/>
            <a:ext cx="0" cy="365760"/>
          </a:xfrm>
          <a:prstGeom prst="line">
            <a:avLst/>
          </a:prstGeom>
          <a:noFill/>
          <a:ln w="19050">
            <a:solidFill>
              <a:srgbClr val="5F6B72"/>
            </a:solidFill>
            <a:prstDash val="dash"/>
          </a:ln>
        </p:spPr>
      </p:sp>
      <p:sp>
        <p:nvSpPr>
          <p:cNvPr id="17" name="Shape 15"/>
          <p:cNvSpPr/>
          <p:nvPr/>
        </p:nvSpPr>
        <p:spPr>
          <a:xfrm>
            <a:off x="5760720" y="3200400"/>
            <a:ext cx="457200" cy="45720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60720" y="3200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5080" y="32461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Teardown (yield 之後)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📺 執行 pytest 後的 stdout：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4297680"/>
            <a:ext cx="8229600" cy="329184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4297680"/>
            <a:ext cx="64008" cy="32918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" y="4370832"/>
            <a:ext cx="79735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測試開始前：初始化 ===   .   === 測試結束後：清理 ===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參數化測試 (Parametrize)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the same logic across many input/output pairs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143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一個 test 塞多個 assert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4114800" cy="237744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64008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36192"/>
            <a:ext cx="385876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add(a, b):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 + b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test_add():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add(1, 2) == 3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add(5, 5) == 10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add(10, -1) == 9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第一個 assert 失敗，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後面的 assert 都不會跑！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754880" y="114300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2C5F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用 @pytest.mark.parametrize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463040"/>
            <a:ext cx="3931920" cy="237744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463040"/>
            <a:ext cx="64008" cy="23774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536192"/>
            <a:ext cx="3675888" cy="2231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pytest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@pytest.mark.parametrize("a, b, expected", [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(1, 2, 3),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(5, 5, 10),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(10, -1, 9),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test_add(a, b, expected):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add(a, b) == expected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4023360"/>
            <a:ext cx="8229600" cy="685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06908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2C39A"/>
                </a:solidFill>
              </a:rPr>
              <a:t>✓ </a:t>
            </a:r>
            <a:r>
              <a:rPr lang="en-US" sz="1300" dirty="0">
                <a:solidFill>
                  <a:srgbClr val="FFFFFF"/>
                </a:solidFill>
              </a:rPr>
              <a:t>每組數據都是 </a:t>
            </a:r>
            <a:r>
              <a:rPr lang="en-US" sz="1300" b="1" dirty="0">
                <a:solidFill>
                  <a:srgbClr val="02C39A"/>
                </a:solidFill>
              </a:rPr>
              <a:t>獨立的 test</a:t>
            </a:r>
            <a:r>
              <a:rPr lang="en-US" sz="1800" b="1" dirty="0">
                <a:solidFill>
                  <a:srgbClr val="02C39A"/>
                </a:solidFill>
              </a:rPr>
              <a:t>  ✓ </a:t>
            </a:r>
            <a:r>
              <a:rPr lang="en-US" sz="1300" dirty="0">
                <a:solidFill>
                  <a:srgbClr val="FFFFFF"/>
                </a:solidFill>
              </a:rPr>
              <a:t>失敗時只報那一組  </a:t>
            </a:r>
            <a:r>
              <a:rPr lang="en-US" sz="1800" b="1" dirty="0">
                <a:solidFill>
                  <a:srgbClr val="02C39A"/>
                </a:solidFill>
              </a:rPr>
              <a:t>✓ </a:t>
            </a:r>
            <a:r>
              <a:rPr lang="en-US" sz="1300" dirty="0">
                <a:solidFill>
                  <a:srgbClr val="FFFFFF"/>
                </a:solidFill>
              </a:rPr>
              <a:t>錯誤訊息會清楚顯示 </a:t>
            </a:r>
            <a:r>
              <a:rPr lang="en-US" sz="1300" i="1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expected vs. actual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 實戰：RT outlier 邊界檢查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realistic use case from behavioral pipelines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情境：寫一個 reject_outliers() 用 mean ± k·SD 剔除過快/過慢的 trial，測試不同 k 值。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324612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63040"/>
            <a:ext cx="64008" cy="3246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536192"/>
            <a:ext cx="7973568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np, pytest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reject_outliers(rts, k=3):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m, sd = rts.mean(), rts.std()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rts[(rts &gt; m - k*sd) &amp; (rts &lt; m + k*sd)]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@pytest.mark.parametrize("k, expected_n", [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(1,  68),   # 1 SD ≈ 保留 68%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(2,  95),   # 2 SD ≈ 保留 95%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(3,  99),   # 3 SD ≈ 保留 99%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test_reject_outliers(k, expected_n):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np.random.seed(42)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rts = np.random.normal(500, 80, 100)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n_kept = len(reject_outliers(rts, k=k))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abs(n_kept - expected_n) &lt;= 5     # 容許 ±5 trial 的誤差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Parametrize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詳細的錯誤報告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失敗時的清楚輸出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假設 add(10, -1) 不小心回傳 8（應該是 9）：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8229600" cy="2834640"/>
          </a:xfrm>
          <a:prstGeom prst="rect">
            <a:avLst/>
          </a:prstGeom>
          <a:solidFill>
            <a:srgbClr val="1F2933"/>
          </a:solidFill>
          <a:ln w="9525">
            <a:solidFill>
              <a:srgbClr val="1F293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" cy="2834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90472"/>
            <a:ext cx="7973568" cy="2688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pytest -v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test_add[1-2-3]      PASSED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test_add[5-5-10]     PASSED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test_add[10--1-9]    FAILED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============= FAILURES =============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_______ test_add[10--1-9] _______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 = 10, b = -1, expected = 9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def test_add(a, b, expected):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     assert add(a, b) == expected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assert 8 == 9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E7F4F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      +  where 8 = add(10, -1)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4297680"/>
            <a:ext cx="8229600" cy="411480"/>
          </a:xfrm>
          <a:prstGeom prst="rect">
            <a:avLst/>
          </a:prstGeom>
          <a:solidFill>
            <a:srgbClr val="E7F4F4"/>
          </a:solidFill>
          <a:ln w="9525">
            <a:solidFill>
              <a:srgbClr val="02C39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431596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 </a:t>
            </a:r>
            <a:r>
              <a:rPr lang="en-US" sz="1200" dirty="0">
                <a:solidFill>
                  <a:srgbClr val="1F2933"/>
                </a:solidFill>
              </a:rPr>
              <a:t>看到變數值 </a:t>
            </a:r>
            <a:r>
              <a:rPr lang="en-US" sz="1200" dirty="0">
                <a:solidFill>
                  <a:srgbClr val="02809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(a=10, b=-1)</a:t>
            </a:r>
            <a:r>
              <a:rPr lang="en-US" sz="1200" dirty="0">
                <a:solidFill>
                  <a:srgbClr val="1F2933"/>
                </a:solidFill>
              </a:rPr>
              <a:t>    ✓ 看到 </a:t>
            </a:r>
            <a:r>
              <a:rPr lang="en-US" sz="1200" b="1" dirty="0">
                <a:solidFill>
                  <a:srgbClr val="028090"/>
                </a:solidFill>
              </a:rPr>
              <a:t>expected vs. actual</a:t>
            </a:r>
            <a:r>
              <a:rPr lang="en-US" sz="1200" dirty="0">
                <a:solidFill>
                  <a:srgbClr val="1F2933"/>
                </a:solidFill>
              </a:rPr>
              <a:t>    ✓ 哪一行 assert 失敗一目了然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messages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22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pytest 測試 API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pytest + httpx for HTTP tests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安裝 httpx：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1828800" y="1097280"/>
            <a:ext cx="6858000" cy="32004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0" y="1097280"/>
            <a:ext cx="64008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993392" y="1170432"/>
            <a:ext cx="6601968" cy="173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httpx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544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 測試一個 GET 端點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8229600" cy="224028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" y="1874520"/>
            <a:ext cx="64008" cy="2240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1792" y="1947672"/>
            <a:ext cx="7973568" cy="2093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httpx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test_get_user():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httpx.get("https://jsonplaceholder.typicode.com/users/1")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檢查 HTTP status code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response.status_code == 200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檢查回傳 JSON 內容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data = response.json()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data["id"] == 1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data["name"] == "Leanne Graham"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4251960"/>
            <a:ext cx="8229600" cy="457200"/>
          </a:xfrm>
          <a:prstGeom prst="rect">
            <a:avLst/>
          </a:prstGeom>
          <a:solidFill>
            <a:srgbClr val="FFF1EE"/>
          </a:solidFill>
          <a:ln w="9525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79392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</a:rPr>
              <a:t>⚠ </a:t>
            </a:r>
            <a:r>
              <a:rPr lang="en-US" sz="1200" b="1" dirty="0">
                <a:solidFill>
                  <a:srgbClr val="B85042"/>
                </a:solidFill>
              </a:rPr>
              <a:t>缺點：</a:t>
            </a:r>
            <a:r>
              <a:rPr lang="en-US" sz="1200" dirty="0">
                <a:solidFill>
                  <a:srgbClr val="1F2933"/>
                </a:solidFill>
              </a:rPr>
              <a:t> 這個 test 真的會打網路請求 → 慢、可能失敗、不能離線跑 CI。下一節介紹 </a:t>
            </a:r>
            <a:r>
              <a:rPr lang="en-US" sz="1200" b="1" dirty="0">
                <a:solidFill>
                  <a:srgbClr val="028090"/>
                </a:solidFill>
              </a:rPr>
              <a:t>mock 解法</a:t>
            </a:r>
            <a:r>
              <a:rPr lang="en-US" sz="1200" dirty="0">
                <a:solidFill>
                  <a:srgbClr val="1F2933"/>
                </a:solidFill>
              </a:rPr>
              <a:t>。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testing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22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為什麼要 mock API？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simulate API responses instead of calling real servers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91440" cy="1554480"/>
          </a:xfrm>
          <a:prstGeom prst="rect">
            <a:avLst/>
          </a:prstGeom>
          <a:solidFill>
            <a:srgbClr val="02809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🛠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28016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伺服器還沒寫好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1965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 / 分析 pipeline 要先測，等不到 API 上線。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617720" y="118872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17720" y="1188720"/>
            <a:ext cx="91440" cy="1554480"/>
          </a:xfrm>
          <a:prstGeom prst="rect">
            <a:avLst/>
          </a:prstGeom>
          <a:solidFill>
            <a:srgbClr val="00A896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135331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🛡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5440680" y="135331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避免影響正式環境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846320" y="196596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真的打 API 可能新增 / 刪除真實資料，難以回復。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288036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7200" y="2880360"/>
            <a:ext cx="91440" cy="1554480"/>
          </a:xfrm>
          <a:prstGeom prst="rect">
            <a:avLst/>
          </a:prstGeom>
          <a:solidFill>
            <a:srgbClr val="02C39A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⚡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1280160" y="3044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提高測試速度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85800" y="365760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每次連網要 1 秒，mock 後毫秒內完成；CI 也不用網路。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17720" y="2880360"/>
            <a:ext cx="4023360" cy="155448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17720" y="2880360"/>
            <a:ext cx="91440" cy="1554480"/>
          </a:xfrm>
          <a:prstGeom prst="rect">
            <a:avLst/>
          </a:prstGeom>
          <a:solidFill>
            <a:srgbClr val="B85042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304495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0000"/>
                </a:solidFill>
              </a:rPr>
              <a:t>🚨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5440680" y="3044952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測試錯誤處理機制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37033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可以強制模擬 500 / 404，看看程式有沒有 try-except 處理好。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22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pytest-httpx：攔截並模擬回應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&amp; basic usage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955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步驟 1：安裝外掛  </a:t>
            </a:r>
            <a:r>
              <a:rPr lang="en-US" sz="1400" dirty="0">
                <a:solidFill>
                  <a:srgbClr val="02C39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pytest-httpx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916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步驟 2：在 fixture 中註冊一個假回應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8229600" cy="265176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011680"/>
            <a:ext cx="64008" cy="2651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1792" y="2084832"/>
            <a:ext cx="7973568" cy="2505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httpx, pytest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mock_httpx_response(httpx_mock):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httpx_mock.add_response(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url="https://api.example.com/data",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json={"message": "success"},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status_code=200,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200" dirty="0"/>
          </a:p>
          <a:p>
            <a:pPr marL="0" indent="0" algn="l">
              <a:buNone/>
            </a:pP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test_api(mock_httpx_response):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response = httpx.get("https://api.example.com/data")   # ← 不會真的連網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response.status_code == 200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response.json() == {"message": "success"}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22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模擬錯誤回應 (404 / 500)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your error-handling paths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9728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404 Not Found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17320"/>
            <a:ext cx="4114800" cy="324612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57200" y="1417320"/>
            <a:ext cx="64008" cy="3246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1490472"/>
            <a:ext cx="3858768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mock_404(httpx_mock):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httpx_mock.add_response(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url=".../notfound",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status_code=404,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json={"error": "Not Found"},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test_api_404(mock_404):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httpx.get(".../notfound")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r.status_code == 404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r.json()["error"] == "Not Found"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754880" y="10972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💥 500 Internal Server Error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754880" y="1417320"/>
            <a:ext cx="3931920" cy="324612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754880" y="1417320"/>
            <a:ext cx="64008" cy="32461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19472" y="1490472"/>
            <a:ext cx="3675888" cy="30998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@pytest.fixture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mock_500(httpx_mock):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httpx_mock.add_response(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url=".../server-error",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status_code=500,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json={"error": "Internal Error"},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</a:t>
            </a:r>
            <a:endParaRPr lang="en-US" sz="1100" dirty="0"/>
          </a:p>
          <a:p>
            <a:pPr marL="0" indent="0" algn="l">
              <a:buNone/>
            </a:pP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test_api_500(mock_500):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httpx.get(".../server-error")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assert r.status_code == 500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你的程式應該優雅地 fallback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Mocking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22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🔬 Hands-on Practice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課堂練習：為 d-prime 寫測試（15 分鐘）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solidFill>
            <a:srgbClr val="FFF7E0"/>
          </a:solidFill>
          <a:ln w="9525">
            <a:solidFill>
              <a:srgbClr val="E8C44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300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3A"/>
                </a:solidFill>
              </a:rPr>
              <a:t>情境：</a:t>
            </a:r>
            <a:r>
              <a:rPr lang="en-US" sz="1300" dirty="0">
                <a:solidFill>
                  <a:srgbClr val="1F2933"/>
                </a:solidFill>
              </a:rPr>
              <a:t> 你寫了一個訊號偵測理論的 </a:t>
            </a:r>
            <a:r>
              <a:rPr lang="en-US" sz="12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compute_dprime(hits, false_alarms, n)</a:t>
            </a:r>
            <a:r>
              <a:rPr lang="en-US" sz="1300" dirty="0">
                <a:solidFill>
                  <a:srgbClr val="1F2933"/>
                </a:solidFill>
              </a:rPr>
              <a:t>。請用 pytest 寫至少 3 個 test 確保它正確。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737360"/>
            <a:ext cx="8229600" cy="2971800"/>
          </a:xfrm>
          <a:prstGeom prst="rect">
            <a:avLst/>
          </a:prstGeom>
          <a:solidFill>
            <a:srgbClr val="FDF6E3"/>
          </a:solidFill>
          <a:ln w="9525">
            <a:solidFill>
              <a:srgbClr val="E2D9C2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1737360"/>
            <a:ext cx="64008" cy="29718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21792" y="1810512"/>
            <a:ext cx="7973568" cy="2825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starter code: test_dprime.py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numpy as np, pytest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scipy.stats import norm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compute_dprime(hits, false_alarms, n):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"""d' = z(hit_rate) - z(fa_rate)"""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hit_rate = max(min(hits / n, 0.99), 0.01)        # avoid ±inf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fa_rate  = max(min(false_alarms / n, 0.99), 0.01)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norm.ppf(hit_rate) - norm.ppf(fa_rate)</a:t>
            </a:r>
            <a:endParaRPr lang="en-US" sz="1150" dirty="0"/>
          </a:p>
          <a:p>
            <a:pPr marL="0" indent="0" algn="l">
              <a:buNone/>
            </a:pP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你的 test 從這裡開始 ↓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(1) 標準情況 — 假設 hits=8, FA=2, n=10 時 d' 為已知值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(2) 邊界情況 — hits=0 與 hits=n 時不應該回傳 inf</a:t>
            </a:r>
            <a:endParaRPr lang="en-US" sz="1150" dirty="0"/>
          </a:p>
          <a:p>
            <a:pPr marL="0" indent="0" algn="l">
              <a:buNone/>
            </a:pPr>
            <a:r>
              <a:rPr lang="en-US" sz="1150" dirty="0">
                <a:solidFill>
                  <a:srgbClr val="1F29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(3) 用 @parametrize 測 3 組不同的 (hits, FA, n)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常見錯誤 (Common Pitfalls)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Avoid these mistakes when starting out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4300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43000"/>
            <a:ext cx="91440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1887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檔案命名錯誤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429000" y="1188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</a:rPr>
              <a:t>✗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703320" y="118872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sample.py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715000" y="11887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989320" y="118872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test_sample.py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85800" y="152704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預設只發現 test_*.py / *_test.py。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57200" y="201168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2011680"/>
            <a:ext cx="91440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2057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函式沒前綴 test_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2057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</a:rPr>
              <a:t>✗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703320" y="205740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check_add():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715000" y="205740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989320" y="205740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test_add():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85800" y="239572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只收集 test_ 開頭的函式。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" y="288036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" y="2880360"/>
            <a:ext cx="91440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" y="29260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用 print 取代 assert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429000" y="2926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</a:rPr>
              <a:t>✗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703320" y="29260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print(add(1,2))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715000" y="292608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989320" y="292608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assert add(1,2)==3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5800" y="326440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不會讓 test 失敗，pytest 也不會檢查輸出。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7200" y="3749040"/>
            <a:ext cx="8229600" cy="77724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3749040"/>
            <a:ext cx="91440" cy="7772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85800" y="3794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fixture 沒被傳入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3429000" y="3794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B85042"/>
                </a:solidFill>
              </a:rPr>
              <a:t>✗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703320" y="379476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8504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test(): use(data)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715000" y="379476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C5F2D"/>
                </a:solidFill>
              </a:rPr>
              <a:t>✓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5989320" y="3794760"/>
            <a:ext cx="2606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5F2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test(data): ...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85800" y="4133088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fixture 必須作為 test 函式的參數注入。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Pitfalls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22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生態系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plugins &amp; integrations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26517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18872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252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pytest-cov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測試覆蓋率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057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顯示每個檔案有多少 % 的 line 被 test 觸及。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188720"/>
            <a:ext cx="26517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188720"/>
            <a:ext cx="265176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0" y="1252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pytest-httpx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mock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83280" y="2057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本講義示範過的；攔截 httpx 請求。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188720"/>
            <a:ext cx="26517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35040" y="1188720"/>
            <a:ext cx="2651760" cy="4572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25272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pytest-django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172200" y="173736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Django integration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172200" y="205740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處理 ORM 與 test DB。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57200" y="2971800"/>
            <a:ext cx="26517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57200" y="2971800"/>
            <a:ext cx="2651760" cy="457200"/>
          </a:xfrm>
          <a:prstGeom prst="rect">
            <a:avLst/>
          </a:prstGeom>
          <a:solidFill>
            <a:srgbClr val="0F3B3A"/>
          </a:solidFill>
          <a:ln w="12700">
            <a:solidFill>
              <a:srgbClr val="0F3B3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pytest-benchmark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效能基準測試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9436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量測函式執行時間並與 baseline 比對。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3246120" y="2971800"/>
            <a:ext cx="26517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46120" y="2971800"/>
            <a:ext cx="265176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38328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pytest-xdist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平行執行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338328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在多核 / 多機平行跑 test。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035040" y="2971800"/>
            <a:ext cx="26517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D6DEE0"/>
            </a:solidFill>
            <a:prstDash val="solid"/>
          </a:ln>
          <a:effectLst>
            <a:outerShdw blurRad="762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6035040" y="2971800"/>
            <a:ext cx="2651760" cy="4572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172200" y="3035808"/>
            <a:ext cx="2377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monkeypatch (內建)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172200" y="35204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暫時改寫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6172200" y="3840480"/>
            <a:ext cx="2377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 test 範圍內覆蓋 attribute / env var。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Ecosystem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22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92608"/>
            <a:ext cx="109728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22860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重點回顧 (Recap)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94360" y="713232"/>
            <a:ext cx="8138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should remember after this lecture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94360" y="1143000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143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280160" y="1161288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撰寫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1161288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檔名 test_*.py，函式 test_*，用 assert 檢查預期值。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4360" y="1856232"/>
            <a:ext cx="502920" cy="502920"/>
          </a:xfrm>
          <a:prstGeom prst="ellipse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4360" y="185623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280160" y="18745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重用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1874520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@pytest.fixture 抽出共用前置；yield 做 teardown。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2569464"/>
            <a:ext cx="502920" cy="50292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4360" y="256946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280160" y="2587752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擴充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2587752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@pytest.mark.parametrize 一次測多組 input/expected。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94360" y="3282696"/>
            <a:ext cx="502920" cy="502920"/>
          </a:xfrm>
          <a:prstGeom prst="ellipse">
            <a:avLst/>
          </a:prstGeom>
          <a:solidFill>
            <a:srgbClr val="0F3B3A"/>
          </a:solidFill>
          <a:ln w="12700">
            <a:solidFill>
              <a:srgbClr val="0F3B3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4360" y="328269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280160" y="3300984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3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隔離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606040" y="3300984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pytest-httpx 可以攔截 HTTP 請求，模擬 200 / 404 / 500。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" y="3995928"/>
            <a:ext cx="502920" cy="50292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" y="39959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280160" y="4014216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報告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2606040" y="4014216"/>
            <a:ext cx="6080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F29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錯誤訊息顯示變數值，協助快速 debug；常見坑請見前幾頁。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4818888"/>
            <a:ext cx="4572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NS5116 · pytest 介紹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57600" y="4818888"/>
            <a:ext cx="36576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863840" y="4818888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F6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22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F3B3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28090">
              <a:alpha val="40000"/>
            </a:srgbClr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02C39A">
              <a:alpha val="25000"/>
            </a:srgbClr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200" b="1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Let's Test!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 Let's write some tests.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914400" y="3291840"/>
            <a:ext cx="7315200" cy="36576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4290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延伸閱讀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70332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官方文件 </a:t>
            </a: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docs.pytest.org</a:t>
            </a:r>
            <a:r>
              <a:rPr lang="en-US" sz="1300" dirty="0">
                <a:solidFill>
                  <a:srgbClr val="FFFFFF"/>
                </a:solidFill>
              </a:rPr>
              <a:t>    • </a:t>
            </a:r>
            <a:r>
              <a:rPr lang="en-US" sz="13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pytest-httpx </a:t>
            </a:r>
            <a:r>
              <a:rPr lang="en-US" sz="1300" dirty="0">
                <a:solidFill>
                  <a:srgbClr val="FFFFFF"/>
                </a:solidFill>
              </a:rPr>
              <a:t>外掛文件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</a:rPr>
              <a:t>• 進階主題：</a:t>
            </a:r>
            <a:r>
              <a:rPr lang="en-US" sz="1300" i="1" dirty="0">
                <a:solidFill>
                  <a:srgbClr val="CADCFC"/>
                </a:solidFill>
              </a:rPr>
              <a:t>monkeypatch · pytest-benchmark · CI 上跑 pytest (GitHub Actions)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2546</Words>
  <Application>Microsoft Office PowerPoint</Application>
  <PresentationFormat>如螢幕大小 (16:9)</PresentationFormat>
  <Paragraphs>469</Paragraphs>
  <Slides>22</Slides>
  <Notes>22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22</vt:i4>
      </vt:variant>
    </vt:vector>
  </HeadingPairs>
  <TitlesOfParts>
    <vt:vector size="27" baseType="lpstr">
      <vt:lpstr>Arial</vt:lpstr>
      <vt:lpstr>Arial Black</vt:lpstr>
      <vt:lpstr>Calibri</vt:lpstr>
      <vt:lpstr>Consolas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pytest 完整介紹 — NS5116</dc:title>
  <dc:subject>Python testing framework</dc:subject>
  <dc:creator>Erik Chang (張智宏)</dc:creator>
  <cp:lastModifiedBy>Erik Chang</cp:lastModifiedBy>
  <cp:revision>2</cp:revision>
  <dcterms:created xsi:type="dcterms:W3CDTF">2026-05-13T13:02:51Z</dcterms:created>
  <dcterms:modified xsi:type="dcterms:W3CDTF">2026-05-14T00:35:46Z</dcterms:modified>
</cp:coreProperties>
</file>