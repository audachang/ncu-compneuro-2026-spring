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歡迎來到 Week 15。今天是這學期最技術性的一週 — 我們要把前面學過的 pandas、NumPy、視覺化全部串起來，</a:t>
            </a:r>
          </a:p>
          <a:p>
            <a:r>
              <a:t>進入 machine learning。</a:t>
            </a:r>
          </a:p>
          <a:p/>
          <a:p>
            <a:r>
              <a:t>今天的 anchor textbook 是 Aurélien Géron 的《Hands-on Machine Learning》第三版，</a:t>
            </a:r>
          </a:p>
          <a:p>
            <a:r>
              <a:t>第二章那個經典的 California Housing 案例。我們會跟著這個案例走一遍完整的 pipeline，</a:t>
            </a:r>
          </a:p>
          <a:p>
            <a:r>
              <a:t>然後再把同樣的工具套到一個 cogneuro 的情境上 — 預測 Stroop task 的反應時間。</a:t>
            </a:r>
          </a:p>
          <a:p/>
          <a:p>
            <a:r>
              <a:t>提醒一下：今天涵蓋的都是 **shallow learning** — 也就是傳統 ML。Deep learning 屬於另一個範疇，</a:t>
            </a:r>
          </a:p>
          <a:p>
            <a:r>
              <a:t>本週不涵蓋。重點是 **pipeline 與 algorithm taxonomy**，不是任何單一模型的極致最佳化。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這六個目標是今天結束時你應該能做到的事。</a:t>
            </a:r>
          </a:p>
          <a:p/>
          <a:p>
            <a:r>
              <a:t>我特別強調第一個 — **Frame**。在寫任何 sklearn code 之前，你必須先回答四個問題：</a:t>
            </a:r>
          </a:p>
          <a:p>
            <a:r>
              <a:t>這是 supervised 還是 unsupervised？是 regression 還是 classification？資料一次給齊還是逐筆進來？</a:t>
            </a:r>
          </a:p>
          <a:p>
            <a:r>
              <a:t>模型是 model-based 還是 instance-based？</a:t>
            </a:r>
          </a:p>
          <a:p/>
          <a:p>
            <a:r>
              <a:t>如果你能回答這四個問題，後面所有 sklearn 的選擇都會變得清楚。</a:t>
            </a:r>
          </a:p>
          <a:p>
            <a:r>
              <a:t>反過來說，如果你跳過 framing 直接 import sklearn，你會 silently 選錯類型，所有 metric 就變得毫無意義。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這是今天的時間規劃，總共三小時。</a:t>
            </a:r>
          </a:p>
          <a:p/>
          <a:p>
            <a:r>
              <a:t>前 20 分鐘是 framing — 比較抽象但很重要。</a:t>
            </a:r>
          </a:p>
          <a:p>
            <a:r>
              <a:t>接著 25 分鐘是 California Housing 的資料探索與切分。</a:t>
            </a:r>
          </a:p>
          <a:p>
            <a:r>
              <a:t>然後 30 分鐘做 preprocessing pipeline — 這是整堂課的技術核心。</a:t>
            </a:r>
          </a:p>
          <a:p>
            <a:r>
              <a:t>40 分鐘的 algorithm zoo 是內容最多的部分，會看五大類 algorithm。</a:t>
            </a:r>
          </a:p>
          <a:p>
            <a:r>
              <a:t>25 分鐘 evaluation 與 tuning，15 分鐘 unsupervised 小品。</a:t>
            </a:r>
          </a:p>
          <a:p>
            <a:r>
              <a:t>最後 25 分鐘把整套 pipeline 套到 cogneuro 情境上。</a:t>
            </a:r>
          </a:p>
          <a:p/>
          <a:p>
            <a:r>
              <a:t>每個 section 後面都有一個 hands-on practice，請大家準備好 VS Code 與 Jupyter 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你們已經會用 PsychoPy 收資料，會用 pandas 整理，會用 Streamlit 展示。</a:t>
            </a:r>
          </a:p>
          <a:p>
            <a:r>
              <a:t>今天要補上最後一塊拼圖 — **從資料中學出一個可預測的 model**。</a:t>
            </a:r>
          </a:p>
          <a:p/>
          <a:p>
            <a:r>
              <a:t>舉一個情境：實驗室收了 200 位受試者的 Stroop task，每人 60 個 trial。</a:t>
            </a:r>
          </a:p>
          <a:p>
            <a:r>
              <a:t>你想知道：哪些 trial-level 變項最能預測 RT？能不能在新受試者身上預測他的 RT 分布？</a:t>
            </a:r>
          </a:p>
          <a:p/>
          <a:p>
            <a:r>
              <a:t>這個問題本身就是 supervised regression。我們今天的策略是：</a:t>
            </a:r>
          </a:p>
          <a:p>
            <a:r>
              <a:t>先用 California Housing 跑完一遍 — 因為這個資料集乾淨、文獻多、好除錯；</a:t>
            </a:r>
          </a:p>
          <a:p>
            <a:r>
              <a:t>然後把完全一樣的 pipeline 套到 Stroop RT 上，讓你看到 pipeline 是 domain-agnostic 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進入第一個 section — ML 問題的框架化。</a:t>
            </a:r>
          </a:p>
          <a:p/>
          <a:p>
            <a:r>
              <a:t>這個 section 沒有 code，但它決定了你後面所有 code 怎麼寫。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這四個問題是寫任何 ML code 之前必須回答的。</a:t>
            </a:r>
          </a:p>
          <a:p/>
          <a:p>
            <a:r>
              <a:t>第一：**有沒有 label？** 有觀測值就是 supervised；沒有就是 unsupervised；部分有就是 semi-supervised。</a:t>
            </a:r>
          </a:p>
          <a:p/>
          <a:p>
            <a:r>
              <a:t>第二：**label 的型別？** 連續值是 regression，離散值是 classification。</a:t>
            </a:r>
          </a:p>
          <a:p>
            <a:r>
              <a:t>注意：把 RT 當 classification 的 target — 例如「快/慢」二分類 — 你會 silently 失去 ordinal 結構，</a:t>
            </a:r>
          </a:p>
          <a:p>
            <a:r>
              <a:t>也就是「520 ms 比 500 ms 慢一點」這個資訊被完全丟掉。</a:t>
            </a:r>
          </a:p>
          <a:p/>
          <a:p>
            <a:r>
              <a:t>第三：**資料一次給齊嗎？** 跑完實驗收到所有人是 batch；像股票價格一直進來是 online。</a:t>
            </a:r>
          </a:p>
          <a:p/>
          <a:p>
            <a:r>
              <a:t>第四：**模型怎麼學？** Instance-based 是「記住所有 train sample，新 sample 來時找最近的」 — k-NN 就是這類；</a:t>
            </a:r>
          </a:p>
          <a:p>
            <a:r>
              <a:t>model-based 則是「學出一組 parameter」 — linear regression、neural network 都是。</a:t>
            </a:r>
          </a:p>
          <a:p/>
          <a:p>
            <a:r>
              <a:t>下方的紅色提醒框很重要：選錯類型會讓所有 metric 變得無意義。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這張圖是今天會涵蓋的 algorithm 全景。</a:t>
            </a:r>
          </a:p>
          <a:p/>
          <a:p>
            <a:r>
              <a:t>左半邊是 **supervised**，分五大家族：linear、instance-based、tree、ensemble、kernel。</a:t>
            </a:r>
          </a:p>
          <a:p>
            <a:r>
              <a:t>這五家族並不是排他的 — 你可以有 kernel ridge regression（linear × kernel），</a:t>
            </a:r>
          </a:p>
          <a:p>
            <a:r>
              <a:t>也可以有 ensemble of trees（tree × ensemble），但作為教學分類它們夠用了。</a:t>
            </a:r>
          </a:p>
          <a:p/>
          <a:p>
            <a:r>
              <a:t>右半邊是 **unsupervised**。今天我們只看 k-means 與 IsolationForest，</a:t>
            </a:r>
          </a:p>
          <a:p>
            <a:r>
              <a:t>而且不是當主角，是當 **feature engineering 工具** 與 **outlier filter**。</a:t>
            </a:r>
          </a:p>
          <a:p/>
          <a:p>
            <a:r>
              <a:t>底下的灰字提醒：deep learning 屬於 representation learning 範疇，本週不涵蓋。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hands-on。請大家花 5 分鐘，跟同桌討論這三個情境，回答四個 framing 問題。</a:t>
            </a:r>
          </a:p>
          <a:p/>
          <a:p>
            <a:r>
              <a:t>情境 A 比較直接：清醒 vs. 睡著是二元分類。</a:t>
            </a:r>
          </a:p>
          <a:p>
            <a:r>
              <a:t>情境 B 注意：「自動分群」這個詞就告訴你沒有預先的 label — 是 unsupervised clustering。</a:t>
            </a:r>
          </a:p>
          <a:p>
            <a:r>
              <a:t>情境 C 最有趣 — 它可以兩種 framing 都用：如果你有專家標好的 motion artifact label，就是 supervised；</a:t>
            </a:r>
          </a:p>
          <a:p>
            <a:r>
              <a:t>如果沒有，就用 anomaly detection (unsupervised) 找「不像正常 volume 的 volume」。</a:t>
            </a:r>
          </a:p>
          <a:p/>
          <a:p>
            <a:r>
              <a:t>5 分鐘後我們各組分享一個情境的答案。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 anchor case — California Housing。</a:t>
            </a:r>
          </a:p>
          <a:p/>
          <a:p>
            <a:r>
              <a:t>這個資料集是 ML 教學界的標準案例，因為它乾淨、量適中、有現實意義。</a:t>
            </a:r>
          </a:p>
          <a:p>
            <a:r>
              <a:t>今天我們會跟著 Géron 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1990 美國加州人口普查的 block-level 資料 — 一個 block 大約 600-3000 人。</a:t>
            </a:r>
          </a:p>
          <a:p>
            <a:r>
              <a:t>總共 20,640 個 block，10 個欄位。</a:t>
            </a:r>
          </a:p>
          <a:p/>
          <a:p>
            <a:r>
              <a:t>Target 是 `median_house_value`，單位 USD。</a:t>
            </a:r>
          </a:p>
          <a:p>
            <a:r>
              <a:t>Features 包括地理位置（經緯度）、房屋年齡中位數、總房間數、總臥房數、人口、家戶數、收入中位數，</a:t>
            </a:r>
          </a:p>
          <a:p>
            <a:r>
              <a:t>以及一個文字欄位 `ocean_proximity`。</a:t>
            </a:r>
          </a:p>
          <a:p/>
          <a:p>
            <a:r>
              <a:t>兩個重點：`total_bedrooms` 有 207 筆缺值，需要 impute；`ocean_proximity` 是文字，需要 encoding。</a:t>
            </a:r>
          </a:p>
          <a:p>
            <a:r>
              <a:t>這兩個 issue 是我們等下 pipeline 要處理的核心。</a:t>
            </a:r>
          </a:p>
          <a:p/>
          <a:p>
            <a:r>
              <a:t>下方的 code 是 Géron 提供的 loader — 第一次跑會下載到 `datasets/`，之後就從 cache 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這張投影片只有一個訊息，但它是整堂課最重要的一個：</a:t>
            </a:r>
          </a:p>
          <a:p/>
          <a:p>
            <a:r>
              <a:t>**拿到資料的第一件事，是切出 test set，然後鎖起來，直到最後評估前都不准看。**</a:t>
            </a:r>
          </a:p>
          <a:p/>
          <a:p>
            <a:r>
              <a:t>為什麼？因為如果你先做 EDA，例如看了某個 feature 的分布、發現有些 outlier 想剔除，</a:t>
            </a:r>
          </a:p>
          <a:p>
            <a:r>
              <a:t>你就 silently 把 test 的資訊納入了 design choice。這叫 **data snooping bias**，</a:t>
            </a:r>
          </a:p>
          <a:p>
            <a:r>
              <a:t>等於把答案抄進考卷 — 你最後在 test 上的成績完全失去意義。</a:t>
            </a:r>
          </a:p>
          <a:p/>
          <a:p>
            <a:r>
              <a:t>`random_state=42` 是 reproducibility 的關鍵。為什麼是 42？因為 Douglas Adams。</a:t>
            </a:r>
          </a:p>
          <a:p>
            <a:r>
              <a:t>但任何固定的整數都可以，重點是 **不要每次跑不同**。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純 random split 有個問題：當某個重要 feature 分布不均時，test set 可能不能代表母體。</a:t>
            </a:r>
          </a:p>
          <a:p/>
          <a:p>
            <a:r>
              <a:t>以 housing 為例，`median_income` 右尾很長 — 大部分 block 收入中等，少數很高。</a:t>
            </a:r>
          </a:p>
          <a:p>
            <a:r>
              <a:t>隨機切 20% 出來，可能 high-income block 在 test 中比例偏低。</a:t>
            </a:r>
          </a:p>
          <a:p/>
          <a:p>
            <a:r>
              <a:t>解法：把 income 切 5 個 bin，按 bin 比例分層抽樣 — `StratifiedShuffleSplit`。</a:t>
            </a:r>
          </a:p>
          <a:p/>
          <a:p>
            <a:r>
              <a:t>這個技巧到 cogneuro 也用得到。下方藍框提示：</a:t>
            </a:r>
          </a:p>
          <a:p>
            <a:r>
              <a:t>如果你的 dataset 中年輕人遠多於老人，random split 後 test 可能只有兩三個老人，</a:t>
            </a:r>
          </a:p>
          <a:p>
            <a:r>
              <a:t>模型在「老人 generalization」上的結果就不可靠。用 age group stratify 才能保證 test 反映母體。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 hands-on — 8 分鐘獨立完成。</a:t>
            </a:r>
          </a:p>
          <a:p/>
          <a:p>
            <a:r>
              <a:t>任務：給定一個模擬 RT dataset，先用 `pd.cut` 切 4 個 age bin，</a:t>
            </a:r>
          </a:p>
          <a:p>
            <a:r>
              <a:t>再用 `StratifiedShuffleSplit` 切 20% test，最後驗證 train/test 各 bin 比例差異 &lt; 1%。</a:t>
            </a:r>
          </a:p>
          <a:p/>
          <a:p>
            <a:r>
              <a:t>寫完之後跟同桌互看程式碼。常見的卡點是 `pd.cut` 的 `bins` 與 `labels` 長度要差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進入第三 section — preprocessing pipeline。</a:t>
            </a:r>
          </a:p>
          <a:p/>
          <a:p>
            <a:r>
              <a:t>這個 section 是整堂課技術上最關鍵的部分。如果你只記得一件事，就是：</a:t>
            </a:r>
          </a:p>
          <a:p>
            <a:r>
              <a:t>**所有 preprocessing 步驟，要先在 train 上 fit，再 transform 到 test。**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為什麼需要 Pipeline？</a:t>
            </a:r>
          </a:p>
          <a:p/>
          <a:p>
            <a:r>
              <a:t>最常見的錯誤是這樣：學生把 train 與 test concatenate 起來，一起 `fit_transform(StandardScaler())`。</a:t>
            </a:r>
          </a:p>
          <a:p>
            <a:r>
              <a:t>結果是 test set 的 mean 與 std 偷渡進了 train。</a:t>
            </a:r>
          </a:p>
          <a:p>
            <a:r>
              <a:t>模型在 train 上看似很好，在真實 deployment 時表現一落千丈。</a:t>
            </a:r>
          </a:p>
          <a:p/>
          <a:p>
            <a:r>
              <a:t>`sklearn.pipeline.Pipeline` 就是強制你遵守「fit on train, transform on test」這條規則的工具。</a:t>
            </a:r>
          </a:p>
          <a:p>
            <a:r>
              <a:t>整個 pipeline 像一個 model — 你對它 `fit(X_train, y_train)` 一次，對它 `predict(X_test)` 一次，</a:t>
            </a:r>
          </a:p>
          <a:p>
            <a:r>
              <a:t>sklearn 內部會自動只用 train 的 statistics 去 transform test。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A — 處理 missing values。</a:t>
            </a:r>
          </a:p>
          <a:p/>
          <a:p>
            <a:r>
              <a:t>三種選擇：drop rows、drop column、impute。前兩個都會丟資訊，所以推薦 impute。</a:t>
            </a:r>
          </a:p>
          <a:p/>
          <a:p>
            <a:r>
              <a:t>`SimpleImputer(strategy='median')` 是最常用的 — 對 numerical feature 用 median 填，</a:t>
            </a:r>
          </a:p>
          <a:p>
            <a:r>
              <a:t>median 比 mean 更 robust 於 outlier。</a:t>
            </a:r>
          </a:p>
          <a:p/>
          <a:p>
            <a:r>
              <a:t>對 categorical feature 可以用 `strategy='most_frequent'`，也就是填眾數。</a:t>
            </a:r>
          </a:p>
          <a:p>
            <a:r>
              <a:t>進階版本是 `KNNImputer` — 用鄰近 sample 的值估，但通常 SimpleImputer 就夠了。</a:t>
            </a:r>
          </a:p>
          <a:p/>
          <a:p>
            <a:r>
              <a:t>注意：imputer 一定要放在 pipeline 裡，不要自己手動 `df.fillna(df.mean())` —</a:t>
            </a:r>
          </a:p>
          <a:p>
            <a:r>
              <a:t>那樣做會在 cross-validation 時把整個 dataset 的 mean 算進去，造成 leakage。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B — 處理文字類別。</a:t>
            </a:r>
          </a:p>
          <a:p/>
          <a:p>
            <a:r>
              <a:t>兩種主要選擇：`OrdinalEncoder` 與 `OneHotEncoder`。</a:t>
            </a:r>
          </a:p>
          <a:p/>
          <a:p>
            <a:r>
              <a:t>`OrdinalEncoder` 把每個類別映射到一個整數，例如 `&lt;1H OCEAN` → 0、`INLAND` → 1、`ISLAND` → 2...</a:t>
            </a:r>
          </a:p>
          <a:p>
            <a:r>
              <a:t>這對於 **有自然順序** 的類別（如 low/medium/high）是合適的，</a:t>
            </a:r>
          </a:p>
          <a:p>
            <a:r>
              <a:t>但對於 **無序類別**（如 ocean_proximity），它會 silently 強加錯誤的順序。</a:t>
            </a:r>
          </a:p>
          <a:p>
            <a:r>
              <a:t>Linear model 看到「INLAND 比 &lt;1H OCEAN 大 1」會試圖學這個假關係，結果一團亂。</a:t>
            </a:r>
          </a:p>
          <a:p/>
          <a:p>
            <a:r>
              <a:t>`OneHotEncoder` 把每個類別變成一個獨立的 binary column。</a:t>
            </a:r>
          </a:p>
          <a:p>
            <a:r>
              <a:t>缺點是類別很多時會產生 sparse 高維 feature。但對於 &lt; 50 個類別的情況，這是最安全的預設。</a:t>
            </a:r>
          </a:p>
          <a:p/>
          <a:p>
            <a:r>
              <a:t>**一定要加** `handle_unknown="ignore"`，否則 test 出現訓練時沒看過的類別，整個 pipeline 會 crash。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C — Feature scaling。</a:t>
            </a:r>
          </a:p>
          <a:p/>
          <a:p>
            <a:r>
              <a:t>為什麼需要：基於距離的演算法 (k-NN、SVM、k-means) 與基於梯度的演算法 (linear + GD、neural net)</a:t>
            </a:r>
          </a:p>
          <a:p>
            <a:r>
              <a:t>對 feature 的 scale 極度敏感。</a:t>
            </a:r>
          </a:p>
          <a:p/>
          <a:p>
            <a:r>
              <a:t>舉例：housing 裡 latitude 在 ±90 範圍，median_income 在 0 到 15 範圍。</a:t>
            </a:r>
          </a:p>
          <a:p>
            <a:r>
              <a:t>k-NN 算距離時，latitude 會壓過 income，模型基本上只在看地理座標。</a:t>
            </a:r>
          </a:p>
          <a:p/>
          <a:p>
            <a:r>
              <a:t>三種主要 scaler：</a:t>
            </a:r>
          </a:p>
          <a:p>
            <a:r>
              <a:t>StandardScaler：z-score 標準化，最常用。</a:t>
            </a:r>
          </a:p>
          <a:p>
            <a:r>
              <a:t>MinMaxScaler：壓到 [0, 1]，對 outlier 敏感。</a:t>
            </a:r>
          </a:p>
          <a:p>
            <a:r>
              <a:t>RobustScaler：用 median 與 IQR，outlier 多時的替代方案。</a:t>
            </a:r>
          </a:p>
          <a:p/>
          <a:p>
            <a:r>
              <a:t>重要例外：**tree-based 演算法（RandomForest、GradientBoosting）不需要 scaling**。</a:t>
            </a:r>
          </a:p>
          <a:p>
            <a:r>
              <a:t>因為 tree 是用「&gt;X 還是 &lt;X」做分割，與 scale 無關。但放在 pipeline 裡也沒壞處，只是浪費計算。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D — 把所有步驟串成 ColumnTransformer。</a:t>
            </a:r>
          </a:p>
          <a:p/>
          <a:p>
            <a:r>
              <a:t>`Pipeline` 是垂直 — 一個步驟接一個。</a:t>
            </a:r>
          </a:p>
          <a:p>
            <a:r>
              <a:t>`ColumnTransformer` 是水平 — 不同欄位走不同路徑。</a:t>
            </a:r>
          </a:p>
          <a:p/>
          <a:p>
            <a:r>
              <a:t>這裡的設計：numerical 欄位走 `imputer → scaler`，categorical 欄位走 `OneHotEncoder`。</a:t>
            </a:r>
          </a:p>
          <a:p>
            <a:r>
              <a:t>兩條路徑的 output 自動 concatenate 成一個矩陣。</a:t>
            </a:r>
          </a:p>
          <a:p/>
          <a:p>
            <a:r>
              <a:t>最關鍵的一行在下面的綠框：對 train 用 `fit_transform()`，對 test 只用 `transform()`。</a:t>
            </a:r>
          </a:p>
          <a:p>
            <a:r>
              <a:t>pipeline 會自動處理這件事 — 你只要對整個 pipeline `fit(X_train, y_train)` 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 hands-on — 10 分鐘獨立完成。</a:t>
            </a:r>
          </a:p>
          <a:p/>
          <a:p>
            <a:r>
              <a:t>任務：把剛剛學到的 ColumnTransformer 套到一個 trial-level dataframe 上。</a:t>
            </a:r>
          </a:p>
          <a:p>
            <a:r>
              <a:t>有三個 feature：congruency 是字串、isi 是連續但有 missing、block_num 是整數。</a:t>
            </a:r>
          </a:p>
          <a:p/>
          <a:p>
            <a:r>
              <a:t>最後 X 的 shape 應該是 (100, 4) — 兩個 numerical + 兩個 one-hot 的 congruency level。</a:t>
            </a:r>
          </a:p>
          <a:p/>
          <a:p>
            <a:r>
              <a:t>如果你 shape 跑出來不對，第一個檢查點是 OneHotEncoder 後 column 數量。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進入第四 section — algorithm zoo。</a:t>
            </a:r>
          </a:p>
          <a:p/>
          <a:p>
            <a:r>
              <a:t>到目前為止我們的 X_train_prepared 是一個乾淨的矩陣。</a:t>
            </a:r>
          </a:p>
          <a:p>
            <a:r>
              <a:t>同一個矩陣可以餵給很多 algorithm。接下來我們會用 **完全相同的 evaluation protocol** 比較五大家族。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 algorithm 的速覽。記不住沒關係 — 重點是知道 **這五類各自的 inductive bias** 是什麼。</a:t>
            </a:r>
          </a:p>
          <a:p/>
          <a:p>
            <a:r>
              <a:t>**Inductive bias** 是個重要概念：每個 algorithm 對「資料長什麼樣」都有先驗假設。</a:t>
            </a:r>
          </a:p>
          <a:p>
            <a:r>
              <a:t>Linear 假設 target 是 feature 的線性組合；instance-based 假設鄰近 sample 相似；</a:t>
            </a:r>
          </a:p>
          <a:p>
            <a:r>
              <a:t>tree 假設 feature 空間可以用 axis-aligned 切割；ensemble 沒有自己的 bias，</a:t>
            </a:r>
          </a:p>
          <a:p>
            <a:r>
              <a:t>而是用多個 weak learner 的組合來修正單一 learner 的偏誤；kernel 在 high-dim space 找最大 margin。</a:t>
            </a:r>
          </a:p>
          <a:p/>
          <a:p>
            <a:r>
              <a:t>選對 algorithm，就是讓它的 bias 跟資料的真實結構對上。</a:t>
            </a:r>
          </a:p>
          <a:p>
            <a:r>
              <a:t>這也是為什麼「沒有最強的 algorithm」 — 只有「最適合這份資料的 algorithm」。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第一家族：linear models。</a:t>
            </a:r>
          </a:p>
          <a:p/>
          <a:p>
            <a:r>
              <a:t>最簡單的就是 LinearRegression — y = w·x + b，用最小平方法解。</a:t>
            </a:r>
          </a:p>
          <a:p>
            <a:r>
              <a:t>Ridge 在 loss 加上 L2 penalty（w 的平方和），防止 coefficient 爆炸 — 在 feature 多或共線性嚴重時很有用。</a:t>
            </a:r>
          </a:p>
          <a:p>
            <a:r>
              <a:t>Lasso 用 L1 penalty，會把某些 coefficient 壓到 0，等於自動 feature selection。</a:t>
            </a:r>
          </a:p>
          <a:p/>
          <a:p>
            <a:r>
              <a:t>Linear model 的 **最大優點是可解釋** — 看 coefficient 你就知道每個 feature 對 target 的方向與強度。</a:t>
            </a:r>
          </a:p>
          <a:p>
            <a:r>
              <a:t>缺點：對非線性與互動完全無感。如果你的資料是 `y = age × congruency` 這種互動結構，</a:t>
            </a:r>
          </a:p>
          <a:p>
            <a:r>
              <a:t>linear model 永遠抓不到。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第二家族：instance-based — k-Nearest Neighbors。</a:t>
            </a:r>
          </a:p>
          <a:p/>
          <a:p>
            <a:r>
              <a:t>概念極簡：對一個新 sample，找最近的 k 個 train sample，取他們 target 的平均當預測值。</a:t>
            </a:r>
          </a:p>
          <a:p>
            <a:r>
              <a:t>完全沒有「訓練」 — 它只記住所有 train sample。</a:t>
            </a:r>
          </a:p>
          <a:p/>
          <a:p>
            <a:r>
              <a:t>k-NN 的兩個關鍵 gotcha：</a:t>
            </a:r>
          </a:p>
          <a:p>
            <a:r>
              <a:t>第一，**必須先 scaling**。我們前面看過 latitude vs. income 的例子。</a:t>
            </a:r>
          </a:p>
          <a:p>
            <a:r>
              <a:t>第二，**curse of dimensionality** — 在高維空間（&gt;50 dim）所有點都「差不多遠」，k-NN 的概念失效。</a:t>
            </a:r>
          </a:p>
          <a:p/>
          <a:p>
            <a:r>
              <a:t>k-NN 在低維、區域結構強、資料量大時非常有效。在認知神經科學中，</a:t>
            </a:r>
          </a:p>
          <a:p>
            <a:r>
              <a:t>fMRI MVPA 的 searchlight 分析常用 k-NN 當 base classifier。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第三家族：tree-based — Decision Tree。</a:t>
            </a:r>
          </a:p>
          <a:p/>
          <a:p>
            <a:r>
              <a:t>概念：遞迴把 feature 空間切成 axis-aligned 區塊，每塊預測該區的 mean (regression) 或 majority class (classification)。</a:t>
            </a:r>
          </a:p>
          <a:p>
            <a:r>
              <a:t>切分的依據是「哪個切法最能降低 impurity」 — 對 regression 通常是 MSE。</a:t>
            </a:r>
          </a:p>
          <a:p/>
          <a:p>
            <a:r>
              <a:t>優點：天然處理 mixed-type feature、不需 scaling、可視化 decision path 很直觀。</a:t>
            </a:r>
          </a:p>
          <a:p>
            <a:r>
              <a:t>**致命缺點**：single tree 容易 overfit — 沒限制深度時 train RMSE 趨近 0、test RMSE 爛透。</a:t>
            </a:r>
          </a:p>
          <a:p/>
          <a:p>
            <a:r>
              <a:t>兩個基本控制 hyperparameter：</a:t>
            </a:r>
          </a:p>
          <a:p>
            <a:r>
              <a:t>`max_depth` 限制樹深，`min_samples_leaf` 限制葉節點最小 sample 數。</a:t>
            </a:r>
          </a:p>
          <a:p>
            <a:r>
              <a:t>不過 single tree 即使調好參數通常還是不夠 — 真正的解法是下一個 family：ensemble。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第四家族：ensemble — Random Forest 與 Gradient Boosting。</a:t>
            </a:r>
          </a:p>
          <a:p/>
          <a:p>
            <a:r>
              <a:t>兩者都用「多棵 tree 的組合」，但路徑不同：</a:t>
            </a:r>
          </a:p>
          <a:p/>
          <a:p>
            <a:r>
              <a:t>**Random Forest**：bagging 策略。平行訓練多棵 **deep** tree，</a:t>
            </a:r>
          </a:p>
          <a:p>
            <a:r>
              <a:t>每棵看不同的 random subsample 與 random feature subset，最後平均。</a:t>
            </a:r>
          </a:p>
          <a:p>
            <a:r>
              <a:t>重點是「平行」與「deep」 — 每棵 tree 都是 high-variance learner，</a:t>
            </a:r>
          </a:p>
          <a:p>
            <a:r>
              <a:t>但平均之後 variance 大幅降低、bias 不變。</a:t>
            </a:r>
          </a:p>
          <a:p/>
          <a:p>
            <a:r>
              <a:t>**Gradient Boosting**：boosting 策略。序列訓練多棵 **shallow** tree，</a:t>
            </a:r>
          </a:p>
          <a:p>
            <a:r>
              <a:t>每棵學前一棵的 residual — 也就是「上一棵還沒解釋的部分」。</a:t>
            </a:r>
          </a:p>
          <a:p>
            <a:r>
              <a:t>重點是「序列」與「shallow」 — 從 high-bias 開始，逐步降 bias。</a:t>
            </a:r>
          </a:p>
          <a:p/>
          <a:p>
            <a:r>
              <a:t>實務上 GradientBoosting 通常表現更好，但比 RF 慢、對 hyperparameter 較敏感。</a:t>
            </a:r>
          </a:p>
          <a:p>
            <a:r>
              <a:t>RF 是個 hyperparameter 不調也表現不錯的 default baseline；</a:t>
            </a:r>
          </a:p>
          <a:p>
            <a:r>
              <a:t>GB（特別是 XGBoost、LightGBM）是 kaggle competition 的常勝軍。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第五家族：kernel methods — Support Vector Regression。</a:t>
            </a:r>
          </a:p>
          <a:p/>
          <a:p>
            <a:r>
              <a:t>SVR 的想法：在 high-dim feature space 找一個 margin-maximizing hyperplane。</a:t>
            </a:r>
          </a:p>
          <a:p>
            <a:r>
              <a:t>透過 kernel trick，這個 high-dim space 可以是隱式的 — 不用真的 expand feature，</a:t>
            </a:r>
          </a:p>
          <a:p>
            <a:r>
              <a:t>只算 kernel function 的值就好。</a:t>
            </a:r>
          </a:p>
          <a:p/>
          <a:p>
            <a:r>
              <a:t>最常用的 kernel 是 RBF — radial basis function，等同 Gaussian 相似度。</a:t>
            </a:r>
          </a:p>
          <a:p/>
          <a:p>
            <a:r>
              <a:t>SVR 的兩個 gotcha：</a:t>
            </a:r>
          </a:p>
          <a:p>
            <a:r>
              <a:t>第一，**訓練複雜度 O(n²) 或 O(n³)** — 在大資料（&gt;10k samples）會非常慢。</a:t>
            </a:r>
          </a:p>
          <a:p>
            <a:r>
              <a:t>今天 housing 16k samples 跑 SVR 要等好幾分鐘 — 課堂示範我們 subsample 到 3000。</a:t>
            </a:r>
          </a:p>
          <a:p>
            <a:r>
              <a:t>第二，**hyperparameter 很重要** — C 控制 margin 與 violation 的 tradeoff，</a:t>
            </a:r>
          </a:p>
          <a:p>
            <a:r>
              <a:t>γ 控制 RBF 的寬度。沒調好 C 與 γ 的 SVR 通常輸給其他 family。</a:t>
            </a:r>
          </a:p>
          <a:p/>
          <a:p>
            <a:r>
              <a:t>在中等大小、非線性結構的資料上，調好的 SVR 是強力選擇。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 code 是 algorithm zoo 的核心 — 用一個 for-loop 跑完五大家族。</a:t>
            </a:r>
          </a:p>
          <a:p/>
          <a:p>
            <a:r>
              <a:t>關鍵點：**所有 model 都包在 make_pipeline(full_pipeline, model) 裡**。</a:t>
            </a:r>
          </a:p>
          <a:p>
            <a:r>
              <a:t>這保證每個 model 都用完全一樣的 preprocessing，差別只在演算法本身。</a:t>
            </a:r>
          </a:p>
          <a:p/>
          <a:p>
            <a:r>
              <a:t>`cross_val_score` 預設 5-fold CV，回傳 5 個 score。</a:t>
            </a:r>
          </a:p>
          <a:p>
            <a:r>
              <a:t>`scoring="neg_root_mean_squared_error"` 因為 sklearn 的慣例是「越大越好」，</a:t>
            </a:r>
          </a:p>
          <a:p>
            <a:r>
              <a:t>所以 RMSE 加負號。我們最後印的時候再轉回正號。</a:t>
            </a:r>
          </a:p>
          <a:p/>
          <a:p>
            <a:r>
              <a:t>注意：SVR 在 16k samples 太慢 — 真正跑的時候要對 SVR 做 subsample，</a:t>
            </a:r>
          </a:p>
          <a:p>
            <a:r>
              <a:t>或者直接跳過放在 code 註解。下一張投影片的 bar chart 就是這個 loop 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這就是上面 loop 跑出來的結果，5-fold CV RMSE，單位 USD，**越低越好**。</a:t>
            </a:r>
          </a:p>
          <a:p/>
          <a:p>
            <a:r>
              <a:t>幾個關鍵觀察：</a:t>
            </a:r>
          </a:p>
          <a:p/>
          <a:p>
            <a:r>
              <a:t>第一，**RandomForest 大幅超越 DecisionTree** — 49500 vs 69100。</a:t>
            </a:r>
          </a:p>
          <a:p>
            <a:r>
              <a:t>這證明了 ensemble 的價值：用多棵 high-variance 的 deep tree 平均，把 variance 降下來。</a:t>
            </a:r>
          </a:p>
          <a:p/>
          <a:p>
            <a:r>
              <a:t>第二，**Linear 跟 SVR 差不多** — 都在 68000 上下。</a:t>
            </a:r>
          </a:p>
          <a:p>
            <a:r>
              <a:t>這暗示資料的線性結構主導，沒調過 hyperparameter 的 SVR 沒有額外優勢。</a:t>
            </a:r>
          </a:p>
          <a:p/>
          <a:p>
            <a:r>
              <a:t>第三，**GradientBoosting 也很強** — 51800，跟 RF 接近但稍差，因為我們也沒調。</a:t>
            </a:r>
          </a:p>
          <a:p/>
          <a:p>
            <a:r>
              <a:t>第四，**k-NN 中等** — 區域結構有，但被 noise 干擾。</a:t>
            </a:r>
          </a:p>
          <a:p/>
          <a:p>
            <a:r>
              <a:t>右邊的小字提醒：RMSE 與 target 同單位（USD），這比 R² 更好解讀 —</a:t>
            </a:r>
          </a:p>
          <a:p>
            <a:r>
              <a:t>「平均誤差大概 50k」比「R² = 0.78」直觀得多。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這張圖把所有 algorithm 放在一個 spectrum 上。</a:t>
            </a:r>
          </a:p>
          <a:p/>
          <a:p>
            <a:r>
              <a:t>左邊是 **high bias** — model 太簡單，連 train 都學不好（underfit）。LinearRegression 在這端。</a:t>
            </a:r>
          </a:p>
          <a:p>
            <a:r>
              <a:t>右邊是 **high variance** — model 太複雜，記住所有 noise（overfit）。深度 Decision Tree 在這端。</a:t>
            </a:r>
          </a:p>
          <a:p/>
          <a:p>
            <a:r>
              <a:t>中間是「剛剛好」的位置 — Ridge 比 Linear 稍微 regularize，RandomForest 用 ensemble 修 variance。</a:t>
            </a:r>
          </a:p>
          <a:p/>
          <a:p>
            <a:r>
              <a:t>選 model **不是選最強的**，而是 **在這條軸上找到最適合資料的位置**。</a:t>
            </a:r>
          </a:p>
          <a:p/>
          <a:p>
            <a:r>
              <a:t>下方綠色 callout 是 ensemble 的魅力 — 它用「多個 high-variance learner 的平均」</a:t>
            </a:r>
          </a:p>
          <a:p>
            <a:r>
              <a:t>降 variance 而不增加 bias，相當於把 spectrum 上的點往左推。這就是為什麼 RF 幾乎永遠贏 single tree。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第四個 hands-on — 10 分鐘。</a:t>
            </a:r>
          </a:p>
          <a:p/>
          <a:p>
            <a:r>
              <a:t>任務：把 `Ridge(alpha=1.0)` 與 `GradientBoostingRegressor(n_estimators=100)` 加進比較表，</a:t>
            </a:r>
          </a:p>
          <a:p>
            <a:r>
              <a:t>看誰贏。然後解釋為什麼 ensemble 通常贏 single tree。</a:t>
            </a:r>
          </a:p>
          <a:p/>
          <a:p>
            <a:r>
              <a:t>Ridge 是 LinearRegression 的 L2 regularized 版本，在多重共線性下會稍微強過 plain Linear。</a:t>
            </a:r>
          </a:p>
          <a:p>
            <a:r>
              <a:t>GradientBoosting 我們剛剛已經看過了，預期會跟 RF 差不多。</a:t>
            </a:r>
          </a:p>
          <a:p/>
          <a:p>
            <a:r>
              <a:t>寫完後互看 code，特別注意 `make_pipeline` 的接法有沒有對。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進入第五 section — model evaluation 與 hyperparameter tuning。</a:t>
            </a:r>
          </a:p>
          <a:p/>
          <a:p>
            <a:r>
              <a:t>到目前為止我們用 5-fold CV 比較 model，但還沒調 hyperparameter。</a:t>
            </a:r>
          </a:p>
          <a:p>
            <a:r>
              <a:t>這個 section 講怎麼系統性地調，並且最後怎麼用 test set 報告 final 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為什麼我們從頭到尾都用 CV，不用 train accuracy？</a:t>
            </a:r>
          </a:p>
          <a:p/>
          <a:p>
            <a:r>
              <a:t>這張 code 給出最戲劇化的例子：</a:t>
            </a:r>
          </a:p>
          <a:p>
            <a:r>
              <a:t>DecisionTree 沒限制深度，在 train 上 R² 接近 1，看似完美；</a:t>
            </a:r>
          </a:p>
          <a:p>
            <a:r>
              <a:t>但在 test 上 R² 只有 0.62 — 它記住了所有 noise，這叫 **overfitting**。</a:t>
            </a:r>
          </a:p>
          <a:p/>
          <a:p>
            <a:r>
              <a:t>如果你只看 train accuracy，你會選最 overfit 的 model，然後 deployment 時哭出來。</a:t>
            </a:r>
          </a:p>
          <a:p/>
          <a:p>
            <a:r>
              <a:t>**唯一正確的做法是用 CV 評估** — 對 train 集做 k-fold split，每次留一個 fold 當 validation，</a:t>
            </a:r>
          </a:p>
          <a:p>
            <a:r>
              <a:t>其他 fold 訓練。這樣 model 永遠在「沒看過」的資料上被評估。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這張圖示 5-fold CV：把 train 集切 5 份，每次留一份當 test，其他 4 份訓練。</a:t>
            </a:r>
          </a:p>
          <a:p>
            <a:r>
              <a:t>跑 5 次，得到 5 個 score。最後報告 mean ± std。</a:t>
            </a:r>
          </a:p>
          <a:p/>
          <a:p>
            <a:r>
              <a:t>為什麼是 5 或 10 fold？</a:t>
            </a:r>
          </a:p>
          <a:p>
            <a:r>
              <a:t>經驗法則：fold 數越多越接近 leave-one-out（unbiased 但 high variance），fold 越少越 biased 但 stable。</a:t>
            </a:r>
          </a:p>
          <a:p>
            <a:r>
              <a:t>5 或 10 是 community 的 sweet spot。</a:t>
            </a:r>
          </a:p>
          <a:p/>
          <a:p>
            <a:r>
              <a:t>下方的 code 就一行 — `cross_val_score`。記得 `scoring` 參數要加負號（neg_root_mean_squared_error）</a:t>
            </a:r>
          </a:p>
          <a:p>
            <a:r>
              <a:t>因為 sklearn 規定 score 越大越好。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有了 CV，下一步是調 hyperparameter。三個工具：</a:t>
            </a:r>
          </a:p>
          <a:p/>
          <a:p>
            <a:r>
              <a:t>**GridSearchCV**：窮舉所有組合。優點是徹底，缺點是組合爆炸 — 4 個參數每個 5 個值就是 625 個組合 × 5 folds = 3125 次訓練。</a:t>
            </a:r>
          </a:p>
          <a:p/>
          <a:p>
            <a:r>
              <a:t>**RandomizedSearchCV**：在分布上抽 n_iter 次。對連續 hyperparameter 特別有效 — 比 grid 的離散化更靈活。</a:t>
            </a:r>
          </a:p>
          <a:p/>
          <a:p>
            <a:r>
              <a:t>**HalvingRandomSearchCV**：successive halving — 一開始用少量資料評估很多 candidate，</a:t>
            </a:r>
          </a:p>
          <a:p>
            <a:r>
              <a:t>逐輪淘汰差的、給好的更多資料。預算極度有限時用。</a:t>
            </a:r>
          </a:p>
          <a:p/>
          <a:p>
            <a:r>
              <a:t>實務上 90% 的情況我會用 RandomizedSearchCV，因為 hyperparameter 通常有連續的（如 alpha）也有離散的（如 max_depth），</a:t>
            </a:r>
          </a:p>
          <a:p>
            <a:r>
              <a:t>RandomizedSearch 通通能處理。</a:t>
            </a:r>
          </a:p>
          <a:p/>
          <a:p>
            <a:r>
              <a:t>底下的 code 範例用 scipy 的 `randint` 定義 hyperparameter 的分布。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這張是另一個「整堂課最重要」的訊息：</a:t>
            </a:r>
          </a:p>
          <a:p/>
          <a:p>
            <a:r>
              <a:t>**最終的 test set 評估，只能做一次。**</a:t>
            </a:r>
          </a:p>
          <a:p/>
          <a:p>
            <a:r>
              <a:t>為什麼？因為如果你看完 test RMSE 不滿意，回去再調 hyperparameter 重跑，</a:t>
            </a:r>
          </a:p>
          <a:p>
            <a:r>
              <a:t>test set 就變成 train set 的一部分了 — 它的「unseen」性質被破壞。</a:t>
            </a:r>
          </a:p>
          <a:p>
            <a:r>
              <a:t>你最後得到的數字就是失真的。</a:t>
            </a:r>
          </a:p>
          <a:p/>
          <a:p>
            <a:r>
              <a:t>紀律是：CV 階段你可以隨便調，但 test set 只能在「我確定要 submit 這個 model」的瞬間跑一次。</a:t>
            </a:r>
          </a:p>
          <a:p>
            <a:r>
              <a:t>如果結果不滿意，就接受它，並把這個限制寫進 paper 的 limitation 段落。</a:t>
            </a:r>
          </a:p>
          <a:p/>
          <a:p>
            <a:r>
              <a:t>下方綠字：誠實的科學家會接受 negative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進入第六 section — unsupervised 小品。</a:t>
            </a:r>
          </a:p>
          <a:p/>
          <a:p>
            <a:r>
              <a:t>主軸還是 supervised，但 unsupervised 方法常作為 **feature engineering 工具** 或 **outlier filter** 出現。</a:t>
            </a:r>
          </a:p>
          <a:p>
            <a:r>
              <a:t>這裡介紹兩個最常用的：k-means 與 IsolationForest。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Géron 在原 notebook 用了一個漂亮的 trick：</a:t>
            </a:r>
          </a:p>
          <a:p/>
          <a:p>
            <a:r>
              <a:t>把 (latitude, longitude) 餵給 k-means 聚成 10 個 cluster，</a:t>
            </a:r>
          </a:p>
          <a:p>
            <a:r>
              <a:t>然後計算 **每個 sample 到 10 個 centroid 的 RBF 相似度** — 這變成 10 個新 feature。</a:t>
            </a:r>
          </a:p>
          <a:p/>
          <a:p>
            <a:r>
              <a:t>效果：模型不用直接從 (lat, lon) 學「加州地理結構」，</a:t>
            </a:r>
          </a:p>
          <a:p>
            <a:r>
              <a:t>而是直接拿到「離 LA 多近、離 SF 多近、離 San Diego 多近...」這 10 個 derived feature。</a:t>
            </a:r>
          </a:p>
          <a:p/>
          <a:p>
            <a:r>
              <a:t>下方的 `ClusterSimilarity` class 是一個 custom transformer — 繼承 BaseEstimator 與 TransformerMixin，</a:t>
            </a:r>
          </a:p>
          <a:p>
            <a:r>
              <a:t>就可以直接放進 sklearn pipeline。</a:t>
            </a:r>
          </a:p>
          <a:p/>
          <a:p>
            <a:r>
              <a:t>Cogneuro 類比：對 fMRI ROI time series 做 k-means 找 functional clusters，</a:t>
            </a:r>
          </a:p>
          <a:p>
            <a:r>
              <a:t>再以每個 voxel 與 cluster centroid 的相似度作為 feature。這就是 RSA (representational similarity analysis) 的近親。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IsolationForest 是 multivariate outlier detection 的 workhorse。</a:t>
            </a:r>
          </a:p>
          <a:p/>
          <a:p>
            <a:r>
              <a:t>概念：用一堆 random tree 來「孤立」每個 sample — outlier 應該很容易被孤立（少數幾步就分到自己一個 leaf），</a:t>
            </a:r>
          </a:p>
          <a:p>
            <a:r>
              <a:t>normal sample 需要很多步。每個 sample 的 anomaly score 就是平均孤立深度的反比。</a:t>
            </a:r>
          </a:p>
          <a:p/>
          <a:p>
            <a:r>
              <a:t>為什麼比 mean ± 3 SD 強？</a:t>
            </a:r>
          </a:p>
          <a:p>
            <a:r>
              <a:t>mean ± 3 SD 是 univariate — 它對每個 feature 獨立看。</a:t>
            </a:r>
          </a:p>
          <a:p>
            <a:r>
              <a:t>IsolationForest 能抓到「每個 feature 單看都正常，但組合起來很奇怪」的 multivariate outlier。</a:t>
            </a:r>
          </a:p>
          <a:p/>
          <a:p>
            <a:r>
              <a:t>在 RT 分析中很有用：例如「正確、RT 正常」但 motor preparation 異常的 trial，</a:t>
            </a:r>
          </a:p>
          <a:p>
            <a:r>
              <a:t>單看 RT 或 accuracy 都正常，IsolationForest 卻能在 multidimensional space 中認出它。</a:t>
            </a:r>
          </a:p>
          <a:p/>
          <a:p>
            <a:r>
              <a:t>`contamination` 是先驗的 outlier 比例，0.01–0.05 是常用範圍。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進入最後一個 section — 把今天學的全部套到 cogneuro 問題上。</a:t>
            </a:r>
          </a:p>
          <a:p/>
          <a:p>
            <a:r>
              <a:t>我們會跑兩遍：一遍用純線性的生成式，一遍加入 age × congruency 互動。</a:t>
            </a:r>
          </a:p>
          <a:p>
            <a:r>
              <a:t>這兩遍會展示「最佳 model 取決於資料結構」的核心訊息。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 code 把今天學的所有元件串起來：</a:t>
            </a:r>
          </a:p>
          <a:p/>
          <a:p>
            <a:r>
              <a:t>1. 用 `simulate_stroop()` 生成資料 — 200 受試者 × 30 trial。</a:t>
            </a:r>
          </a:p>
          <a:p>
            <a:r>
              <a:t>2. 按 age 分 4 個 bin，做 stratified split。</a:t>
            </a:r>
          </a:p>
          <a:p>
            <a:r>
              <a:t>3. 建一個 ColumnTransformer — `age, isi, trial_num` 走 numerical pipeline，`congruent` 走 OneHot。</a:t>
            </a:r>
          </a:p>
          <a:p>
            <a:r>
              <a:t>4. 用 make_pipeline + cross_val_score 比較 Linear 與 RandomForest。</a:t>
            </a:r>
          </a:p>
          <a:p/>
          <a:p>
            <a:r>
              <a:t>注意：**這個 pipeline 的結構跟 housing 完全一樣**。</a:t>
            </a:r>
          </a:p>
          <a:p>
            <a:r>
              <a:t>唯一不同的是欄位名稱與 model 種類。這就是為什麼學會 housing 的人，</a:t>
            </a:r>
          </a:p>
          <a:p>
            <a:r>
              <a:t>可以馬上跑任何結構類似的 tabular data — 不只 cogneuro，任何 trial-level 或 subject-level 資料都適用。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這張表是兩種生成方式的結果：</a:t>
            </a:r>
          </a:p>
          <a:p/>
          <a:p>
            <a:r>
              <a:t>**Linear DGP (純線性)**：Linear RMSE 39.8，RF RMSE 44.5。</a:t>
            </a:r>
          </a:p>
          <a:p>
            <a:r>
              <a:t>Linear 贏了 — 因為資料就是線性的，RF 多餘的容量只增加 variance。</a:t>
            </a:r>
          </a:p>
          <a:p/>
          <a:p>
            <a:r>
              <a:t>**Interaction DGP (age × congruency)**：Linear RMSE 51.8，RF RMSE 44.6。</a:t>
            </a:r>
          </a:p>
          <a:p>
            <a:r>
              <a:t>RF 贏了 — 因為 Linear 抓不到互動，RF 用 tree 結構自然 capture。</a:t>
            </a:r>
          </a:p>
          <a:p/>
          <a:p>
            <a:r>
              <a:t>這個對比是整堂課的高潮：**沒有「最強的 algorithm」，只有「最適合這份資料的 algorithm」**。</a:t>
            </a:r>
          </a:p>
          <a:p>
            <a:r>
              <a:t>所以永遠用 CV 比較，永遠對結果保持懷疑。</a:t>
            </a:r>
          </a:p>
          <a:p/>
          <a:p>
            <a:r>
              <a:t>底下提醒：完整可重跑的程式在 `code/ml/06_cogneuro_rt_pipeline.py`，</a:t>
            </a:r>
          </a:p>
          <a:p>
            <a:r>
              <a:t>回去自己跑一遍，把生成式參數改一改看 RMSE 怎麼變。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最後一個 hands-on — 課堂收尾。</a:t>
            </a:r>
          </a:p>
          <a:p/>
          <a:p>
            <a:r>
              <a:t>任務：在合成資料的 RT 公式中，加入「老年人受 incongruent trial 影響更大」的 interaction。</a:t>
            </a:r>
          </a:p>
          <a:p>
            <a:r>
              <a:t>重新訓練，這次哪個 model 贏？</a:t>
            </a:r>
          </a:p>
          <a:p/>
          <a:p>
            <a:r>
              <a:t>修改只有一行：把 `cong_effect = 0 if congruent else 60`</a:t>
            </a:r>
          </a:p>
          <a:p>
            <a:r>
              <a:t>改成 `cong_effect = 0 if congruent else (60 + 4.0 * (age - 45))`。</a:t>
            </a:r>
          </a:p>
          <a:p/>
          <a:p>
            <a:r>
              <a:t>預期：RandomForest 會領先 Linear 大約 7 ms 左右。</a:t>
            </a:r>
          </a:p>
          <a:p>
            <a:r>
              <a:t>這就是上一張投影片 interaction DGP 的結果。</a:t>
            </a:r>
          </a:p>
          <a:p/>
          <a:p>
            <a:r>
              <a:t>跑完後思考：如果你的真實 RT 資料有 age × congruency 互動 — 而文獻說它確實有 —</a:t>
            </a:r>
          </a:p>
          <a:p>
            <a:r>
              <a:t>那 RF 在你的資料上應該勝過 linear regression。但記得 RF 比較難解釋 coefficient，</a:t>
            </a:r>
          </a:p>
          <a:p>
            <a:r>
              <a:t>所以對「解釋變項貢獻」這類問題，linear + interaction term 還是有它的位置。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今天結束前，記住這五件事就好：</a:t>
            </a:r>
          </a:p>
          <a:p/>
          <a:p>
            <a:r>
              <a:t>第一：**先 frame 再 code；先切 test set 再 EDA**。順序錯了後面全錯。</a:t>
            </a:r>
          </a:p>
          <a:p/>
          <a:p>
            <a:r>
              <a:t>第二：**Pipeline 是 leakage 防火牆**。`fit on train, transform on test` — 不要自己手動處理。</a:t>
            </a:r>
          </a:p>
          <a:p/>
          <a:p>
            <a:r>
              <a:t>第三：**用 CV 比較 model，不用 train accuracy**。train accuracy 對 overfit model 有偏好。</a:t>
            </a:r>
          </a:p>
          <a:p/>
          <a:p>
            <a:r>
              <a:t>第四：**Test set 只能評估一次**。看完結果就接受，不要回頭調。</a:t>
            </a:r>
          </a:p>
          <a:p/>
          <a:p>
            <a:r>
              <a:t>第五：**Ensemble 是 tabular data 的強力 baseline**。如果不知道用什麼，先試 RandomForest。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這張表列了五個最常見的錯誤，也是我在批改作業時最常扣分的地方。</a:t>
            </a:r>
          </a:p>
          <a:p/>
          <a:p>
            <a:r>
              <a:t>第一：train + test 一起 fit StandardScaler — 嚴重 leakage，扣最多分。</a:t>
            </a:r>
          </a:p>
          <a:p>
            <a:r>
              <a:t>第二：反覆調參直到 test 變好 — 這個我看不出來，但你自己的 final paper 結果會失真。</a:t>
            </a:r>
          </a:p>
          <a:p>
            <a:r>
              <a:t>第三：OneHotEncoder 沒加 `handle_unknown='ignore'` — 上線後遇到新類別 crash。</a:t>
            </a:r>
          </a:p>
          <a:p>
            <a:r>
              <a:t>第四：對 tree model 還做 StandardScaler — 不會錯，但浪費計算。</a:t>
            </a:r>
          </a:p>
          <a:p>
            <a:r>
              <a:t>第五：報告 R² 而非 RMSE — R² 對 outlier 敏感、單位抽象，建議盡量用 RMSE。</a:t>
            </a:r>
          </a:p>
          <a:p/>
          <a:p>
            <a:r>
              <a:t>明天作業出去前再看一次這張表。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這週的作業：把今天的 pipeline 套到一個合成的 Flanker task 資料集。</a:t>
            </a:r>
          </a:p>
          <a:p/>
          <a:p>
            <a:r>
              <a:t>資料來源：作業說明裡附了 `simulate_flanker()` 函式，**請不要改參數**，否則 grading 對不上。</a:t>
            </a:r>
          </a:p>
          <a:p>
            <a:r>
              <a:t>規模：250 受試者 × 80 trial = 20,000 rows。</a:t>
            </a:r>
          </a:p>
          <a:p/>
          <a:p>
            <a:r>
              <a:t>七個 task 涵蓋了今天所有概念：EDA、stratified split、pipeline、algorithm comparison、tuning、final test、解釋。</a:t>
            </a:r>
          </a:p>
          <a:p>
            <a:r>
              <a:t>最後要交一個 .ipynb 加一份一頁的 report.md。</a:t>
            </a:r>
          </a:p>
          <a:p/>
          <a:p>
            <a:r>
              <a:t>特別注意 rubric — reproducibility 與 leakage 防範佔 30%，</a:t>
            </a:r>
          </a:p>
          <a:p>
            <a:r>
              <a:t>algorithm 比較佔 25%，tuning 佔 20%。其他 25% 是解釋與報告品質。</a:t>
            </a:r>
          </a:p>
          <a:p/>
          <a:p>
            <a:r>
              <a:t>下週三晚上 11:59 截止，上傳 eeclass。詳細規格在 `week-15-homework.md`。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延伸閱讀：</a:t>
            </a:r>
          </a:p>
          <a:p/>
          <a:p>
            <a:r>
              <a:t>Géron 的書是今天的 anchor — 第二章值得從頭到尾跑一遍。GitHub 上的原 notebook 可以直接 fork。</a:t>
            </a:r>
          </a:p>
          <a:p/>
          <a:p>
            <a:r>
              <a:t>scikit-learn user guide 的 cross-validation 與 preprocessing 章節是聖經 — 比任何中文教材都權威。</a:t>
            </a:r>
          </a:p>
          <a:p/>
          <a:p>
            <a:r>
              <a:t>Hastie 等人的 ESL（Elements of Statistical Learning）是 bias-variance 數學的標準參考，</a:t>
            </a:r>
          </a:p>
          <a:p>
            <a:r>
              <a:t>雖然密度很高，但「Chapter 7 Model Assessment and Selection」幾頁可以挑著讀。</a:t>
            </a:r>
          </a:p>
          <a:p/>
          <a:p>
            <a:r>
              <a:t>最後 Varoquaux 與 Cheplygina 2022 那篇 npj Digital Medicine 是 **必讀** —</a:t>
            </a:r>
          </a:p>
          <a:p>
            <a:r>
              <a:t>專講 ML 在 medical / brain imaging 上的常見方法學錯誤。你們未來寫 ML 相關 paper 一定會用到。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感謝大家今天的專注。</a:t>
            </a:r>
          </a:p>
          <a:p/>
          <a:p>
            <a:r>
              <a:t>下週是 final project workshop — 把這學期學的所有東西做成一個可 deploy 的 Streamlit app，</a:t>
            </a:r>
          </a:p>
          <a:p>
            <a:r>
              <a:t>然後做 peer review。</a:t>
            </a:r>
          </a:p>
          <a:p/>
          <a:p>
            <a:r>
              <a:t>如果今天的作業有問題，office hour 直接來找我，或 email：audachang@gmail.com。</a:t>
            </a:r>
          </a:p>
          <a:p/>
          <a:p>
            <a:r>
              <a:t>下週見。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1A2E"/>
                </a:solidFill>
                <a:latin typeface="Calibri"/>
              </a:rPr>
              <a:t>End-to-End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D9B9B"/>
                </a:solidFill>
                <a:latin typeface="Microsoft JhengHei"/>
              </a:rPr>
              <a:t>從資料到模型的完整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F6B83"/>
                </a:solidFill>
                <a:latin typeface="Calibri"/>
              </a:rPr>
              <a:t>Anchor: Géron 2023 · Hands-on ML · Chapter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2026-06-04  ·  張智宏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今天結束後你會：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Frame — 判斷一個問題屬於 supervised / unsupervised、regression / classification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Split — 用 StratifiedShuffleSplit 切出 reproducible 的 test set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Pipeline — 組合 imputation + encoding + scaling 而不發生 data leakage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Compare — 用 5-fold CV 比較 ≥5 種 regression algorithm 的優劣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Tune — 用 GridSearch / RandomizedSearch 做 hyperparameter 調整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Transfer — 把同一套 pipeline 套到 Stroop / Flanker RT 預測問題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Agenda — 3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今天的路線圖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474720"/>
                <a:gridCol w="1188720"/>
                <a:gridCol w="5669280"/>
              </a:tblGrid>
              <a:tr h="51435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§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Topic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Time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Subtopics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Framing ML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supervised vs. unsupervised, regression vs.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Anchor case: California Housing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load, split, EDA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Preprocessing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imputation, encoding, scaling, ColumnTransformer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Algorithm Zoo (regression)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40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linear, k-NN, tree, ensemble, kernel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Model Evaluation &amp;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k-fold CV, Grid/Randomized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Unsupervised Tasters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k-means as features, IsolationForest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1435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§7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Cogneuro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Stroop RT prediction with the same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為什麼今天要學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你已經會收資料、整理資料、畫圖 — 接著要從資料學出一個可預測的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「哪些 trial-level 變項最能預測 RT？
  能不能用一個 model 在新受試者身上預測 RT？」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B83"/>
                </a:solidFill>
                <a:latin typeface="Microsoft JhengHei"/>
              </a:rPr>
              <a:t>這正是一個 supervised regression 問題。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今天的策略：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Anchor case：跑完 California Housing 案例（資料乾淨、文獻多）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用每個 pipeline 階段引入一類 ML algorithm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最後把同一套 pipeline 套到 cogneuro 問題上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ML 問題的框架化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Framing the ML 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§1 ·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寫 sklearn 之前先問四個問題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97680"/>
                <a:gridCol w="4389120"/>
              </a:tblGrid>
              <a:tr h="585216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選項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Stroop RT 的答案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85216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有沒有 label？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supervised / unsupervised / semi-supervised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supervised（label = 觀測到的 RT）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Label 的型別？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regression / classification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regression（RT 是連續值）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85216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資料一次給齊嗎？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batch /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batch（一次拿到所有受試者）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模型怎麼學？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instance-based / model-based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model-based（學出一組 coefficient）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029200"/>
            <a:ext cx="109728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91440" cy="10058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選錯類型會讓所有 metric 變得無意義。
例如把 RT (ms) 當 classification target，silently 失去 ordinal 結構。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§1 ·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本週涵蓋的 algorithm 類別地圖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Linear  →  LinearRegression, Ridge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Instance  →  KNeighborsRegressor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Tree  →  DecisionTreeRegressor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Ensemble  →  RandomForest, GradientBoosting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Kernel  →  SVR (rbf)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521208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4864" cy="411480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Unsupervised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Clustering  →  KMeans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Anomaly detection  →  IsolationForest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(本週作為 feature engineering 與 outlier filter)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Deep learning 屬於另一個範疇（representation learning），本週不涵蓋。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🔬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Hands-on 1 — 把這三個情境框架化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5212080"/>
              </a:tblGrid>
              <a:tr h="80010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問題描述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建議答案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8001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從 EEG 30 秒片段判斷受試者是清醒還是睡著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supervised · binary classification · batch · model-based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把 1000 篇 fMRI 論文依「研究主題」自動分群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unsupervised · clustering · batch · model-based (k-means)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8001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判斷某張 fMRI volume 是否為 motion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通常 supervised 或 unsupervised anomaly · 可 batch 或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5 分鐘小組討論 → 一組分享一個情境的答案。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Anchor case — California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Load · Split · EDA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§2 · Anchor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資料：1990 加州人口普查 block-level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20,640 個 block，10 個欄位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Target = median_house_value（USD）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Features：經緯度、housing_median_age、總房間數、總臥房數、人口、家戶數、median_income、ocean_proximity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注意：total_bedrooms 有 207 筆缺值，ocean_proximity 是文字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0972800" cy="1920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import tarfile, urllib.request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load_housing_data():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 = Path("datasets/housing.tgz")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if not p.is_file():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Path("datasets").mkdir(exist_ok=True)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url = "https://github.com/ageron/data/raw/main/housing.tgz"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urllib.request.urlretrieve(url, p)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with tarfile.open(p) as t: t.extractall("datasets")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return pd.read_csv("datasets/housing/housing.csv")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housing = load_housing_data()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§2 · Anchor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黃金法則：拿到資料的第一件事是切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91440" cy="100584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切完之後，把 test set 鎖起來，直到最後評估前都不准看。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如果先做 EDA 再切：你會 silently 用 test 的資訊影響 design choice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這叫 data snooping bias — 等於把答案抄進考卷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Reproducibility：random_state=42 確保每次得到相同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sklearn.model_selection import train_test_split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train_set, test_set = train_test_split(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housing, test_size=0.2, random_state=42)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§2 · Anchor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Stratified split — 當分布不均時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median_income 很重要，但分布右尾長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純 random split 可能讓 test 的 high-income block 比例 ≠ 母體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解法：把 income 分 5 個 bin，按 bin 比例分層抽樣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109728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sklearn.model_selection import StratifiedShuffleSplit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housing["income_cat"] = pd.cut(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housing["median_income"],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bins=[0., 1.5, 3.0, 4.5, 6., np.inf],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labels=[1, 2, 3, 4, 5])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split = StratifiedShuffleSplit(n_splits=1, test_size=0.2, random_state=42)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for tr, te in split.split(housing, housing["income_cat"]):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strat_train = housing.iloc[tr]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strat_test  = housing.iloc[te]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91440" cy="7315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325C"/>
                </a:solidFill>
                <a:latin typeface="Microsoft JhengHei"/>
              </a:rPr>
              <a:t>Cogneuro 類比：若年輕人遠多於老人，用 age group stratify
才能保證 test 反映你想 generalize 的母體。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🔬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Hands-on 2 — Stratified split on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任務：給定一個模擬 RT dataset（n=200, age 20-80），先用 pd.cut 切 4 個 age bin，再用 StratifiedShuffleSplit 切 20% test。驗證 train/test 中各 bin 比例差異 &lt; 1%。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972800" cy="1737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import numpy as np, pandas as pd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np.random.seed(42)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"age": np.random.uniform(20, 80, 200),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"rt":  np.random.normal(500, 80, 200),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})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你的程式碼從這裡開始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8 分鐘獨立完成 → 同桌互看程式碼。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Data Preparation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Impute · Encode · Scale · Compose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核心觀念：fit on train, transform 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3716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所有 preprocessing 步驟都要先在 train 上 fit，再 transform 到 test。
違反這條 = data leakage = test RMSE 過度樂觀。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sklearn.pipeline.Pipeline 是強制你遵守這條規則的工具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ColumnTransformer 讓不同欄位走不同的 preprocessing 路徑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整個 pipeline 像一個 model — 對它 fit 一次、predict 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Step A — Imputation：處理 missing values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389120"/>
              </a:tblGrid>
              <a:tr h="57150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策略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Code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何時用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715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Drop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df.dropna(subset=['total_bedrooms'])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資料量小可接受；否則浪費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Drop column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df.drop('total_bedrooms', axis=1)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整欄缺很多時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Impute (推薦)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SimpleImputer(strategy='median')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不丟資料、不丟欄位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972800" cy="1280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sklearn.impute import SimpleImputer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imputer = SimpleImputer(strategy="median")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X_num_imputed = imputer.fit_transform(housing_num)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其他策略：mean, most_frequent, constant；進階可用 KNNImputer。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Step B — Encoding 文字類別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60960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缺點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OrdinalEncoder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類別有自然順序 (low / med / 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❌ 對無序類別會強加錯誤順序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OneHotEncoder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類別無序（最安全的預設）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⚠ 類別很多時產生 sparse 高維 feature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023360"/>
            <a:ext cx="1097280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sklearn.preprocessing import OneHotEncoder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cat_encoder = OneHotEncoder(handle_unknown="ignore",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             sparse_output=False)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X_cat_1hot = cat_encoder.fit_transform(housing[["ocean_proximity"]])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print(cat_encoder.categories_)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[array(['&lt;1H OCEAN', 'INLAND', 'ISLAND', 'NEAR BAY', 'NEAR OCEAN'])]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Step C — Feature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為什麼要 scaling：距離型 (k-NN, SVM, k-means) 與梯度型 (linear+GD, NN)
對 feature 的 scale 極度敏感。Tree-based 演算法則不需要。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3832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  <a:gridCol w="5212080"/>
              </a:tblGrid>
              <a:tr h="54864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Scaler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公式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特性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48640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StandardScaler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z-score：(x − μ) /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mean=0, std=1；outlier 不會壓縮資料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MinMaxScaler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(x − min) / (max − min)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壓到 [0, 1]；對 outlier 敏感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RobustScaler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用 median 與 IQR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outlier 多時的替代方案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對 RandomForest / GradientBoosting：scaling 沒影響，但浪費計算。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§3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Step D — 把所有步驟串成 ColumnTransformer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sklearn.pipeline import Pipeline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sklearn.compose import ColumnTransformer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sklearn.preprocessing import StandardScaler, OneHotEncoder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sklearn.impute import SimpleImputer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num_attribs = ["longitude", "latitude", "housing_median_age",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"total_rooms", "total_bedrooms", "population",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"households", "median_income"]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cat_attribs = ["ocean_proximity"]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num_pipeline = Pipeline([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("imputer", SimpleImputer(strategy="median")),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("scaler",  StandardScaler()),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full_pipeline = ColumnTransformer([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("num", num_pipeline, num_attribs),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("cat", OneHotEncoder(handle_unknown="ignore"), cat_attribs),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])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9144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4241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325C"/>
                </a:solidFill>
                <a:latin typeface="Microsoft JhengHei"/>
              </a:rPr>
              <a:t>對 train 用 fit_transform()，對 test 只能用 transform() — pipeline 自動處理。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🔬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Hands-on 3 — 把 RT data 套進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情境：trial-level dataframe 有 congruency (字串)、isi (連續, 有 missing)、block_num (整數)、rt (target)。寫一個 ColumnTransformer 處理三個 feature。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import pandas as pd, numpy as np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np.random.seed(42)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pd.DataFrame({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"congruency": np.random.choice(["congruent", "incongruent"], 100),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"isi":        np.random.choice([500, 1000, 1500, np.nan], 100),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"block_num":  np.random.choice([1, 2, 3], 100),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"rt":         np.random.normal(500, 80, 100),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})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你的程式碼從這裡開始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10 分鐘獨立完成。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Algorithm Zoo —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Linear · Instance · Tree · Ensemble · Kernel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Algorithm taxonomy 速覽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023360"/>
                <a:gridCol w="2286000"/>
              </a:tblGrid>
              <a:tr h="68580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代表 estimator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歸納偏置 (inductive bias)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何時用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Linear (parametric)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LinearRegression, Ridge, Lasso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target 是 feature 的線性組合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baseline；接近線性時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Instance-based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KNeighborsRegressor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鄰近的 sample 有相似 target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區域結構強、資料密集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Tree-based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DecisionTreeRegressor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feature 空間的 axis-aligned 切割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interaction 強、可解釋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Ensemble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RandomForest, GradientBoosting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多個 weak learner 投票/平均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tabular data 最強 baseline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Kernel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SVR(kernel='rbf')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high-dim 找 margin-maximizing hyperplane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中等資料量、非線性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 ·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Family 1：Linear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Linear / 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LinearRegression, 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假設 y = w·x + b。Ridge 加上 L2 penalty 防止 overfit。
適合：baseline、變項數遠少於樣本數、需要可解釋 coefficient。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⚠ 對 feature 非線性 / 互動完全無感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sklearn.linear_model import LinearRegression, Ridge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lin   = LinearRegression()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ridge = Ridge(alpha=1.0)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lin.fit(X_train, y_train)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print(lin.coef_)        # 看每個 feature 的權重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print(lin.intercept_)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 ·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Family 2：Instance-based — k-Nearest Neighbors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k-NN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KNeighborsRegressor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對新 sample，找最近 k 個 train sample，取平均當預測值。
適合：區域結構強、資料量大、不想假設函數形式。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⚠ 必須先 scaling；維度詛咒 (curse of dimensionality)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sklearn.neighbors import KNeighborsRegressor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knn = KNeighborsRegressor(n_neighbors=5)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不 scaling 的話 latitude (±90) 會壓過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income (~3) 的距離貢獻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pipe = make_pipeline(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StandardScaler(),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KNeighborsRegressor(n_neighbors=5))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 ·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Family 3：Tree-based — Decision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DecisionTreeRegressor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遞迴把 feature 空間切成 axis-aligned 區塊，每塊預測該區的 mean。
適合：feature interaction 強、需要可視化 decision path。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⚠ Single tree 容易 overfit；極度 high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sklearn.tree import DecisionTreeRegressor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tree = DecisionTreeRegressor(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max_depth=None,        # 不限深度 → overfit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random_state=42)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8B9DB8"/>
                </a:solidFill>
                <a:latin typeface="Consolas"/>
              </a:rPr>
              <a:t># 改善：限制深度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tree2 = DecisionTreeRegressor(max_depth=8,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               min_samples_leaf=20)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 ·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Family 4：Ensemble — Random Forest &amp; Gradient Boosting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RandomForestRegressor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Bagging：平行訓練多棵 deep tree（隨機 sample + 隨機 feature），
再平均 → 降 variance。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幾乎是 tabular data 的 default 強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GradientBoostingRegressor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Boosting：序列訓練多棵 shallow tree，
每棵學前一棵的 residual → 降 bias。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通常表現更好但比 RF 慢、對 hyperparameter 較敏感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F6B83"/>
                </a:solidFill>
                <a:latin typeface="Microsoft JhengHei"/>
              </a:rPr>
              <a:t>兩者都比 single tree 強，但走不同路徑解決 bias-variance tradeoff。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 ·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Family 5：Kernel methods — SVR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4114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Calibri"/>
              </a:rPr>
              <a:t>Support Vector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D9B9B"/>
                </a:solidFill>
                <a:latin typeface="Consolas"/>
              </a:rPr>
              <a:t>SVR(kernel='rbf')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在 high-dim feature space 找一個 margin-maximizing hyperplane。
適合：中等資料量 (&lt;10k)、非線性結構、想要 sparse solution。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⚠ 訓練時間 O(n²)–O(n³)，大資料慢；hyperparameter (C, γ) 重要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sklearn.svm import SVR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svr = SVR(kernel="rbf", C=10, gamma=0.1)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在 housing 16k samples 上會很慢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→ 課堂示範用 subsample 至 3000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統一的訓練與評估 — 一個 for-loop 跑完五大家族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models = 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"Linear":       LinearRegression(),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"k-NN (k=5)":   KNeighborsRegressor(n_neighbors=5),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"DecisionTree": DecisionTreeRegressor(random_state=42),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"RandomForest": RandomForestRegressor(n_estimators=100, random_state=42),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"SVR (RBF)":    SVR(kernel="rbf", C=10, gamma=0.1),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for name, model in models.items():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pipe = make_pipeline(full_pipeline, model)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scores = -cross_val_score(pipe, X, y, cv=5,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               scoring="neg_root_mean_squared_error")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print(f"{name:15s}  RMSE = {scores.mean():.0f} ± {scores.std():.0f}")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California Housing — 5-fold CV RMSE (USD, 越低越好)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103120"/>
            <a:ext cx="0" cy="320040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5303520"/>
            <a:ext cx="6766560" cy="0"/>
          </a:xfrm>
          <a:prstGeom prst="line">
            <a:avLst/>
          </a:prstGeom>
          <a:ln w="9525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83544" y="2558056"/>
            <a:ext cx="520504" cy="2745463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7824" y="2283736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68628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6384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Linear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4553" y="3043237"/>
            <a:ext cx="520504" cy="2260282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8833" y="2768917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56500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7393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k-NN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5563" y="2539174"/>
            <a:ext cx="520504" cy="2764345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9843" y="2264854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69100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8403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DecisionTree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6572" y="3323272"/>
            <a:ext cx="520504" cy="1980247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0852" y="3048952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49500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9412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RandomForest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7581" y="3231261"/>
            <a:ext cx="520504" cy="207225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1861" y="2956941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51800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0421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GradBoost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8590" y="2583180"/>
            <a:ext cx="520504" cy="27203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2870" y="2308860"/>
            <a:ext cx="61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68000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1430" y="5394960"/>
            <a:ext cx="794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icrosoft JhengHei"/>
              </a:rPr>
              <a:t>SVR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10312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RandomForest &gt; DecisionTree → ensemble 修掉 single tree 的 variance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Linear ≈ SVR → 此資料線性結構主導</a:t>
            </a:r>
          </a:p>
          <a:p>
            <a:pPr algn="l">
              <a:lnSpc>
                <a:spcPct val="125000"/>
              </a:lnSpc>
              <a:spcBef>
                <a:spcPts val="630"/>
              </a:spcBef>
            </a:pPr>
            <a:r>
              <a:rPr sz="1400" b="1">
                <a:solidFill>
                  <a:srgbClr val="0D9B9B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Microsoft JhengHei"/>
              </a:rPr>
              <a:t>k-NN 中等 → 區域結構有但被 noise 干擾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RMSE 與 target 同單位（USD），比 R² 更好解讀。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§4 · Algorithm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Bias–Variance Tradeoff — 選 model 不是「選最強」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200400"/>
            <a:ext cx="10515600" cy="0"/>
          </a:xfrm>
          <a:prstGeom prst="line">
            <a:avLst/>
          </a:prstGeom>
          <a:ln w="25400">
            <a:solidFill>
              <a:srgbClr val="5F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743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34F4F"/>
                </a:solidFill>
                <a:latin typeface="Calibri"/>
              </a:rPr>
              <a:t>high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743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34F4F"/>
                </a:solidFill>
                <a:latin typeface="Calibri"/>
              </a:rPr>
              <a:t>high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F6B83"/>
                </a:solidFill>
                <a:latin typeface="Calibri"/>
              </a:rPr>
              <a:t>(underfit)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F6B83"/>
                </a:solidFill>
                <a:latin typeface="Calibri"/>
              </a:rPr>
              <a:t>(overfit)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3108960"/>
            <a:ext cx="182880" cy="1828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Linear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3108960"/>
            <a:ext cx="182880" cy="1828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Ridge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0" y="3108960"/>
            <a:ext cx="182880" cy="1828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RF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3108960"/>
            <a:ext cx="182880" cy="1828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Deep DT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09728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46320"/>
            <a:ext cx="9144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Ensemble 的魅力：用「多個 high-variance learner 平均」
  → 降 variance 而不增加 bias。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🔬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Hands-on 4 — 加入 Ridge 與 GradientBoosting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任務：把 Ridge(alpha=1.0) 與 GradientBoostingRegressor(n_estimators=100) 加入比較表。哪一個 RMSE 較低？解釋為什麼 ensemble 通常贏 single tree。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sklearn.linear_model import Ridge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sklearn.ensemble import GradientBoostingRegressor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extra = 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"Ridge (α=1)":      Ridge(alpha=1.0),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"GradientBoosting": GradientBoostingRegressor(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n_estimators=100, random_state=42),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for name, model in extra.items():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pipe = make_pipeline(full_pipeline, model)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rmse = -cross_val_score(pipe, X, y, cv=5,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scoring="neg_root_mean_squared_error").mean()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print(f"{name:20s}  RMSE = {rmse:.0f}")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Model Evaluation &amp;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Cross-validation · Grid / Randomized search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§5 ·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為什麼不能用 train accuracy 比較 model？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WRONG — 在 train set 上算 RMSE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tree = DecisionTreeRegressor().fit(X_train, y_train)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tree.score(X_train, y_train)   # → ~1.0 看似完美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但...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tree.score(X_test, y_test)     # → 0.62  其實爛透了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80560"/>
            <a:ext cx="109728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91440" cy="100584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DecisionTree(max_depth=None) 的 train RMSE 趨近 0 — 
它記住了所有 noise，這叫 overfitting。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Microsoft JhengHei"/>
              </a:rPr>
              <a:t>解法：用 cross-validation — 在「沒看過」的 fold 上評估。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§5 ·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K-Fold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Fold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1920240" cy="457200"/>
          </a:xfrm>
          <a:prstGeom prst="rect">
            <a:avLst/>
          </a:prstGeom>
          <a:solidFill>
            <a:srgbClr val="E8A1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0312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10312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10312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1945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Fold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65176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743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651760"/>
            <a:ext cx="1920240" cy="457200"/>
          </a:xfrm>
          <a:prstGeom prst="rect">
            <a:avLst/>
          </a:prstGeom>
          <a:solidFill>
            <a:srgbClr val="E8A1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65176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743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65176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743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65176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743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2918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Fold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20040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2918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20040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2918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200400"/>
            <a:ext cx="1920240" cy="457200"/>
          </a:xfrm>
          <a:prstGeom prst="rect">
            <a:avLst/>
          </a:prstGeom>
          <a:solidFill>
            <a:srgbClr val="E8A1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32918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20040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2918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20040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2918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840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Fold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74904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74904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74904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3749040"/>
            <a:ext cx="1920240" cy="457200"/>
          </a:xfrm>
          <a:prstGeom prst="rect">
            <a:avLst/>
          </a:prstGeom>
          <a:solidFill>
            <a:srgbClr val="E8A1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374904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389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Fold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429768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4389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429768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4389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429768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80" y="4389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4297680"/>
            <a:ext cx="1920240" cy="457200"/>
          </a:xfrm>
          <a:prstGeom prst="rect">
            <a:avLst/>
          </a:prstGeom>
          <a:solidFill>
            <a:srgbClr val="0D9B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0" y="4389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297680"/>
            <a:ext cx="1920240" cy="457200"/>
          </a:xfrm>
          <a:prstGeom prst="rect">
            <a:avLst/>
          </a:prstGeom>
          <a:solidFill>
            <a:srgbClr val="E8A1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4389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02920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sklearn.model_selection import cross_val_score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scores = cross_val_score(model, X, y, cv=5,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                     scoring="neg_root_mean_squared_error")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print(f"RMSE: {-scores.mean():.0f} ± {scores.std():.0f}")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§5 ·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Grid Search vs. Randomized 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2578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策略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2578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GridSearchCV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窮舉所有 (param 組合 × cv folds)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&lt; 4 個 hyperparameter 且離散值不多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RandomizedSearchCV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在分布上抽 n_iter 次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連續 hyperparameter、或值很多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2578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HalvingRandomSearchCV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Successive halving — 逐步淘汰差的組合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預算極度有限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114800"/>
            <a:ext cx="109728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sklearn.model_selection import RandomizedSearchCV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from scipy.stats import randint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param_dist = {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"n_estimators": randint(50, 300),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"max_features": randint(2, 8),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rand = RandomizedSearchCV(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RandomForestRegressor(random_state=42),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param_dist, n_iter=20, cv=5,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scoring="neg_root_mean_squared_error", n_jobs=-1)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rand.fit(X_train, y_train)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print(rand.best_params_)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§5 ·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最終 test set 評估 — 只能做一次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2801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對 test set 看了結果後又回去調 hyperparameter
  = 把 test set 變成 train set 的一部分。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final_model = rand.best_estimator_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X_test = strat_test.drop("median_house_value", axis=1)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y_test = strat_test["median_house_value"]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sklearn.metrics import root_mean_squared_error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final_rmse = root_mean_squared_error(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y_test, final_model.predict(X_test))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print(f"FINAL TEST RMSE: {final_rmse:.0f}")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Microsoft JhengHei"/>
              </a:rPr>
              <a:t>如果 test RMSE 不滿意 — 接受它，並寫進 limitation。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Unsupervised 小品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Clustering · Anomaly detection (as feature tools)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§6 ·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KMeans 當 feature engineering 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Géron 原 notebook：把 (lat, lon) 聚成 10 個 cluster，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再算每個 sample 到 10 個 centroid 的 RBF 相似度 → 10 個新 feature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Cogneuro 類比：對 fMRI ROI time series 做 k-means 找 functional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sklearn.cluster import KMeans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sklearn.metrics.pairwise import rbf_kernel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sklearn.base import BaseEstimator, TransformerMixin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class ClusterSimilarity(BaseEstimator, TransformerMixin):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def __init__(self, n_clusters=10, gamma=1.0, random_state=None):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self.n_clusters = n_clusters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self.gamma = gamma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self.random_state = random_state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def fit(self, X, y=None):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self.kmeans_ = KMeans(self.n_clusters, n_init=10,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               random_state=self.random_state).fit(X)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return self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def transform(self, X):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return rbf_kernel(X, self.kmeans_.cluster_centers_, gamma=self.gamma)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§6 ·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IsolationForest — 多變量 outlier 偵測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972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比 mean ± 3 SD 強：能找到「每個 feature 單看都正常，
但組合起來很奇怪」的 multivariate outlier。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from sklearn.ensemble import IsolationForest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iso = IsolationForest(contamination=0.05, random_state=42)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outlier_mask = iso.fit_predict(X_train) == -1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print(f"Flagged {outlier_mask.sum()} / {len(X_train)} outliers")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在 RT 分析中：抓出「正確但太快」或「motor preparation 異常」的 trial</a:t>
            </a:r>
          </a:p>
          <a:p>
            <a:pPr algn="l">
              <a:lnSpc>
                <a:spcPct val="125000"/>
              </a:lnSpc>
              <a:spcBef>
                <a:spcPts val="720"/>
              </a:spcBef>
            </a:pPr>
            <a:r>
              <a:rPr sz="1600" b="1">
                <a:solidFill>
                  <a:srgbClr val="0D9B9B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Microsoft JhengHei"/>
              </a:rPr>
              <a:t>contamination 是「預期 outlier 比例」的先驗 — 0.01–0.05 為常用範圍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Cogneuro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Stroop RT prediction with the same pipeline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§7 · Cogneuro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把同一套 pipeline 套到 Stroop RT 預測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4480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1. 模擬資料（200 受試者 × 30 trial）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simulate_stroop(interaction=True)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2. Stratified split by age group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df["age_bin"] = pd.cut(df["age"], bins=[20, 35, 50, 65, 75])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sss = StratifiedShuffleSplit(n_splits=1, test_size=0.2, random_state=42)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for tr, te in sss.split(df, df["age_bin"]):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train, test = df.iloc[tr], df.iloc[te]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3. Pipeline — exactly the same shape as housing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prep = ColumnTransformer([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("num", num_pipe, ["age", "isi", "trial_num"]),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("cat", OneHotEncoder(), ["congruent"]),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4. Algorithm zoo on cogneuro data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for name, model in [("Linear", LinearRegression()),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     ("RandomForest", RandomForestRegressor(n_estimators=200))]: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pipe = make_pipeline(prep, model)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rmse = -cross_val_score(pipe, X, y, cv=5,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scoring="neg_root_mean_squared_error").mean()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print(f"{name:14s}  RMSE = {rmse:.1f} ms")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§7 · Cogneuro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「最佳 model 取決於資料的真實結構」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68880"/>
                <a:gridCol w="2834640"/>
                <a:gridCol w="2743200"/>
              </a:tblGrid>
              <a:tr h="60960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資料生成方式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Linear CV RMSE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RandomForest CV RMSE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結論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Linear DGP (純線性)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39.8 ± 1.0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44.5 ± 1.1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Linear 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Interaction DGP (age × congruency)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51.8 ± 0.4 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44.6 ± 1.2 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RF 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206240"/>
            <a:ext cx="109728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91440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結論：沒有「最強的 algorithm」 — 只有「最適合這份資料的 algorithm」。
永遠用 CV 比較，永遠對結果保持懷疑。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📄 code/ml/06_cogneuro_rt_pipeline.py 提供完整可重跑程式。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🔬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Hands-on 5（課堂收尾）— 改寫生成式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任務：在合成資料的 RT 公式中，加入 congruency × age 的互動項：「老年人受 incongruent trial 影響更大」。重新訓練，這次哪個 model 贏？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97280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Before: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cong_effect = 0 if congruent else 60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After: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cong_effect = 0 if congruent else (60 + 4.0 * (age - 45))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91440" cy="7315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💡 提示：Tree-based 與 ensemble 比 linear 更能 capture interaction。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今天要記住的五件事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先 frame 再 code；先切 test set 再 EDA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Pipeline 是 leakage 防火牆 — fit on train, transform on test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用 CV 比較 model，不用 train accuracy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Test set 只能評估一次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Ensemble (RandomForest, GradientBoosting) 是 tabular data 的強力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最常見的五個錯誤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840480"/>
              </a:tblGrid>
              <a:tr h="68580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錯誤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後果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修正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對 train+test 一起 fit StandardScaler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data leakage，test RMSE 過度樂觀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用 Pipeline，對 train fit、對 test transform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反覆調參直到 test 變好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test 變成 train 的一部分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嚴格分 validation set，或用 nested CV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OneHot 忘了 handle_unknown='ignore'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test 出現新類別時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加 handle_unknown='ignore'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Tree 還做 StandardScaler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沒影響，但浪費計算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對 RF/GBM 可省略 scaling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用 R² 比 regression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對 outlier 敏感、難解讀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用 RMSE（與 target 同單位）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Week 15 作業 — Flanker RT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情境：合成的 Flanker task dataset（250 受試者 × 80 trial）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1：EDA + stratified train/test split (10%)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2：Pipeline 設計含 boolean pass-through (15%)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3：至少 3 類 algorithm 用 5-fold CV 比較 (25%)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4：對最佳 model 做 RandomizedSearchCV (20%)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5：Final test RMSE — 只算一次 (10%)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Task 6 + 7：Feature importance 解釋 + 一頁報告 (20%)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Microsoft JhengHei"/>
              </a:rPr>
              <a:t>Due：2026-06-11 23:59 上傳 eeclass · .ipynb + 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5C"/>
                </a:solidFill>
                <a:latin typeface="Consolas"/>
              </a:rPr>
              <a:t>📄 詳見 week-15-homework.md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延伸閱讀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Calibri"/>
              </a:rPr>
              <a:t>Géron, A. (2023). Hands-on Machine Learning, 3rd ed. O'Reilly. Ch. 2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Calibri"/>
              </a:rPr>
              <a:t>github.com/ageron/handson-ml3  ←  原 notebook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Calibri"/>
              </a:rPr>
              <a:t>scikit-learn user guide：cross-validation / preprocessing 章節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Calibri"/>
              </a:rPr>
              <a:t>Hastie, Tibshirani, Friedman (2009). The Elements of Statistical Learning. — bias-variance 數學</a:t>
            </a:r>
          </a:p>
          <a:p>
            <a:pPr algn="l">
              <a:lnSpc>
                <a:spcPct val="125000"/>
              </a:lnSpc>
              <a:spcBef>
                <a:spcPts val="765"/>
              </a:spcBef>
            </a:pPr>
            <a:r>
              <a:rPr sz="1700" b="1">
                <a:solidFill>
                  <a:srgbClr val="0D9B9B"/>
                </a:solidFill>
                <a:latin typeface="Calibri"/>
              </a:rPr>
              <a:t>▸  </a:t>
            </a:r>
            <a:r>
              <a:rPr sz="1700">
                <a:solidFill>
                  <a:srgbClr val="1A1A2E"/>
                </a:solidFill>
                <a:latin typeface="Calibri"/>
              </a:rPr>
              <a:t>Varoquaux &amp; Cheplygina (2022). ML for medical imaging: methodological failures. npj Digital Medicine, 5(48). — 必讀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15 — End-to-End Machine Learning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0D9B9B"/>
                </a:solidFill>
                <a:latin typeface="Microsoft JhengHei"/>
              </a:rPr>
              <a:t>下週：Final Project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Erik Chang  ·  ACL@NCU  ·  audachang@gmail.com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