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8"/>
  </p:notesMasterIdLst>
  <p:sldIdLst>
    <p:sldId id="356" r:id="rId2"/>
    <p:sldId id="404" r:id="rId3"/>
    <p:sldId id="431" r:id="rId4"/>
    <p:sldId id="432" r:id="rId5"/>
    <p:sldId id="408" r:id="rId6"/>
    <p:sldId id="409" r:id="rId7"/>
    <p:sldId id="413" r:id="rId8"/>
    <p:sldId id="415" r:id="rId9"/>
    <p:sldId id="416" r:id="rId10"/>
    <p:sldId id="501" r:id="rId11"/>
    <p:sldId id="433" r:id="rId12"/>
    <p:sldId id="441" r:id="rId13"/>
    <p:sldId id="442" r:id="rId14"/>
    <p:sldId id="443" r:id="rId15"/>
    <p:sldId id="444" r:id="rId16"/>
    <p:sldId id="445" r:id="rId17"/>
    <p:sldId id="434" r:id="rId18"/>
    <p:sldId id="470" r:id="rId19"/>
    <p:sldId id="453" r:id="rId20"/>
    <p:sldId id="414" r:id="rId21"/>
    <p:sldId id="422" r:id="rId22"/>
    <p:sldId id="423" r:id="rId23"/>
    <p:sldId id="450" r:id="rId24"/>
    <p:sldId id="451" r:id="rId25"/>
    <p:sldId id="435" r:id="rId26"/>
    <p:sldId id="461" r:id="rId27"/>
    <p:sldId id="449" r:id="rId28"/>
    <p:sldId id="454" r:id="rId29"/>
    <p:sldId id="455" r:id="rId30"/>
    <p:sldId id="469" r:id="rId31"/>
    <p:sldId id="547" r:id="rId32"/>
    <p:sldId id="548" r:id="rId33"/>
    <p:sldId id="545" r:id="rId34"/>
    <p:sldId id="549" r:id="rId35"/>
    <p:sldId id="550" r:id="rId36"/>
    <p:sldId id="551" r:id="rId37"/>
    <p:sldId id="436" r:id="rId38"/>
    <p:sldId id="462" r:id="rId39"/>
    <p:sldId id="552" r:id="rId40"/>
    <p:sldId id="553" r:id="rId41"/>
    <p:sldId id="554" r:id="rId42"/>
    <p:sldId id="555" r:id="rId43"/>
    <p:sldId id="437" r:id="rId44"/>
    <p:sldId id="463" r:id="rId45"/>
    <p:sldId id="466" r:id="rId46"/>
    <p:sldId id="556" r:id="rId47"/>
    <p:sldId id="468" r:id="rId48"/>
    <p:sldId id="467" r:id="rId49"/>
    <p:sldId id="557" r:id="rId50"/>
    <p:sldId id="558" r:id="rId51"/>
    <p:sldId id="439" r:id="rId52"/>
    <p:sldId id="464" r:id="rId53"/>
    <p:sldId id="502" r:id="rId54"/>
    <p:sldId id="427" r:id="rId55"/>
    <p:sldId id="428" r:id="rId56"/>
    <p:sldId id="429" r:id="rId57"/>
  </p:sldIdLst>
  <p:sldSz cx="12192000" cy="6858000"/>
  <p:notesSz cx="7102475" cy="10233025"/>
  <p:custDataLst>
    <p:tags r:id="rId5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3C30A8B-A62F-41C6-BB31-7DE3FEAC4060}">
          <p14:sldIdLst>
            <p14:sldId id="356"/>
            <p14:sldId id="404"/>
            <p14:sldId id="431"/>
            <p14:sldId id="432"/>
            <p14:sldId id="408"/>
            <p14:sldId id="409"/>
            <p14:sldId id="413"/>
            <p14:sldId id="415"/>
            <p14:sldId id="416"/>
            <p14:sldId id="501"/>
            <p14:sldId id="433"/>
            <p14:sldId id="441"/>
            <p14:sldId id="442"/>
            <p14:sldId id="443"/>
            <p14:sldId id="444"/>
            <p14:sldId id="445"/>
            <p14:sldId id="434"/>
            <p14:sldId id="470"/>
            <p14:sldId id="453"/>
            <p14:sldId id="414"/>
            <p14:sldId id="422"/>
            <p14:sldId id="423"/>
            <p14:sldId id="450"/>
            <p14:sldId id="451"/>
            <p14:sldId id="435"/>
            <p14:sldId id="461"/>
            <p14:sldId id="449"/>
            <p14:sldId id="454"/>
            <p14:sldId id="455"/>
            <p14:sldId id="469"/>
            <p14:sldId id="547"/>
            <p14:sldId id="548"/>
            <p14:sldId id="545"/>
            <p14:sldId id="549"/>
            <p14:sldId id="550"/>
            <p14:sldId id="551"/>
            <p14:sldId id="436"/>
            <p14:sldId id="462"/>
            <p14:sldId id="552"/>
            <p14:sldId id="553"/>
            <p14:sldId id="554"/>
            <p14:sldId id="555"/>
            <p14:sldId id="437"/>
            <p14:sldId id="463"/>
            <p14:sldId id="466"/>
            <p14:sldId id="556"/>
            <p14:sldId id="468"/>
            <p14:sldId id="467"/>
            <p14:sldId id="557"/>
            <p14:sldId id="558"/>
            <p14:sldId id="439"/>
            <p14:sldId id="464"/>
            <p14:sldId id="502"/>
            <p14:sldId id="427"/>
            <p14:sldId id="428"/>
            <p14:sldId id="429"/>
          </p14:sldIdLst>
        </p14:section>
        <p14:section name="未命名的章節" id="{9D45B4FC-8F82-43CD-9034-F257885FAAE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D4EA"/>
    <a:srgbClr val="6FAC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87567" autoAdjust="0"/>
  </p:normalViewPr>
  <p:slideViewPr>
    <p:cSldViewPr snapToGrid="0">
      <p:cViewPr varScale="1">
        <p:scale>
          <a:sx n="84" d="100"/>
          <a:sy n="84" d="100"/>
        </p:scale>
        <p:origin x="10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1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DEF197A6-BE36-4D6D-BBE6-9633BE34F474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E9C74F81-CD54-4030-AC9C-0ED56CF0AA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78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382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072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0180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316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7956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0289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940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3927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2129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6400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403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1998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7083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05160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2249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14330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83322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92559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5553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77217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22070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02010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80975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73481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54480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09516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5833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7905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90196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27968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5227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51170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0964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44311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80233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20246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53903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29987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871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628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7760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4873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38506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98663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10115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6153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00459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59461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412356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440797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121275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53294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38325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68353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8270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4F81-CD54-4030-AC9C-0ED56CF0AA68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2799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F3A-03C4-4B1C-8AE5-8FD8BC8EDFEC}" type="datetime1">
              <a:rPr lang="en-US" altLang="zh-TW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6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4" y="347181"/>
            <a:ext cx="8886884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41" y="1590157"/>
            <a:ext cx="10381517" cy="4434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5BFA6-A909-4E15-BD17-37683E4F3322}" type="datetime1">
              <a:rPr lang="en-US" altLang="zh-TW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5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4" y="347181"/>
            <a:ext cx="8886884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41" y="1590157"/>
            <a:ext cx="10381517" cy="4434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5BFA6-A909-4E15-BD17-37683E4F3322}" type="datetime1">
              <a:rPr lang="en-US" altLang="zh-TW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24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33676-1B6B-4BBE-8D4C-954E38BB0491}" type="datetime1">
              <a:rPr lang="en-US" altLang="zh-TW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43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22" y="181239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521" y="1484295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21652" y="1476480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7526-C717-4892-B54A-A9E2325524B8}" type="datetime1">
              <a:rPr lang="en-US" altLang="zh-TW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76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11820"/>
            <a:ext cx="10096500" cy="9160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66801" y="169640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2400" b="1" cap="none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322195"/>
            <a:ext cx="4739628" cy="338964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400330" y="169640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2400" b="1" cap="none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322195"/>
            <a:ext cx="4762970" cy="338964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B1B73-38BC-436D-8EE6-E273345841B6}" type="datetime1">
              <a:rPr lang="en-US" altLang="zh-TW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0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31" y="606946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17CB-8512-4BB3-8685-CAA32E7FBC3C}" type="datetime1">
              <a:rPr lang="en-US" altLang="zh-TW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63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0070-0EA1-4A0D-8F4A-D7975CE73EDC}" type="datetime1">
              <a:rPr lang="en-US" altLang="zh-TW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8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61D9-77D5-4763-AC3C-234694E90E17}" type="datetime1">
              <a:rPr lang="en-US" altLang="zh-TW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5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8C68-2AD3-4F03-96E0-FA5130A87C35}" type="datetime1">
              <a:rPr lang="en-US" altLang="zh-TW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5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180E-6827-4A87-80C3-07C58CD3A140}" type="datetime1">
              <a:rPr lang="en-US" altLang="zh-TW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28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69576-551E-420E-B928-DD4922C9618D}" type="datetime1">
              <a:rPr lang="en-US" altLang="zh-TW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5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329A6EE-4D16-488F-9F14-27146B16CAB9}" type="datetime1">
              <a:rPr lang="en-US" altLang="zh-TW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0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4" r:id="rId3"/>
    <p:sldLayoutId id="2147483681" r:id="rId4"/>
    <p:sldLayoutId id="2147483680" r:id="rId5"/>
    <p:sldLayoutId id="2147483679" r:id="rId6"/>
    <p:sldLayoutId id="2147483678" r:id="rId7"/>
    <p:sldLayoutId id="2147483677" r:id="rId8"/>
    <p:sldLayoutId id="2147483676" r:id="rId9"/>
    <p:sldLayoutId id="2147483675" r:id="rId10"/>
    <p:sldLayoutId id="2147483674" r:id="rId11"/>
    <p:sldLayoutId id="214748367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lib.stat.cmu.edu/" TargetMode="Externa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 descr="天空中的彩色圖案">
            <a:extLst>
              <a:ext uri="{FF2B5EF4-FFF2-40B4-BE49-F238E27FC236}">
                <a16:creationId xmlns:a16="http://schemas.microsoft.com/office/drawing/2014/main" id="{ED98725C-038E-6A06-4C58-01CA646CCD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38" b="1019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74E6BD4-9370-439F-94BB-34169C126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6913" y="4906317"/>
            <a:ext cx="9216167" cy="1232744"/>
          </a:xfrm>
        </p:spPr>
        <p:txBody>
          <a:bodyPr anchor="ctr">
            <a:normAutofit fontScale="90000"/>
          </a:bodyPr>
          <a:lstStyle/>
          <a:p>
            <a:pPr algn="r"/>
            <a:r>
              <a:rPr lang="en-US" altLang="zh-TW" sz="3200" dirty="0" err="1"/>
              <a:t>機器學習專案</a:t>
            </a:r>
            <a:r>
              <a:rPr lang="zh-TW" altLang="en-US" sz="3200" dirty="0"/>
              <a:t>完整體驗 </a:t>
            </a:r>
            <a:br>
              <a:rPr lang="en-US" altLang="zh-TW" sz="3200" dirty="0"/>
            </a:br>
            <a:r>
              <a:rPr lang="en-US" altLang="zh-TW" sz="3200" dirty="0"/>
              <a:t>ML Project End-to-End</a:t>
            </a:r>
            <a:br>
              <a:rPr lang="en-US" altLang="zh-TW" sz="3200" dirty="0"/>
            </a:br>
            <a:endParaRPr lang="zh-TW" altLang="en-US" sz="32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F3D1A53-2BC1-6F24-5CC4-46EA5C265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0281" y="3847907"/>
            <a:ext cx="3129921" cy="1010882"/>
          </a:xfrm>
        </p:spPr>
        <p:txBody>
          <a:bodyPr anchor="b">
            <a:normAutofit fontScale="85000" lnSpcReduction="20000"/>
          </a:bodyPr>
          <a:lstStyle/>
          <a:p>
            <a:pPr algn="ctr"/>
            <a:r>
              <a:rPr lang="en-US" altLang="zh-TW" dirty="0"/>
              <a:t>NS5116</a:t>
            </a:r>
          </a:p>
          <a:p>
            <a:r>
              <a:rPr lang="zh-TW" altLang="zh-TW" b="1" dirty="0"/>
              <a:t>電腦硬體與程式語言在行為科學實驗與大數據分析之應用</a:t>
            </a:r>
            <a:endParaRPr lang="zh-TW" altLang="zh-TW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C6E18B-DBDF-ADE3-AE6C-175FCBE7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59D671-9BE8-890D-315E-3958C17E5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C59FDAF-84C2-BC99-6F5C-BF3AD618D8DA}"/>
              </a:ext>
            </a:extLst>
          </p:cNvPr>
          <p:cNvSpPr txBox="1"/>
          <p:nvPr/>
        </p:nvSpPr>
        <p:spPr>
          <a:xfrm>
            <a:off x="429935" y="5677396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2026-05-26</a:t>
            </a:r>
          </a:p>
          <a:p>
            <a:r>
              <a:rPr lang="zh-TW" altLang="en-US" dirty="0"/>
              <a:t>講師：Erik Chang 張智宏</a:t>
            </a:r>
            <a:endParaRPr lang="en-US" altLang="zh-TW" dirty="0"/>
          </a:p>
          <a:p>
            <a:r>
              <a:rPr lang="zh-TW" altLang="en-US" dirty="0"/>
              <a:t>教室：S5-Ideabrain</a:t>
            </a:r>
          </a:p>
        </p:txBody>
      </p:sp>
    </p:spTree>
    <p:extLst>
      <p:ext uri="{BB962C8B-B14F-4D97-AF65-F5344CB8AC3E}">
        <p14:creationId xmlns:p14="http://schemas.microsoft.com/office/powerpoint/2010/main" val="174092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0FC532-F1F9-A539-4348-09D8F2102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端到端機器學習 (End-to-End Machine Learning)</a:t>
            </a:r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48803930-1326-B58F-FF4D-4D83D7BE1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CD067E6-A1C9-3161-03BE-63F84E1C6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9042C65-0574-01F4-4ED9-B9DD9040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2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6539F5E1-12D4-8477-834A-4A169BE9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機器學習專案檢核表 (ML Project Checklist)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B4A668FD-5916-CCF0-FF12-0F036A583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界定問題並從整體角度思考 (Frame the problem and look at the big picture)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取得資料 (Get the data)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探索資料以取得洞察 (Explore the data to gain insights)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準備資料，讓底層的資料樣態 (data patterns) 更容易被機器學習演算法擷取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嘗試多種模型 (models)，列出表現較佳的候選清單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微調 (fine-tune) 模型並組合 (ensemble) 成最終的解決方案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呈現你的解決方案 (Present your solution)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上線、監控與維護系統 (Launch, monitor, and maintain your system)</a:t>
            </a:r>
            <a:endParaRPr lang="zh-TW" alt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967616C3-0590-0FD3-4472-31D14479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524E61-8B45-42D7-2FAA-E1FA6EFD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</a:t>
            </a:fld>
            <a:endParaRPr 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B1E50CE-1E7F-1074-2708-7AD25A871D41}"/>
              </a:ext>
            </a:extLst>
          </p:cNvPr>
          <p:cNvSpPr txBox="1"/>
          <p:nvPr/>
        </p:nvSpPr>
        <p:spPr>
          <a:xfrm>
            <a:off x="3888336" y="6246976"/>
            <a:ext cx="2501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資料來源：HOLM3, Appendix A.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4247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6539F5E1-12D4-8477-834A-4A169BE9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機器學習專案檢核表 (ML Project Checklist)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B4A668FD-5916-CCF0-FF12-0F036A583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界定問題並從整體角度思考 (Frame the problem and look at the big picture)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取得資料 (Get the data)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探索資料以取得洞察 (Explore the data to gain insights)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準備資料，讓底層的資料樣態 (data patterns) 更容易被機器學習演算法擷取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嘗試多種模型 (models)，列出表現較佳的候選清單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微調 (fine-tune) 模型並組合 (ensemble) 成最終的解決方案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呈現你的解決方案 (Present your solution)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上線、監控與維護系統 (Launch, monitor, and maintain your system)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967616C3-0590-0FD3-4472-31D14479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524E61-8B45-42D7-2FAA-E1FA6EFD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4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8A80DE6D-7D11-CEEE-DF5E-C6C51A4A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從整體角度思考 (Looking at the Big Picture)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53A6F9B7-9EFB-D6CC-A62E-0F0C858EB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界定問題 (Frame the problem)</a:t>
            </a:r>
          </a:p>
          <a:p>
            <a:pPr lvl="1"/>
            <a:r>
              <a:rPr lang="en-US" altLang="zh-TW" dirty="0"/>
              <a:t>專案目標 (objective) 與既有解法 (existing solutions)</a:t>
            </a:r>
          </a:p>
          <a:p>
            <a:endParaRPr lang="en-US" altLang="zh-TW" dirty="0"/>
          </a:p>
          <a:p>
            <a:r>
              <a:rPr lang="en-US" altLang="zh-TW" dirty="0"/>
              <a:t>選擇效能評估指標 (performance measure)</a:t>
            </a:r>
          </a:p>
          <a:p>
            <a:pPr lvl="1"/>
            <a:r>
              <a:rPr lang="en-US" altLang="zh-TW" dirty="0"/>
              <a:t>模型表現的評估準則 (criteria for model performance)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檢查假設 (check the assumptions)</a:t>
            </a:r>
          </a:p>
          <a:p>
            <a:pPr lvl="1"/>
            <a:r>
              <a:rPr lang="en-US" altLang="zh-TW" dirty="0"/>
              <a:t>本專案希望達成的成果是什麼？</a:t>
            </a: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72532444-C546-EA60-6FC6-9DBD70BCF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D0ECBE1-0301-D242-65F0-E492A127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22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5E715C-8EBF-FDD8-2F7C-3ABE30D4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界定問題 (Frame the Problem)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BFE11C-448B-4CAD-30D8-872B3B055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了解專案目標，因為它將決定：</a:t>
            </a:r>
          </a:p>
          <a:p>
            <a:pPr lvl="1"/>
            <a:r>
              <a:rPr lang="en-US" altLang="zh-TW" dirty="0"/>
              <a:t>如何界定問題</a:t>
            </a:r>
          </a:p>
          <a:p>
            <a:pPr lvl="1"/>
            <a:r>
              <a:rPr lang="en-US" altLang="zh-TW" dirty="0"/>
              <a:t>選擇哪一類演算法 (algorithms)</a:t>
            </a:r>
          </a:p>
          <a:p>
            <a:pPr lvl="1"/>
            <a:r>
              <a:rPr lang="en-US" altLang="zh-TW" dirty="0"/>
              <a:t>使用何種效能指標 (performance measure) 來評估模型</a:t>
            </a:r>
          </a:p>
          <a:p>
            <a:pPr lvl="1"/>
            <a:r>
              <a:rPr lang="en-US" altLang="zh-TW" dirty="0"/>
              <a:t>需要投入多少工夫去調整 (tweak) 模型</a:t>
            </a:r>
          </a:p>
          <a:p>
            <a:r>
              <a:rPr lang="en-US" altLang="zh-TW" dirty="0"/>
              <a:t>了解既有解法 (existing solution)</a:t>
            </a:r>
          </a:p>
          <a:p>
            <a:pPr lvl="1"/>
            <a:r>
              <a:rPr lang="en-US" altLang="zh-TW" dirty="0"/>
              <a:t>可作為效能比較的基準 (baseline)</a:t>
            </a:r>
          </a:p>
          <a:p>
            <a:pPr lvl="2"/>
            <a:r>
              <a:rPr lang="en-US" altLang="zh-TW" dirty="0" err="1"/>
              <a:t>例如：根據一組複雜規則 (rules) 的人工估算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CD60C48-420E-F22D-1FF0-6DB450B89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3FBDBA3-A1EC-9F0C-09D1-C335B8E8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81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287F2F-CA4C-7B68-19BC-1659577D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需要做的決策 (Decisions to Make)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6EBE9D-C60E-1844-B56E-CECB609B2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屬於哪一種訓練監督 (training supervision)？</a:t>
            </a:r>
          </a:p>
          <a:p>
            <a:pPr lvl="1"/>
            <a:r>
              <a:rPr lang="en-US" altLang="zh-TW" dirty="0"/>
              <a:t>Supervised、semi-supervised、self-supervised、或 reinforcement learning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屬於 classification、regression，還是其他任務？</a:t>
            </a:r>
          </a:p>
          <a:p>
            <a:endParaRPr lang="en-US" altLang="zh-TW" dirty="0"/>
          </a:p>
          <a:p>
            <a:r>
              <a:rPr lang="en-US" altLang="zh-TW" dirty="0"/>
              <a:t>Batch learning 還是 online learning？</a:t>
            </a:r>
          </a:p>
          <a:p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720C358-F4CB-ABD0-51A2-F6AB111F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B8CA039-9B89-2663-2D56-DD8A3E97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0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B92A6C-5A92-2A49-57E8-A3D5D903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本範例的決策結果 (Answers to the Decisions)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670EF4-FDB0-6353-5DDB-4194C4AF3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Supervised learning</a:t>
            </a:r>
          </a:p>
          <a:p>
            <a:endParaRPr lang="en-US" altLang="zh-TW" dirty="0"/>
          </a:p>
          <a:p>
            <a:r>
              <a:rPr lang="en-US" altLang="zh-TW" dirty="0"/>
              <a:t>Regression</a:t>
            </a:r>
          </a:p>
          <a:p>
            <a:pPr lvl="1"/>
            <a:r>
              <a:rPr lang="en-US" altLang="zh-TW" dirty="0"/>
              <a:t>多變量迴歸 (Multiple regression)</a:t>
            </a:r>
          </a:p>
          <a:p>
            <a:pPr lvl="1"/>
            <a:r>
              <a:rPr lang="en-US" altLang="zh-TW" dirty="0"/>
              <a:t>單一目標迴歸 (Univariate regression)</a:t>
            </a:r>
          </a:p>
          <a:p>
            <a:endParaRPr lang="en-US" altLang="zh-TW" dirty="0"/>
          </a:p>
          <a:p>
            <a:r>
              <a:rPr lang="en-US" altLang="zh-TW" dirty="0"/>
              <a:t>批次學習 (Batch learning)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4E49AFD-3BA4-1D3A-91A6-A1DAD435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84A1AD-61C6-F5A9-2576-35FAFD50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04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B5A68F-3B6C-BF6C-08C3-DC8D027B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選擇效能指標 (Select a Performance Measure)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E51B122E-36B7-AAF4-8D1F-E96E86CE13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均方根誤差 (Root Mean Square Error)</a:t>
            </a:r>
          </a:p>
          <a:p>
            <a:pPr lvl="1"/>
            <a:r>
              <a:rPr lang="en-US" altLang="zh-TW" dirty="0"/>
              <a:t>RMSE</a:t>
            </a:r>
          </a:p>
          <a:p>
            <a:pPr lvl="1"/>
            <a:r>
              <a:rPr lang="en-US" altLang="zh-TW" dirty="0"/>
              <a:t>代表系統預測時平均會犯多大的誤差</a:t>
            </a:r>
          </a:p>
          <a:p>
            <a:pPr lvl="1"/>
            <a:r>
              <a:rPr lang="en-US" altLang="zh-TW" dirty="0"/>
              <a:t>對較大的誤差給予更高的權重 (penalty)</a:t>
            </a:r>
          </a:p>
          <a:p>
            <a:pPr lvl="1"/>
            <a:r>
              <a:rPr lang="en-US" altLang="zh-TW" dirty="0"/>
              <a:t>L2 norm</a:t>
            </a:r>
          </a:p>
          <a:p>
            <a:endParaRPr lang="en-US" altLang="zh-TW" dirty="0"/>
          </a:p>
          <a:p>
            <a:r>
              <a:rPr lang="en-US" altLang="zh-TW" dirty="0"/>
              <a:t>平均絕對誤差 (Mean Absolute Error)</a:t>
            </a:r>
          </a:p>
          <a:p>
            <a:pPr lvl="1"/>
            <a:r>
              <a:rPr lang="en-US" altLang="zh-TW" dirty="0"/>
              <a:t>MAE</a:t>
            </a:r>
          </a:p>
          <a:p>
            <a:pPr lvl="1"/>
            <a:r>
              <a:rPr lang="en-US" altLang="zh-TW" dirty="0"/>
              <a:t>當資料中有許多 outlier 時較適合使用</a:t>
            </a:r>
          </a:p>
          <a:p>
            <a:pPr lvl="1"/>
            <a:r>
              <a:rPr lang="en-US" altLang="zh-TW" dirty="0"/>
              <a:t>L1 norm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D456D2D-427E-D64E-E81D-9EB362F5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15ADD04-A5E9-F825-DD1A-BD33605C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9</a:t>
            </a:fld>
            <a:endParaRPr lang="en-US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8C71762B-8848-A0B8-4C56-437DAB5BC7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5708" y="1862426"/>
            <a:ext cx="5158092" cy="108109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0CBD007-F4E3-246E-671F-64C455D61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966" y="4666586"/>
            <a:ext cx="4716132" cy="81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01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5B2AB5-0A71-5983-DBDA-D6A9C0F0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0E2A65-19D7-0B93-0043-A3427B55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10</a:t>
            </a:fld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69B319F-853F-35E7-2A47-C675EF40D1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22192" y="172125"/>
            <a:ext cx="10093325" cy="954088"/>
          </a:xfrm>
        </p:spPr>
        <p:txBody>
          <a:bodyPr/>
          <a:lstStyle/>
          <a:p>
            <a:r>
              <a:rPr lang="en-US" altLang="zh-TW" dirty="0"/>
              <a:t>L1 與 L2 norm 的比較 (L1 vs. L2 Norm)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51AA51C-BD67-E823-B3BB-CD2B3BC21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148" y="2076337"/>
            <a:ext cx="8607703" cy="4242109"/>
          </a:xfrm>
          <a:prstGeom prst="rect">
            <a:avLst/>
          </a:prstGeom>
        </p:spPr>
      </p:pic>
      <p:pic>
        <p:nvPicPr>
          <p:cNvPr id="9" name="內容版面配置區 11">
            <a:extLst>
              <a:ext uri="{FF2B5EF4-FFF2-40B4-BE49-F238E27FC236}">
                <a16:creationId xmlns:a16="http://schemas.microsoft.com/office/drawing/2014/main" id="{80B40A84-3B85-D1B5-945C-DA4318747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883" y="1265206"/>
            <a:ext cx="3455438" cy="72423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D123FEC-744B-1123-1F84-EE7AA55AC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5668" y="1331510"/>
            <a:ext cx="3120900" cy="53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92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6539F5E1-12D4-8477-834A-4A169BE9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機器學習專案檢核表 (ML Project Checklist)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B4A668FD-5916-CCF0-FF12-0F036A583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界定問題並從整體角度思考 (Frame the problem and look at the big picture)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取得資料 (Get the data)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探索資料以取得洞察 (Explore the data to gain insights)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準備資料，讓底層的資料樣態 (data patterns) 更容易被機器學習演算法擷取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嘗試多種模型 (models)，列出表現較佳的候選清單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微調 (fine-tune) 模型並組合 (ensemble) 成最終的解決方案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呈現你的解決方案 (Present your solution)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上線、監控與維護系統 (Launch, monitor, and maintain your system)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967616C3-0590-0FD3-4472-31D14479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524E61-8B45-42D7-2FAA-E1FA6EFD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17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30A975B0-2725-C02D-DE24-08D228B3F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取得資料並先把玩一下 (Get the Data and Play with It)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15F66A-A6F0-E56E-10E1-565A3EE20B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下載資料 (Download data)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9A14321-4349-B6ED-4D5F-8D1FDF1A9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2FE767-819F-5E3D-B6A6-E30634E7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12</a:t>
            </a:fld>
            <a:endParaRPr 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382CA8C-2D23-4963-9A59-29C0B0305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44081"/>
            <a:ext cx="3300437" cy="2928959"/>
          </a:xfrm>
          <a:prstGeom prst="rect">
            <a:avLst/>
          </a:prstGeom>
        </p:spPr>
      </p:pic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937664A0-1995-662D-00EE-1A134C70D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72261" y="1338068"/>
            <a:ext cx="5177899" cy="4654766"/>
          </a:xfrm>
        </p:spPr>
        <p:txBody>
          <a:bodyPr/>
          <a:lstStyle/>
          <a:p>
            <a:r>
              <a:rPr lang="en-US" altLang="zh-TW" dirty="0"/>
              <a:t>檢視資料結構 (Examine data structure)</a:t>
            </a:r>
          </a:p>
          <a:p>
            <a:endParaRPr lang="zh-TW" altLang="en-US" dirty="0"/>
          </a:p>
        </p:txBody>
      </p:sp>
      <p:pic>
        <p:nvPicPr>
          <p:cNvPr id="13" name="內容版面配置區 8">
            <a:extLst>
              <a:ext uri="{FF2B5EF4-FFF2-40B4-BE49-F238E27FC236}">
                <a16:creationId xmlns:a16="http://schemas.microsoft.com/office/drawing/2014/main" id="{9A1BF4CE-113C-F1EC-F367-A2F3EA734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89" y="2223833"/>
            <a:ext cx="4595846" cy="260034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535C5B3-1B26-73E0-3044-3ECBB12B9E18}"/>
              </a:ext>
            </a:extLst>
          </p:cNvPr>
          <p:cNvSpPr txBox="1"/>
          <p:nvPr/>
        </p:nvSpPr>
        <p:spPr>
          <a:xfrm>
            <a:off x="316521" y="5623502"/>
            <a:ext cx="29178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5"/>
              </a:rPr>
              <a:t>https://lib.stat.cmu.edu/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7AB70DC-531F-8A83-948D-09667B2A6987}"/>
              </a:ext>
            </a:extLst>
          </p:cNvPr>
          <p:cNvSpPr txBox="1"/>
          <p:nvPr/>
        </p:nvSpPr>
        <p:spPr>
          <a:xfrm>
            <a:off x="403860" y="5273040"/>
            <a:ext cx="2952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資料來源 (Where the data was from)：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90483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>
            <a:extLst>
              <a:ext uri="{FF2B5EF4-FFF2-40B4-BE49-F238E27FC236}">
                <a16:creationId xmlns:a16="http://schemas.microsoft.com/office/drawing/2014/main" id="{E00A7BF8-F65A-8D89-C5C2-ED111F38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F0A4DCA7-41E2-A7F8-44A2-2FDA0B69C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檢視前幾筆資料 (head())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84CC1F9E-1E10-A2A5-7B8C-F6016058A3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66800" y="3315205"/>
            <a:ext cx="4740275" cy="1403928"/>
          </a:xfrm>
          <a:prstGeom prst="rect">
            <a:avLst/>
          </a:prstGeom>
        </p:spPr>
      </p:pic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D5934568-4470-8A35-180E-02B8766D6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檢視數值欄位的描述統計 (describe())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FA588EE-404A-CC49-E8B5-371F83D2393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400800" y="3065075"/>
            <a:ext cx="4762500" cy="1904188"/>
          </a:xfr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745557-D826-82EE-4FB8-0D25D607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31F3AA-711C-9C03-8053-D64DC3B85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84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21D7AF00-2622-73D0-114D-83171111A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視覺化資料分布 (Visualize Distributions)</a:t>
            </a:r>
            <a:endParaRPr lang="zh-TW" alt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C50065B8-A1C1-0AD1-54A7-6EC407484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5790C6E2-68E1-2026-04C4-823C10713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14</a:t>
            </a:fld>
            <a:endParaRPr lang="en-US"/>
          </a:p>
        </p:txBody>
      </p:sp>
      <p:pic>
        <p:nvPicPr>
          <p:cNvPr id="14" name="Picture 2" descr="image_049.png">
            <a:extLst>
              <a:ext uri="{FF2B5EF4-FFF2-40B4-BE49-F238E27FC236}">
                <a16:creationId xmlns:a16="http://schemas.microsoft.com/office/drawing/2014/main" id="{A8940C44-1D0F-0E7E-EE14-21861E2021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0232" y="1482511"/>
            <a:ext cx="7645212" cy="5028307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848689D4-38C6-7277-47D1-B0F882A9E7A9}"/>
              </a:ext>
            </a:extLst>
          </p:cNvPr>
          <p:cNvSpPr txBox="1"/>
          <p:nvPr/>
        </p:nvSpPr>
        <p:spPr>
          <a:xfrm>
            <a:off x="8383424" y="1461331"/>
            <a:ext cx="33841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這些分布 (distributions) 有什麼特別之處？</a:t>
            </a:r>
          </a:p>
          <a:p>
            <a:pPr marL="285750" indent="-285750">
              <a:buFontTx/>
              <a:buChar char="-"/>
            </a:pPr>
            <a:r>
              <a:rPr lang="en-US" altLang="zh-TW" dirty="0"/>
              <a:t>Income 的單位是什麼？</a:t>
            </a:r>
          </a:p>
          <a:p>
            <a:pPr marL="285750" indent="-285750">
              <a:buFontTx/>
              <a:buChar char="-"/>
            </a:pPr>
            <a:r>
              <a:rPr lang="en-US" altLang="zh-TW" b="1" dirty="0"/>
              <a:t>Housing median age 與 median house value 是否被截尾 (capped)？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6753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4C3175-DF4D-9F7D-4B93-C57C39C32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建立 test set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403983-2C0B-3BD3-0C65-1316942E6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41" y="1590157"/>
            <a:ext cx="5236949" cy="4434627"/>
          </a:xfrm>
        </p:spPr>
        <p:txBody>
          <a:bodyPr/>
          <a:lstStyle/>
          <a:p>
            <a:r>
              <a:rPr lang="en-US" altLang="zh-TW" dirty="0"/>
              <a:t>為了避免 data snooping bias (資料窺探偏差)</a:t>
            </a:r>
          </a:p>
          <a:p>
            <a:r>
              <a:rPr lang="en-US" altLang="zh-TW" dirty="0"/>
              <a:t>Test set 與 training set 的區分</a:t>
            </a:r>
          </a:p>
          <a:p>
            <a:pPr lvl="1"/>
            <a:r>
              <a:rPr lang="en-US" altLang="zh-TW" dirty="0"/>
              <a:t>簡單隨機切分 (simple random split)</a:t>
            </a:r>
          </a:p>
          <a:p>
            <a:pPr lvl="2"/>
            <a:r>
              <a:rPr lang="en-US" altLang="zh-TW" dirty="0"/>
              <a:t>使用固定 random seed 的抽樣方式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6DD6235-C265-A8F1-131A-C121D99B6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BEEBFF-329C-79EB-02B4-A8CD1FFF2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15</a:t>
            </a:fld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FE91602-FEA2-BD83-6B87-28139EE87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637" y="1680764"/>
            <a:ext cx="4524408" cy="247651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580BA1DE-52B5-197F-9B5B-9F5D70589BD6}"/>
              </a:ext>
            </a:extLst>
          </p:cNvPr>
          <p:cNvSpPr txBox="1"/>
          <p:nvPr/>
        </p:nvSpPr>
        <p:spPr>
          <a:xfrm>
            <a:off x="6337447" y="130085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簡單切分 (simple split)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3B7FE11-F169-1F7D-6FC1-98CD7EC63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775" y="5442155"/>
            <a:ext cx="6906587" cy="582629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CDDACF6-C1DC-5202-6B75-F6D48B5034B6}"/>
              </a:ext>
            </a:extLst>
          </p:cNvPr>
          <p:cNvSpPr txBox="1"/>
          <p:nvPr/>
        </p:nvSpPr>
        <p:spPr>
          <a:xfrm>
            <a:off x="2254775" y="4963827"/>
            <a:ext cx="3266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使用固定 random_state 的切分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2267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93F6E4-6824-9521-1E67-19E7E8D5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分層抽樣 (Stratified Sampling)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826607-CBCA-C436-EF1C-CCF9F0AC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8E845E0-D16F-D7F3-B2C6-04EE0F2C2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2" descr="image_051.png">
            <a:extLst>
              <a:ext uri="{FF2B5EF4-FFF2-40B4-BE49-F238E27FC236}">
                <a16:creationId xmlns:a16="http://schemas.microsoft.com/office/drawing/2014/main" id="{C359A76D-2C9E-34FB-D7A0-235FC3F39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3694" y="1572866"/>
            <a:ext cx="4485039" cy="2871388"/>
          </a:xfrm>
          <a:prstGeom prst="rect">
            <a:avLst/>
          </a:prstGeom>
        </p:spPr>
      </p:pic>
      <p:pic>
        <p:nvPicPr>
          <p:cNvPr id="7" name="Picture 2" descr="image_052.png">
            <a:extLst>
              <a:ext uri="{FF2B5EF4-FFF2-40B4-BE49-F238E27FC236}">
                <a16:creationId xmlns:a16="http://schemas.microsoft.com/office/drawing/2014/main" id="{F41915AC-FDD7-863D-7D69-56DF88392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04" y="4650911"/>
            <a:ext cx="5580090" cy="185009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C2B4058-016A-9457-6970-1B63B076D9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4471" y="1895109"/>
            <a:ext cx="5917177" cy="141211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9B99E8F-9AC1-38DC-5295-39303AD62F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1041" y="4003072"/>
            <a:ext cx="5210213" cy="29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356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6539F5E1-12D4-8477-834A-4A169BE9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機器學習專案檢核表 (ML Project Checklist)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B4A668FD-5916-CCF0-FF12-0F036A583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界定問題並從整體角度思考 (Frame the problem and look at the big picture)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取得資料 (Get the data)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探索資料以取得洞察 (Explore the data to gain insights)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準備資料，讓底層的資料樣態 (data patterns) 更容易被機器學習演算法擷取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嘗試多種模型 (models)，列出表現較佳的候選清單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微調 (fine-tune) 模型並組合 (ensemble) 成最終的解決方案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呈現你的解決方案 (Present your solution)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上線、監控與維護系統 (Launch, monitor, and maintain your system)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967616C3-0590-0FD3-4472-31D14479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524E61-8B45-42D7-2FAA-E1FA6EFD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11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312B3B-5255-8422-25FD-DAC3C13EA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探索資料以取得洞察 (Explore the Data to Gain Insights)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C21451-6A73-B9D9-AC34-3DA47EC77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視覺化資料 (Visualize the data)</a:t>
            </a:r>
          </a:p>
          <a:p>
            <a:endParaRPr lang="en-US" altLang="zh-TW" dirty="0"/>
          </a:p>
          <a:p>
            <a:r>
              <a:rPr lang="en-US" altLang="zh-TW" dirty="0"/>
              <a:t>尋找相關 (correlations)</a:t>
            </a:r>
          </a:p>
          <a:p>
            <a:endParaRPr lang="en-US" altLang="zh-TW" dirty="0"/>
          </a:p>
          <a:p>
            <a:r>
              <a:rPr lang="en-US" altLang="zh-TW" dirty="0"/>
              <a:t>嘗試組合屬性 (experiment with attributes)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3A26A36-84AD-3ACA-5C7E-AD0D5A9C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600D672-2A75-3A2B-14C5-1426F44A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8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7BBA2C93-D1A4-EE54-7C53-FA028BA68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BA684ECF-3208-1FA9-9748-3E66BCE7B4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15913" y="2377204"/>
            <a:ext cx="5178425" cy="2868767"/>
          </a:xfrm>
        </p:spPr>
      </p:pic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9412C938-D0A5-A240-16E2-26DEF1ADD2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89546" y="1188856"/>
            <a:ext cx="5874634" cy="5129590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CC56B86-858F-5F1F-4A18-6A2214324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09A836A-4C7E-E44A-5CB7-14017338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82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4C16D7-9A0B-A3F9-F79E-6BB5C1FF6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58" y="119104"/>
            <a:ext cx="8886884" cy="953669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尋找 features 之間的關係 (Look for Relationships)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15FA9B6-80D0-3382-C4E8-C3C2A0BA1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7E7A430-1B8D-218F-BF22-2A96C5310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2" descr="image_056.png">
            <a:extLst>
              <a:ext uri="{FF2B5EF4-FFF2-40B4-BE49-F238E27FC236}">
                <a16:creationId xmlns:a16="http://schemas.microsoft.com/office/drawing/2014/main" id="{D9B9037D-5F90-7396-D728-B6D89D08E8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49245" y="2163243"/>
            <a:ext cx="6607510" cy="443388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516BA97-F76D-8950-B036-BD959D8EA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314" y="1144136"/>
            <a:ext cx="4591084" cy="94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94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6E7765-A214-4A70-B34D-EDBB32B19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Median income 與 median house value 的關係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E915C3A6-C4F1-1AD5-2C7F-8BFA65718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33255" y="2503462"/>
            <a:ext cx="5978656" cy="3884668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91A9B91-EF29-E5A0-8AE0-EDDBE359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A6FEE1-8D64-E920-CA71-58A3AF005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21</a:t>
            </a:fld>
            <a:endParaRPr 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A5133A8-3F86-42D8-62CB-55BDB3E6C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575" y="1755790"/>
            <a:ext cx="8373132" cy="49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32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3B532-CE8F-36A8-20C9-2E004DC10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3" y="347181"/>
            <a:ext cx="9332423" cy="953669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不同相關程度下的散布圖 (Scatterplots for Various Correlations)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CF5FB97-B62F-5062-EE3C-746F004F9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9622" y="1529093"/>
            <a:ext cx="9332423" cy="4887721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A0447F-A0C8-9613-687B-607586ED1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B6A6A5-28A8-A105-21B1-A3C23228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19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7AFD9F-88CD-BCA3-8AAF-CD83C8080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嘗試屬性組合 (Experiment with Attribute Combinations)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CF8966-298E-1580-62D9-2D3575866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探索並清理資料 (Explore and clean data)</a:t>
            </a:r>
          </a:p>
          <a:p>
            <a:pPr lvl="1"/>
            <a:r>
              <a:rPr lang="en-US" altLang="zh-TW" dirty="0"/>
              <a:t>在建模前找出資料中的怪異現象 (quirks) 並加以清理</a:t>
            </a:r>
          </a:p>
          <a:p>
            <a:pPr lvl="1"/>
            <a:r>
              <a:rPr lang="en-US" altLang="zh-TW" dirty="0"/>
              <a:t>找出有意義的屬性相關 (特別是與 target 的關係)</a:t>
            </a:r>
          </a:p>
          <a:p>
            <a:endParaRPr lang="en-US" altLang="zh-TW" dirty="0"/>
          </a:p>
          <a:p>
            <a:r>
              <a:rPr lang="en-US" altLang="zh-TW" dirty="0"/>
              <a:t>處理偏斜分布 (Handle skewed distributions)</a:t>
            </a:r>
          </a:p>
          <a:p>
            <a:pPr lvl="1"/>
            <a:r>
              <a:rPr lang="en-US" altLang="zh-TW" dirty="0"/>
              <a:t>某些 features 呈現右偏 (right-skewed) 分布</a:t>
            </a:r>
          </a:p>
          <a:p>
            <a:pPr lvl="1"/>
            <a:r>
              <a:rPr lang="en-US" altLang="zh-TW" dirty="0"/>
              <a:t>視需要進行轉換 (transformation)，例如 log、square root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C29DF32-5DA6-5DDF-1B79-E6A3FBED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32E9C9D-23E8-D8C4-6206-FE9C0A88B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9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2A2B27-CC88-0374-8468-7742E3430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建立有資訊量的 features (Create Informative Features)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1361B0-C73A-3C62-B8FC-7D2057D8B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組合屬性以強化其資訊意義</a:t>
            </a:r>
          </a:p>
          <a:p>
            <a:endParaRPr lang="en-US" altLang="zh-TW" dirty="0"/>
          </a:p>
          <a:p>
            <a:r>
              <a:rPr lang="en-US" altLang="zh-TW" dirty="0"/>
              <a:t>範例：</a:t>
            </a:r>
          </a:p>
          <a:p>
            <a:pPr lvl="1"/>
            <a:r>
              <a:rPr lang="en-US" altLang="zh-TW" dirty="0"/>
              <a:t>Rooms per household (每戶房間數)</a:t>
            </a:r>
          </a:p>
          <a:p>
            <a:pPr lvl="1"/>
            <a:r>
              <a:rPr lang="en-US" altLang="zh-TW" dirty="0"/>
              <a:t>Bedrooms per room (臥室占房間比例)</a:t>
            </a:r>
          </a:p>
          <a:p>
            <a:pPr lvl="1"/>
            <a:r>
              <a:rPr lang="en-US" altLang="zh-TW" dirty="0"/>
              <a:t>Population per household (每戶人口數)</a:t>
            </a:r>
          </a:p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DFF10A7-2C63-D8C1-AF4B-00F040CB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12E1E9D-2B83-57D2-5D4C-1A61E0F5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24</a:t>
            </a:fld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FD9202B-AA8C-F515-1E06-65E02A886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988" y="2683365"/>
            <a:ext cx="6757468" cy="57266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6030ECE-5751-3C53-A85E-3E2AC6308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599" y="3423580"/>
            <a:ext cx="4835898" cy="260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43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6539F5E1-12D4-8477-834A-4A169BE9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機器學習專案檢核表 (ML Project Checklist)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B4A668FD-5916-CCF0-FF12-0F036A583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界定問題並從整體角度思考 (Frame the problem and look at the big picture)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取得資料 (Get the data)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探索資料以取得洞察 (Explore the data to gain insights)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準備資料，讓底層的資料樣態 (data patterns) 更容易被機器學習演算法擷取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嘗試多種模型 (models)，列出表現較佳的候選清單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微調 (fine-tune) 模型並組合 (ensemble) 成最終的解決方案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呈現你的解決方案 (Present your solution)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上線、監控與維護系統 (Launch, monitor, and maintain your system)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967616C3-0590-0FD3-4472-31D14479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524E61-8B45-42D7-2FAA-E1FA6EFD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81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9AFADD-1707-49EA-D636-AB917FF7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資料前處理與特徵工程 (Preprocessing / Feature Engineering)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F22826-1AB4-435F-DE53-19D595643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清理資料 (Clean the data)</a:t>
            </a:r>
          </a:p>
          <a:p>
            <a:r>
              <a:rPr lang="en-US" altLang="zh-TW" dirty="0"/>
              <a:t>重新編碼文字與類別變項 (recode categorical attributes)</a:t>
            </a:r>
          </a:p>
          <a:p>
            <a:r>
              <a:rPr lang="en-US" altLang="zh-TW" dirty="0"/>
              <a:t>特徵縮放與轉換 (Feature scaling &amp; transformation)</a:t>
            </a:r>
          </a:p>
          <a:p>
            <a:pPr lvl="1"/>
            <a:r>
              <a:rPr lang="en-US" altLang="zh-TW" dirty="0"/>
              <a:t>自訂轉換器 (Custom transformers)</a:t>
            </a:r>
          </a:p>
          <a:p>
            <a:r>
              <a:rPr lang="en-US" altLang="zh-TW" dirty="0"/>
              <a:t>轉換管線 (Transformation pipelines)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E45BAD7-9BFE-B53E-E8A0-37D2686B8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DC60018-682A-0A42-3C19-3344104A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59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A1E8E-E958-0341-5116-29FCB7A1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清理資料 (Clean the Data)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CCDA3E-E847-E648-8075-EDA1761FA7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分離 predictors 與 target</a:t>
            </a:r>
          </a:p>
          <a:p>
            <a:endParaRPr lang="en-US" altLang="zh-TW" dirty="0"/>
          </a:p>
          <a:p>
            <a:r>
              <a:rPr lang="en-US" altLang="zh-TW" dirty="0"/>
              <a:t>處理 missing values</a:t>
            </a:r>
          </a:p>
          <a:p>
            <a:pPr lvl="1"/>
            <a:r>
              <a:rPr lang="en-US" altLang="zh-TW" dirty="0"/>
              <a:t>刪除有缺值的樣本 (drop rows)</a:t>
            </a:r>
          </a:p>
          <a:p>
            <a:pPr lvl="1"/>
            <a:r>
              <a:rPr lang="en-US" altLang="zh-TW" dirty="0"/>
              <a:t>刪除該欄 features (drop column)</a:t>
            </a:r>
          </a:p>
          <a:p>
            <a:pPr lvl="1"/>
            <a:r>
              <a:rPr lang="en-US" altLang="zh-TW" dirty="0"/>
              <a:t>填補 (imputation)</a:t>
            </a:r>
          </a:p>
          <a:p>
            <a:pPr lvl="2"/>
            <a:r>
              <a:rPr lang="en-US" altLang="zh-TW" dirty="0"/>
              <a:t>填入合理數值</a:t>
            </a:r>
          </a:p>
          <a:p>
            <a:pPr lvl="3"/>
            <a:r>
              <a:rPr lang="en-US" altLang="zh-TW" dirty="0"/>
              <a:t>零、平均數 (mean)、中位數 (median)</a:t>
            </a:r>
          </a:p>
          <a:p>
            <a:pPr lvl="1"/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61F1F94C-56D0-8231-D8BB-C26D6B6091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54110" y="1618121"/>
            <a:ext cx="6312984" cy="431903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D3AB88D-224C-D063-E960-DE43C2BC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1FCAF7E-7E79-43BD-E9D5-B5DED15DF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27</a:t>
            </a:fld>
            <a:endParaRPr 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2C35111-EB0B-D809-2EBB-39A54E650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467" y="3601616"/>
            <a:ext cx="6578722" cy="135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15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7DCDC9-4C8C-8AB2-5E67-98C53747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處理文字與類別屬性 (Handling Text and Categorical Attributes)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A5B41AD6-2EA0-761D-44D0-91960E93E20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40356" y="2510867"/>
            <a:ext cx="4324924" cy="2411473"/>
          </a:xfr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2AB30DC-FB11-4C61-714F-CD75E280C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21652" y="1476480"/>
            <a:ext cx="5177899" cy="1738668"/>
          </a:xfrm>
        </p:spPr>
        <p:txBody>
          <a:bodyPr/>
          <a:lstStyle/>
          <a:p>
            <a:r>
              <a:rPr lang="en-US" altLang="zh-TW" dirty="0"/>
              <a:t>大多數 ML 演算法只能處理數值 (numerical) 資料</a:t>
            </a:r>
          </a:p>
          <a:p>
            <a:pPr lvl="1"/>
            <a:r>
              <a:rPr lang="en-US" altLang="zh-TW" dirty="0"/>
              <a:t>將 categorical labels 轉換成數值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9331BE-DBD9-6F9C-9EAA-B21D1BBE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1B46AD-6AE4-8C9A-9E28-6FA76FFC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28</a:t>
            </a:fld>
            <a:endParaRPr 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6475D98-4468-C399-FCEC-26E928659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22" y="5547339"/>
            <a:ext cx="6756374" cy="95366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B6F6642-4C9E-C869-E1F7-7FBC3B6077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8798" y="2860074"/>
            <a:ext cx="2760776" cy="217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340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72E43E-F61C-A5CD-56CD-D411E5A07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獨熱編碼 (One-hot Encoding)</a:t>
            </a:r>
            <a:endParaRPr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439E29C3-6CD8-E929-8A35-880115D1E8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2098931"/>
            <a:ext cx="4569823" cy="2848168"/>
          </a:xfr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D20083-E2FC-97B9-4159-D63EAF6E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D473C5-D512-7FBA-E262-E4B1DF8F1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29</a:t>
            </a:fld>
            <a:endParaRPr 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6A07ED70-E212-B4CD-5C31-16B74B88F0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704855" y="2106551"/>
            <a:ext cx="3616422" cy="284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84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2F4FC-CB12-DCA6-873B-57A425BD0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縮放與分布轉換 (Scaling &amp; Distribution Transformation)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090887-058B-448B-50B1-D1C7523FC8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Min-Max scaling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標準化 (Standardization)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DE9318D-79DE-CFA6-B596-A10FB6DF83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97399" y="2416400"/>
            <a:ext cx="6831830" cy="2399511"/>
          </a:xfr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C147F9-6C32-1A54-9346-D6499B55E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02DA5F-AC51-56D0-2454-08EC8DCA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30</a:t>
            </a:fld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5DE90DD-54FD-FFC8-091C-69500F1C2F33}"/>
              </a:ext>
            </a:extLst>
          </p:cNvPr>
          <p:cNvSpPr txBox="1"/>
          <p:nvPr/>
        </p:nvSpPr>
        <p:spPr>
          <a:xfrm>
            <a:off x="5087205" y="1497792"/>
            <a:ext cx="6347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把右偏 (positively skewed) 分布轉成接近常態分布 (normal)，避免大多數資料被壓縮到很小的範圍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182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D6A1E6-F7EF-9B02-8DFF-9F6E6A87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分箱 (Bucketizing / Binning)</a:t>
            </a:r>
            <a:endParaRPr lang="zh-TW" altLang="en-US" dirty="0"/>
          </a:p>
        </p:txBody>
      </p:sp>
      <p:pic>
        <p:nvPicPr>
          <p:cNvPr id="16" name="內容版面配置區 15" descr="一張含有 文字, 圖表, 螢幕擷取畫面, 行 的圖片&#10;&#10;AI 產生的內容可能不正確。">
            <a:extLst>
              <a:ext uri="{FF2B5EF4-FFF2-40B4-BE49-F238E27FC236}">
                <a16:creationId xmlns:a16="http://schemas.microsoft.com/office/drawing/2014/main" id="{65C328C2-4063-5FB6-BFEC-CD615CFF1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1823811"/>
            <a:ext cx="10382250" cy="3967616"/>
          </a:xfr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564FAE-80FC-6AD8-E46E-35696A54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FFD91A-9894-CB79-4395-5A5F6DD4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994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DA9FE2-92CC-CDF5-13EB-AEB4D8C9D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等距 (equal range) 與分位 (quantile) 分箱的比較</a:t>
            </a:r>
            <a:endParaRPr lang="zh-TW" altLang="en-US" dirty="0"/>
          </a:p>
        </p:txBody>
      </p:sp>
      <p:sp>
        <p:nvSpPr>
          <p:cNvPr id="13" name="文字版面配置區 12">
            <a:extLst>
              <a:ext uri="{FF2B5EF4-FFF2-40B4-BE49-F238E27FC236}">
                <a16:creationId xmlns:a16="http://schemas.microsoft.com/office/drawing/2014/main" id="{70743EE5-A05A-D191-C921-3140E20E3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內容版面配置區 8" descr="一張含有 文字, 圖表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2A0D522A-C135-4F01-1FE9-8EF0140AB1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61" y="2322513"/>
            <a:ext cx="4625952" cy="3389312"/>
          </a:xfrm>
        </p:spPr>
      </p:pic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B11CBAFF-0004-BB49-5A5F-EA4402F4A1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2" name="內容版面配置區 11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51FE5C6B-CAB0-389E-6E09-F251C7338F1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984" y="2322513"/>
            <a:ext cx="4658131" cy="3389312"/>
          </a:xfrm>
          <a:prstGeom prst="rect">
            <a:avLst/>
          </a:prstGeo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C681E9F-117B-CC57-6BE7-6B5C6C9F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B8DE3AA-928A-8ADC-46D2-5E49242C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417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63A99731-3F6F-1DB8-DAD4-03DC47C5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處理多峰分布 (multimodal distribution)：使用 Radial Basis Function (RBF)</a:t>
            </a:r>
            <a:br>
              <a:rPr lang="en-US" altLang="zh-TW" dirty="0"/>
            </a:br>
            <a:endParaRPr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B4743B07-2228-EAEE-EAD9-070C8609C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87901" y="1513985"/>
            <a:ext cx="6223320" cy="533427"/>
          </a:xfr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766908-DCB7-8109-A8FE-AE788C72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8DF382-E0F6-3BBA-D6BE-7F69F2D7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33</a:t>
            </a:fld>
            <a:endParaRPr 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E5527FB-96F0-7A5C-362C-BB61CDA7B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901" y="2313248"/>
            <a:ext cx="6388260" cy="4005198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E1D51A31-F8B7-E90F-AB1B-6B3984E886AB}"/>
              </a:ext>
            </a:extLst>
          </p:cNvPr>
          <p:cNvSpPr txBox="1"/>
          <p:nvPr/>
        </p:nvSpPr>
        <p:spPr>
          <a:xfrm>
            <a:off x="7850124" y="2313248"/>
            <a:ext cx="3503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新 feature「age_simil_35」代表與其中一個模態 (mode) 之間的相似度 (similarity)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367872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2EFA27-590A-43B5-34C6-F85E005B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自訂轉換器 (Custom Transformers)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A2A3CEF-6BDB-2FAF-06EF-A2335F219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EB435FF-EAA2-A6B2-4BA4-F24E3FC6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34</a:t>
            </a:fld>
            <a:endParaRPr 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27E3A33-300B-4FF4-73FA-BD5392F6F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1" y="2080876"/>
            <a:ext cx="5327924" cy="73028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A8B5261-B77E-1846-E738-CA0D9EA21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31" y="3733311"/>
            <a:ext cx="5893103" cy="53342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B1942093-5FB4-C9D1-0A36-EF9FA7520C70}"/>
              </a:ext>
            </a:extLst>
          </p:cNvPr>
          <p:cNvSpPr txBox="1"/>
          <p:nvPr/>
        </p:nvSpPr>
        <p:spPr>
          <a:xfrm>
            <a:off x="243734" y="1567051"/>
            <a:ext cx="2666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Log transformer</a:t>
            </a:r>
            <a:endParaRPr lang="zh-TW" altLang="en-US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FFEDDEA-89DB-0C31-9E72-1B30AE4DEBA3}"/>
              </a:ext>
            </a:extLst>
          </p:cNvPr>
          <p:cNvSpPr txBox="1"/>
          <p:nvPr/>
        </p:nvSpPr>
        <p:spPr>
          <a:xfrm>
            <a:off x="243734" y="3057350"/>
            <a:ext cx="2666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RBF transformer</a:t>
            </a:r>
            <a:endParaRPr lang="zh-TW" altLang="en-US" b="1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EAF3AA7-3BFD-4075-66CB-3642C7185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431" y="4608957"/>
            <a:ext cx="6140766" cy="73028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66D72F7A-C7E8-A8C3-40F9-48C481EE26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97" y="2129045"/>
            <a:ext cx="5327924" cy="633621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33F869D3-8199-A72A-2E0C-E0364B85AF9C}"/>
              </a:ext>
            </a:extLst>
          </p:cNvPr>
          <p:cNvSpPr txBox="1"/>
          <p:nvPr/>
        </p:nvSpPr>
        <p:spPr>
          <a:xfrm>
            <a:off x="6528494" y="1643122"/>
            <a:ext cx="2666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Ratio transformer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265432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03A98F-0F0B-B42F-399A-C8444AE3B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為什麼需要這些轉換？(Rationales for Transformation)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196306BF-5266-1CCB-CC3A-B206D1561D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基本原則：</a:t>
            </a:r>
          </a:p>
          <a:p>
            <a:pPr lvl="1"/>
            <a:r>
              <a:rPr lang="en-US" altLang="zh-TW" dirty="0"/>
              <a:t>大部分 ML 演算法只接受數值輸入，且不能處理 missing values</a:t>
            </a:r>
          </a:p>
          <a:p>
            <a:r>
              <a:rPr lang="en-US" altLang="zh-TW" dirty="0"/>
              <a:t>Missing values：</a:t>
            </a:r>
          </a:p>
          <a:p>
            <a:pPr lvl="1"/>
            <a:r>
              <a:rPr lang="en-US" altLang="zh-TW" dirty="0"/>
              <a:t>Numerical features  用中位數 (median) 取代</a:t>
            </a:r>
          </a:p>
          <a:p>
            <a:pPr lvl="1"/>
            <a:r>
              <a:rPr lang="en-US" altLang="zh-TW" dirty="0"/>
              <a:t>Categorical features  用出現次數最多的類別 (most frequent) 取代</a:t>
            </a:r>
          </a:p>
          <a:p>
            <a:r>
              <a:rPr lang="en-US" altLang="zh-TW" dirty="0"/>
              <a:t>Categorical feature  改用 one-hot encoding</a:t>
            </a:r>
          </a:p>
          <a:p>
            <a:r>
              <a:rPr lang="en-US" altLang="zh-TW" dirty="0"/>
              <a:t>計算並加入比例型 features (ratio features)</a:t>
            </a:r>
          </a:p>
          <a:p>
            <a:pPr lvl="1"/>
            <a:r>
              <a:rPr lang="en-US" altLang="zh-TW" dirty="0" err="1"/>
              <a:t>例如 bedrooms_ratio、rooms_per_house、people_per_house</a:t>
            </a:r>
            <a:endParaRPr lang="en-US" altLang="zh-TW" dirty="0"/>
          </a:p>
          <a:p>
            <a:pPr lvl="1"/>
            <a:r>
              <a:rPr lang="en-US" altLang="zh-TW" dirty="0"/>
              <a:t>這些 features 可能與 median house value 有較強的相關，因此有助於模型表現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C8E257C-F9A0-880C-2EF1-89D98B816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F3A72F-EB1A-5784-18B4-B430E52F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35</a:t>
            </a:fld>
            <a:endParaRPr lang="en-US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A96FFF9A-AC0B-B36D-C1DC-BD4C573087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加入 cluster similarity features</a:t>
            </a:r>
          </a:p>
          <a:p>
            <a:pPr lvl="1"/>
            <a:r>
              <a:rPr lang="en-US" altLang="zh-TW" dirty="0"/>
              <a:t>對模型而言可能比原始的經緯度 (latitude/longitude) 更有用</a:t>
            </a:r>
          </a:p>
          <a:p>
            <a:r>
              <a:rPr lang="en-US" altLang="zh-TW" dirty="0"/>
              <a:t>長尾分布 (long-tail) features  取 log</a:t>
            </a:r>
          </a:p>
          <a:p>
            <a:pPr lvl="1"/>
            <a:r>
              <a:rPr lang="en-US" altLang="zh-TW" b="1" dirty="0"/>
              <a:t>大多數模型偏好接近 uniform 或 Gaussian distribution 的 features</a:t>
            </a:r>
          </a:p>
          <a:p>
            <a:r>
              <a:rPr lang="en-US" altLang="zh-TW" dirty="0"/>
              <a:t>所有 numerical features 會被標準化 (standardized)</a:t>
            </a:r>
          </a:p>
          <a:p>
            <a:pPr lvl="1"/>
            <a:r>
              <a:rPr lang="en-US" altLang="zh-TW" dirty="0"/>
              <a:t>大多數 ML 演算法偏好所有 features 處於相近的尺度 (scale)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58986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03A98F-0F0B-B42F-399A-C8444AE3B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建立 transformation pipeline 的實作方式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C8E257C-F9A0-880C-2EF1-89D98B816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F3A72F-EB1A-5784-18B4-B430E52F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36</a:t>
            </a:fld>
            <a:endParaRPr lang="en-US"/>
          </a:p>
        </p:txBody>
      </p:sp>
      <p:pic>
        <p:nvPicPr>
          <p:cNvPr id="9" name="內容版面配置區 9">
            <a:extLst>
              <a:ext uri="{FF2B5EF4-FFF2-40B4-BE49-F238E27FC236}">
                <a16:creationId xmlns:a16="http://schemas.microsoft.com/office/drawing/2014/main" id="{8DA77BFF-97AE-9239-52F9-F1288EFB3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7950" y="1595891"/>
            <a:ext cx="6046450" cy="4722555"/>
          </a:xfrm>
        </p:spPr>
      </p:pic>
    </p:spTree>
    <p:extLst>
      <p:ext uri="{BB962C8B-B14F-4D97-AF65-F5344CB8AC3E}">
        <p14:creationId xmlns:p14="http://schemas.microsoft.com/office/powerpoint/2010/main" val="17719887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6539F5E1-12D4-8477-834A-4A169BE9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機器學習專案檢核表 (ML Project Checklist)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B4A668FD-5916-CCF0-FF12-0F036A583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界定問題並從整體角度思考 (Frame the problem and look at the big picture)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取得資料 (Get the data)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探索資料以取得洞察 (Explore the data to gain insights)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準備資料，讓底層的資料樣態 (data patterns) 更容易被機器學習演算法擷取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嘗試多種模型 (models)，列出表現較佳的候選清單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微調 (fine-tune) 模型並組合 (ensemble) 成最終的解決方案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呈現你的解決方案 (Present your solution)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上線、監控與維護系統 (Launch, monitor, and maintain your system)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967616C3-0590-0FD3-4472-31D14479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524E61-8B45-42D7-2FAA-E1FA6EFD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681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B541A4-961F-7B5E-3708-F2ACC123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模型選擇 (Model Selection)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5B52F9-4B75-F355-560F-D2F0BB460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在 training set 上訓練並評估</a:t>
            </a:r>
          </a:p>
          <a:p>
            <a:pPr lvl="1"/>
            <a:r>
              <a:rPr lang="en-US" altLang="zh-TW" dirty="0"/>
              <a:t>先以預設超參數 (default hyperparameters) 嘗試多種模型</a:t>
            </a:r>
          </a:p>
          <a:p>
            <a:pPr lvl="1"/>
            <a:r>
              <a:rPr lang="en-US" altLang="zh-TW" dirty="0"/>
              <a:t>從中挑出表現較佳的候選模型</a:t>
            </a:r>
          </a:p>
          <a:p>
            <a:endParaRPr lang="en-US" altLang="zh-TW" dirty="0"/>
          </a:p>
          <a:p>
            <a:r>
              <a:rPr lang="en-US" altLang="zh-TW" dirty="0"/>
              <a:t>交叉驗證 (Cross-validation)</a:t>
            </a:r>
          </a:p>
          <a:p>
            <a:pPr lvl="1"/>
            <a:r>
              <a:rPr lang="en-US" altLang="zh-TW" dirty="0"/>
              <a:t>可獲得更穩定的模型效能評估</a:t>
            </a:r>
          </a:p>
          <a:p>
            <a:pPr lvl="2"/>
            <a:r>
              <a:rPr lang="en-US" altLang="zh-TW" dirty="0"/>
              <a:t>可同時報告平均 (mean) 與標準差 (std)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FBF5136-793F-4983-5B24-9B5D39C0C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F364E4-3CD1-C4BB-0723-87716D7E0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55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BDB50F33-ECC2-328A-064B-E99FACEC3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訓練一個模型 (Training a Model)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9E29022-884B-A39F-F386-7CC4D378E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F3990C5-8CF0-F84B-84BE-CADF81B3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39</a:t>
            </a:fld>
            <a:endParaRPr 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995D1C3-2696-ED0B-D017-83EF1E9F9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69" y="1908794"/>
            <a:ext cx="5683542" cy="88269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9D1AE9F-7171-AFC7-08AD-605A23A36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" y="3507683"/>
            <a:ext cx="7493385" cy="1117657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C580C09E-BF20-E186-06F8-17211BF12854}"/>
              </a:ext>
            </a:extLst>
          </p:cNvPr>
          <p:cNvSpPr txBox="1"/>
          <p:nvPr/>
        </p:nvSpPr>
        <p:spPr>
          <a:xfrm>
            <a:off x="574431" y="1429266"/>
            <a:ext cx="1052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訓練 (Training)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0F09255-7EF9-522F-FFE4-78F050560DBC}"/>
              </a:ext>
            </a:extLst>
          </p:cNvPr>
          <p:cNvSpPr txBox="1"/>
          <p:nvPr/>
        </p:nvSpPr>
        <p:spPr>
          <a:xfrm>
            <a:off x="574431" y="3061145"/>
            <a:ext cx="2300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對部分樣本進行預測 (Selective Prediction)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024570D-E212-F8C8-411B-1ADB748173CE}"/>
              </a:ext>
            </a:extLst>
          </p:cNvPr>
          <p:cNvSpPr txBox="1"/>
          <p:nvPr/>
        </p:nvSpPr>
        <p:spPr>
          <a:xfrm>
            <a:off x="574431" y="4918804"/>
            <a:ext cx="239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整體效能 (Overall Performance)</a:t>
            </a:r>
            <a:endParaRPr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09D34706-6C50-5BD4-B9BC-E70E452FB6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269" y="5356353"/>
            <a:ext cx="6858352" cy="132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920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E1C5E3-5BA3-3A23-3C93-81D6EA43F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另一個模型：決策樹 (Decision Tree)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1F2150B-C748-6587-EA46-0E5059A0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378616-BDBF-F397-3281-2C552F82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40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6091DA5-48E7-FF8C-E679-B0273AE9F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321" y="1821792"/>
            <a:ext cx="7747398" cy="88269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CCC2D91-EBDD-E152-E0A8-7CB60FA4C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321" y="3260691"/>
            <a:ext cx="6953607" cy="132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5624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18DB3A-A5D2-E5BD-87BC-62CC7EA6D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利用 cross-validation 進行更可靠的評估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7AB7368-C5DA-FD77-C7DF-2967CA72D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3D698D-FBF6-3ABE-69F1-8A47E696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41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7C335B1-EB7E-2244-5579-4EDAE453C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034" y="2027532"/>
            <a:ext cx="7353678" cy="88269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33E10A7-63A7-C480-8BEA-673FB33E3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442" y="3429000"/>
            <a:ext cx="3524431" cy="229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679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18DB3A-A5D2-E5BD-87BC-62CC7EA6D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對 Random Forest 進行 cross-validation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7AB7368-C5DA-FD77-C7DF-2967CA72D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3D698D-FBF6-3ABE-69F1-8A47E696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42</a:t>
            </a:fld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BEF9D37-245E-D898-C2D9-13064EFAC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924" y="1836841"/>
            <a:ext cx="7550538" cy="135897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996350A-4FEC-5C6E-6E09-D6F92FD1A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454" y="3662189"/>
            <a:ext cx="3721291" cy="229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9731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6539F5E1-12D4-8477-834A-4A169BE9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機器學習專案檢核表 (ML Project Checklist)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B4A668FD-5916-CCF0-FF12-0F036A583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界定問題並從整體角度思考 (Frame the problem and look at the big picture)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取得資料 (Get the data)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探索資料以取得洞察 (Explore the data to gain insights)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準備資料，讓底層的資料樣態 (data patterns) 更容易被機器學習演算法擷取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嘗試多種模型 (models)，列出表現較佳的候選清單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微調 (fine-tune) 模型並組合 (ensemble) 成最終的解決方案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呈現你的解決方案 (Present your solution)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上線、監控與維護系統 (Launch, monitor, and maintain your system)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967616C3-0590-0FD3-4472-31D14479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524E61-8B45-42D7-2FAA-E1FA6EFD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707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86CD97-0658-7F8A-BE5B-2CBF3C89A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微調模型 (Fine-tune the Model)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F8BB68-54CE-28DB-0305-F40B5A7EA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Grid search</a:t>
            </a:r>
          </a:p>
          <a:p>
            <a:pPr lvl="1"/>
            <a:r>
              <a:rPr lang="en-US" altLang="zh-TW" dirty="0"/>
              <a:t>適合 hyperparameter 搜尋空間較小的情境</a:t>
            </a:r>
          </a:p>
          <a:p>
            <a:r>
              <a:rPr lang="en-US" altLang="zh-TW" dirty="0"/>
              <a:t>Randomized search</a:t>
            </a:r>
          </a:p>
          <a:p>
            <a:pPr lvl="1"/>
            <a:r>
              <a:rPr lang="en-US" altLang="zh-TW" dirty="0"/>
              <a:t>適合 hyperparameter 搜尋空間較大的情境</a:t>
            </a:r>
          </a:p>
          <a:p>
            <a:r>
              <a:rPr lang="en-US" altLang="zh-TW" dirty="0"/>
              <a:t>集成方法 (Ensemble methods)</a:t>
            </a:r>
          </a:p>
          <a:p>
            <a:pPr lvl="1"/>
            <a:r>
              <a:rPr lang="en-US" altLang="zh-TW" dirty="0"/>
              <a:t>將多個模型疊加 (stacking) 以最佳化預測</a:t>
            </a:r>
          </a:p>
          <a:p>
            <a:r>
              <a:rPr lang="en-US" altLang="zh-TW" dirty="0"/>
              <a:t>分析最佳模型及其錯誤 (errors)</a:t>
            </a:r>
          </a:p>
          <a:p>
            <a:pPr lvl="1"/>
            <a:r>
              <a:rPr lang="en-US" altLang="zh-TW" dirty="0"/>
              <a:t>從 feature importance 與錯誤型態中取得洞察</a:t>
            </a:r>
          </a:p>
          <a:p>
            <a:r>
              <a:rPr lang="en-US" altLang="zh-TW" dirty="0"/>
              <a:t>在 test set 上評估整體系統</a:t>
            </a:r>
          </a:p>
          <a:p>
            <a:pPr lvl="1"/>
            <a:r>
              <a:rPr lang="en-US" altLang="zh-TW" dirty="0"/>
              <a:t>持續監控效能變化 (performance drift)</a:t>
            </a:r>
          </a:p>
          <a:p>
            <a:pPr lvl="1"/>
            <a:endParaRPr lang="en-US" altLang="zh-TW" b="1" dirty="0"/>
          </a:p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FE6BE0D-BD48-BE62-855D-7E312B096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ADCBE15-5BFA-296E-2BA9-3EE0848B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863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182C76-3BC2-08D0-6C9F-3B2F3033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Grid Search 與 Random Search 的比較</a:t>
            </a:r>
            <a:endParaRPr lang="zh-TW" altLang="en-US" dirty="0"/>
          </a:p>
        </p:txBody>
      </p:sp>
      <p:pic>
        <p:nvPicPr>
          <p:cNvPr id="7" name="內容版面配置區 6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3757196D-D240-4649-8830-5502BFB1B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489" y="1590675"/>
            <a:ext cx="8745822" cy="4433888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605A121-A72C-2F68-F83D-4A716D07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76D66A9-02BB-7B21-2C74-6BBA60B9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847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91B1F0-3904-CB5C-BA4B-F0A024832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Grid Search 範例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0AFBC540-568B-C172-08CF-EF6E76287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1256" y="1800929"/>
            <a:ext cx="6375728" cy="3479979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0560BFE-241A-9934-F5C6-6FD69DD68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960551-4FCB-0ECB-DD9C-5C989B60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277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A1673E-8973-4F8D-2F9D-855127D1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集成學習 (Ensemble Learning)</a:t>
            </a:r>
            <a:endParaRPr lang="zh-TW" altLang="en-US" dirty="0"/>
          </a:p>
        </p:txBody>
      </p:sp>
      <p:pic>
        <p:nvPicPr>
          <p:cNvPr id="7" name="內容版面配置區 6" descr="一張含有 文字, 圖表, 螢幕擷取畫面, 行 的圖片&#10;&#10;AI 產生的內容可能不正確。">
            <a:extLst>
              <a:ext uri="{FF2B5EF4-FFF2-40B4-BE49-F238E27FC236}">
                <a16:creationId xmlns:a16="http://schemas.microsoft.com/office/drawing/2014/main" id="{4298F59F-3C07-6D3F-D60E-55E3332A5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95" y="1300850"/>
            <a:ext cx="9362829" cy="5266592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A67412E-F326-B655-A5C8-D96C8B6E6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935A242-3844-8027-67D9-41957556E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924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B422BE-5CFA-5511-A0D9-74C271DDD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依照 feature importance 與錯誤分析來挑選與調整 features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E71A9F67-0BC7-0861-12C8-38AF8FA31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29365" y="2757128"/>
            <a:ext cx="4724435" cy="2105040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A236470-73E3-18A2-32D1-3BDA56DED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0FAFFFA-002D-E03D-4BBC-E0EA2D1A1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48</a:t>
            </a:fld>
            <a:endParaRPr 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8901CCE-F620-3358-3527-4126BB866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" y="3121816"/>
            <a:ext cx="5157825" cy="61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713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A11D13-C620-B6BE-1084-C964DEC3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在 test set 上評估效能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C7B87CB-4FD3-F5B6-393C-44DA2DBA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CFE083C-680A-A70F-5668-C734D386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49</a:t>
            </a:fld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1FE326B-A65C-5DA7-E1A3-D91F0B6A0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331" y="1835068"/>
            <a:ext cx="7156818" cy="159393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80C6D5D-EA05-C348-71C0-2A729D3CC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771" y="3959276"/>
            <a:ext cx="6369377" cy="182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559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DDFA4C-15A9-A8EC-8912-7FB92FBAD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訓練與測試的整體流程 (Flow of Training and Testing)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21547C0-45E1-207C-ACC1-225F02B01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E4459EE-C354-91D1-BA59-8AAA887B7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50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2E6B40F-E116-CDE5-6B5B-5AE78C41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517" y="1802029"/>
            <a:ext cx="7899806" cy="392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420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6539F5E1-12D4-8477-834A-4A169BE9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機器學習專案檢核表 (ML Project Checklist)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B4A668FD-5916-CCF0-FF12-0F036A583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界定問題並從整體角度思考 (Frame the problem and look at the big picture)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取得資料 (Get the data)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探索資料以取得洞察 (Explore the data to gain insights)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準備資料，讓底層的資料樣態 (data patterns) 更容易被機器學習演算法擷取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嘗試多種模型 (models)，列出表現較佳的候選清單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微調 (fine-tune) 模型並組合 (ensemble) 成最終的解決方案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呈現你的解決方案 (Present your solution)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上線、監控與維護系統 (Launch, monitor, and maintain your system)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967616C3-0590-0FD3-4472-31D14479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524E61-8B45-42D7-2FAA-E1FA6EFD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10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E1A5E41F-C53B-BD15-2F62-12DB4FAE3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上線、監控、維護 (Launch, Monitor, Maintain)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331AF127-9B46-5876-99D3-B5FA6EB1A8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部署 (Deployment)</a:t>
            </a:r>
          </a:p>
          <a:p>
            <a:pPr lvl="1"/>
            <a:r>
              <a:rPr lang="en-US" altLang="zh-TW" dirty="0"/>
              <a:t>將訓練完成的模型部署到 production 環境，通常以 web service 或 batch process 形式，讓它能對實際資料 (live data) 進行預測</a:t>
            </a:r>
          </a:p>
          <a:p>
            <a:r>
              <a:rPr lang="en-US" altLang="zh-TW" dirty="0"/>
              <a:t>版本控管 (Versioning)</a:t>
            </a:r>
          </a:p>
          <a:p>
            <a:pPr lvl="1"/>
            <a:r>
              <a:rPr lang="en-US" altLang="zh-TW" dirty="0"/>
              <a:t>管理不同模型版本，方便平滑切換、回退 (rollback) 與 A/B 測試</a:t>
            </a:r>
          </a:p>
          <a:p>
            <a:r>
              <a:rPr lang="en-US" altLang="zh-TW" dirty="0"/>
              <a:t>擴充 (Scaling)</a:t>
            </a:r>
          </a:p>
          <a:p>
            <a:pPr lvl="1"/>
            <a:r>
              <a:rPr lang="en-US" altLang="zh-TW" dirty="0"/>
              <a:t>依負載需要擴充硬體 (on-premises 或 cloud)，確保系統能處理流量增加</a:t>
            </a:r>
          </a:p>
          <a:p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509228DE-CC71-E26E-ABDB-6B510647E8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監控 (Monitoring)</a:t>
            </a:r>
          </a:p>
          <a:p>
            <a:pPr lvl="1"/>
            <a:r>
              <a:rPr lang="en-US" altLang="zh-TW" dirty="0"/>
              <a:t>持續監控模型效能與系統狀態，及早偵測 data drift 或 accuracy 衰退</a:t>
            </a:r>
          </a:p>
          <a:p>
            <a:r>
              <a:rPr lang="en-US" altLang="zh-TW" dirty="0"/>
              <a:t>維護 (Maintenance)</a:t>
            </a:r>
          </a:p>
          <a:p>
            <a:pPr lvl="1"/>
            <a:r>
              <a:rPr lang="en-US" altLang="zh-TW" dirty="0"/>
              <a:t>定期以新資料重新訓練 (retrain) 模型、更新版本，並維護周邊基礎設施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2C69238-6A3B-7A10-77AB-83712A394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4611D7C-EBAA-2F30-7CE4-A11F87081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73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FD206B-18D4-D3D9-97C2-7E9F377F7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A/B 測試 (A/B Testing)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5A12A7-6FA5-CAAF-1F66-6E9EDBD9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C165AD-D888-12CC-E3F1-9B42E2E2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53</a:t>
            </a:fld>
            <a:endParaRPr lang="en-US"/>
          </a:p>
        </p:txBody>
      </p:sp>
      <p:pic>
        <p:nvPicPr>
          <p:cNvPr id="13" name="內容版面配置區 12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5FB69B3C-6EF9-AA75-FF32-51C5C676B2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13" y="2277480"/>
            <a:ext cx="5178425" cy="3068216"/>
          </a:xfrm>
        </p:spPr>
      </p:pic>
      <p:pic>
        <p:nvPicPr>
          <p:cNvPr id="11" name="內容版面配置區 7" descr="一張含有 圖表, 螢幕擷取畫面, 行, 文字 的圖片&#10;&#10;AI 產生的內容可能不正確。">
            <a:extLst>
              <a:ext uri="{FF2B5EF4-FFF2-40B4-BE49-F238E27FC236}">
                <a16:creationId xmlns:a16="http://schemas.microsoft.com/office/drawing/2014/main" id="{94A9C095-00E3-6E35-3DF4-5B7691551F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388" y="2546033"/>
            <a:ext cx="5178425" cy="2515234"/>
          </a:xfrm>
        </p:spPr>
      </p:pic>
    </p:spTree>
    <p:extLst>
      <p:ext uri="{BB962C8B-B14F-4D97-AF65-F5344CB8AC3E}">
        <p14:creationId xmlns:p14="http://schemas.microsoft.com/office/powerpoint/2010/main" val="20317337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46B10E-5D27-F172-54F2-7EBB0BA5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部署 ML 模型的不同方式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A4A07DD-1374-A9F4-CC3F-32439509B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0312" y="4526515"/>
            <a:ext cx="10671266" cy="1429845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684A736-0FD4-D098-A2FE-FBE864D5E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81C7F8-9173-CC8C-A65D-2CF6078C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54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9706C95-FF3F-6E09-CB00-99E5A02D4C4A}"/>
              </a:ext>
            </a:extLst>
          </p:cNvPr>
          <p:cNvSpPr txBox="1"/>
          <p:nvPr/>
        </p:nvSpPr>
        <p:spPr>
          <a:xfrm>
            <a:off x="500312" y="3979763"/>
            <a:ext cx="4601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作為 web service 讓 web app 呼叫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A7AD3A8-3E24-D109-892E-6A238363F173}"/>
              </a:ext>
            </a:extLst>
          </p:cNvPr>
          <p:cNvSpPr txBox="1"/>
          <p:nvPr/>
        </p:nvSpPr>
        <p:spPr>
          <a:xfrm>
            <a:off x="399569" y="1616562"/>
            <a:ext cx="3171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直接以網頁 (webpage) 的形式提供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F41D675-8117-15F3-58FC-A4873BF49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1198" y="2140822"/>
            <a:ext cx="5410279" cy="1337175"/>
          </a:xfrm>
          <a:prstGeom prst="rect">
            <a:avLst/>
          </a:prstGeom>
        </p:spPr>
      </p:pic>
      <p:sp>
        <p:nvSpPr>
          <p:cNvPr id="12" name="雲朵形 11">
            <a:extLst>
              <a:ext uri="{FF2B5EF4-FFF2-40B4-BE49-F238E27FC236}">
                <a16:creationId xmlns:a16="http://schemas.microsoft.com/office/drawing/2014/main" id="{AA2A9D4A-1599-F825-D7AA-9A459E06E02D}"/>
              </a:ext>
            </a:extLst>
          </p:cNvPr>
          <p:cNvSpPr/>
          <p:nvPr/>
        </p:nvSpPr>
        <p:spPr>
          <a:xfrm>
            <a:off x="4676693" y="2269593"/>
            <a:ext cx="1659288" cy="1079632"/>
          </a:xfrm>
          <a:prstGeom prst="cloud">
            <a:avLst/>
          </a:prstGeom>
          <a:solidFill>
            <a:srgbClr val="B2D4EA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42102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0FDFB8-18A6-9B2B-4843-1234C251B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經驗法則與建議 (Guidelines and Advice)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D21407-11D6-36A9-C4F4-3BDFB81DA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一個 ML 專案的多數工作集中在 data preparation</a:t>
            </a:r>
          </a:p>
          <a:p>
            <a:pPr lvl="1"/>
            <a:r>
              <a:rPr lang="en-US" altLang="zh-TW" dirty="0"/>
              <a:t>建立監控工具</a:t>
            </a:r>
          </a:p>
          <a:p>
            <a:pPr lvl="1"/>
            <a:r>
              <a:rPr lang="en-US" altLang="zh-TW" dirty="0"/>
              <a:t>建立人工評估流程 (human evaluation pipeline)</a:t>
            </a:r>
          </a:p>
          <a:p>
            <a:pPr lvl="1"/>
            <a:r>
              <a:rPr lang="en-US" altLang="zh-TW" dirty="0"/>
              <a:t>讓模型訓練 (training) 自動化、定期執行</a:t>
            </a:r>
          </a:p>
          <a:p>
            <a:r>
              <a:rPr lang="en-US" altLang="zh-TW" dirty="0"/>
              <a:t>學習 ML 的建議：</a:t>
            </a:r>
          </a:p>
          <a:p>
            <a:pPr lvl="1"/>
            <a:r>
              <a:rPr lang="en-US" altLang="zh-TW" dirty="0"/>
              <a:t>先了解整體工作流程，並把少數幾種演算法用熟</a:t>
            </a:r>
          </a:p>
          <a:p>
            <a:pPr lvl="1"/>
            <a:r>
              <a:rPr lang="en-US" altLang="zh-TW" dirty="0"/>
              <a:t>不要一開始就只追求進階技術 (如 CNNs)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663C832-9D91-5334-1EAA-3149BBDCA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F8DE803-C421-9E62-6885-1D416CBA9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676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E2A05-FD04-22C8-FAD4-320175D21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經驗法則與建議 (Guidelines and Advice)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E2F106-53FD-D94A-30C9-7C70A90D6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典型工作流程 (typical workflow)：</a:t>
            </a:r>
          </a:p>
          <a:p>
            <a:pPr lvl="1"/>
            <a:r>
              <a:rPr lang="en-US" altLang="zh-TW" dirty="0"/>
              <a:t>定義問題</a:t>
            </a:r>
          </a:p>
          <a:p>
            <a:pPr lvl="1"/>
            <a:r>
              <a:rPr lang="en-US" altLang="zh-TW" dirty="0"/>
              <a:t>收集與準備資料</a:t>
            </a:r>
          </a:p>
          <a:p>
            <a:pPr lvl="1"/>
            <a:r>
              <a:rPr lang="en-US" altLang="zh-TW" dirty="0"/>
              <a:t>訓練與評估模型</a:t>
            </a:r>
          </a:p>
          <a:p>
            <a:pPr lvl="1"/>
            <a:r>
              <a:rPr lang="en-US" altLang="zh-TW" dirty="0"/>
              <a:t>設定監控與 retraining 流程</a:t>
            </a:r>
          </a:p>
          <a:p>
            <a:r>
              <a:rPr lang="en-US" altLang="zh-TW" dirty="0"/>
              <a:t>動手做：</a:t>
            </a:r>
          </a:p>
          <a:p>
            <a:pPr lvl="1"/>
            <a:r>
              <a:rPr lang="en-US" altLang="zh-TW" dirty="0"/>
              <a:t>找一份感興趣的資料集，把整個流程從頭到尾跑一遍</a:t>
            </a:r>
          </a:p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A2CA3DF-6F5A-E89A-9A35-71C44D39C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81F5C76-7CA9-EBA9-76D9-BD7A87513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949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3.0.5724"/>
  <p:tag name="SLIDO_PRESENTATION_ID" val="3503345f-5125-4760-823f-2e8e2a60e9a1"/>
  <p:tag name="SLIDO_EVENT_UUID" val="9f01878d-775c-475b-a82f-25ec57480eb1"/>
  <p:tag name="SLIDO_EVENT_SECTION_UUID" val="fc18856c-4aaa-4964-b06c-794514368f9e"/>
</p:tagLst>
</file>

<file path=ppt/theme/theme1.xml><?xml version="1.0" encoding="utf-8"?>
<a:theme xmlns:a="http://schemas.openxmlformats.org/drawingml/2006/main" name="SwellVTI">
  <a:themeElements>
    <a:clrScheme name="AnalogousFromLightSeedRightStep">
      <a:dk1>
        <a:srgbClr val="000000"/>
      </a:dk1>
      <a:lt1>
        <a:srgbClr val="FFFFFF"/>
      </a:lt1>
      <a:dk2>
        <a:srgbClr val="243341"/>
      </a:dk2>
      <a:lt2>
        <a:srgbClr val="E8E2E7"/>
      </a:lt2>
      <a:accent1>
        <a:srgbClr val="7DAD88"/>
      </a:accent1>
      <a:accent2>
        <a:srgbClr val="6FAC96"/>
      </a:accent2>
      <a:accent3>
        <a:srgbClr val="7DA9AC"/>
      </a:accent3>
      <a:accent4>
        <a:srgbClr val="7B9EBE"/>
      </a:accent4>
      <a:accent5>
        <a:srgbClr val="9399CA"/>
      </a:accent5>
      <a:accent6>
        <a:srgbClr val="8F7BBE"/>
      </a:accent6>
      <a:hlink>
        <a:srgbClr val="AE699F"/>
      </a:hlink>
      <a:folHlink>
        <a:srgbClr val="7F7F7F"/>
      </a:folHlink>
    </a:clrScheme>
    <a:fontScheme name="自訂 6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1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B60585-45DD-4756-8BFA-050389CF340D}">
  <we:reference id="wa200004052" version="1.0.0.2" store="zh-TW" storeType="OMEX"/>
  <we:alternateReferences>
    <we:reference id="WA200004052" version="1.0.0.2" store="WA200004052" storeType="OMEX"/>
  </we:alternateReferences>
  <we:properties>
    <we:property name="holatex.main" value="{&quot;pictures&quot;:[{&quot;name&quot;:&quot;LaTex&quot;,&quot;code&quot;:&quot;\\documentclass{article}\n\\usepackage{amsmath}\n\\begin{document}\n\n\n\\begin{aligned}\n&amp; \\mathrm{H}_0: \\mu = 30 \\\\\n&amp; \\mathrm{H}_1: \\mu \\neq 30\n\\end{aligned}\n\n\n\\end{document}\n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10857</TotalTime>
  <Words>2357</Words>
  <Application>Microsoft Office PowerPoint</Application>
  <PresentationFormat>寬螢幕</PresentationFormat>
  <Paragraphs>451</Paragraphs>
  <Slides>56</Slides>
  <Notes>56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56</vt:i4>
      </vt:variant>
    </vt:vector>
  </HeadingPairs>
  <TitlesOfParts>
    <vt:vector size="61" baseType="lpstr">
      <vt:lpstr>微軟正黑體</vt:lpstr>
      <vt:lpstr>Aptos</vt:lpstr>
      <vt:lpstr>Arial</vt:lpstr>
      <vt:lpstr>Neue Haas Grotesk Text Pro</vt:lpstr>
      <vt:lpstr>SwellVTI</vt:lpstr>
      <vt:lpstr>機器學習專案完整體驗  ML Project End-to-End </vt:lpstr>
      <vt:lpstr>端到端機器學習 (End-to-End Machine Learning)</vt:lpstr>
      <vt:lpstr>機器學習專案檢核表 (ML Project Checklist)</vt:lpstr>
      <vt:lpstr>機器學習專案檢核表 (ML Project Checklist)</vt:lpstr>
      <vt:lpstr>從整體角度思考 (Looking at the Big Picture)</vt:lpstr>
      <vt:lpstr>界定問題 (Frame the Problem)</vt:lpstr>
      <vt:lpstr>需要做的決策 (Decisions to Make)</vt:lpstr>
      <vt:lpstr>本範例的決策結果 (Answers to the Decisions)</vt:lpstr>
      <vt:lpstr>選擇效能指標 (Select a Performance Measure)</vt:lpstr>
      <vt:lpstr>L1 與 L2 norm 的比較 (L1 vs. L2 Norm)</vt:lpstr>
      <vt:lpstr>機器學習專案檢核表 (ML Project Checklist)</vt:lpstr>
      <vt:lpstr>取得資料並先把玩一下 (Get the Data and Play with It)</vt:lpstr>
      <vt:lpstr>PowerPoint 簡報</vt:lpstr>
      <vt:lpstr>視覺化資料分布 (Visualize Distributions)</vt:lpstr>
      <vt:lpstr>建立 test set</vt:lpstr>
      <vt:lpstr>分層抽樣 (Stratified Sampling)</vt:lpstr>
      <vt:lpstr>機器學習專案檢核表 (ML Project Checklist)</vt:lpstr>
      <vt:lpstr>探索資料以取得洞察 (Explore the Data to Gain Insights)</vt:lpstr>
      <vt:lpstr>PowerPoint 簡報</vt:lpstr>
      <vt:lpstr>尋找 features 之間的關係 (Look for Relationships)</vt:lpstr>
      <vt:lpstr>Median income 與 median house value 的關係</vt:lpstr>
      <vt:lpstr>不同相關程度下的散布圖 (Scatterplots for Various Correlations)</vt:lpstr>
      <vt:lpstr>嘗試屬性組合 (Experiment with Attribute Combinations)</vt:lpstr>
      <vt:lpstr>建立有資訊量的 features (Create Informative Features)</vt:lpstr>
      <vt:lpstr>機器學習專案檢核表 (ML Project Checklist)</vt:lpstr>
      <vt:lpstr>資料前處理與特徵工程 (Preprocessing / Feature Engineering)</vt:lpstr>
      <vt:lpstr>清理資料 (Clean the Data)</vt:lpstr>
      <vt:lpstr>處理文字與類別屬性 (Handling Text and Categorical Attributes)</vt:lpstr>
      <vt:lpstr>獨熱編碼 (One-hot Encoding)</vt:lpstr>
      <vt:lpstr>縮放與分布轉換 (Scaling &amp; Distribution Transformation)</vt:lpstr>
      <vt:lpstr>分箱 (Bucketizing / Binning)</vt:lpstr>
      <vt:lpstr>等距 (equal range) 與分位 (quantile) 分箱的比較</vt:lpstr>
      <vt:lpstr>處理多峰分布 (multimodal distribution)：使用 Radial Basis Function (RBF) </vt:lpstr>
      <vt:lpstr>自訂轉換器 (Custom Transformers)</vt:lpstr>
      <vt:lpstr>為什麼需要這些轉換？(Rationales for Transformation)</vt:lpstr>
      <vt:lpstr>建立 transformation pipeline 的實作方式</vt:lpstr>
      <vt:lpstr>機器學習專案檢核表 (ML Project Checklist)</vt:lpstr>
      <vt:lpstr>模型選擇 (Model Selection)</vt:lpstr>
      <vt:lpstr>訓練一個模型 (Training a Model)</vt:lpstr>
      <vt:lpstr>另一個模型：決策樹 (Decision Tree)</vt:lpstr>
      <vt:lpstr>利用 cross-validation 進行更可靠的評估</vt:lpstr>
      <vt:lpstr>對 Random Forest 進行 cross-validation</vt:lpstr>
      <vt:lpstr>機器學習專案檢核表 (ML Project Checklist)</vt:lpstr>
      <vt:lpstr>微調模型 (Fine-tune the Model)</vt:lpstr>
      <vt:lpstr>Grid Search 與 Random Search 的比較</vt:lpstr>
      <vt:lpstr>Grid Search 範例</vt:lpstr>
      <vt:lpstr>集成學習 (Ensemble Learning)</vt:lpstr>
      <vt:lpstr>依照 feature importance 與錯誤分析來挑選與調整 features</vt:lpstr>
      <vt:lpstr>在 test set 上評估效能</vt:lpstr>
      <vt:lpstr>訓練與測試的整體流程 (Flow of Training and Testing)</vt:lpstr>
      <vt:lpstr>機器學習專案檢核表 (ML Project Checklist)</vt:lpstr>
      <vt:lpstr>上線、監控、維護 (Launch, Monitor, Maintain)</vt:lpstr>
      <vt:lpstr>A/B 測試 (A/B Testing)</vt:lpstr>
      <vt:lpstr>部署 ML 模型的不同方式</vt:lpstr>
      <vt:lpstr>經驗法則與建議 (Guidelines and Advice)</vt:lpstr>
      <vt:lpstr>經驗法則與建議 (Guidelines and Advice)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張智宏  (audachang)</dc:creator>
  <cp:lastModifiedBy>Erik Chang</cp:lastModifiedBy>
  <cp:revision>302</cp:revision>
  <cp:lastPrinted>2025-05-15T00:55:31Z</cp:lastPrinted>
  <dcterms:created xsi:type="dcterms:W3CDTF">2024-10-23T10:48:05Z</dcterms:created>
  <dcterms:modified xsi:type="dcterms:W3CDTF">2026-05-26T00:15:40Z</dcterms:modified>
</cp:coreProperties>
</file>