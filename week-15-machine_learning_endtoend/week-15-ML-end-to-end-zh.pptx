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88"/>
  </p:notesMasterIdLst>
  <p:sldIdLst>
    <p:sldId id="356" r:id="rId2"/>
    <p:sldId id="404" r:id="rId3"/>
    <p:sldId id="431" r:id="rId4"/>
    <p:sldId id="432" r:id="rId5"/>
    <p:sldId id="408" r:id="rId6"/>
    <p:sldId id="409" r:id="rId7"/>
    <p:sldId id="413" r:id="rId8"/>
    <p:sldId id="415" r:id="rId9"/>
    <p:sldId id="416" r:id="rId10"/>
    <p:sldId id="501" r:id="rId11"/>
    <p:sldId id="433" r:id="rId12"/>
    <p:sldId id="441" r:id="rId13"/>
    <p:sldId id="442" r:id="rId14"/>
    <p:sldId id="443" r:id="rId15"/>
    <p:sldId id="444" r:id="rId16"/>
    <p:sldId id="445" r:id="rId17"/>
    <p:sldId id="434" r:id="rId18"/>
    <p:sldId id="470" r:id="rId19"/>
    <p:sldId id="453" r:id="rId20"/>
    <p:sldId id="414" r:id="rId21"/>
    <p:sldId id="422" r:id="rId22"/>
    <p:sldId id="423" r:id="rId23"/>
    <p:sldId id="450" r:id="rId24"/>
    <p:sldId id="451" r:id="rId25"/>
    <p:sldId id="435" r:id="rId26"/>
    <p:sldId id="461" r:id="rId27"/>
    <p:sldId id="449" r:id="rId28"/>
    <p:sldId id="454" r:id="rId29"/>
    <p:sldId id="455" r:id="rId30"/>
    <p:sldId id="469" r:id="rId31"/>
    <p:sldId id="547" r:id="rId32"/>
    <p:sldId id="548" r:id="rId33"/>
    <p:sldId id="545" r:id="rId34"/>
    <p:sldId id="549" r:id="rId35"/>
    <p:sldId id="550" r:id="rId36"/>
    <p:sldId id="551" r:id="rId37"/>
    <p:sldId id="436" r:id="rId38"/>
    <p:sldId id="462" r:id="rId39"/>
    <p:sldId id="552" r:id="rId40"/>
    <p:sldId id="553" r:id="rId41"/>
    <p:sldId id="554" r:id="rId42"/>
    <p:sldId id="555" r:id="rId43"/>
    <p:sldId id="437" r:id="rId44"/>
    <p:sldId id="463" r:id="rId45"/>
    <p:sldId id="466" r:id="rId46"/>
    <p:sldId id="556" r:id="rId47"/>
    <p:sldId id="468" r:id="rId48"/>
    <p:sldId id="467" r:id="rId49"/>
    <p:sldId id="557" r:id="rId50"/>
    <p:sldId id="558" r:id="rId51"/>
    <p:sldId id="439" r:id="rId52"/>
    <p:sldId id="464" r:id="rId53"/>
    <p:sldId id="502" r:id="rId54"/>
    <p:sldId id="427" r:id="rId55"/>
    <p:sldId id="428" r:id="rId56"/>
    <p:sldId id="429" r:id="rId57"/>
    <p:sldId id="471" r:id="rId58"/>
    <p:sldId id="472" r:id="rId59"/>
    <p:sldId id="473" r:id="rId60"/>
    <p:sldId id="474" r:id="rId61"/>
    <p:sldId id="475" r:id="rId62"/>
    <p:sldId id="481" r:id="rId63"/>
    <p:sldId id="476" r:id="rId64"/>
    <p:sldId id="482" r:id="rId65"/>
    <p:sldId id="483" r:id="rId66"/>
    <p:sldId id="484" r:id="rId67"/>
    <p:sldId id="485" r:id="rId68"/>
    <p:sldId id="486" r:id="rId69"/>
    <p:sldId id="487" r:id="rId70"/>
    <p:sldId id="488" r:id="rId71"/>
    <p:sldId id="489" r:id="rId72"/>
    <p:sldId id="490" r:id="rId73"/>
    <p:sldId id="477" r:id="rId74"/>
    <p:sldId id="561" r:id="rId75"/>
    <p:sldId id="559" r:id="rId76"/>
    <p:sldId id="491" r:id="rId77"/>
    <p:sldId id="492" r:id="rId78"/>
    <p:sldId id="493" r:id="rId79"/>
    <p:sldId id="499" r:id="rId80"/>
    <p:sldId id="503" r:id="rId81"/>
    <p:sldId id="478" r:id="rId82"/>
    <p:sldId id="494" r:id="rId83"/>
    <p:sldId id="495" r:id="rId84"/>
    <p:sldId id="496" r:id="rId85"/>
    <p:sldId id="497" r:id="rId86"/>
    <p:sldId id="498" r:id="rId87"/>
  </p:sldIdLst>
  <p:sldSz cx="12192000" cy="6858000"/>
  <p:notesSz cx="7102475" cy="10233025"/>
  <p:custDataLst>
    <p:tags r:id="rId89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63C30A8B-A62F-41C6-BB31-7DE3FEAC4060}">
          <p14:sldIdLst>
            <p14:sldId id="356"/>
            <p14:sldId id="404"/>
            <p14:sldId id="431"/>
            <p14:sldId id="432"/>
            <p14:sldId id="408"/>
            <p14:sldId id="409"/>
            <p14:sldId id="413"/>
            <p14:sldId id="415"/>
            <p14:sldId id="416"/>
            <p14:sldId id="501"/>
            <p14:sldId id="433"/>
            <p14:sldId id="441"/>
            <p14:sldId id="442"/>
            <p14:sldId id="443"/>
            <p14:sldId id="444"/>
            <p14:sldId id="445"/>
            <p14:sldId id="434"/>
            <p14:sldId id="470"/>
            <p14:sldId id="453"/>
            <p14:sldId id="414"/>
            <p14:sldId id="422"/>
            <p14:sldId id="423"/>
            <p14:sldId id="450"/>
            <p14:sldId id="451"/>
            <p14:sldId id="435"/>
            <p14:sldId id="461"/>
            <p14:sldId id="449"/>
            <p14:sldId id="454"/>
            <p14:sldId id="455"/>
            <p14:sldId id="469"/>
            <p14:sldId id="547"/>
            <p14:sldId id="548"/>
            <p14:sldId id="545"/>
            <p14:sldId id="549"/>
            <p14:sldId id="550"/>
            <p14:sldId id="551"/>
            <p14:sldId id="436"/>
            <p14:sldId id="462"/>
            <p14:sldId id="552"/>
            <p14:sldId id="553"/>
            <p14:sldId id="554"/>
            <p14:sldId id="555"/>
            <p14:sldId id="437"/>
            <p14:sldId id="463"/>
            <p14:sldId id="466"/>
            <p14:sldId id="556"/>
            <p14:sldId id="468"/>
            <p14:sldId id="467"/>
            <p14:sldId id="557"/>
            <p14:sldId id="558"/>
            <p14:sldId id="439"/>
            <p14:sldId id="464"/>
            <p14:sldId id="502"/>
            <p14:sldId id="427"/>
            <p14:sldId id="428"/>
            <p14:sldId id="429"/>
            <p14:sldId id="471"/>
            <p14:sldId id="472"/>
            <p14:sldId id="473"/>
            <p14:sldId id="474"/>
            <p14:sldId id="475"/>
            <p14:sldId id="481"/>
            <p14:sldId id="476"/>
            <p14:sldId id="482"/>
            <p14:sldId id="483"/>
            <p14:sldId id="484"/>
            <p14:sldId id="485"/>
            <p14:sldId id="486"/>
            <p14:sldId id="487"/>
            <p14:sldId id="488"/>
            <p14:sldId id="489"/>
            <p14:sldId id="490"/>
            <p14:sldId id="477"/>
            <p14:sldId id="561"/>
            <p14:sldId id="559"/>
            <p14:sldId id="491"/>
            <p14:sldId id="492"/>
            <p14:sldId id="493"/>
            <p14:sldId id="499"/>
            <p14:sldId id="503"/>
            <p14:sldId id="478"/>
            <p14:sldId id="494"/>
            <p14:sldId id="495"/>
            <p14:sldId id="496"/>
            <p14:sldId id="497"/>
            <p14:sldId id="498"/>
          </p14:sldIdLst>
        </p14:section>
        <p14:section name="未命名的章節" id="{9D45B4FC-8F82-43CD-9034-F257885FAAE3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D4EA"/>
    <a:srgbClr val="6FAC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淺色樣式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87567" autoAdjust="0"/>
  </p:normalViewPr>
  <p:slideViewPr>
    <p:cSldViewPr snapToGrid="0">
      <p:cViewPr varScale="1">
        <p:scale>
          <a:sx n="84" d="100"/>
          <a:sy n="84" d="100"/>
        </p:scale>
        <p:origin x="544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18976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notesMaster" Target="notesMasters/notesMaster1.xml"/><Relationship Id="rId89" Type="http://schemas.openxmlformats.org/officeDocument/2006/relationships/tags" Target="tags/tag1.xml"/><Relationship Id="rId90" Type="http://schemas.openxmlformats.org/officeDocument/2006/relationships/presProps" Target="presProps.xml"/><Relationship Id="rId91" Type="http://schemas.openxmlformats.org/officeDocument/2006/relationships/viewProps" Target="viewProps.xml"/><Relationship Id="rId92" Type="http://schemas.openxmlformats.org/officeDocument/2006/relationships/theme" Target="theme/theme1.xml"/><Relationship Id="rId9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428"/>
          </a:xfrm>
          <a:prstGeom prst="rect">
            <a:avLst/>
          </a:prstGeom>
        </p:spPr>
        <p:txBody>
          <a:bodyPr vert="horz" lIns="99057" tIns="49528" rIns="99057" bIns="49528" rtlCol="0"/>
          <a:lstStyle>
            <a:lvl1pPr algn="l">
              <a:defRPr sz="13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428"/>
          </a:xfrm>
          <a:prstGeom prst="rect">
            <a:avLst/>
          </a:prstGeom>
        </p:spPr>
        <p:txBody>
          <a:bodyPr vert="horz" lIns="99057" tIns="49528" rIns="99057" bIns="49528" rtlCol="0"/>
          <a:lstStyle>
            <a:lvl1pPr algn="r">
              <a:defRPr sz="1300"/>
            </a:lvl1pPr>
          </a:lstStyle>
          <a:p>
            <a:fld id="{DEF197A6-BE36-4D6D-BBE6-9633BE34F474}" type="datetimeFigureOut">
              <a:rPr lang="zh-TW" altLang="en-US" smtClean="0"/>
              <a:t>2025/5/15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37275" cy="34528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57" tIns="49528" rIns="99057" bIns="49528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710248" y="4924643"/>
            <a:ext cx="5681980" cy="4029254"/>
          </a:xfrm>
          <a:prstGeom prst="rect">
            <a:avLst/>
          </a:prstGeom>
        </p:spPr>
        <p:txBody>
          <a:bodyPr vert="horz" lIns="99057" tIns="49528" rIns="99057" bIns="49528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9719598"/>
            <a:ext cx="3077739" cy="513427"/>
          </a:xfrm>
          <a:prstGeom prst="rect">
            <a:avLst/>
          </a:prstGeom>
        </p:spPr>
        <p:txBody>
          <a:bodyPr vert="horz" lIns="99057" tIns="49528" rIns="99057" bIns="49528" rtlCol="0" anchor="b"/>
          <a:lstStyle>
            <a:lvl1pPr algn="l">
              <a:defRPr sz="13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4023092" y="9719598"/>
            <a:ext cx="3077739" cy="513427"/>
          </a:xfrm>
          <a:prstGeom prst="rect">
            <a:avLst/>
          </a:prstGeom>
        </p:spPr>
        <p:txBody>
          <a:bodyPr vert="horz" lIns="99057" tIns="49528" rIns="99057" bIns="49528" rtlCol="0" anchor="b"/>
          <a:lstStyle>
            <a:lvl1pPr algn="r">
              <a:defRPr sz="1300"/>
            </a:lvl1pPr>
          </a:lstStyle>
          <a:p>
            <a:fld id="{E9C74F81-CD54-4030-AC9C-0ED56CF0AA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187886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本週主題：完整走過一個 ML 專案的端到端流程，並進入 classification 章節。</a:t>
            </a:r>
          </a:p>
          <a:p>
            <a:r>
              <a:t>課堂搭配 notebook：02_end_to_end_machine_learning_project.ipynb</a:t>
            </a:r>
          </a:p>
          <a:p>
            <a:r>
              <a:t>建議學生上課前先把 notebook clone 下來，並確認 scikit-learn、pandas、matplotlib 可正常 import。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133824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本段為章節分界：上半段示範 regression 流程 (California Housing)，下半段切換到 classification (MNIST)。</a:t>
            </a:r>
          </a:p>
          <a:p>
            <a:r>
              <a:t>Notebook 對應：開頭至「Fine-Tune Your Model」屬於 regression，後續 Exercise solutions 涵蓋更多 classification 範例。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070720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ML Project Checklist 來自 Hands-On ML 3rd ed. Appendix A，這是貫穿本週的骨架。</a:t>
            </a:r>
          </a:p>
          <a:p>
            <a:r>
              <a:t>提醒同學：實務上 80% 的時間花在 1–4 (problem framing、data、EDA、preprocessing)，不是在 5 (modeling)。</a:t>
            </a:r>
          </a:p>
          <a:p>
            <a:r>
              <a:t>Notebook 結構就是依照此 checklist 排列，請學生對照閱讀。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001808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再次強調 checklist。請學生記住：每進入一個新階段前，要回頭檢查上一個階段是否完整。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913166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Looking at the Big Picture 對應 notebook 第 9–10 cells (「Get the Data」前的 framing 說明)。</a:t>
            </a:r>
          </a:p>
          <a:p>
            <a:r>
              <a:t>核心問題：模型輸出會被誰使用？下游決策是什麼？這會決定 performance measure。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379563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舉例：若已有 manual rule-based estimation，這就是 baseline，新模型至少要打贏這個 baseline 才算有貢獻。</a:t>
            </a:r>
          </a:p>
          <a:p>
            <a:r>
              <a:t>請學生思考自己的研究中是否有類似的 baseline (例如線性迴歸、平均值預測)。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0028924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決策樹：先確定是 supervised/unsupervised，再決定 classification/regression，最後決定 batch/online。</a:t>
            </a:r>
          </a:p>
          <a:p>
            <a:r>
              <a:t>Notebook 第 10–12 cells 有對應討論。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319401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本範例為 supervised regression、multiple regression、univariate target、batch learning。</a:t>
            </a:r>
          </a:p>
          <a:p>
            <a:r>
              <a:t>Notebook 第 12 cell 之後正式進入 download data。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139272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RMSE 是 regression 最常用的指標；MAE 對 outlier 較 robust。</a:t>
            </a:r>
          </a:p>
          <a:p>
            <a:r>
              <a:t>建議用一個小範例 (np.array([1,2,100])) 讓學生親手算 RMSE/MAE 的差異。</a:t>
            </a:r>
          </a:p>
          <a:p>
            <a:r>
              <a:t>Notebook 第 175–185 cells 在 training 後會用到 RMSE。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7212930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L1 vs. L2 norm 的幾何直覺：L2 是歐式距離 (圓)，L1 是 Manhattan distance (菱形)。</a:t>
            </a:r>
          </a:p>
          <a:p>
            <a:r>
              <a:t>在 regularization 中 L1 會產生 sparse solution、L2 會把係數縮小。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6640032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進入 checklist 第 2 步：取得資料。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4740355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Notebook 第 12–15 cells：示範用 urllib + tarfile 下載 housing.tgz 並讀進 DataFrame。</a:t>
            </a:r>
          </a:p>
          <a:p>
            <a:r>
              <a:t>在課堂上實際示範一次，確認學生能順利執行。</a:t>
            </a:r>
          </a:p>
          <a:p>
            <a:r>
              <a:t>資料原始來源：https://lib.stat.cmu.edu/datasets/houses.zip (1990 年 California census)。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419988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 notebook 第 15–22 cells：housing.head()、housing.info()、housing.describe()。</a:t>
            </a:r>
          </a:p>
          <a:p>
            <a:r>
              <a:t>重點：先看 dtypes 與 missing values，再看數值欄位的描述統計。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5708395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 notebook 第 19–21 cells：housing.hist(bins=50)。</a:t>
            </a:r>
          </a:p>
          <a:p>
            <a:r>
              <a:t>提醒學生觀察：(1) income 已被 scale，(2) housing_median_age 與 median_house_value 在尾端被截尾 (capped)，這會影響模型對極端值的預測。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051606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 notebook 第 22–35 cells：示範 train_test_split。</a:t>
            </a:r>
          </a:p>
          <a:p>
            <a:r>
              <a:t>強調 data snooping bias：一旦看過 test set，後續決策就會被汙染。</a:t>
            </a:r>
          </a:p>
          <a:p>
            <a:r>
              <a:t>示範 random_state=42 的可重現性。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4224991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 notebook 第 36–47 cells：StratifiedShuffleSplit。</a:t>
            </a:r>
          </a:p>
          <a:p>
            <a:r>
              <a:t>範例：依 income_cat 分層，避免某些收入區段在 training/test 比例失衡。</a:t>
            </a:r>
          </a:p>
          <a:p>
            <a:r>
              <a:t>請學生比較 simple split vs. stratified split 在 test set 中各 income 區段的比例。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9143301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進入 checklist 第 3 步：EDA。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8833220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 notebook 第 48–51 cells：強調 EDA 只能在 training set 上做。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6925592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 notebook 第 51–57 cells：housing.plot(kind='scatter', x='longitude', y='latitude')。</a:t>
            </a:r>
          </a:p>
          <a:p>
            <a:r>
              <a:t>示範 alpha、s、c、cmap 等參數，並把 median_house_value 疊上去呈現地理分布。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255531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 notebook 第 58–63 cells：housing.corr() 與 scatter_matrix。</a:t>
            </a:r>
          </a:p>
          <a:p>
            <a:r>
              <a:t>提醒：correlation 只能抓 linear relationship，且容易受 outlier 影響。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2772174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 notebook 第 62–63 cells：median_income vs. median_house_value 的散布圖。</a:t>
            </a:r>
          </a:p>
          <a:p>
            <a:r>
              <a:t>可看到 500,000 上方的水平帶 (capped data) — 這對模型是雜訊，建議考慮移除。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5220709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經典參考圖：相關係數 0、±0.5、±1 的散布圖樣態。</a:t>
            </a:r>
          </a:p>
          <a:p>
            <a:r>
              <a:t>提醒學生：相關係數為 0 不代表沒有關係 (可能是非線性)。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020105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 notebook 第 64–67 cells：建立 rooms_per_house、bedrooms_ratio、people_per_house。</a:t>
            </a:r>
          </a:p>
          <a:p>
            <a:r>
              <a:t>示範這些 ratio features 與 target 的相關性提升。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1809751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提醒：feature engineering 是把領域知識寫進資料，這也是行為科學家最能發揮的地方。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5734817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進入 checklist 第 4 步：Preprocessing / Feature engineering。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3544802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 notebook 第 68–72 cells：列出 preprocessing 的五個主題。</a:t>
            </a:r>
          </a:p>
          <a:p>
            <a:r>
              <a:t>請學生留意：所有 preprocessing 應該包進 pipeline，避免 training/inference 不一致。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1095160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 notebook 第 73–100 cells：SimpleImputer(strategy='median')。</a:t>
            </a:r>
          </a:p>
          <a:p>
            <a:r>
              <a:t>強調 imputer 只能用 training set 算 statistics，再 transform 到 test set。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4758336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 notebook 第 101–122 cells：OrdinalEncoder 與 OneHotEncoder 的差異。</a:t>
            </a:r>
          </a:p>
          <a:p>
            <a:r>
              <a:t>OrdinalEncoder 會把類別變成 0,1,2,... 模型會誤以為有順序。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079053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 notebook 第 118–122 cells：示範 OneHotEncoder 產生 sparse matrix，注意維度膨脹。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2901962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 notebook 第 123–135 cells：MinMaxScaler vs. StandardScaler。</a:t>
            </a:r>
          </a:p>
          <a:p>
            <a:r>
              <a:t>右偏分布建議先取 log，再 standardize。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30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279682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 notebook 第 132–135 cells：KBinsDiscretizer。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31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152277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示範 strategy='uniform' (等距) 與 'quantile' (等量) 的差異。</a:t>
            </a:r>
          </a:p>
          <a:p>
            <a:r>
              <a:t>Quantile 對偏斜分布更穩健。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0511704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 notebook 第 136–145 cells：使用 rbf_kernel 把 housing_median_age 對某個 mode (例如 35) 的距離轉成相似度 (similarity)。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8409647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 notebook 第 136–150 cells：自訂三種 transformer (log、ratio、RBF)。</a:t>
            </a:r>
          </a:p>
          <a:p>
            <a:r>
              <a:t>強調 FunctionTransformer 與繼承 BaseEstimator + TransformerMixin 的差別。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34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9443115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 notebook 第 151–171 cells：彙整所有 transformation 的理由。</a:t>
            </a:r>
          </a:p>
          <a:p>
            <a:r>
              <a:t>請學生記住這份「為什麼這樣處理」的清單，未來自己的資料也能套用。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35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802336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 notebook 第 151–171 cells：ColumnTransformer + Pipeline。</a:t>
            </a:r>
          </a:p>
          <a:p>
            <a:r>
              <a:t>示範如何把 numerical / categorical / ratio 各自走不同 transformer。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36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8202467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進入 checklist 第 5 步：Model selection。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37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5539036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 notebook 第 172–195 cells：先用預設參數比較三種模型 (LinearRegression、DecisionTree、RandomForest)，再用 cross-validation 評估穩定度。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38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1299878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 notebook 第 175–184 cells：LinearRegression 範例。</a:t>
            </a:r>
          </a:p>
          <a:p>
            <a:r>
              <a:t>示範 fit/predict 並用 mean_squared_error 算 RMSE。</a:t>
            </a:r>
          </a:p>
          <a:p>
            <a:r>
              <a:t>Training RMSE 很低不代表 generalization 好，這時就需要 cross-validation。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39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58718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 notebook 第 181–184 cells：DecisionTreeRegressor。</a:t>
            </a:r>
          </a:p>
          <a:p>
            <a:r>
              <a:t>在 training set 上 RMSE = 0 是嚴重 overfit 的訊號。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40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496280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 notebook 第 185–195 cells：cross_val_score 與 KFold。</a:t>
            </a:r>
          </a:p>
          <a:p>
            <a:r>
              <a:t>示範 scoring='neg_root_mean_squared_error'。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41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5177601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 notebook 第 192–195 cells：RandomForestRegressor 的 cross-validation 結果通常顯著優於 single decision tree。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42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1648736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進入 checklist 第 6 步：Fine-tuning。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43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9385066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 notebook 第 196–230 cells：示範 GridSearchCV、RandomizedSearchCV、feature importance、test set evaluation。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44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6986637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Grid search 在低維度的離散超參數空間 (e.g. n_estimators={50,100}) 很有效，連續或高維度時改用 random search。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45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01011564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 notebook 第 198–208 cells：GridSearchCV 範例 (param_grid 為 list of dict)。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46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2161535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Ensemble: bagging、boosting、stacking 的差異 — 課程後續若有時間再展開，本週只介紹概念。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47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6004594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 notebook 第 221–225 cells：feature_importances_ 的解讀。</a:t>
            </a:r>
          </a:p>
          <a:p>
            <a:r>
              <a:t>請學生練習：依照 feature importance 移除低貢獻 features，再重新訓練。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48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75594615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對應 notebook 第 225–230 cells：test set 評估 — 注意這應該是整個專案僅有的一次正式評估。</a:t>
            </a:r>
          </a:p>
          <a:p>
            <a:r>
              <a:t>若 test RMSE 與 cross-validation RMSE 差異很大，要回頭檢查 data leakage。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49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412356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整體 train/test flow 圖：請學生在心中複習 train_set → preprocessing pipeline → model fit → test_set 走同一個 pipeline.transform 後再 predict。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50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94407975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進入 checklist 最後一步：Launch / Monitor / Maintain。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51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81212750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Notebook 中 joblib.dump (第 231–238 cells) 對應這裡的 deployment 與 versioning。</a:t>
            </a:r>
          </a:p>
          <a:p>
            <a:r>
              <a:t>強調保存整個 pipeline (含 preprocessing) 而不是只存 model。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52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35329457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A/B testing：把使用者分流到 model A 與 model B，比較線上指標 (例如點擊率、留存率)。</a:t>
            </a:r>
          </a:p>
          <a:p>
            <a:r>
              <a:t>提醒學生：線上指標常與離線 metrics 不一致。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53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93383257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兩種部署方式：(1) RESTful web service (FastAPI/Flask)，(2) Streamlit/Gradio webpage。</a:t>
            </a:r>
          </a:p>
          <a:p>
            <a:r>
              <a:t>本課程 Week 11 已介紹 Streamlit，Week 14 介紹 Anthropic SDK，可結合做為 final project 的部署方案。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54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86835343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再次強調：data preparation &gt; modeling，這對研究生最容易輕忽。</a:t>
            </a:r>
          </a:p>
          <a:p>
            <a:r>
              <a:t>建議先把流程跑順，再追求 SOTA 模型。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55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2782706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建議學生課後挑一份自己研究中常用的資料集，把 1–7 步走一次。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56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22799842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切換到本週後半段：classification (對應 Hands-On ML Chapter 3)。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57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21650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Classification 章節的整體大綱。</a:t>
            </a:r>
          </a:p>
          <a:p>
            <a:r>
              <a:t>Notebook 中相關範例集中於 Exercise solutions 後半段，也可參考 03_classification.ipynb (Hands-On ML repo)。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58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7951888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與前一張相同的大綱，作為段落起點。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59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35062499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MNIST：fetch_openml('mnist_784')。70,000 張 28×28 灰階圖。</a:t>
            </a:r>
          </a:p>
          <a:p>
            <a:r>
              <a:t>示範 reshape((28,28)) 並用 plt.imshow(cmap='binary') 畫出。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60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1602338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進入 binary classifier 的介紹。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61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51920386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範例：建立「是否為 5」的 binary classifier，使用 SGDClassifier(random_state=42)。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62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4223736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進入 performance measures。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63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26342463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五個小節：accuracy → confusion matrix → precision/recall → trade-off → ROC。</a:t>
            </a:r>
          </a:p>
          <a:p>
            <a:r>
              <a:t>提醒：accuracy 在 class imbalance 下會誤導 (例如 90% negative，全部預測 negative 就有 90% accuracy)。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64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140522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Confusion matrix 的四格：TP、FP、FN、TN。</a:t>
            </a:r>
          </a:p>
          <a:p>
            <a:r>
              <a:t>Precision = TP / (TP + FP)；Recall = TP / (TP + FN)。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65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02040940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F1 = 2 * (P*R) / (P+R) 是 precision 與 recall 的調和平均 (harmonic mean)。</a:t>
            </a:r>
          </a:p>
          <a:p>
            <a:r>
              <a:t>當 P 與 R 任一極端低時，F1 會被拉下來。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66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11019068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提高 threshold → precision↑ recall↓；降低 threshold → 相反。</a:t>
            </a:r>
          </a:p>
          <a:p>
            <a:r>
              <a:t>示範用 decision_function 取得 score 後再自訂 threshold。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67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2499172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以 threshold 為 x 軸，分別畫出 precision(t) 與 recall(t)。</a:t>
            </a:r>
          </a:p>
          <a:p>
            <a:r>
              <a:t>建議學生練習：找到讓 precision ≥ 0.9 的最低 threshold。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68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68957390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Precision-recall curve：x = recall, y = precision。</a:t>
            </a:r>
          </a:p>
          <a:p>
            <a:r>
              <a:t>曲線越靠右上越好。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69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3315490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ROC: x = FPR (1-specificity), y = TPR (recall/sensitivity)。</a:t>
            </a:r>
          </a:p>
          <a:p>
            <a:r>
              <a:t>AUC = 1 為完美分類；0.5 為亂猜。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70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26960297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比較兩個模型的 PR curve / ROC curve — 通常 RandomForest &gt; SGD。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71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08652100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 curve 與 ROC curve 的使用時機 — 請學生記住這個對照表。</a:t>
            </a:r>
          </a:p>
          <a:p>
            <a:r>
              <a:t>在認知神經科學情境：罕見病的偵測 (positive 樣本少) 通常用 PR curve。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72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99541986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進入 different types of classification。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73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30489737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本頁為概念圖頁，請依圖示說明 binary / multiclass / multilabel / multioutput 的差異。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74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4098958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三種分類問題：binary、multi-class、multi-label。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75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17750028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Scikit-Learn 中有些分類器原生支援 multiclass，有些只支援 binary (內部會自動轉成 OvR 或 OvO)。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76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05404504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OvR：每個類別 vs. 其他所有類別 → N 個分類器。</a:t>
            </a:r>
          </a:p>
          <a:p>
            <a:r>
              <a:t>OvO：每兩個類別配對訓練一個分類器 → N(N-1)/2 個分類器。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77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1187459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OvR 訓練快、預測也快，但對 imbalance 較敏感。</a:t>
            </a:r>
          </a:p>
          <a:p>
            <a:r>
              <a:t>OvO 對每個分類器使用較少資料，較適合難以 scale 的演算法 (例如 SVM)。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78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5199068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Multilabel：同一個樣本可以同時屬於多個 label (彼此不互斥)。</a:t>
            </a:r>
          </a:p>
          <a:p>
            <a:r>
              <a:t>範例：「&gt;=7」與「奇數」可同時成立。</a:t>
            </a:r>
          </a:p>
          <a:p>
            <a:r>
              <a:t>Scikit-Learn 可直接用 y 為 2D array (n_samples, n_labels) 訓練 KNeighborsClassifier。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79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67796439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Multioutput：multilabel 的推廣，每個 label 又可以是 multiclass。</a:t>
            </a:r>
          </a:p>
          <a:p>
            <a:r>
              <a:t>範例：對 MNIST 圖像去噪 — 每個 pixel 一個 label，每個 label 0–255 共 256 類。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80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42243558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進入最後一節：error analysis。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81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88172386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用 confusion_matrix + ConfusionMatrixDisplay 視覺化。</a:t>
            </a:r>
          </a:p>
          <a:p>
            <a:r>
              <a:t>建議標準化各列總和為 1，便於比較不同 class size。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82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3267088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把 confusion matrix 對角線設為 0，更容易看到「常被誤判成什麼」。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83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34833737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四種改善誤判的方向：(1) 鎖定錯誤、(2) 收集相關資料、(3) feature engineering、(4) 影像前處理。</a:t>
            </a:r>
          </a:p>
          <a:p>
            <a:r>
              <a:t>請學生對照自己的研究問題，思考能套用哪一種。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84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27794986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Error analysis 的核心：不要只看整體 accuracy，要回去看「錯在哪裡」並找出可解釋的 pattern。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85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63531815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Data augmentation：水平翻轉、垂直翻轉、遮擋、加 Gaussian noise 等。</a:t>
            </a:r>
          </a:p>
          <a:p>
            <a:r>
              <a:t>注意：augmentation 必須符合任務的不變性 (invariance)。</a:t>
            </a:r>
          </a:p>
          <a:p>
            <a:r>
              <a:t>例：MNIST 的 6 與 9 不能做 vertical flip 或 180° rotation，會改變類別。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C74F81-CD54-4030-AC9C-0ED56CF0AA68}" type="slidenum">
              <a:rPr lang="zh-TW" altLang="en-US" smtClean="0"/>
              <a:t>86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737788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8D7368D-31D9-8101-473D-CD39E706FD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96401" y="3378954"/>
            <a:ext cx="6394567" cy="3479046"/>
          </a:xfrm>
          <a:custGeom>
            <a:avLst/>
            <a:gdLst>
              <a:gd name="connsiteX0" fmla="*/ 5171297 w 6394567"/>
              <a:gd name="connsiteY0" fmla="*/ 284 h 3479046"/>
              <a:gd name="connsiteX1" fmla="*/ 6394290 w 6394567"/>
              <a:gd name="connsiteY1" fmla="*/ 430072 h 3479046"/>
              <a:gd name="connsiteX2" fmla="*/ 6394567 w 6394567"/>
              <a:gd name="connsiteY2" fmla="*/ 430316 h 3479046"/>
              <a:gd name="connsiteX3" fmla="*/ 6394567 w 6394567"/>
              <a:gd name="connsiteY3" fmla="*/ 3479046 h 3479046"/>
              <a:gd name="connsiteX4" fmla="*/ 0 w 6394567"/>
              <a:gd name="connsiteY4" fmla="*/ 3479046 h 3479046"/>
              <a:gd name="connsiteX5" fmla="*/ 3916974 w 6394567"/>
              <a:gd name="connsiteY5" fmla="*/ 405504 h 3479046"/>
              <a:gd name="connsiteX6" fmla="*/ 3959456 w 6394567"/>
              <a:gd name="connsiteY6" fmla="*/ 373857 h 3479046"/>
              <a:gd name="connsiteX7" fmla="*/ 5052215 w 6394567"/>
              <a:gd name="connsiteY7" fmla="*/ 1756 h 3479046"/>
              <a:gd name="connsiteX8" fmla="*/ 5171297 w 6394567"/>
              <a:gd name="connsiteY8" fmla="*/ 284 h 3479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394567" h="3479046">
                <a:moveTo>
                  <a:pt x="5171297" y="284"/>
                </a:moveTo>
                <a:cubicBezTo>
                  <a:pt x="5607674" y="7531"/>
                  <a:pt x="6039042" y="153650"/>
                  <a:pt x="6394290" y="430072"/>
                </a:cubicBezTo>
                <a:lnTo>
                  <a:pt x="6394567" y="430316"/>
                </a:lnTo>
                <a:lnTo>
                  <a:pt x="6394567" y="3479046"/>
                </a:lnTo>
                <a:lnTo>
                  <a:pt x="0" y="3479046"/>
                </a:lnTo>
                <a:lnTo>
                  <a:pt x="3916974" y="405504"/>
                </a:lnTo>
                <a:lnTo>
                  <a:pt x="3959456" y="373857"/>
                </a:lnTo>
                <a:cubicBezTo>
                  <a:pt x="4291086" y="139664"/>
                  <a:pt x="4671097" y="17528"/>
                  <a:pt x="5052215" y="1756"/>
                </a:cubicBezTo>
                <a:cubicBezTo>
                  <a:pt x="5091916" y="114"/>
                  <a:pt x="5131627" y="-375"/>
                  <a:pt x="5171297" y="284"/>
                </a:cubicBezTo>
                <a:close/>
              </a:path>
            </a:pathLst>
          </a:custGeom>
          <a:gradFill>
            <a:gsLst>
              <a:gs pos="39000">
                <a:schemeClr val="bg2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F32C74-82F4-2A29-889B-EF23CEE6AA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66801" y="1122363"/>
            <a:ext cx="6211185" cy="2305246"/>
          </a:xfrm>
        </p:spPr>
        <p:txBody>
          <a:bodyPr anchor="b">
            <a:norm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4ACADD6-278F-604C-8A38-BBBAFC6754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2" y="3549048"/>
            <a:ext cx="5029198" cy="1956278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43946B-3F5A-C916-B62B-8D5938EA82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479F3A-03C4-4B1C-8AE5-8FD8BC8EDFEC}" type="datetime1">
              <a:rPr lang="en-US" altLang="zh-TW" smtClean="0"/>
              <a:t>5/15/2025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86539F-2DB8-FCDA-C884-9C3CD29B8C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2025 Spring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DAA7B3-5D3B-D493-8F6F-1FEBB8576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1610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EA4769-9A55-AF9B-4CE4-DFA07E711C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694" y="347181"/>
            <a:ext cx="8886884" cy="95366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E45D9E-DBB4-B890-88D5-B4C03599EC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741" y="1590157"/>
            <a:ext cx="10381517" cy="443462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E15260-1C0B-A965-3114-D7C40D18BD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85BFA6-A909-4E15-BD17-37683E4F3322}" type="datetime1">
              <a:rPr lang="en-US" altLang="zh-TW" smtClean="0"/>
              <a:t>5/15/2025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AAF4D1-0334-3F24-69B4-06C7BD742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2025 Spring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8BA76D-3B8B-429D-9B32-54D6A6297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0578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pattFill prst="pct5">
          <a:fgClr>
            <a:schemeClr val="accent1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EA4769-9A55-AF9B-4CE4-DFA07E711C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694" y="347181"/>
            <a:ext cx="8886884" cy="95366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E45D9E-DBB4-B890-88D5-B4C03599EC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741" y="1590157"/>
            <a:ext cx="10381517" cy="443462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E15260-1C0B-A965-3114-D7C40D18BD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85BFA6-A909-4E15-BD17-37683E4F3322}" type="datetime1">
              <a:rPr lang="en-US" altLang="zh-TW" smtClean="0"/>
              <a:t>5/15/2025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AAF4D1-0334-3F24-69B4-06C7BD742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2025 Spring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8BA76D-3B8B-429D-9B32-54D6A6297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55243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D8D9C414-4A2F-78AF-ED60-6130D4C563B3}"/>
              </a:ext>
            </a:extLst>
          </p:cNvPr>
          <p:cNvSpPr/>
          <p:nvPr/>
        </p:nvSpPr>
        <p:spPr>
          <a:xfrm>
            <a:off x="6284115" y="3378954"/>
            <a:ext cx="5907885" cy="3479046"/>
          </a:xfrm>
          <a:custGeom>
            <a:avLst/>
            <a:gdLst>
              <a:gd name="connsiteX0" fmla="*/ 5171297 w 5907885"/>
              <a:gd name="connsiteY0" fmla="*/ 284 h 3479046"/>
              <a:gd name="connsiteX1" fmla="*/ 5813217 w 5907885"/>
              <a:gd name="connsiteY1" fmla="*/ 114238 h 3479046"/>
              <a:gd name="connsiteX2" fmla="*/ 5907885 w 5907885"/>
              <a:gd name="connsiteY2" fmla="*/ 151524 h 3479046"/>
              <a:gd name="connsiteX3" fmla="*/ 5907885 w 5907885"/>
              <a:gd name="connsiteY3" fmla="*/ 3479046 h 3479046"/>
              <a:gd name="connsiteX4" fmla="*/ 0 w 5907885"/>
              <a:gd name="connsiteY4" fmla="*/ 3479046 h 3479046"/>
              <a:gd name="connsiteX5" fmla="*/ 3916974 w 5907885"/>
              <a:gd name="connsiteY5" fmla="*/ 405504 h 3479046"/>
              <a:gd name="connsiteX6" fmla="*/ 3959456 w 5907885"/>
              <a:gd name="connsiteY6" fmla="*/ 373857 h 3479046"/>
              <a:gd name="connsiteX7" fmla="*/ 5052215 w 5907885"/>
              <a:gd name="connsiteY7" fmla="*/ 1756 h 3479046"/>
              <a:gd name="connsiteX8" fmla="*/ 5171297 w 5907885"/>
              <a:gd name="connsiteY8" fmla="*/ 284 h 3479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907885" h="3479046">
                <a:moveTo>
                  <a:pt x="5171297" y="284"/>
                </a:moveTo>
                <a:cubicBezTo>
                  <a:pt x="5389485" y="3908"/>
                  <a:pt x="5606422" y="42249"/>
                  <a:pt x="5813217" y="114238"/>
                </a:cubicBezTo>
                <a:lnTo>
                  <a:pt x="5907885" y="151524"/>
                </a:lnTo>
                <a:lnTo>
                  <a:pt x="5907885" y="3479046"/>
                </a:lnTo>
                <a:lnTo>
                  <a:pt x="0" y="3479046"/>
                </a:lnTo>
                <a:lnTo>
                  <a:pt x="3916974" y="405504"/>
                </a:lnTo>
                <a:lnTo>
                  <a:pt x="3959456" y="373857"/>
                </a:lnTo>
                <a:cubicBezTo>
                  <a:pt x="4291086" y="139664"/>
                  <a:pt x="4671097" y="17528"/>
                  <a:pt x="5052215" y="1756"/>
                </a:cubicBezTo>
                <a:cubicBezTo>
                  <a:pt x="5091916" y="114"/>
                  <a:pt x="5131627" y="-375"/>
                  <a:pt x="5171297" y="284"/>
                </a:cubicBezTo>
                <a:close/>
              </a:path>
            </a:pathLst>
          </a:custGeom>
          <a:gradFill>
            <a:gsLst>
              <a:gs pos="23000">
                <a:schemeClr val="bg2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3410AE4-7FC7-589E-B6D3-0DA7B5FC5CE3}"/>
              </a:ext>
            </a:extLst>
          </p:cNvPr>
          <p:cNvSpPr/>
          <p:nvPr/>
        </p:nvSpPr>
        <p:spPr>
          <a:xfrm flipH="1" flipV="1">
            <a:off x="0" y="0"/>
            <a:ext cx="2923855" cy="1479128"/>
          </a:xfrm>
          <a:custGeom>
            <a:avLst/>
            <a:gdLst>
              <a:gd name="connsiteX0" fmla="*/ 2923855 w 2923855"/>
              <a:gd name="connsiteY0" fmla="*/ 1479128 h 1479128"/>
              <a:gd name="connsiteX1" fmla="*/ 0 w 2923855"/>
              <a:gd name="connsiteY1" fmla="*/ 1479128 h 1479128"/>
              <a:gd name="connsiteX2" fmla="*/ 1368245 w 2923855"/>
              <a:gd name="connsiteY2" fmla="*/ 405504 h 1479128"/>
              <a:gd name="connsiteX3" fmla="*/ 1410727 w 2923855"/>
              <a:gd name="connsiteY3" fmla="*/ 373857 h 1479128"/>
              <a:gd name="connsiteX4" fmla="*/ 2503486 w 2923855"/>
              <a:gd name="connsiteY4" fmla="*/ 1756 h 1479128"/>
              <a:gd name="connsiteX5" fmla="*/ 2622568 w 2923855"/>
              <a:gd name="connsiteY5" fmla="*/ 284 h 1479128"/>
              <a:gd name="connsiteX6" fmla="*/ 2785835 w 2923855"/>
              <a:gd name="connsiteY6" fmla="*/ 9494 h 1479128"/>
              <a:gd name="connsiteX7" fmla="*/ 2923855 w 2923855"/>
              <a:gd name="connsiteY7" fmla="*/ 28352 h 14791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923855" h="1479128">
                <a:moveTo>
                  <a:pt x="2923855" y="1479128"/>
                </a:moveTo>
                <a:lnTo>
                  <a:pt x="0" y="1479128"/>
                </a:lnTo>
                <a:lnTo>
                  <a:pt x="1368245" y="405504"/>
                </a:lnTo>
                <a:lnTo>
                  <a:pt x="1410727" y="373857"/>
                </a:lnTo>
                <a:cubicBezTo>
                  <a:pt x="1742357" y="139664"/>
                  <a:pt x="2122368" y="17528"/>
                  <a:pt x="2503486" y="1756"/>
                </a:cubicBezTo>
                <a:cubicBezTo>
                  <a:pt x="2543187" y="114"/>
                  <a:pt x="2582898" y="-375"/>
                  <a:pt x="2622568" y="284"/>
                </a:cubicBezTo>
                <a:cubicBezTo>
                  <a:pt x="2677115" y="1190"/>
                  <a:pt x="2731584" y="4266"/>
                  <a:pt x="2785835" y="9494"/>
                </a:cubicBezTo>
                <a:lnTo>
                  <a:pt x="2923855" y="28352"/>
                </a:lnTo>
                <a:close/>
              </a:path>
            </a:pathLst>
          </a:custGeom>
          <a:gradFill>
            <a:gsLst>
              <a:gs pos="33000">
                <a:schemeClr val="bg2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381CBD-08D9-3C9A-7620-24F2D6404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1709738"/>
            <a:ext cx="6455434" cy="2981274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D5AE2B-1716-CEEC-73F8-E81F591925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66800" y="4759252"/>
            <a:ext cx="5397260" cy="955748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CF3052-6EE8-979F-04FB-1B8DF81F29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833676-1B6B-4BBE-8D4C-954E38BB0491}" type="datetime1">
              <a:rPr lang="en-US" altLang="zh-TW" smtClean="0"/>
              <a:t>5/15/2025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986285-161A-6869-27C2-0A159C2344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2025 Spring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7ED64F-5DAB-238D-C34A-1DCCB12221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61430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484D0-7460-7B08-F1EE-96EABE4021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6522" y="181239"/>
            <a:ext cx="10092477" cy="95366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80B7F9-8ECB-7079-A11E-51D3903E2B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6521" y="1484295"/>
            <a:ext cx="5177899" cy="4654766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E97161-CAF5-CA48-D814-7ACD43AB99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21652" y="1476480"/>
            <a:ext cx="5177899" cy="4654766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3BD680-4E7A-5155-3CAE-6BD44EE8BA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37526-C717-4892-B54A-A9E2325524B8}" type="datetime1">
              <a:rPr lang="en-US" altLang="zh-TW" smtClean="0"/>
              <a:t>5/15/2025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6A152D-EFF2-B3AA-3F25-14E1136734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2025 Spring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BD6032-FD7A-BFFD-9BE5-48EDBEFBD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2764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47F4D-4855-340E-03F3-4860885EC6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5320" y="311820"/>
            <a:ext cx="10096500" cy="916004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CEB472-7426-C288-B5F6-0A1232DCED6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066801" y="1696407"/>
            <a:ext cx="4739628" cy="582117"/>
          </a:xfrm>
        </p:spPr>
        <p:txBody>
          <a:bodyPr anchor="b">
            <a:noAutofit/>
          </a:bodyPr>
          <a:lstStyle>
            <a:lvl1pPr marL="0" indent="0">
              <a:buNone/>
              <a:defRPr sz="2400" b="1" cap="none" spc="25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194F9C-B6FA-97C3-F618-0CF956CB53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66801" y="2322195"/>
            <a:ext cx="4739628" cy="3389642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F5665C-7910-AFA2-350F-42C06ED5AF47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400330" y="1696407"/>
            <a:ext cx="4762970" cy="582117"/>
          </a:xfrm>
        </p:spPr>
        <p:txBody>
          <a:bodyPr anchor="b">
            <a:noAutofit/>
          </a:bodyPr>
          <a:lstStyle>
            <a:lvl1pPr marL="0" indent="0">
              <a:buNone/>
              <a:defRPr sz="2400" b="1" cap="none" spc="25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D71352E-1DE0-F0CD-6F81-1D8FF59C2B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400330" y="2322195"/>
            <a:ext cx="4762970" cy="3389642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38F7E4-7D9E-4736-3269-4F0C469961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4B1B73-38BC-436D-8EE6-E273345841B6}" type="datetime1">
              <a:rPr lang="en-US" altLang="zh-TW" smtClean="0"/>
              <a:t>5/15/2025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18386CF-9A84-8D2A-BC47-C951DD994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2025 Spring</a:t>
            </a:r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980844D-FE1F-49E7-3BBD-527FB72EC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2048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F691C-93A5-1364-00A9-A470C289F3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431" y="606946"/>
            <a:ext cx="8886884" cy="1043078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E055BD-4154-B9D1-0B5B-B1E3A06B6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B717CB-8512-4BB3-8685-CAA32E7FBC3C}" type="datetime1">
              <a:rPr lang="en-US" altLang="zh-TW" smtClean="0"/>
              <a:t>5/15/2025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2A9E4A-03D1-7A8B-233D-014A3248F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2025 Spring</a:t>
            </a: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2CEFC4-D276-DF45-F395-F5BD2EA70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54634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712C0AD-76F4-FCE4-2717-0A9AA4351B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30070-0EA1-4A0D-8F4A-D7975CE73EDC}" type="datetime1">
              <a:rPr lang="en-US" altLang="zh-TW" smtClean="0"/>
              <a:t>5/15/2025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83BB66-3F41-7F1D-5108-B3F679A88E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2025 Spring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AA6DA0-07AE-4BE4-B82F-7936D0E3E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9822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CBFB75-C953-0BD0-4E2E-717767426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770626"/>
            <a:ext cx="3705225" cy="1286774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E1AA52-60F3-40F2-673B-5848F4253F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75426"/>
            <a:ext cx="5980112" cy="476837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0167E8-C561-5A72-AED3-442F66DDEE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6800" y="2057400"/>
            <a:ext cx="37052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DBFED3-7CB3-1B8B-9504-13A121CAD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9B61D9-77D5-4763-AC3C-234694E90E17}" type="datetime1">
              <a:rPr lang="en-US" altLang="zh-TW" smtClean="0"/>
              <a:t>5/15/2025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2456C9-19A0-4441-B1AF-B7AFBF642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2025 Spring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8898EA-84CC-411C-0012-D31495369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7058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C1E10-1458-2553-05B4-313F7E26D2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782128"/>
            <a:ext cx="3705225" cy="1275272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3C0F677-F177-6DED-1920-685B9D9FF2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143000"/>
            <a:ext cx="5980112" cy="4572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4D1CB1-2109-480E-8904-4077C94D6E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6800" y="2057400"/>
            <a:ext cx="3705225" cy="36576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B0DB38-7CB9-2140-BC21-6D2E7DD0B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A18C68-2AD3-4F03-96E0-FA5130A87C35}" type="datetime1">
              <a:rPr lang="en-US" altLang="zh-TW" smtClean="0"/>
              <a:t>5/15/2025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B448AD-3B1D-4B5E-CAB9-BB5FD2CDEB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2025 Spring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EEF53D-CF5A-87A2-E973-3B8CCDEBA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2501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50D2E-0561-F284-F89A-AAE3CD09A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936841"/>
            <a:ext cx="10239338" cy="95366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657C4C-16EC-2477-6332-830F53011D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069848" y="2139696"/>
            <a:ext cx="10239338" cy="367768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0940D3-6996-1C08-F1AF-87C3546579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0E180E-6827-4A87-80C3-07C58CD3A140}" type="datetime1">
              <a:rPr lang="en-US" altLang="zh-TW" smtClean="0"/>
              <a:t>5/15/2025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3676C3-588F-B636-8CE0-AA2CBFBCE9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2025 Spring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CEF8A9-EB1E-B344-A4B8-B58D06336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5283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EF3A28-33E4-2796-AE7A-1234569F5CE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844950" y="1081177"/>
            <a:ext cx="2508849" cy="463382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D185FC-2BBB-E997-A5CD-F2C6CF6B7C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066800" y="1081177"/>
            <a:ext cx="7505700" cy="463382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314B3C-96CD-071C-C2AD-2C7E04F81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69576-551E-420E-B928-DD4922C9618D}" type="datetime1">
              <a:rPr lang="en-US" altLang="zh-TW" smtClean="0"/>
              <a:t>5/15/2025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AA2B04-F5E0-C5A3-C77D-6AE9A9E91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2025 Spring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155BC2-C712-C4A4-50EC-E10D883443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6535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1F4A25-A386-9574-775C-E5E5F9FC3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936841"/>
            <a:ext cx="8886884" cy="9536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F7885F-2B7B-74DB-9996-E0ACEBC9DB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69848" y="2139696"/>
            <a:ext cx="8883836" cy="36776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04F519-BA47-2B81-CC1C-7E1F119EC6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477379" y="4629744"/>
            <a:ext cx="265350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6329A6EE-4D16-488F-9F14-27146B16CAB9}" type="datetime1">
              <a:rPr lang="en-US" altLang="zh-TW" smtClean="0"/>
              <a:t>5/15/2025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952D7B-C352-1630-4C3D-7D5983C04D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610602" y="6318446"/>
            <a:ext cx="27431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altLang="zh-TW"/>
              <a:t>Computers, Programming, &amp; Big Data. 2025 Spring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6E04F0-DF9B-480B-CC46-BAE7A81FB7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6318446"/>
            <a:ext cx="61569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tx1"/>
                </a:solidFill>
              </a:defRPr>
            </a:lvl1pPr>
          </a:lstStyle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0206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2" r:id="rId2"/>
    <p:sldLayoutId id="2147483684" r:id="rId3"/>
    <p:sldLayoutId id="2147483681" r:id="rId4"/>
    <p:sldLayoutId id="2147483680" r:id="rId5"/>
    <p:sldLayoutId id="2147483679" r:id="rId6"/>
    <p:sldLayoutId id="2147483678" r:id="rId7"/>
    <p:sldLayoutId id="2147483677" r:id="rId8"/>
    <p:sldLayoutId id="2147483676" r:id="rId9"/>
    <p:sldLayoutId id="2147483675" r:id="rId10"/>
    <p:sldLayoutId id="2147483674" r:id="rId11"/>
    <p:sldLayoutId id="2147483673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28600" algn="l" defTabSz="914400" rtl="0" eaLnBrk="1" latinLnBrk="0" hangingPunct="1">
        <a:lnSpc>
          <a:spcPct val="120000"/>
        </a:lnSpc>
        <a:spcBef>
          <a:spcPts val="500"/>
        </a:spcBef>
        <a:buFont typeface="Neue Haas Grotesk Text Pro" panose="020B0504020202020204" pitchFamily="34" charset="0"/>
        <a:buChar char="–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77724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Neue Haas Grotesk Text Pro" panose="020B0504020202020204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8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hyperlink" Target="https://lib.stat.cmu.edu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3.png"/><Relationship Id="rId4" Type="http://schemas.openxmlformats.org/officeDocument/2006/relationships/image" Target="../media/image3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image" Target="../media/image4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4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5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5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5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54.png"/><Relationship Id="rId4" Type="http://schemas.openxmlformats.org/officeDocument/2006/relationships/image" Target="../media/image5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56.png"/><Relationship Id="rId4" Type="http://schemas.openxmlformats.org/officeDocument/2006/relationships/image" Target="../media/image57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58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59.png"/><Relationship Id="rId4" Type="http://schemas.openxmlformats.org/officeDocument/2006/relationships/image" Target="../media/image60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61.png"/><Relationship Id="rId4" Type="http://schemas.openxmlformats.org/officeDocument/2006/relationships/image" Target="../media/image6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6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63.png"/><Relationship Id="rId4" Type="http://schemas.openxmlformats.org/officeDocument/2006/relationships/image" Target="../media/image64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68.png"/><Relationship Id="rId4" Type="http://schemas.openxmlformats.org/officeDocument/2006/relationships/image" Target="../media/image69.png"/><Relationship Id="rId5" Type="http://schemas.openxmlformats.org/officeDocument/2006/relationships/image" Target="../media/image70.png"/><Relationship Id="rId6" Type="http://schemas.openxmlformats.org/officeDocument/2006/relationships/image" Target="../media/image7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7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73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Relationship Id="rId3" Type="http://schemas.openxmlformats.org/officeDocument/2006/relationships/image" Target="../media/image74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75.png"/><Relationship Id="rId4" Type="http://schemas.openxmlformats.org/officeDocument/2006/relationships/image" Target="../media/image76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77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4.xml"/><Relationship Id="rId3" Type="http://schemas.openxmlformats.org/officeDocument/2006/relationships/image" Target="../media/image78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5.xml"/><Relationship Id="rId3" Type="http://schemas.openxmlformats.org/officeDocument/2006/relationships/image" Target="../media/image79.png"/><Relationship Id="rId4" Type="http://schemas.openxmlformats.org/officeDocument/2006/relationships/image" Target="../media/image80.jpg"/><Relationship Id="rId5" Type="http://schemas.openxmlformats.org/officeDocument/2006/relationships/image" Target="../media/image8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Relationship Id="rId3" Type="http://schemas.openxmlformats.org/officeDocument/2006/relationships/image" Target="../media/image82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83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84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0.xml"/><Relationship Id="rId3" Type="http://schemas.openxmlformats.org/officeDocument/2006/relationships/image" Target="../media/image85.png"/><Relationship Id="rId4" Type="http://schemas.openxmlformats.org/officeDocument/2006/relationships/image" Target="../media/image86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87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88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89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90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3" descr="天空中的彩色圖案">
            <a:extLst>
              <a:ext uri="{FF2B5EF4-FFF2-40B4-BE49-F238E27FC236}">
                <a16:creationId xmlns:a16="http://schemas.microsoft.com/office/drawing/2014/main" id="{ED98725C-038E-6A06-4C58-01CA646CCD9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38" b="10193"/>
          <a:stretch/>
        </p:blipFill>
        <p:spPr>
          <a:xfrm>
            <a:off x="20" y="10"/>
            <a:ext cx="12191979" cy="6857989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D74E6BD4-9370-439F-94BB-34169C1261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36913" y="4906317"/>
            <a:ext cx="9216167" cy="1232744"/>
          </a:xfrm>
        </p:spPr>
        <p:txBody>
          <a:bodyPr anchor="ctr">
            <a:normAutofit/>
          </a:bodyPr>
          <a:lstStyle/>
          <a:p>
            <a:pPr algn="r"/>
            <a:r>
              <a:rPr lang="en-US" altLang="zh-TW" sz="3200" dirty="0"/>
              <a:t>機器學習專案從頭到尾 (ML Project End-to-End) 與 分類 (Classification)</a:t>
            </a:r>
            <a:br>
              <a:rPr lang="en-US" altLang="zh-TW" sz="3200" dirty="0"/>
            </a:br>
            <a:r>
              <a:rPr lang="en-US" altLang="zh-TW" sz="3200" dirty="0"/>
              <a:t/>
            </a:r>
            <a:endParaRPr lang="zh-TW" altLang="en-US" sz="3200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F3D1A53-2BC1-6F24-5CC4-46EA5C265D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10281" y="3847907"/>
            <a:ext cx="3129921" cy="1010882"/>
          </a:xfrm>
        </p:spPr>
        <p:txBody>
          <a:bodyPr anchor="b">
            <a:normAutofit fontScale="85000" lnSpcReduction="20000"/>
          </a:bodyPr>
          <a:lstStyle/>
          <a:p>
            <a:pPr algn="ctr"/>
            <a:r>
              <a:rPr lang="en-US" altLang="zh-TW" dirty="0"/>
              <a:t>NS5116</a:t>
            </a:r>
          </a:p>
          <a:p>
            <a:r>
              <a:rPr lang="zh-TW" altLang="zh-TW" b="1" dirty="0"/>
              <a:t>電腦硬體與程式語言在行為科學實驗與大數據分析之應用</a:t>
            </a:r>
            <a:endParaRPr lang="zh-TW" altLang="zh-TW" dirty="0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ECC6E18B-DBDF-ADE3-AE6C-175FCBE7B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 dirty="0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559D671-9BE8-890D-315E-3958C17E5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1</a:t>
            </a:fld>
            <a:endParaRPr 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3C59FDAF-84C2-BC99-6F5C-BF3AD618D8DA}"/>
              </a:ext>
            </a:extLst>
          </p:cNvPr>
          <p:cNvSpPr txBox="1"/>
          <p:nvPr/>
        </p:nvSpPr>
        <p:spPr>
          <a:xfrm>
            <a:off x="429935" y="5677396"/>
            <a:ext cx="609460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2026-05-26</a:t>
            </a:r>
          </a:p>
          <a:p>
            <a:r>
              <a:rPr lang="zh-TW" altLang="en-US" dirty="0"/>
              <a:t>講師：Erik Chang 張智宏</a:t>
            </a:r>
            <a:r>
              <a:rPr lang="en-US" altLang="zh-TW" dirty="0"/>
              <a:t/>
            </a:r>
            <a:r>
              <a:rPr lang="zh-TW" altLang="en-US" dirty="0"/>
              <a:t/>
            </a:r>
            <a:endParaRPr lang="en-US" altLang="zh-TW" dirty="0"/>
          </a:p>
          <a:p>
            <a:r>
              <a:rPr lang="zh-TW" altLang="en-US" dirty="0"/>
              <a:t>教室：S5-Ideabrain</a:t>
            </a:r>
            <a:r>
              <a:rPr lang="en-US" altLang="zh-TW" dirty="0"/>
              <a:t/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409238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0FC532-F1F9-A539-4348-09D8F21025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端到端機器學習 (End-to-End Machine Learning)</a:t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endParaRPr lang="zh-TW" altLang="en-US" dirty="0"/>
          </a:p>
        </p:txBody>
      </p:sp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48803930-1326-B58F-FF4D-4D83D7BE18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CD067E6-A1C9-3161-03BE-63F84E1C62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9042C65-0574-01F4-4ED9-B9DD9040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9208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8">
            <a:extLst>
              <a:ext uri="{FF2B5EF4-FFF2-40B4-BE49-F238E27FC236}">
                <a16:creationId xmlns:a16="http://schemas.microsoft.com/office/drawing/2014/main" id="{6539F5E1-12D4-8477-834A-4A169BE90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機器學習專案檢核表 (ML Project Checklist)</a:t>
            </a:r>
            <a:endParaRPr lang="zh-TW" altLang="en-US" dirty="0"/>
          </a:p>
        </p:txBody>
      </p:sp>
      <p:sp>
        <p:nvSpPr>
          <p:cNvPr id="10" name="內容版面配置區 9">
            <a:extLst>
              <a:ext uri="{FF2B5EF4-FFF2-40B4-BE49-F238E27FC236}">
                <a16:creationId xmlns:a16="http://schemas.microsoft.com/office/drawing/2014/main" id="{B4A668FD-5916-CCF0-FF12-0F036A5836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altLang="zh-TW" dirty="0"/>
              <a:t>界定問題並從整體角度思考 (Frame the problem and look at the big picture)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/>
              <a:t>取得資料 (Get the data)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/>
              <a:t>探索資料以取得洞察 (Explore the data to gain insights)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/>
              <a:t>準備資料，讓底層的資料樣態 (data patterns) 更容易被機器學習演算法擷取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/>
              <a:t>嘗試多種模型 (models)，列出表現較佳的候選清單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/>
              <a:t>微調 (fine-tune) 模型並組合 (ensemble) 成最終的解決方案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/>
              <a:t>呈現你的解決方案 (Present your solution)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/>
              <a:t>上線、監控與維護系統 (Launch, monitor, and maintain your system)</a:t>
            </a:r>
            <a:endParaRPr lang="zh-TW" altLang="en-US" dirty="0"/>
          </a:p>
        </p:txBody>
      </p:sp>
      <p:sp>
        <p:nvSpPr>
          <p:cNvPr id="7" name="頁尾版面配置區 6">
            <a:extLst>
              <a:ext uri="{FF2B5EF4-FFF2-40B4-BE49-F238E27FC236}">
                <a16:creationId xmlns:a16="http://schemas.microsoft.com/office/drawing/2014/main" id="{967616C3-0590-0FD3-4472-31D1447935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8" name="投影片編號版面配置區 7">
            <a:extLst>
              <a:ext uri="{FF2B5EF4-FFF2-40B4-BE49-F238E27FC236}">
                <a16:creationId xmlns:a16="http://schemas.microsoft.com/office/drawing/2014/main" id="{65524E61-8B45-42D7-2FAA-E1FA6EFD7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3</a:t>
            </a:fld>
            <a:endParaRPr lang="en-US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BB1E50CE-1E7F-1074-2708-7AD25A871D41}"/>
              </a:ext>
            </a:extLst>
          </p:cNvPr>
          <p:cNvSpPr txBox="1"/>
          <p:nvPr/>
        </p:nvSpPr>
        <p:spPr>
          <a:xfrm>
            <a:off x="3888336" y="6246976"/>
            <a:ext cx="25010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資料來源：HOLM3, Appendix A.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742473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8">
            <a:extLst>
              <a:ext uri="{FF2B5EF4-FFF2-40B4-BE49-F238E27FC236}">
                <a16:creationId xmlns:a16="http://schemas.microsoft.com/office/drawing/2014/main" id="{6539F5E1-12D4-8477-834A-4A169BE90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機器學習專案檢核表 (ML Project Checklist)</a:t>
            </a:r>
            <a:endParaRPr lang="zh-TW" altLang="en-US" dirty="0"/>
          </a:p>
        </p:txBody>
      </p:sp>
      <p:sp>
        <p:nvSpPr>
          <p:cNvPr id="10" name="內容版面配置區 9">
            <a:extLst>
              <a:ext uri="{FF2B5EF4-FFF2-40B4-BE49-F238E27FC236}">
                <a16:creationId xmlns:a16="http://schemas.microsoft.com/office/drawing/2014/main" id="{B4A668FD-5916-CCF0-FF12-0F036A5836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altLang="zh-TW" dirty="0"/>
              <a:t>界定問題並從整體角度思考 (Frame the problem and look at the big picture)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取得資料 (Get the data)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探索資料以取得洞察 (Explore the data to gain insights)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準備資料，讓底層的資料樣態 (data patterns) 更容易被機器學習演算法擷取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嘗試多種模型 (models)，列出表現較佳的候選清單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微調 (fine-tune) 模型並組合 (ensemble) 成最終的解決方案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呈現你的解決方案 (Present your solution)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上線、監控與維護系統 (Launch, monitor, and maintain your system)</a:t>
            </a:r>
            <a:endParaRPr lang="zh-TW" alt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" name="頁尾版面配置區 6">
            <a:extLst>
              <a:ext uri="{FF2B5EF4-FFF2-40B4-BE49-F238E27FC236}">
                <a16:creationId xmlns:a16="http://schemas.microsoft.com/office/drawing/2014/main" id="{967616C3-0590-0FD3-4472-31D1447935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8" name="投影片編號版面配置區 7">
            <a:extLst>
              <a:ext uri="{FF2B5EF4-FFF2-40B4-BE49-F238E27FC236}">
                <a16:creationId xmlns:a16="http://schemas.microsoft.com/office/drawing/2014/main" id="{65524E61-8B45-42D7-2FAA-E1FA6EFD7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42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8">
            <a:extLst>
              <a:ext uri="{FF2B5EF4-FFF2-40B4-BE49-F238E27FC236}">
                <a16:creationId xmlns:a16="http://schemas.microsoft.com/office/drawing/2014/main" id="{8A80DE6D-7D11-CEEE-DF5E-C6C51A4AD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從整體角度思考 (Looking at the Big Picture)</a:t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endParaRPr lang="zh-TW" altLang="en-US" dirty="0"/>
          </a:p>
        </p:txBody>
      </p:sp>
      <p:sp>
        <p:nvSpPr>
          <p:cNvPr id="10" name="內容版面配置區 9">
            <a:extLst>
              <a:ext uri="{FF2B5EF4-FFF2-40B4-BE49-F238E27FC236}">
                <a16:creationId xmlns:a16="http://schemas.microsoft.com/office/drawing/2014/main" id="{53A6F9B7-9EFB-D6CC-A62E-0F0C858EB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TW" dirty="0"/>
              <a:t>界定問題 (Frame the problem)</a:t>
            </a:r>
          </a:p>
          <a:p>
            <a:pPr lvl="1"/>
            <a:r>
              <a:rPr lang="en-US" altLang="zh-TW" dirty="0"/>
              <a:t>專案目標 (objective) 與既有解法 (existing solutions)</a:t>
            </a:r>
          </a:p>
          <a:p>
            <a:endParaRPr lang="en-US" altLang="zh-TW" dirty="0"/>
          </a:p>
          <a:p>
            <a:r>
              <a:rPr lang="en-US" altLang="zh-TW" dirty="0"/>
              <a:t>選擇效能評估指標 (performance measure)</a:t>
            </a:r>
          </a:p>
          <a:p>
            <a:pPr lvl="1"/>
            <a:r>
              <a:rPr lang="en-US" altLang="zh-TW" dirty="0"/>
              <a:t>模型表現的評估準則 (criteria for model performance)</a:t>
            </a:r>
          </a:p>
          <a:p>
            <a:pPr lvl="1"/>
            <a:endParaRPr lang="en-US" altLang="zh-TW" dirty="0"/>
          </a:p>
          <a:p>
            <a:r>
              <a:rPr lang="en-US" altLang="zh-TW" dirty="0"/>
              <a:t>檢查假設 (check the assumptions)</a:t>
            </a:r>
          </a:p>
          <a:p>
            <a:pPr lvl="1"/>
            <a:r>
              <a:rPr lang="en-US" altLang="zh-TW" dirty="0"/>
              <a:t>本專案希望達成的成果是什麼？</a:t>
            </a:r>
          </a:p>
        </p:txBody>
      </p:sp>
      <p:sp>
        <p:nvSpPr>
          <p:cNvPr id="7" name="頁尾版面配置區 6">
            <a:extLst>
              <a:ext uri="{FF2B5EF4-FFF2-40B4-BE49-F238E27FC236}">
                <a16:creationId xmlns:a16="http://schemas.microsoft.com/office/drawing/2014/main" id="{72532444-C546-EA60-6FC6-9DBD70BCFA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8" name="投影片編號版面配置區 7">
            <a:extLst>
              <a:ext uri="{FF2B5EF4-FFF2-40B4-BE49-F238E27FC236}">
                <a16:creationId xmlns:a16="http://schemas.microsoft.com/office/drawing/2014/main" id="{0D0ECBE1-0301-D242-65F0-E492A1274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0227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5E715C-8EBF-FDD8-2F7C-3ABE30D4F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界定問題 (Frame the Problem)</a:t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8BFE11C-448B-4CAD-30D8-872B3B0550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了解專案目標，因為它將決定：</a:t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</a:p>
          <a:p>
            <a:pPr lvl="1"/>
            <a:r>
              <a:rPr lang="en-US" altLang="zh-TW" dirty="0"/>
              <a:t>如何界定問題</a:t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</a:p>
          <a:p>
            <a:pPr lvl="1"/>
            <a:r>
              <a:rPr lang="en-US" altLang="zh-TW" dirty="0"/>
              <a:t>選擇哪一類演算法 (algorithms)</a:t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</a:p>
          <a:p>
            <a:pPr lvl="1"/>
            <a:r>
              <a:rPr lang="en-US" altLang="zh-TW" dirty="0"/>
              <a:t>使用何種效能指標 (performance measure) 來評估模型</a:t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</a:p>
          <a:p>
            <a:pPr lvl="1"/>
            <a:r>
              <a:rPr lang="en-US" altLang="zh-TW" dirty="0"/>
              <a:t>需要投入多少工夫去調整 (tweak) 模型</a:t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</a:p>
          <a:p>
            <a:r>
              <a:rPr lang="en-US" altLang="zh-TW" dirty="0"/>
              <a:t>了解既有解法 (existing solution)</a:t>
            </a:r>
          </a:p>
          <a:p>
            <a:pPr lvl="1"/>
            <a:r>
              <a:rPr lang="en-US" altLang="zh-TW" dirty="0"/>
              <a:t>可作為效能比較的基準 (baseline)</a:t>
            </a:r>
          </a:p>
          <a:p>
            <a:pPr lvl="2"/>
            <a:r>
              <a:rPr lang="en-US" altLang="zh-TW" dirty="0" err="1"/>
              <a:t>例如：根據一組複雜規則 (rules) 的人工估算</a:t>
            </a:r>
            <a:r>
              <a:rPr lang="en-US" altLang="zh-TW" dirty="0"/>
              <a:t/>
            </a:r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9CD60C48-420E-F22D-1FF0-6DB450B894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3FBDBA3-A1EC-9F0C-09D1-C335B8E83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7819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1287F2F-CA4C-7B68-19BC-1659577DE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需要做的決策 (Decisions to Make)</a:t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06EBE9D-C60E-1844-B56E-CECB609B2D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屬於哪一種訓練監督 (training supervision)？</a:t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</a:p>
          <a:p>
            <a:pPr lvl="1"/>
            <a:r>
              <a:rPr lang="en-US" altLang="zh-TW" dirty="0"/>
              <a:t>Supervised、semi-supervised、self-supervised、或 reinforcement learning</a:t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</a:p>
          <a:p>
            <a:pPr lvl="1"/>
            <a:endParaRPr lang="en-US" altLang="zh-TW" dirty="0"/>
          </a:p>
          <a:p>
            <a:r>
              <a:rPr lang="en-US" altLang="zh-TW" dirty="0"/>
              <a:t>屬於 classification、regression，還是其他任務？</a:t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</a:p>
          <a:p>
            <a:endParaRPr lang="en-US" altLang="zh-TW" dirty="0"/>
          </a:p>
          <a:p>
            <a:r>
              <a:rPr lang="en-US" altLang="zh-TW" dirty="0"/>
              <a:t>Batch learning 還是 online learning？</a:t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</a:p>
          <a:p>
            <a:endParaRPr lang="en-US" altLang="zh-TW" dirty="0"/>
          </a:p>
          <a:p>
            <a:pPr marL="0" indent="0">
              <a:buNone/>
            </a:pPr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F720C358-F4CB-ABD0-51A2-F6AB111FEE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B8CA039-9B89-2663-2D56-DD8A3E975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0101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2B92A6C-5A92-2A49-57E8-A3D5D903C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本範例的決策結果 (Answers to the Decisions)</a:t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E670EF4-FDB0-6353-5DDB-4194C4AF36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Supervised learning</a:t>
            </a:r>
          </a:p>
          <a:p>
            <a:endParaRPr lang="en-US" altLang="zh-TW" dirty="0"/>
          </a:p>
          <a:p>
            <a:r>
              <a:rPr lang="en-US" altLang="zh-TW" dirty="0"/>
              <a:t>Regression</a:t>
            </a:r>
          </a:p>
          <a:p>
            <a:pPr lvl="1"/>
            <a:r>
              <a:rPr lang="en-US" altLang="zh-TW" dirty="0"/>
              <a:t>多變量迴歸 (Multiple regression)</a:t>
            </a:r>
            <a:r>
              <a:rPr lang="zh-TW" altLang="en-US" dirty="0"/>
              <a:t/>
            </a:r>
            <a:r>
              <a:rPr lang="en-US" altLang="zh-TW" dirty="0"/>
              <a:t/>
            </a:r>
          </a:p>
          <a:p>
            <a:pPr lvl="1"/>
            <a:r>
              <a:rPr lang="en-US" altLang="zh-TW" dirty="0"/>
              <a:t>單一目標迴歸 (Univariate regression)</a:t>
            </a:r>
          </a:p>
          <a:p>
            <a:endParaRPr lang="en-US" altLang="zh-TW" dirty="0"/>
          </a:p>
          <a:p>
            <a:r>
              <a:rPr lang="en-US" altLang="zh-TW" dirty="0"/>
              <a:t>批次學習 (Batch learning)</a:t>
            </a:r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14E49AFD-3BA4-1D3A-91A6-A1DAD4350B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484A1AD-61C6-F5A9-2576-35FAFD503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7041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0B5A68F-3B6C-BF6C-08C3-DC8D027BB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選擇效能指標 (Select a Performance Measure)</a:t>
            </a:r>
            <a:endParaRPr lang="zh-TW" altLang="en-US" dirty="0"/>
          </a:p>
        </p:txBody>
      </p:sp>
      <p:sp>
        <p:nvSpPr>
          <p:cNvPr id="10" name="內容版面配置區 9">
            <a:extLst>
              <a:ext uri="{FF2B5EF4-FFF2-40B4-BE49-F238E27FC236}">
                <a16:creationId xmlns:a16="http://schemas.microsoft.com/office/drawing/2014/main" id="{E51B122E-36B7-AAF4-8D1F-E96E86CE13D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zh-TW" dirty="0"/>
              <a:t>均方根誤差 (Root Mean Square Error)</a:t>
            </a:r>
          </a:p>
          <a:p>
            <a:pPr lvl="1"/>
            <a:r>
              <a:rPr lang="en-US" altLang="zh-TW" dirty="0"/>
              <a:t>RMSE</a:t>
            </a:r>
          </a:p>
          <a:p>
            <a:pPr lvl="1"/>
            <a:r>
              <a:rPr lang="en-US" altLang="zh-TW" dirty="0"/>
              <a:t>代表系統預測時平均會犯多大的誤差</a:t>
            </a:r>
          </a:p>
          <a:p>
            <a:pPr lvl="1"/>
            <a:r>
              <a:rPr lang="en-US" altLang="zh-TW" dirty="0"/>
              <a:t>對較大的誤差給予更高的權重 (penalty)</a:t>
            </a:r>
          </a:p>
          <a:p>
            <a:pPr lvl="1"/>
            <a:r>
              <a:rPr lang="en-US" altLang="zh-TW" dirty="0"/>
              <a:t>L2 norm</a:t>
            </a:r>
          </a:p>
          <a:p>
            <a:endParaRPr lang="en-US" altLang="zh-TW" dirty="0"/>
          </a:p>
          <a:p>
            <a:r>
              <a:rPr lang="en-US" altLang="zh-TW" dirty="0"/>
              <a:t>平均絕對誤差 (Mean Absolute Error)</a:t>
            </a:r>
          </a:p>
          <a:p>
            <a:pPr lvl="1"/>
            <a:r>
              <a:rPr lang="en-US" altLang="zh-TW" dirty="0"/>
              <a:t>MAE</a:t>
            </a:r>
          </a:p>
          <a:p>
            <a:pPr lvl="1"/>
            <a:r>
              <a:rPr lang="en-US" altLang="zh-TW" dirty="0"/>
              <a:t>當資料中有許多 outlier 時較適合使用</a:t>
            </a:r>
          </a:p>
          <a:p>
            <a:pPr lvl="1"/>
            <a:r>
              <a:rPr lang="en-US" altLang="zh-TW" dirty="0"/>
              <a:t>L1 norm</a:t>
            </a:r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BD456D2D-427E-D64E-E81D-9EB362F50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15ADD04-A5E9-F825-DD1A-BD33605C3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9</a:t>
            </a:fld>
            <a:endParaRPr lang="en-US"/>
          </a:p>
        </p:txBody>
      </p:sp>
      <p:pic>
        <p:nvPicPr>
          <p:cNvPr id="12" name="內容版面配置區 11">
            <a:extLst>
              <a:ext uri="{FF2B5EF4-FFF2-40B4-BE49-F238E27FC236}">
                <a16:creationId xmlns:a16="http://schemas.microsoft.com/office/drawing/2014/main" id="{8C71762B-8848-A0B8-4C56-437DAB5BC70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95708" y="1862426"/>
            <a:ext cx="5158092" cy="1081098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60CBD007-F4E3-246E-671F-64C455D61B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6966" y="4666586"/>
            <a:ext cx="4716132" cy="815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77016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95B2AB5-0A71-5983-DBDA-D6A9C0F04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70E2A65-19D7-0B93-0043-A3427B55D2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10</a:t>
            </a:fld>
            <a:endParaRPr 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C69B319F-853F-35E7-2A47-C675EF40D15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22192" y="172125"/>
            <a:ext cx="10093325" cy="954088"/>
          </a:xfrm>
        </p:spPr>
        <p:txBody>
          <a:bodyPr/>
          <a:lstStyle/>
          <a:p>
            <a:r>
              <a:rPr lang="en-US" altLang="zh-TW" dirty="0"/>
              <a:t>L1 與 L2 norm 的比較 (L1 vs. L2 Norm)</a:t>
            </a:r>
            <a:endParaRPr lang="zh-TW" altLang="en-US" dirty="0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D51AA51C-BD67-E823-B3BB-CD2B3BC216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2148" y="2076337"/>
            <a:ext cx="8607703" cy="4242109"/>
          </a:xfrm>
          <a:prstGeom prst="rect">
            <a:avLst/>
          </a:prstGeom>
        </p:spPr>
      </p:pic>
      <p:pic>
        <p:nvPicPr>
          <p:cNvPr id="9" name="內容版面配置區 11">
            <a:extLst>
              <a:ext uri="{FF2B5EF4-FFF2-40B4-BE49-F238E27FC236}">
                <a16:creationId xmlns:a16="http://schemas.microsoft.com/office/drawing/2014/main" id="{80B40A84-3B85-D1B5-945C-DA4318747D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2883" y="1265206"/>
            <a:ext cx="3455438" cy="724234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2D123FEC-744B-1123-1F84-EE7AA55ACB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75668" y="1331510"/>
            <a:ext cx="3120900" cy="539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4925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8">
            <a:extLst>
              <a:ext uri="{FF2B5EF4-FFF2-40B4-BE49-F238E27FC236}">
                <a16:creationId xmlns:a16="http://schemas.microsoft.com/office/drawing/2014/main" id="{6539F5E1-12D4-8477-834A-4A169BE90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機器學習專案檢核表 (ML Project Checklist)</a:t>
            </a:r>
            <a:endParaRPr lang="zh-TW" altLang="en-US" dirty="0"/>
          </a:p>
        </p:txBody>
      </p:sp>
      <p:sp>
        <p:nvSpPr>
          <p:cNvPr id="10" name="內容版面配置區 9">
            <a:extLst>
              <a:ext uri="{FF2B5EF4-FFF2-40B4-BE49-F238E27FC236}">
                <a16:creationId xmlns:a16="http://schemas.microsoft.com/office/drawing/2014/main" id="{B4A668FD-5916-CCF0-FF12-0F036A5836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界定問題並從整體角度思考 (Frame the problem and look at the big picture)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/>
              <a:t>取得資料 (Get the data)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探索資料以取得洞察 (Explore the data to gain insights)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準備資料，讓底層的資料樣態 (data patterns) 更容易被機器學習演算法擷取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嘗試多種模型 (models)，列出表現較佳的候選清單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微調 (fine-tune) 模型並組合 (ensemble) 成最終的解決方案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呈現你的解決方案 (Present your solution)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上線、監控與維護系統 (Launch, monitor, and maintain your system)</a:t>
            </a:r>
            <a:endParaRPr lang="zh-TW" alt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" name="頁尾版面配置區 6">
            <a:extLst>
              <a:ext uri="{FF2B5EF4-FFF2-40B4-BE49-F238E27FC236}">
                <a16:creationId xmlns:a16="http://schemas.microsoft.com/office/drawing/2014/main" id="{967616C3-0590-0FD3-4472-31D1447935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8" name="投影片編號版面配置區 7">
            <a:extLst>
              <a:ext uri="{FF2B5EF4-FFF2-40B4-BE49-F238E27FC236}">
                <a16:creationId xmlns:a16="http://schemas.microsoft.com/office/drawing/2014/main" id="{65524E61-8B45-42D7-2FAA-E1FA6EFD7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2172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30A975B0-2725-C02D-DE24-08D228B3F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取得資料並先把玩一下 (Get the Data and Play with It)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815F66A-A6F0-E56E-10E1-565A3EE20BB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zh-TW" dirty="0"/>
              <a:t>下載資料 (Download data)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9A14321-4349-B6ED-4D5F-8D1FDF1A9B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5A2FE767-819F-5E3D-B6A6-E30634E7C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12</a:t>
            </a:fld>
            <a:endParaRPr lang="en-US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E382CA8C-2D23-4963-9A59-29C0B03051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344081"/>
            <a:ext cx="3300437" cy="2928959"/>
          </a:xfrm>
          <a:prstGeom prst="rect">
            <a:avLst/>
          </a:prstGeom>
        </p:spPr>
      </p:pic>
      <p:sp>
        <p:nvSpPr>
          <p:cNvPr id="12" name="內容版面配置區 11">
            <a:extLst>
              <a:ext uri="{FF2B5EF4-FFF2-40B4-BE49-F238E27FC236}">
                <a16:creationId xmlns:a16="http://schemas.microsoft.com/office/drawing/2014/main" id="{937664A0-1995-662D-00EE-1A134C70DA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772261" y="1338068"/>
            <a:ext cx="5177899" cy="4654766"/>
          </a:xfrm>
        </p:spPr>
        <p:txBody>
          <a:bodyPr/>
          <a:lstStyle/>
          <a:p>
            <a:r>
              <a:rPr lang="en-US" altLang="zh-TW" dirty="0"/>
              <a:t>檢視資料結構 (Examine data structure)</a:t>
            </a:r>
          </a:p>
          <a:p>
            <a:endParaRPr lang="zh-TW" altLang="en-US" dirty="0"/>
          </a:p>
        </p:txBody>
      </p:sp>
      <p:pic>
        <p:nvPicPr>
          <p:cNvPr id="13" name="內容版面配置區 8">
            <a:extLst>
              <a:ext uri="{FF2B5EF4-FFF2-40B4-BE49-F238E27FC236}">
                <a16:creationId xmlns:a16="http://schemas.microsoft.com/office/drawing/2014/main" id="{9A1BF4CE-113C-F1EC-F367-A2F3EA7347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089" y="2223833"/>
            <a:ext cx="4595846" cy="2600344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0535C5B3-1B26-73E0-3044-3ECBB12B9E18}"/>
              </a:ext>
            </a:extLst>
          </p:cNvPr>
          <p:cNvSpPr txBox="1"/>
          <p:nvPr/>
        </p:nvSpPr>
        <p:spPr>
          <a:xfrm>
            <a:off x="316521" y="5623502"/>
            <a:ext cx="29178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hlinkClick r:id="rId5"/>
              </a:rPr>
              <a:t>https://lib.stat.cmu.edu/</a:t>
            </a:r>
            <a:r>
              <a:rPr lang="zh-TW" altLang="en-US" dirty="0"/>
              <a:t/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D7AB70DC-531F-8A83-948D-09667B2A6987}"/>
              </a:ext>
            </a:extLst>
          </p:cNvPr>
          <p:cNvSpPr txBox="1"/>
          <p:nvPr/>
        </p:nvSpPr>
        <p:spPr>
          <a:xfrm>
            <a:off x="403860" y="5273040"/>
            <a:ext cx="29529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資料來源 (Where the data was from)：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2904835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標題 9">
            <a:extLst>
              <a:ext uri="{FF2B5EF4-FFF2-40B4-BE49-F238E27FC236}">
                <a16:creationId xmlns:a16="http://schemas.microsoft.com/office/drawing/2014/main" id="{E00A7BF8-F65A-8D89-C5C2-ED111F386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F0A4DCA7-41E2-A7F8-44A2-2FDA0B69CA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檢視前幾筆資料 (head())</a:t>
            </a:r>
            <a:endParaRPr lang="zh-TW" altLang="en-US" dirty="0"/>
          </a:p>
        </p:txBody>
      </p:sp>
      <p:pic>
        <p:nvPicPr>
          <p:cNvPr id="9" name="內容版面配置區 8">
            <a:extLst>
              <a:ext uri="{FF2B5EF4-FFF2-40B4-BE49-F238E27FC236}">
                <a16:creationId xmlns:a16="http://schemas.microsoft.com/office/drawing/2014/main" id="{84CC1F9E-1E10-A2A5-7B8C-F6016058A31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1066800" y="3315205"/>
            <a:ext cx="4740275" cy="1403928"/>
          </a:xfrm>
          <a:prstGeom prst="rect">
            <a:avLst/>
          </a:prstGeom>
        </p:spPr>
      </p:pic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D5934568-4470-8A35-180E-02B8766D67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altLang="zh-TW" dirty="0"/>
              <a:t>檢視數值欄位的描述統計 (describe())</a:t>
            </a:r>
            <a:endParaRPr lang="zh-TW" altLang="en-US" dirty="0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7FA588EE-404A-CC49-E8B5-371F83D2393A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4"/>
          <a:stretch>
            <a:fillRect/>
          </a:stretch>
        </p:blipFill>
        <p:spPr>
          <a:xfrm>
            <a:off x="6400800" y="3065075"/>
            <a:ext cx="4762500" cy="1904188"/>
          </a:xfrm>
        </p:spPr>
      </p:pic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D745557-D826-82EE-4FB8-0D25D6070F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131F3AA-711C-9C03-8053-D64DC3B85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82843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8">
            <a:extLst>
              <a:ext uri="{FF2B5EF4-FFF2-40B4-BE49-F238E27FC236}">
                <a16:creationId xmlns:a16="http://schemas.microsoft.com/office/drawing/2014/main" id="{21D7AF00-2622-73D0-114D-83171111A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視覺化資料分布 (Visualize Distributions)</a:t>
            </a:r>
            <a:endParaRPr lang="zh-TW" altLang="en-US" dirty="0"/>
          </a:p>
        </p:txBody>
      </p:sp>
      <p:sp>
        <p:nvSpPr>
          <p:cNvPr id="7" name="頁尾版面配置區 6">
            <a:extLst>
              <a:ext uri="{FF2B5EF4-FFF2-40B4-BE49-F238E27FC236}">
                <a16:creationId xmlns:a16="http://schemas.microsoft.com/office/drawing/2014/main" id="{C50065B8-A1C1-0AD1-54A7-6EC407484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8" name="投影片編號版面配置區 7">
            <a:extLst>
              <a:ext uri="{FF2B5EF4-FFF2-40B4-BE49-F238E27FC236}">
                <a16:creationId xmlns:a16="http://schemas.microsoft.com/office/drawing/2014/main" id="{5790C6E2-68E1-2026-04C4-823C10713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14</a:t>
            </a:fld>
            <a:endParaRPr lang="en-US"/>
          </a:p>
        </p:txBody>
      </p:sp>
      <p:pic>
        <p:nvPicPr>
          <p:cNvPr id="14" name="Picture 2" descr="image_049.png">
            <a:extLst>
              <a:ext uri="{FF2B5EF4-FFF2-40B4-BE49-F238E27FC236}">
                <a16:creationId xmlns:a16="http://schemas.microsoft.com/office/drawing/2014/main" id="{A8940C44-1D0F-0E7E-EE14-21861E2021A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60232" y="1482511"/>
            <a:ext cx="7645212" cy="5028307"/>
          </a:xfrm>
          <a:prstGeom prst="rect">
            <a:avLst/>
          </a:prstGeom>
        </p:spPr>
      </p:pic>
      <p:sp>
        <p:nvSpPr>
          <p:cNvPr id="15" name="文字方塊 14">
            <a:extLst>
              <a:ext uri="{FF2B5EF4-FFF2-40B4-BE49-F238E27FC236}">
                <a16:creationId xmlns:a16="http://schemas.microsoft.com/office/drawing/2014/main" id="{848689D4-38C6-7277-47D1-B0F882A9E7A9}"/>
              </a:ext>
            </a:extLst>
          </p:cNvPr>
          <p:cNvSpPr txBox="1"/>
          <p:nvPr/>
        </p:nvSpPr>
        <p:spPr>
          <a:xfrm>
            <a:off x="8383424" y="1461331"/>
            <a:ext cx="338413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這些分布 (distributions) 有什麼特別之處？</a:t>
            </a:r>
          </a:p>
          <a:p>
            <a:pPr marL="285750" indent="-285750">
              <a:buFontTx/>
              <a:buChar char="-"/>
            </a:pPr>
            <a:r>
              <a:rPr lang="en-US" altLang="zh-TW" dirty="0"/>
              <a:t>Income 的單位是什麼？</a:t>
            </a:r>
          </a:p>
          <a:p>
            <a:pPr marL="285750" indent="-285750">
              <a:buFontTx/>
              <a:buChar char="-"/>
            </a:pPr>
            <a:r>
              <a:rPr lang="en-US" altLang="zh-TW" b="1" dirty="0"/>
              <a:t>Housing median age 與 median house value 是否被截尾 (capped)？</a:t>
            </a:r>
            <a:r>
              <a:rPr lang="en-US" altLang="zh-TW" dirty="0"/>
              <a:t/>
            </a:r>
            <a:r>
              <a:rPr lang="en-US" altLang="zh-TW" b="1" dirty="0"/>
              <a:t/>
            </a:r>
            <a:r>
              <a:rPr lang="en-US" altLang="zh-TW" dirty="0"/>
              <a:t/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6767531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24C3175-DF4D-9F7D-4B93-C57C39C32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建立 test set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1403983-2C0B-3BD3-0C65-1316942E63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741" y="1590157"/>
            <a:ext cx="5236949" cy="4434627"/>
          </a:xfrm>
        </p:spPr>
        <p:txBody>
          <a:bodyPr/>
          <a:lstStyle/>
          <a:p>
            <a:r>
              <a:rPr lang="en-US" altLang="zh-TW" dirty="0"/>
              <a:t>為了避免 data snooping bias (資料窺探偏差)</a:t>
            </a:r>
            <a:r>
              <a:rPr lang="en-US" altLang="zh-TW" b="1" dirty="0"/>
              <a:t/>
            </a:r>
          </a:p>
          <a:p>
            <a:r>
              <a:rPr lang="en-US" altLang="zh-TW" dirty="0"/>
              <a:t>Test set 與 training set 的區分</a:t>
            </a:r>
          </a:p>
          <a:p>
            <a:pPr lvl="1"/>
            <a:r>
              <a:rPr lang="en-US" altLang="zh-TW" dirty="0"/>
              <a:t>簡單隨機切分 (simple random split)</a:t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</a:p>
          <a:p>
            <a:pPr lvl="2"/>
            <a:r>
              <a:rPr lang="en-US" altLang="zh-TW" dirty="0"/>
              <a:t>使用固定 random seed 的抽樣方式</a:t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36DD6235-C265-A8F1-131A-C121D99B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64BEEBFF-329C-79EB-02B4-A8CD1FFF2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15</a:t>
            </a:fld>
            <a:endParaRPr 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9FE91602-FEA2-BD83-6B87-28139EE876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6637" y="1680764"/>
            <a:ext cx="4524408" cy="2476518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580BA1DE-52B5-197F-9B5B-9F5D70589BD6}"/>
              </a:ext>
            </a:extLst>
          </p:cNvPr>
          <p:cNvSpPr txBox="1"/>
          <p:nvPr/>
        </p:nvSpPr>
        <p:spPr>
          <a:xfrm>
            <a:off x="6337447" y="1300850"/>
            <a:ext cx="14350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簡單切分 (simple split)</a:t>
            </a:r>
            <a:r>
              <a:rPr lang="zh-TW" altLang="en-US" dirty="0"/>
              <a:t/>
            </a:r>
            <a:r>
              <a:rPr lang="en-US" altLang="zh-TW" dirty="0"/>
              <a:t/>
            </a:r>
            <a:endParaRPr lang="zh-TW" altLang="en-US" dirty="0"/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83B7FE11-F169-1F7D-6FC1-98CD7EC63C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4775" y="5442155"/>
            <a:ext cx="6906587" cy="582629"/>
          </a:xfrm>
          <a:prstGeom prst="rect">
            <a:avLst/>
          </a:prstGeom>
        </p:spPr>
      </p:pic>
      <p:sp>
        <p:nvSpPr>
          <p:cNvPr id="14" name="文字方塊 13">
            <a:extLst>
              <a:ext uri="{FF2B5EF4-FFF2-40B4-BE49-F238E27FC236}">
                <a16:creationId xmlns:a16="http://schemas.microsoft.com/office/drawing/2014/main" id="{7CDDACF6-C1DC-5202-6B75-F6D48B5034B6}"/>
              </a:ext>
            </a:extLst>
          </p:cNvPr>
          <p:cNvSpPr txBox="1"/>
          <p:nvPr/>
        </p:nvSpPr>
        <p:spPr>
          <a:xfrm>
            <a:off x="2254775" y="4963827"/>
            <a:ext cx="32666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使用固定 random_state 的切分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022670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E93F6E4-6824-9521-1E67-19E7E8D52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分層抽樣 (Stratified Sampling)</a:t>
            </a:r>
            <a:r>
              <a:rPr lang="zh-TW" altLang="en-US" dirty="0"/>
              <a:t/>
            </a:r>
            <a:r>
              <a:rPr lang="en-US" altLang="zh-TW" dirty="0"/>
              <a:t/>
            </a:r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06826607-CBCA-C436-EF1C-CCF9F0AC30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58E845E0-D16F-D7F3-B2C6-04EE0F2C2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16</a:t>
            </a:fld>
            <a:endParaRPr lang="en-US"/>
          </a:p>
        </p:txBody>
      </p:sp>
      <p:pic>
        <p:nvPicPr>
          <p:cNvPr id="6" name="Picture 2" descr="image_051.png">
            <a:extLst>
              <a:ext uri="{FF2B5EF4-FFF2-40B4-BE49-F238E27FC236}">
                <a16:creationId xmlns:a16="http://schemas.microsoft.com/office/drawing/2014/main" id="{C359A76D-2C9E-34FB-D7A0-235FC3F399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73694" y="1572866"/>
            <a:ext cx="4485039" cy="2871388"/>
          </a:xfrm>
          <a:prstGeom prst="rect">
            <a:avLst/>
          </a:prstGeom>
        </p:spPr>
      </p:pic>
      <p:pic>
        <p:nvPicPr>
          <p:cNvPr id="7" name="Picture 2" descr="image_052.png">
            <a:extLst>
              <a:ext uri="{FF2B5EF4-FFF2-40B4-BE49-F238E27FC236}">
                <a16:creationId xmlns:a16="http://schemas.microsoft.com/office/drawing/2014/main" id="{F41915AC-FDD7-863D-7D69-56DF883921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2504" y="4650911"/>
            <a:ext cx="5580090" cy="1850097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1C2B4058-016A-9457-6970-1B63B076D9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44471" y="1895109"/>
            <a:ext cx="5917177" cy="1412113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29B99E8F-9AC1-38DC-5295-39303AD62F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71041" y="4003072"/>
            <a:ext cx="5210213" cy="290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93569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8">
            <a:extLst>
              <a:ext uri="{FF2B5EF4-FFF2-40B4-BE49-F238E27FC236}">
                <a16:creationId xmlns:a16="http://schemas.microsoft.com/office/drawing/2014/main" id="{6539F5E1-12D4-8477-834A-4A169BE90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機器學習專案檢核表 (ML Project Checklist)</a:t>
            </a:r>
            <a:endParaRPr lang="zh-TW" altLang="en-US" dirty="0"/>
          </a:p>
        </p:txBody>
      </p:sp>
      <p:sp>
        <p:nvSpPr>
          <p:cNvPr id="10" name="內容版面配置區 9">
            <a:extLst>
              <a:ext uri="{FF2B5EF4-FFF2-40B4-BE49-F238E27FC236}">
                <a16:creationId xmlns:a16="http://schemas.microsoft.com/office/drawing/2014/main" id="{B4A668FD-5916-CCF0-FF12-0F036A5836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界定問題並從整體角度思考 (Frame the problem and look at the big picture)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取得資料 (Get the data)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/>
              <a:t>探索資料以取得洞察 (Explore the data to gain insights)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準備資料，讓底層的資料樣態 (data patterns) 更容易被機器學習演算法擷取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嘗試多種模型 (models)，列出表現較佳的候選清單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微調 (fine-tune) 模型並組合 (ensemble) 成最終的解決方案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呈現你的解決方案 (Present your solution)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上線、監控與維護系統 (Launch, monitor, and maintain your system)</a:t>
            </a:r>
            <a:endParaRPr lang="zh-TW" alt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" name="頁尾版面配置區 6">
            <a:extLst>
              <a:ext uri="{FF2B5EF4-FFF2-40B4-BE49-F238E27FC236}">
                <a16:creationId xmlns:a16="http://schemas.microsoft.com/office/drawing/2014/main" id="{967616C3-0590-0FD3-4472-31D1447935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8" name="投影片編號版面配置區 7">
            <a:extLst>
              <a:ext uri="{FF2B5EF4-FFF2-40B4-BE49-F238E27FC236}">
                <a16:creationId xmlns:a16="http://schemas.microsoft.com/office/drawing/2014/main" id="{65524E61-8B45-42D7-2FAA-E1FA6EFD7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2117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A312B3B-5255-8422-25FD-DAC3C13EA6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探索資料以取得洞察 (Explore the Data to Gain Insights)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4C21451-6A73-B9D9-AC34-3DA47EC77B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視覺化資料 (Visualize the data)</a:t>
            </a:r>
          </a:p>
          <a:p>
            <a:endParaRPr lang="en-US" altLang="zh-TW" dirty="0"/>
          </a:p>
          <a:p>
            <a:r>
              <a:rPr lang="en-US" altLang="zh-TW" dirty="0"/>
              <a:t>尋找相關 (correlations)</a:t>
            </a:r>
          </a:p>
          <a:p>
            <a:endParaRPr lang="en-US" altLang="zh-TW" dirty="0"/>
          </a:p>
          <a:p>
            <a:r>
              <a:rPr lang="en-US" altLang="zh-TW" dirty="0"/>
              <a:t>嘗試組合屬性 (experiment with attributes)</a:t>
            </a:r>
          </a:p>
          <a:p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93A26A36-84AD-3ACA-5C7E-AD0D5A9CA1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6600D672-2A75-3A2B-14C5-1426F44A46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1854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7BBA2C93-D1A4-EE54-7C53-FA028BA68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10" name="內容版面配置區 9">
            <a:extLst>
              <a:ext uri="{FF2B5EF4-FFF2-40B4-BE49-F238E27FC236}">
                <a16:creationId xmlns:a16="http://schemas.microsoft.com/office/drawing/2014/main" id="{BA684ECF-3208-1FA9-9748-3E66BCE7B4B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315913" y="2377204"/>
            <a:ext cx="5178425" cy="2868767"/>
          </a:xfrm>
        </p:spPr>
      </p:pic>
      <p:pic>
        <p:nvPicPr>
          <p:cNvPr id="12" name="內容版面配置區 11">
            <a:extLst>
              <a:ext uri="{FF2B5EF4-FFF2-40B4-BE49-F238E27FC236}">
                <a16:creationId xmlns:a16="http://schemas.microsoft.com/office/drawing/2014/main" id="{9412C938-D0A5-A240-16E2-26DEF1ADD24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6189546" y="1188856"/>
            <a:ext cx="5874634" cy="5129590"/>
          </a:xfrm>
        </p:spPr>
      </p:pic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BCC56B86-858F-5F1F-4A18-6A2214324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09A836A-4C7E-E44A-5CB7-14017338E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1828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4C16D7-9A0B-A3F9-F79E-6BB5C1FF6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9558" y="119104"/>
            <a:ext cx="8886884" cy="953669"/>
          </a:xfrm>
        </p:spPr>
        <p:txBody>
          <a:bodyPr>
            <a:normAutofit fontScale="90000"/>
          </a:bodyPr>
          <a:lstStyle/>
          <a:p>
            <a:r>
              <a:rPr lang="en-US" altLang="zh-TW" dirty="0"/>
              <a:t>尋找 features 之間的關係 (Look for Relationships)</a:t>
            </a:r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A15FA9B6-80D0-3382-C4E8-C3C2A0BA16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7E7A430-1B8D-218F-BF22-2A96C5310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20</a:t>
            </a:fld>
            <a:endParaRPr lang="en-US"/>
          </a:p>
        </p:txBody>
      </p:sp>
      <p:pic>
        <p:nvPicPr>
          <p:cNvPr id="6" name="Picture 2" descr="image_056.png">
            <a:extLst>
              <a:ext uri="{FF2B5EF4-FFF2-40B4-BE49-F238E27FC236}">
                <a16:creationId xmlns:a16="http://schemas.microsoft.com/office/drawing/2014/main" id="{D9B9037D-5F90-7396-D728-B6D89D08E8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649245" y="2163243"/>
            <a:ext cx="6607510" cy="4433888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1516BA97-F76D-8950-B036-BD959D8EAA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7314" y="1144136"/>
            <a:ext cx="4591084" cy="947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91944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6E7765-A214-4A70-B34D-EDBB32B190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Median income 與 median house value 的關係</a:t>
            </a:r>
            <a:endParaRPr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E915C3A6-C4F1-1AD5-2C7F-8BFA657181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433255" y="2503462"/>
            <a:ext cx="5978656" cy="3884668"/>
          </a:xfrm>
        </p:spPr>
      </p:pic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C91A9B91-EF29-E5A0-8AE0-EDDBE35925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DA6FEE1-8D64-E920-CA71-58A3AF005D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21</a:t>
            </a:fld>
            <a:endParaRPr 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DA5133A8-3F86-42D8-62CB-55BDB3E6C7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1575" y="1755790"/>
            <a:ext cx="8373132" cy="492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95324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33B532-CE8F-36A8-20C9-2E004DC108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693" y="347181"/>
            <a:ext cx="9332423" cy="953669"/>
          </a:xfrm>
        </p:spPr>
        <p:txBody>
          <a:bodyPr>
            <a:normAutofit fontScale="90000"/>
          </a:bodyPr>
          <a:lstStyle/>
          <a:p>
            <a:r>
              <a:rPr lang="en-US" altLang="zh-TW" dirty="0"/>
              <a:t>不同相關程度下的散布圖 (Scatterplots for Various Correlations)</a:t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endParaRPr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2CF5FB97-B62F-5062-EE3C-746F004F9B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39622" y="1529093"/>
            <a:ext cx="9332423" cy="4887721"/>
          </a:xfrm>
        </p:spPr>
      </p:pic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F0A0447F-A0C8-9613-687B-607586ED16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9B6A6A5-28A8-A105-21B1-A3C232284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16190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37AFD9F-88CD-BCA3-8AAF-CD83C8080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嘗試屬性組合 (Experiment with Attribute Combinations)</a:t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8CF8966-298E-1580-62D9-2D3575866C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探索並清理資料 (Explore and clean data)</a:t>
            </a:r>
          </a:p>
          <a:p>
            <a:pPr lvl="1"/>
            <a:r>
              <a:rPr lang="en-US" altLang="zh-TW" dirty="0"/>
              <a:t>在建模前找出資料中的怪異現象 (quirks) 並加以清理</a:t>
            </a:r>
          </a:p>
          <a:p>
            <a:pPr lvl="1"/>
            <a:r>
              <a:rPr lang="en-US" altLang="zh-TW" dirty="0"/>
              <a:t>找出有意義的屬性相關 (特別是與 target 的關係)</a:t>
            </a:r>
          </a:p>
          <a:p>
            <a:endParaRPr lang="en-US" altLang="zh-TW" dirty="0"/>
          </a:p>
          <a:p>
            <a:r>
              <a:rPr lang="en-US" altLang="zh-TW" dirty="0"/>
              <a:t>處理偏斜分布 (Handle skewed distributions)</a:t>
            </a:r>
          </a:p>
          <a:p>
            <a:pPr lvl="1"/>
            <a:r>
              <a:rPr lang="en-US" altLang="zh-TW" dirty="0"/>
              <a:t>某些 features 呈現右偏 (right-skewed) 分布</a:t>
            </a:r>
          </a:p>
          <a:p>
            <a:pPr lvl="1"/>
            <a:r>
              <a:rPr lang="en-US" altLang="zh-TW" dirty="0"/>
              <a:t>視需要進行轉換 (transformation)，例如 log、square root</a:t>
            </a:r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FC29DF32-5DA6-5DDF-1B79-E6A3FBED4D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632E9C9D-23E8-D8C4-6206-FE9C0A88B7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7196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C2A2B27-CC88-0374-8468-7742E3430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建立有資訊量的 features (Create Informative Features)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81361B0-C73A-3C62-B8FC-7D2057D8B0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組合屬性以強化其資訊意義</a:t>
            </a:r>
          </a:p>
          <a:p>
            <a:endParaRPr lang="en-US" altLang="zh-TW" dirty="0"/>
          </a:p>
          <a:p>
            <a:r>
              <a:rPr lang="en-US" altLang="zh-TW" dirty="0"/>
              <a:t>範例：</a:t>
            </a:r>
          </a:p>
          <a:p>
            <a:pPr lvl="1"/>
            <a:r>
              <a:rPr lang="en-US" altLang="zh-TW" dirty="0"/>
              <a:t>Rooms per household (每戶房間數)</a:t>
            </a:r>
          </a:p>
          <a:p>
            <a:pPr lvl="1"/>
            <a:r>
              <a:rPr lang="en-US" altLang="zh-TW" dirty="0"/>
              <a:t>Bedrooms per room (臥室占房間比例)</a:t>
            </a:r>
          </a:p>
          <a:p>
            <a:pPr lvl="1"/>
            <a:r>
              <a:rPr lang="en-US" altLang="zh-TW" dirty="0"/>
              <a:t>Population per household (每戶人口數)</a:t>
            </a:r>
          </a:p>
          <a:p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ADFF10A7-2C63-D8C1-AF4B-00F040CB36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12E1E9D-2B83-57D2-5D4C-1A61E0F5F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24</a:t>
            </a:fld>
            <a:endParaRPr 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1FD9202B-AA8C-F515-1E06-65E02A886E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2988" y="2683365"/>
            <a:ext cx="6757468" cy="572667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A6030ECE-5751-3C53-A85E-3E2AC6308A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6599" y="3423580"/>
            <a:ext cx="4835898" cy="2601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49437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8">
            <a:extLst>
              <a:ext uri="{FF2B5EF4-FFF2-40B4-BE49-F238E27FC236}">
                <a16:creationId xmlns:a16="http://schemas.microsoft.com/office/drawing/2014/main" id="{6539F5E1-12D4-8477-834A-4A169BE90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機器學習專案檢核表 (ML Project Checklist)</a:t>
            </a:r>
            <a:endParaRPr lang="zh-TW" altLang="en-US" dirty="0"/>
          </a:p>
        </p:txBody>
      </p:sp>
      <p:sp>
        <p:nvSpPr>
          <p:cNvPr id="10" name="內容版面配置區 9">
            <a:extLst>
              <a:ext uri="{FF2B5EF4-FFF2-40B4-BE49-F238E27FC236}">
                <a16:creationId xmlns:a16="http://schemas.microsoft.com/office/drawing/2014/main" id="{B4A668FD-5916-CCF0-FF12-0F036A5836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界定問題並從整體角度思考 (Frame the problem and look at the big picture)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取得資料 (Get the data)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探索資料以取得洞察 (Explore the data to gain insights)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/>
              <a:t>準備資料，讓底層的資料樣態 (data patterns) 更容易被機器學習演算法擷取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嘗試多種模型 (models)，列出表現較佳的候選清單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微調 (fine-tune) 模型並組合 (ensemble) 成最終的解決方案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呈現你的解決方案 (Present your solution)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上線、監控與維護系統 (Launch, monitor, and maintain your system)</a:t>
            </a:r>
            <a:endParaRPr lang="zh-TW" alt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" name="頁尾版面配置區 6">
            <a:extLst>
              <a:ext uri="{FF2B5EF4-FFF2-40B4-BE49-F238E27FC236}">
                <a16:creationId xmlns:a16="http://schemas.microsoft.com/office/drawing/2014/main" id="{967616C3-0590-0FD3-4472-31D1447935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8" name="投影片編號版面配置區 7">
            <a:extLst>
              <a:ext uri="{FF2B5EF4-FFF2-40B4-BE49-F238E27FC236}">
                <a16:creationId xmlns:a16="http://schemas.microsoft.com/office/drawing/2014/main" id="{65524E61-8B45-42D7-2FAA-E1FA6EFD7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5812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39AFADD-1707-49EA-D636-AB917FF724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資料前處理與特徵工程 (Preprocessing / Feature Engineering)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8F22826-1AB4-435F-DE53-19D595643F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清理資料 (Clean the data)</a:t>
            </a:r>
          </a:p>
          <a:p>
            <a:r>
              <a:rPr lang="en-US" altLang="zh-TW" dirty="0"/>
              <a:t>重新編碼文字與類別變項 (recode categorical attributes)</a:t>
            </a:r>
          </a:p>
          <a:p>
            <a:r>
              <a:rPr lang="en-US" altLang="zh-TW" dirty="0"/>
              <a:t>特徵縮放與轉換 (Feature scaling &amp; transformation)</a:t>
            </a:r>
          </a:p>
          <a:p>
            <a:pPr lvl="1"/>
            <a:r>
              <a:rPr lang="en-US" altLang="zh-TW" dirty="0"/>
              <a:t>自訂轉換器 (Custom transformers)</a:t>
            </a:r>
          </a:p>
          <a:p>
            <a:r>
              <a:rPr lang="en-US" altLang="zh-TW" dirty="0"/>
              <a:t>轉換管線 (Transformation pipelines)</a:t>
            </a:r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AE45BAD7-9BFE-B53E-E8A0-37D2686B8D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DC60018-682A-0A42-3C19-3344104AD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3592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AA1E8E-E958-0341-5116-29FCB7A1F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清理資料 (Clean the Data)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ACCDA3E-E847-E648-8075-EDA1761FA72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zh-TW" dirty="0"/>
              <a:t>分離 predictors 與 target</a:t>
            </a:r>
          </a:p>
          <a:p>
            <a:endParaRPr lang="en-US" altLang="zh-TW" dirty="0"/>
          </a:p>
          <a:p>
            <a:r>
              <a:rPr lang="en-US" altLang="zh-TW" dirty="0"/>
              <a:t>處理 missing values</a:t>
            </a:r>
          </a:p>
          <a:p>
            <a:pPr lvl="1"/>
            <a:r>
              <a:rPr lang="en-US" altLang="zh-TW" dirty="0"/>
              <a:t>刪除有缺值的樣本 (drop rows)</a:t>
            </a:r>
          </a:p>
          <a:p>
            <a:pPr lvl="1"/>
            <a:r>
              <a:rPr lang="en-US" altLang="zh-TW" dirty="0"/>
              <a:t>刪除該欄 features (drop column)</a:t>
            </a:r>
          </a:p>
          <a:p>
            <a:pPr lvl="1"/>
            <a:r>
              <a:rPr lang="en-US" altLang="zh-TW" dirty="0"/>
              <a:t>填補 (imputation)</a:t>
            </a:r>
          </a:p>
          <a:p>
            <a:pPr lvl="2"/>
            <a:r>
              <a:rPr lang="en-US" altLang="zh-TW" dirty="0"/>
              <a:t>填入合理數值</a:t>
            </a:r>
          </a:p>
          <a:p>
            <a:pPr lvl="3"/>
            <a:r>
              <a:rPr lang="en-US" altLang="zh-TW" dirty="0"/>
              <a:t>零、平均數 (mean)、中位數 (median)</a:t>
            </a:r>
          </a:p>
          <a:p>
            <a:pPr lvl="1"/>
            <a:endParaRPr lang="zh-TW" altLang="en-US" dirty="0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61F1F94C-56D0-8231-D8BB-C26D6B6091A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5454110" y="1618121"/>
            <a:ext cx="6312984" cy="431903"/>
          </a:xfrm>
        </p:spPr>
      </p:pic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BD3AB88D-224C-D063-E960-DE43C2BC99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51FCAF7E-7E79-43BD-E9D5-B5DED15DF8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27</a:t>
            </a:fld>
            <a:endParaRPr lang="en-US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D2C35111-EB0B-D809-2EBB-39A54E6504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4467" y="3601616"/>
            <a:ext cx="6578722" cy="1353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91150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A7DCDC9-4C8C-8AB2-5E67-98C53747C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處理文字與類別屬性 (Handling Text and Categorical Attributes)</a:t>
            </a:r>
            <a:endParaRPr lang="zh-TW" altLang="en-US" dirty="0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A5B41AD6-2EA0-761D-44D0-91960E93E20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240356" y="2510867"/>
            <a:ext cx="4324924" cy="2411473"/>
          </a:xfrm>
        </p:spPr>
      </p:pic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2AB30DC-FB11-4C61-714F-CD75E280C5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21652" y="1476480"/>
            <a:ext cx="5177899" cy="1738668"/>
          </a:xfrm>
        </p:spPr>
        <p:txBody>
          <a:bodyPr/>
          <a:lstStyle/>
          <a:p>
            <a:r>
              <a:rPr lang="en-US" altLang="zh-TW" dirty="0"/>
              <a:t>大多數 ML 演算法只能處理數值 (numerical) 資料</a:t>
            </a:r>
          </a:p>
          <a:p>
            <a:pPr lvl="1"/>
            <a:r>
              <a:rPr lang="en-US" altLang="zh-TW" dirty="0"/>
              <a:t>將 categorical labels 轉換成數值</a:t>
            </a:r>
            <a:endParaRPr lang="zh-TW" altLang="en-US" dirty="0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89331BE-DBD9-6F9C-9EAA-B21D1BBE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51B46AD-6AE4-8C9A-9E28-6FA76FFC0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28</a:t>
            </a:fld>
            <a:endParaRPr lang="en-US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56475D98-4468-C399-FCEC-26E9286590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522" y="5547339"/>
            <a:ext cx="6756374" cy="953669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9B6F6642-4C9E-C869-E1F7-7FBC3B6077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8798" y="2860074"/>
            <a:ext cx="2760776" cy="2174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8340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D72E43E-F61C-A5CD-56CD-D411E5A07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獨熱編碼 (One-hot Encoding)</a:t>
            </a:r>
            <a:endParaRPr lang="zh-TW" altLang="en-US" dirty="0"/>
          </a:p>
        </p:txBody>
      </p:sp>
      <p:pic>
        <p:nvPicPr>
          <p:cNvPr id="10" name="內容版面配置區 9">
            <a:extLst>
              <a:ext uri="{FF2B5EF4-FFF2-40B4-BE49-F238E27FC236}">
                <a16:creationId xmlns:a16="http://schemas.microsoft.com/office/drawing/2014/main" id="{439E29C3-6CD8-E929-8A35-880115D1E88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096000" y="2098931"/>
            <a:ext cx="4569823" cy="2848168"/>
          </a:xfrm>
        </p:spPr>
      </p:pic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BD20083-E2FC-97B9-4159-D63EAF6EB4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0D473C5-D512-7FBA-E262-E4B1DF8F1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29</a:t>
            </a:fld>
            <a:endParaRPr lang="en-US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6A07ED70-E212-B4CD-5C31-16B74B88F07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4"/>
          <a:stretch>
            <a:fillRect/>
          </a:stretch>
        </p:blipFill>
        <p:spPr>
          <a:xfrm>
            <a:off x="704855" y="2106551"/>
            <a:ext cx="3616422" cy="2848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51845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492F4FC-CB12-DCA6-873B-57A425BD0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縮放與分布轉換 (Scaling &amp; Distribution Transformation)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F090887-058B-448B-50B1-D1C7523FC81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zh-TW" dirty="0"/>
              <a:t>Min-Max scaling</a:t>
            </a:r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標準化 (Standardization)</a:t>
            </a:r>
            <a:endParaRPr lang="zh-TW" altLang="en-US" dirty="0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7DE9318D-79DE-CFA6-B596-A10FB6DF838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4697399" y="2416400"/>
            <a:ext cx="6831830" cy="2399511"/>
          </a:xfrm>
        </p:spPr>
      </p:pic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FC147F9-6C32-1A54-9346-D6499B55EB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B02DA5F-AC51-56D0-2454-08EC8DCA19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30</a:t>
            </a:fld>
            <a:endParaRPr lang="en-US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5DE90DD-54FD-FFC8-091C-69500F1C2F33}"/>
              </a:ext>
            </a:extLst>
          </p:cNvPr>
          <p:cNvSpPr txBox="1"/>
          <p:nvPr/>
        </p:nvSpPr>
        <p:spPr>
          <a:xfrm>
            <a:off x="5087205" y="1497792"/>
            <a:ext cx="63470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把右偏 (positively skewed) 分布轉成接近常態分布 (normal)，避免大多數資料被壓縮到很小的範圍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318207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6D6A1E6-F7EF-9B02-8DFF-9F6E6A87F5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分箱 (Bucketizing / Binning)</a:t>
            </a:r>
            <a:endParaRPr lang="zh-TW" altLang="en-US" dirty="0"/>
          </a:p>
        </p:txBody>
      </p:sp>
      <p:pic>
        <p:nvPicPr>
          <p:cNvPr id="16" name="內容版面配置區 15" descr="一張含有 文字, 圖表, 螢幕擷取畫面, 行 的圖片&#10;&#10;AI 產生的內容可能不正確。">
            <a:extLst>
              <a:ext uri="{FF2B5EF4-FFF2-40B4-BE49-F238E27FC236}">
                <a16:creationId xmlns:a16="http://schemas.microsoft.com/office/drawing/2014/main" id="{65C328C2-4063-5FB6-BFEC-CD615CFF15A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275" y="1823811"/>
            <a:ext cx="10382250" cy="3967616"/>
          </a:xfrm>
        </p:spPr>
      </p:pic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0564FAE-80FC-6AD8-E46E-35696A54B1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5FFD91A-9894-CB79-4395-5A5F6DD43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859940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ADA9FE2-92CC-CDF5-13EB-AEB4D8C9DD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等距 (equal range) 與分位 (quantile) 分箱的比較</a:t>
            </a:r>
            <a:endParaRPr lang="zh-TW" altLang="en-US" dirty="0"/>
          </a:p>
        </p:txBody>
      </p:sp>
      <p:sp>
        <p:nvSpPr>
          <p:cNvPr id="13" name="文字版面配置區 12">
            <a:extLst>
              <a:ext uri="{FF2B5EF4-FFF2-40B4-BE49-F238E27FC236}">
                <a16:creationId xmlns:a16="http://schemas.microsoft.com/office/drawing/2014/main" id="{70743EE5-A05A-D191-C921-3140E20E3F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9" name="內容版面配置區 8" descr="一張含有 文字, 圖表, 繪圖, 螢幕擷取畫面 的圖片&#10;&#10;AI 產生的內容可能不正確。">
            <a:extLst>
              <a:ext uri="{FF2B5EF4-FFF2-40B4-BE49-F238E27FC236}">
                <a16:creationId xmlns:a16="http://schemas.microsoft.com/office/drawing/2014/main" id="{2A0D522A-C135-4F01-1FE9-8EF0140AB1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3961" y="2322513"/>
            <a:ext cx="4625952" cy="3389312"/>
          </a:xfrm>
        </p:spPr>
      </p:pic>
      <p:sp>
        <p:nvSpPr>
          <p:cNvPr id="14" name="文字版面配置區 13">
            <a:extLst>
              <a:ext uri="{FF2B5EF4-FFF2-40B4-BE49-F238E27FC236}">
                <a16:creationId xmlns:a16="http://schemas.microsoft.com/office/drawing/2014/main" id="{B11CBAFF-0004-BB49-5A5F-EA4402F4A1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12" name="內容版面配置區 11" descr="一張含有 文字, 螢幕擷取畫面, 繪圖, 圖表 的圖片&#10;&#10;AI 產生的內容可能不正確。">
            <a:extLst>
              <a:ext uri="{FF2B5EF4-FFF2-40B4-BE49-F238E27FC236}">
                <a16:creationId xmlns:a16="http://schemas.microsoft.com/office/drawing/2014/main" id="{51FE5C6B-CAB0-389E-6E09-F251C7338F1E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2984" y="2322513"/>
            <a:ext cx="4658131" cy="3389312"/>
          </a:xfrm>
          <a:prstGeom prst="rect">
            <a:avLst/>
          </a:prstGeom>
        </p:spPr>
      </p:pic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4C681E9F-117B-CC57-6BE7-6B5C6C9F1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5B8DE3AA-928A-8ADC-46D2-5E49242C4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144179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63A99731-3F6F-1DB8-DAD4-03DC47C52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處理多峰分布 (multimodal distribution)：使用 Radial Basis Function (RBF)</a:t>
            </a:r>
            <a:br>
              <a:rPr lang="en-US" altLang="zh-TW" dirty="0"/>
            </a:br>
            <a:r>
              <a:rPr lang="en-US" altLang="zh-TW" dirty="0"/>
              <a:t/>
            </a:r>
            <a:endParaRPr lang="zh-TW" altLang="en-US" dirty="0"/>
          </a:p>
        </p:txBody>
      </p:sp>
      <p:pic>
        <p:nvPicPr>
          <p:cNvPr id="10" name="內容版面配置區 9">
            <a:extLst>
              <a:ext uri="{FF2B5EF4-FFF2-40B4-BE49-F238E27FC236}">
                <a16:creationId xmlns:a16="http://schemas.microsoft.com/office/drawing/2014/main" id="{B4743B07-2228-EAEE-EAD9-070C8609C7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87901" y="1513985"/>
            <a:ext cx="6223320" cy="533427"/>
          </a:xfrm>
        </p:spPr>
      </p:pic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3766908-DCB7-8109-A8FE-AE788C725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F8DF382-E0F6-3BBA-D6BE-7F69F2D7C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33</a:t>
            </a:fld>
            <a:endParaRPr lang="en-US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DE5527FB-96F0-7A5C-362C-BB61CDA7BB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901" y="2313248"/>
            <a:ext cx="6388260" cy="4005198"/>
          </a:xfrm>
          <a:prstGeom prst="rect">
            <a:avLst/>
          </a:prstGeom>
        </p:spPr>
      </p:pic>
      <p:sp>
        <p:nvSpPr>
          <p:cNvPr id="15" name="文字方塊 14">
            <a:extLst>
              <a:ext uri="{FF2B5EF4-FFF2-40B4-BE49-F238E27FC236}">
                <a16:creationId xmlns:a16="http://schemas.microsoft.com/office/drawing/2014/main" id="{E1D51A31-F8B7-E90F-AB1B-6B3984E886AB}"/>
              </a:ext>
            </a:extLst>
          </p:cNvPr>
          <p:cNvSpPr txBox="1"/>
          <p:nvPr/>
        </p:nvSpPr>
        <p:spPr>
          <a:xfrm>
            <a:off x="7850124" y="2313248"/>
            <a:ext cx="35036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新 feature「age_simil_35」代表與其中一個模態 (mode) 之間的相似度 (similarity)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23678724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12EFA27-590A-43B5-34C6-F85E005B8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自訂轉換器 (Custom Transformers)</a:t>
            </a:r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A2A3CEF-6BDB-2FAF-06EF-A2335F2191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EB435FF-EAA2-A6B2-4BA4-F24E3FC6C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34</a:t>
            </a:fld>
            <a:endParaRPr 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327E3A33-300B-4FF4-73FA-BD5392F6F9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431" y="2080876"/>
            <a:ext cx="5327924" cy="730288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CA8B5261-B77E-1846-E738-CA0D9EA216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431" y="3733311"/>
            <a:ext cx="5893103" cy="533427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B1942093-5FB4-C9D1-0A36-EF9FA7520C70}"/>
              </a:ext>
            </a:extLst>
          </p:cNvPr>
          <p:cNvSpPr txBox="1"/>
          <p:nvPr/>
        </p:nvSpPr>
        <p:spPr>
          <a:xfrm>
            <a:off x="243734" y="1567051"/>
            <a:ext cx="2666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/>
              <a:t>Log transformer</a:t>
            </a:r>
            <a:endParaRPr lang="zh-TW" altLang="en-US" b="1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FFEDDEA-89DB-0C31-9E72-1B30AE4DEBA3}"/>
              </a:ext>
            </a:extLst>
          </p:cNvPr>
          <p:cNvSpPr txBox="1"/>
          <p:nvPr/>
        </p:nvSpPr>
        <p:spPr>
          <a:xfrm>
            <a:off x="243734" y="3057350"/>
            <a:ext cx="2666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/>
              <a:t>RBF transformer</a:t>
            </a:r>
            <a:endParaRPr lang="zh-TW" altLang="en-US" b="1" dirty="0"/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FEAF3AA7-3BFD-4075-66CB-3642C71852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4431" y="4608957"/>
            <a:ext cx="6140766" cy="730288"/>
          </a:xfrm>
          <a:prstGeom prst="rect">
            <a:avLst/>
          </a:prstGeom>
        </p:spPr>
      </p:pic>
      <p:pic>
        <p:nvPicPr>
          <p:cNvPr id="17" name="圖片 16">
            <a:extLst>
              <a:ext uri="{FF2B5EF4-FFF2-40B4-BE49-F238E27FC236}">
                <a16:creationId xmlns:a16="http://schemas.microsoft.com/office/drawing/2014/main" id="{66D72F7A-C7E8-A8C3-40F9-48C481EE26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15197" y="2129045"/>
            <a:ext cx="5327924" cy="633621"/>
          </a:xfrm>
          <a:prstGeom prst="rect">
            <a:avLst/>
          </a:prstGeom>
        </p:spPr>
      </p:pic>
      <p:sp>
        <p:nvSpPr>
          <p:cNvPr id="18" name="文字方塊 17">
            <a:extLst>
              <a:ext uri="{FF2B5EF4-FFF2-40B4-BE49-F238E27FC236}">
                <a16:creationId xmlns:a16="http://schemas.microsoft.com/office/drawing/2014/main" id="{33F869D3-8199-A72A-2E0C-E0364B85AF9C}"/>
              </a:ext>
            </a:extLst>
          </p:cNvPr>
          <p:cNvSpPr txBox="1"/>
          <p:nvPr/>
        </p:nvSpPr>
        <p:spPr>
          <a:xfrm>
            <a:off x="6528494" y="1643122"/>
            <a:ext cx="2666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/>
              <a:t>Ratio transformer</a:t>
            </a:r>
            <a:endParaRPr lang="zh-TW" altLang="en-US" b="1" dirty="0"/>
          </a:p>
        </p:txBody>
      </p:sp>
    </p:spTree>
    <p:extLst>
      <p:ext uri="{BB962C8B-B14F-4D97-AF65-F5344CB8AC3E}">
        <p14:creationId xmlns:p14="http://schemas.microsoft.com/office/powerpoint/2010/main" val="326543287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803A98F-0F0B-B42F-399A-C8444AE3B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為什麼需要這些轉換？(Rationales for Transformation)</a:t>
            </a:r>
            <a:endParaRPr lang="zh-TW" altLang="en-US" dirty="0"/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196306BF-5266-1CCB-CC3A-B206D1561DD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altLang="zh-TW" dirty="0"/>
              <a:t>基本原則：</a:t>
            </a:r>
          </a:p>
          <a:p>
            <a:pPr lvl="1"/>
            <a:r>
              <a:rPr lang="en-US" altLang="zh-TW" dirty="0"/>
              <a:t>大部分 ML 演算法只接受數值輸入，且不能處理 missing values</a:t>
            </a:r>
          </a:p>
          <a:p>
            <a:r>
              <a:rPr lang="en-US" altLang="zh-TW" dirty="0"/>
              <a:t>Missing values：</a:t>
            </a:r>
          </a:p>
          <a:p>
            <a:pPr lvl="1"/>
            <a:r>
              <a:rPr lang="en-US" altLang="zh-TW" dirty="0"/>
              <a:t>Numerical features  用中位數 (median) 取代</a:t>
            </a:r>
            <a:r>
              <a:rPr lang="en-US" altLang="zh-TW" dirty="0">
                <a:sym typeface="Wingdings" panose="05000000000000000000" pitchFamily="2" charset="2"/>
              </a:rPr>
              <a:t/>
            </a:r>
            <a:r>
              <a:rPr lang="en-US" altLang="zh-TW" dirty="0"/>
              <a:t/>
            </a:r>
          </a:p>
          <a:p>
            <a:pPr lvl="1"/>
            <a:r>
              <a:rPr lang="en-US" altLang="zh-TW" dirty="0"/>
              <a:t>Categorical features  用出現次數最多的類別 (most frequent) 取代</a:t>
            </a:r>
            <a:r>
              <a:rPr lang="en-US" altLang="zh-TW" dirty="0">
                <a:sym typeface="Wingdings" panose="05000000000000000000" pitchFamily="2" charset="2"/>
              </a:rPr>
              <a:t/>
            </a:r>
            <a:r>
              <a:rPr lang="en-US" altLang="zh-TW" dirty="0"/>
              <a:t/>
            </a:r>
          </a:p>
          <a:p>
            <a:r>
              <a:rPr lang="en-US" altLang="zh-TW" dirty="0"/>
              <a:t>Categorical feature  改用 one-hot encoding</a:t>
            </a:r>
            <a:r>
              <a:rPr lang="en-US" altLang="zh-TW" dirty="0">
                <a:sym typeface="Wingdings" panose="05000000000000000000" pitchFamily="2" charset="2"/>
              </a:rPr>
              <a:t/>
            </a:r>
            <a:r>
              <a:rPr lang="en-US" altLang="zh-TW" dirty="0"/>
              <a:t/>
            </a:r>
          </a:p>
          <a:p>
            <a:r>
              <a:rPr lang="en-US" altLang="zh-TW" dirty="0"/>
              <a:t>計算並加入比例型 features (ratio features)</a:t>
            </a:r>
          </a:p>
          <a:p>
            <a:pPr lvl="1"/>
            <a:r>
              <a:rPr lang="en-US" altLang="zh-TW" dirty="0" err="1"/>
              <a:t>例如 bedrooms_ratio、rooms_per_house、people_per_house</a:t>
            </a:r>
            <a:r>
              <a:rPr lang="en-US" altLang="zh-TW" dirty="0"/>
              <a:t/>
            </a:r>
            <a:r>
              <a:rPr lang="en-US" altLang="zh-TW" dirty="0" err="1"/>
              <a:t/>
            </a:r>
            <a:r>
              <a:rPr lang="en-US" altLang="zh-TW" dirty="0"/>
              <a:t/>
            </a:r>
            <a:r>
              <a:rPr lang="en-US" altLang="zh-TW" dirty="0" err="1"/>
              <a:t/>
            </a:r>
            <a:endParaRPr lang="en-US" altLang="zh-TW" dirty="0"/>
          </a:p>
          <a:p>
            <a:pPr lvl="1"/>
            <a:r>
              <a:rPr lang="en-US" altLang="zh-TW" dirty="0"/>
              <a:t>這些 features 可能與 median house value 有較強的相關，因此有助於模型表現</a:t>
            </a:r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3C8E257C-F9A0-880C-2EF1-89D98B8164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1F3A72F-EB1A-5784-18B4-B430E52F9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35</a:t>
            </a:fld>
            <a:endParaRPr lang="en-US"/>
          </a:p>
        </p:txBody>
      </p:sp>
      <p:sp>
        <p:nvSpPr>
          <p:cNvPr id="12" name="內容版面配置區 11">
            <a:extLst>
              <a:ext uri="{FF2B5EF4-FFF2-40B4-BE49-F238E27FC236}">
                <a16:creationId xmlns:a16="http://schemas.microsoft.com/office/drawing/2014/main" id="{A96FFF9A-AC0B-B36D-C1DC-BD4C5730871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altLang="zh-TW" dirty="0"/>
              <a:t>加入 cluster similarity features</a:t>
            </a:r>
          </a:p>
          <a:p>
            <a:pPr lvl="1"/>
            <a:r>
              <a:rPr lang="en-US" altLang="zh-TW" dirty="0"/>
              <a:t>對模型而言可能比原始的經緯度 (latitude/longitude) 更有用</a:t>
            </a:r>
          </a:p>
          <a:p>
            <a:r>
              <a:rPr lang="en-US" altLang="zh-TW" dirty="0"/>
              <a:t>長尾分布 (long-tail) features  取 log</a:t>
            </a:r>
            <a:r>
              <a:rPr lang="en-US" altLang="zh-TW" dirty="0">
                <a:sym typeface="Wingdings" panose="05000000000000000000" pitchFamily="2" charset="2"/>
              </a:rPr>
              <a:t/>
            </a:r>
            <a:r>
              <a:rPr lang="en-US" altLang="zh-TW" dirty="0"/>
              <a:t/>
            </a:r>
          </a:p>
          <a:p>
            <a:pPr lvl="1"/>
            <a:r>
              <a:rPr lang="en-US" altLang="zh-TW" b="1" dirty="0"/>
              <a:t>大多數模型偏好接近 uniform 或 Gaussian distribution 的 features</a:t>
            </a:r>
            <a:r>
              <a:rPr lang="en-US" altLang="zh-TW" dirty="0"/>
              <a:t/>
            </a:r>
          </a:p>
          <a:p>
            <a:r>
              <a:rPr lang="en-US" altLang="zh-TW" dirty="0"/>
              <a:t>所有 numerical features 會被標準化 (standardized)</a:t>
            </a:r>
          </a:p>
          <a:p>
            <a:pPr lvl="1"/>
            <a:r>
              <a:rPr lang="en-US" altLang="zh-TW" dirty="0"/>
              <a:t>大多數 ML 演算法偏好所有 features 處於相近的尺度 (scale)</a:t>
            </a:r>
            <a:endParaRPr lang="zh-TW" altLang="en-US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82589866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803A98F-0F0B-B42F-399A-C8444AE3B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建立 transformation pipeline 的實作方式</a:t>
            </a:r>
            <a:endParaRPr lang="zh-TW" altLang="en-US" dirty="0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3C8E257C-F9A0-880C-2EF1-89D98B8164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1F3A72F-EB1A-5784-18B4-B430E52F9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36</a:t>
            </a:fld>
            <a:endParaRPr lang="en-US"/>
          </a:p>
        </p:txBody>
      </p:sp>
      <p:pic>
        <p:nvPicPr>
          <p:cNvPr id="9" name="內容版面配置區 9">
            <a:extLst>
              <a:ext uri="{FF2B5EF4-FFF2-40B4-BE49-F238E27FC236}">
                <a16:creationId xmlns:a16="http://schemas.microsoft.com/office/drawing/2014/main" id="{8DA77BFF-97AE-9239-52F9-F1288EFB3A9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487950" y="1595891"/>
            <a:ext cx="6046450" cy="4722555"/>
          </a:xfrm>
        </p:spPr>
      </p:pic>
    </p:spTree>
    <p:extLst>
      <p:ext uri="{BB962C8B-B14F-4D97-AF65-F5344CB8AC3E}">
        <p14:creationId xmlns:p14="http://schemas.microsoft.com/office/powerpoint/2010/main" val="177198876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8">
            <a:extLst>
              <a:ext uri="{FF2B5EF4-FFF2-40B4-BE49-F238E27FC236}">
                <a16:creationId xmlns:a16="http://schemas.microsoft.com/office/drawing/2014/main" id="{6539F5E1-12D4-8477-834A-4A169BE90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機器學習專案檢核表 (ML Project Checklist)</a:t>
            </a:r>
            <a:endParaRPr lang="zh-TW" altLang="en-US" dirty="0"/>
          </a:p>
        </p:txBody>
      </p:sp>
      <p:sp>
        <p:nvSpPr>
          <p:cNvPr id="10" name="內容版面配置區 9">
            <a:extLst>
              <a:ext uri="{FF2B5EF4-FFF2-40B4-BE49-F238E27FC236}">
                <a16:creationId xmlns:a16="http://schemas.microsoft.com/office/drawing/2014/main" id="{B4A668FD-5916-CCF0-FF12-0F036A5836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界定問題並從整體角度思考 (Frame the problem and look at the big picture)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取得資料 (Get the data)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探索資料以取得洞察 (Explore the data to gain insights)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準備資料，讓底層的資料樣態 (data patterns) 更容易被機器學習演算法擷取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/>
              <a:t>嘗試多種模型 (models)，列出表現較佳的候選清單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微調 (fine-tune) 模型並組合 (ensemble) 成最終的解決方案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呈現你的解決方案 (Present your solution)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上線、監控與維護系統 (Launch, monitor, and maintain your system)</a:t>
            </a:r>
            <a:endParaRPr lang="zh-TW" alt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" name="頁尾版面配置區 6">
            <a:extLst>
              <a:ext uri="{FF2B5EF4-FFF2-40B4-BE49-F238E27FC236}">
                <a16:creationId xmlns:a16="http://schemas.microsoft.com/office/drawing/2014/main" id="{967616C3-0590-0FD3-4472-31D1447935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8" name="投影片編號版面配置區 7">
            <a:extLst>
              <a:ext uri="{FF2B5EF4-FFF2-40B4-BE49-F238E27FC236}">
                <a16:creationId xmlns:a16="http://schemas.microsoft.com/office/drawing/2014/main" id="{65524E61-8B45-42D7-2FAA-E1FA6EFD7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16814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DB541A4-961F-7B5E-3708-F2ACC123D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模型選擇 (Model Selection)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35B52F9-4B75-F355-560F-D2F0BB4607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在 training set 上訓練並評估</a:t>
            </a:r>
          </a:p>
          <a:p>
            <a:pPr lvl="1"/>
            <a:r>
              <a:rPr lang="en-US" altLang="zh-TW" dirty="0"/>
              <a:t>先以預設超參數 (default hyperparameters) 嘗試多種模型</a:t>
            </a:r>
          </a:p>
          <a:p>
            <a:pPr lvl="1"/>
            <a:r>
              <a:rPr lang="en-US" altLang="zh-TW" dirty="0"/>
              <a:t>從中挑出表現較佳的候選模型</a:t>
            </a:r>
          </a:p>
          <a:p>
            <a:endParaRPr lang="en-US" altLang="zh-TW" dirty="0"/>
          </a:p>
          <a:p>
            <a:r>
              <a:rPr lang="en-US" altLang="zh-TW" dirty="0"/>
              <a:t>交叉驗證 (Cross-validation)</a:t>
            </a:r>
          </a:p>
          <a:p>
            <a:pPr lvl="1"/>
            <a:r>
              <a:rPr lang="en-US" altLang="zh-TW" dirty="0"/>
              <a:t>可獲得更穩定的模型效能評估</a:t>
            </a:r>
          </a:p>
          <a:p>
            <a:pPr lvl="2"/>
            <a:r>
              <a:rPr lang="en-US" altLang="zh-TW" dirty="0"/>
              <a:t>可同時報告平均 (mean) 與標準差 (std)</a:t>
            </a:r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4FBF5136-793F-4983-5B24-9B5D39C0C6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DF364E4-3CD1-C4BB-0723-87716D7E0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39554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7">
            <a:extLst>
              <a:ext uri="{FF2B5EF4-FFF2-40B4-BE49-F238E27FC236}">
                <a16:creationId xmlns:a16="http://schemas.microsoft.com/office/drawing/2014/main" id="{BDB50F33-ECC2-328A-064B-E99FACEC33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訓練一個模型 (Training a Model)</a:t>
            </a:r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69E29022-884B-A39F-F386-7CC4D378E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F3990C5-8CF0-F84B-84BE-CADF81B38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39</a:t>
            </a:fld>
            <a:endParaRPr lang="en-US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7995D1C3-2696-ED0B-D017-83EF1E9F91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269" y="1908794"/>
            <a:ext cx="5683542" cy="882695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89D1AE9F-7171-AFC7-08AD-605A23A36F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060" y="3507683"/>
            <a:ext cx="7493385" cy="1117657"/>
          </a:xfrm>
          <a:prstGeom prst="rect">
            <a:avLst/>
          </a:prstGeom>
        </p:spPr>
      </p:pic>
      <p:sp>
        <p:nvSpPr>
          <p:cNvPr id="14" name="文字方塊 13">
            <a:extLst>
              <a:ext uri="{FF2B5EF4-FFF2-40B4-BE49-F238E27FC236}">
                <a16:creationId xmlns:a16="http://schemas.microsoft.com/office/drawing/2014/main" id="{C580C09E-BF20-E186-06F8-17211BF12854}"/>
              </a:ext>
            </a:extLst>
          </p:cNvPr>
          <p:cNvSpPr txBox="1"/>
          <p:nvPr/>
        </p:nvSpPr>
        <p:spPr>
          <a:xfrm>
            <a:off x="574431" y="1429266"/>
            <a:ext cx="1052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訓練 (Training)</a:t>
            </a:r>
            <a:endParaRPr lang="zh-TW" altLang="en-US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F0F09255-7EF9-522F-FFE4-78F050560DBC}"/>
              </a:ext>
            </a:extLst>
          </p:cNvPr>
          <p:cNvSpPr txBox="1"/>
          <p:nvPr/>
        </p:nvSpPr>
        <p:spPr>
          <a:xfrm>
            <a:off x="574431" y="3061145"/>
            <a:ext cx="23006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對部分樣本進行預測 (Selective Prediction)</a:t>
            </a:r>
            <a:endParaRPr lang="zh-TW" altLang="en-US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9024570D-E212-F8C8-411B-1ADB748173CE}"/>
              </a:ext>
            </a:extLst>
          </p:cNvPr>
          <p:cNvSpPr txBox="1"/>
          <p:nvPr/>
        </p:nvSpPr>
        <p:spPr>
          <a:xfrm>
            <a:off x="574431" y="4918804"/>
            <a:ext cx="23952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整體效能 (Overall Performance)</a:t>
            </a:r>
            <a:endParaRPr lang="zh-TW" altLang="en-US" dirty="0"/>
          </a:p>
        </p:txBody>
      </p:sp>
      <p:pic>
        <p:nvPicPr>
          <p:cNvPr id="18" name="圖片 17">
            <a:extLst>
              <a:ext uri="{FF2B5EF4-FFF2-40B4-BE49-F238E27FC236}">
                <a16:creationId xmlns:a16="http://schemas.microsoft.com/office/drawing/2014/main" id="{09D34706-6C50-5BD4-B9BC-E70E452FB6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7269" y="5356353"/>
            <a:ext cx="6858352" cy="1327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109205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E1C5E3-5BA3-3A23-3C93-81D6EA43F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另一個模型：決策樹 (Decision Tree)</a:t>
            </a:r>
            <a:endParaRPr lang="zh-TW" altLang="en-US" dirty="0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51F2150B-C748-6587-EA46-0E5059A040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378616-BDBF-F397-3281-2C552F82D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40</a:t>
            </a:fld>
            <a:endParaRPr 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26091DA5-48E7-FF8C-E679-B0273AE9F2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0321" y="1821792"/>
            <a:ext cx="7747398" cy="882695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DCCC2D91-EBDD-E152-E0A8-7CB60FA4C8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0321" y="3260691"/>
            <a:ext cx="6953607" cy="1327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456241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F18DB3A-A5D2-E5BD-87BC-62CC7EA6D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利用 cross-validation 進行更可靠的評估</a:t>
            </a:r>
            <a:endParaRPr lang="zh-TW" altLang="en-US" dirty="0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67AB7368-C5DA-FD77-C7DF-2967CA72D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43D698D-FBF6-3ABE-69F1-8A47E6969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41</a:t>
            </a:fld>
            <a:endParaRPr 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47C335B1-EB7E-2244-5579-4EDAE453C3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1034" y="2027532"/>
            <a:ext cx="7353678" cy="882695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F33E10A7-63A7-C480-8BEA-673FB33E38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3442" y="3429000"/>
            <a:ext cx="3524431" cy="2298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46798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F18DB3A-A5D2-E5BD-87BC-62CC7EA6D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對 Random Forest 進行 cross-validation</a:t>
            </a:r>
            <a:endParaRPr lang="zh-TW" altLang="en-US" dirty="0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67AB7368-C5DA-FD77-C7DF-2967CA72D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43D698D-FBF6-3ABE-69F1-8A47E6969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42</a:t>
            </a:fld>
            <a:endParaRPr 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FBEF9D37-245E-D898-C2D9-13064EFAC3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5924" y="1836841"/>
            <a:ext cx="7550538" cy="1358970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6996350A-4FEC-5C6E-6E09-D6F92FD1AF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6454" y="3662189"/>
            <a:ext cx="3721291" cy="2298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097313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8">
            <a:extLst>
              <a:ext uri="{FF2B5EF4-FFF2-40B4-BE49-F238E27FC236}">
                <a16:creationId xmlns:a16="http://schemas.microsoft.com/office/drawing/2014/main" id="{6539F5E1-12D4-8477-834A-4A169BE90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機器學習專案檢核表 (ML Project Checklist)</a:t>
            </a:r>
            <a:endParaRPr lang="zh-TW" altLang="en-US" dirty="0"/>
          </a:p>
        </p:txBody>
      </p:sp>
      <p:sp>
        <p:nvSpPr>
          <p:cNvPr id="10" name="內容版面配置區 9">
            <a:extLst>
              <a:ext uri="{FF2B5EF4-FFF2-40B4-BE49-F238E27FC236}">
                <a16:creationId xmlns:a16="http://schemas.microsoft.com/office/drawing/2014/main" id="{B4A668FD-5916-CCF0-FF12-0F036A5836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界定問題並從整體角度思考 (Frame the problem and look at the big picture)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取得資料 (Get the data)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探索資料以取得洞察 (Explore the data to gain insights)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準備資料，讓底層的資料樣態 (data patterns) 更容易被機器學習演算法擷取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嘗試多種模型 (models)，列出表現較佳的候選清單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/>
              <a:t>微調 (fine-tune) 模型並組合 (ensemble) 成最終的解決方案</a:t>
            </a: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/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呈現你的解決方案 (Present your solution)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上線、監控與維護系統 (Launch, monitor, and maintain your system)</a:t>
            </a:r>
            <a:endParaRPr lang="zh-TW" alt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" name="頁尾版面配置區 6">
            <a:extLst>
              <a:ext uri="{FF2B5EF4-FFF2-40B4-BE49-F238E27FC236}">
                <a16:creationId xmlns:a16="http://schemas.microsoft.com/office/drawing/2014/main" id="{967616C3-0590-0FD3-4472-31D1447935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8" name="投影片編號版面配置區 7">
            <a:extLst>
              <a:ext uri="{FF2B5EF4-FFF2-40B4-BE49-F238E27FC236}">
                <a16:creationId xmlns:a16="http://schemas.microsoft.com/office/drawing/2014/main" id="{65524E61-8B45-42D7-2FAA-E1FA6EFD7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37079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386CD97-0658-7F8A-BE5B-2CBF3C89A4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微調模型 (Fine-tune the Model)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8F8BB68-54CE-28DB-0305-F40B5A7EA7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altLang="zh-TW" dirty="0"/>
              <a:t>Grid search</a:t>
            </a:r>
          </a:p>
          <a:p>
            <a:pPr lvl="1"/>
            <a:r>
              <a:rPr lang="en-US" altLang="zh-TW" dirty="0"/>
              <a:t>適合 hyperparameter 搜尋空間較小的情境</a:t>
            </a:r>
          </a:p>
          <a:p>
            <a:r>
              <a:rPr lang="en-US" altLang="zh-TW" dirty="0"/>
              <a:t>Randomized search</a:t>
            </a:r>
          </a:p>
          <a:p>
            <a:pPr lvl="1"/>
            <a:r>
              <a:rPr lang="en-US" altLang="zh-TW" dirty="0"/>
              <a:t>適合 hyperparameter 搜尋空間較大的情境</a:t>
            </a:r>
          </a:p>
          <a:p>
            <a:r>
              <a:rPr lang="en-US" altLang="zh-TW" dirty="0"/>
              <a:t>集成方法 (Ensemble methods)</a:t>
            </a:r>
          </a:p>
          <a:p>
            <a:pPr lvl="1"/>
            <a:r>
              <a:rPr lang="en-US" altLang="zh-TW" dirty="0"/>
              <a:t>將多個模型疊加 (stacking) 以最佳化預測</a:t>
            </a:r>
          </a:p>
          <a:p>
            <a:r>
              <a:rPr lang="en-US" altLang="zh-TW" dirty="0"/>
              <a:t>分析最佳模型及其錯誤 (errors)</a:t>
            </a:r>
          </a:p>
          <a:p>
            <a:pPr lvl="1"/>
            <a:r>
              <a:rPr lang="en-US" altLang="zh-TW" dirty="0"/>
              <a:t>從 feature importance 與錯誤型態中取得洞察</a:t>
            </a:r>
          </a:p>
          <a:p>
            <a:r>
              <a:rPr lang="en-US" altLang="zh-TW" dirty="0"/>
              <a:t>在 test set 上評估整體系統</a:t>
            </a:r>
            <a:r>
              <a:rPr lang="en-US" altLang="zh-TW" b="1" dirty="0"/>
              <a:t/>
            </a:r>
          </a:p>
          <a:p>
            <a:pPr lvl="1"/>
            <a:r>
              <a:rPr lang="en-US" altLang="zh-TW" dirty="0"/>
              <a:t>持續監控效能變化 (performance drift)</a:t>
            </a:r>
            <a:r>
              <a:rPr lang="en-US" altLang="zh-TW" b="1" dirty="0"/>
              <a:t/>
            </a:r>
          </a:p>
          <a:p>
            <a:pPr lvl="1"/>
            <a:endParaRPr lang="en-US" altLang="zh-TW" b="1" dirty="0"/>
          </a:p>
          <a:p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6FE6BE0D-BD48-BE62-855D-7E312B096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ADCBE15-5BFA-296E-2BA9-3EE0848B10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998636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182C76-3BC2-08D0-6C9F-3B2F3033E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Grid Search 與 Random Search 的比較</a:t>
            </a:r>
            <a:endParaRPr lang="zh-TW" altLang="en-US" dirty="0"/>
          </a:p>
        </p:txBody>
      </p:sp>
      <p:pic>
        <p:nvPicPr>
          <p:cNvPr id="7" name="內容版面配置區 6" descr="一張含有 文字, 螢幕擷取畫面, 圖表, 字型 的圖片&#10;&#10;AI 產生的內容可能不正確。">
            <a:extLst>
              <a:ext uri="{FF2B5EF4-FFF2-40B4-BE49-F238E27FC236}">
                <a16:creationId xmlns:a16="http://schemas.microsoft.com/office/drawing/2014/main" id="{3757196D-D240-4649-8830-5502BFB1BE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4489" y="1590675"/>
            <a:ext cx="8745822" cy="4433888"/>
          </a:xfrm>
        </p:spPr>
      </p:pic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1605A121-A72C-2F68-F83D-4A716D072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76D66A9-02BB-7B21-2C74-6BBA60B9C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58475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D91B1F0-3904-CB5C-BA4B-F0A0248323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Grid Search 範例</a:t>
            </a:r>
            <a:endParaRPr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0AFBC540-568B-C172-08CF-EF6E76287F0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01256" y="1800929"/>
            <a:ext cx="6375728" cy="3479979"/>
          </a:xfrm>
        </p:spPr>
      </p:pic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0560BFE-241A-9934-F5C6-6FD69DD68F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C960551-4FCB-0ECB-DD9C-5C989B60F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152770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5A1673E-8973-4F8D-2F9D-855127D16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集成學習 (Ensemble Learning)</a:t>
            </a:r>
            <a:endParaRPr lang="zh-TW" altLang="en-US" dirty="0"/>
          </a:p>
        </p:txBody>
      </p:sp>
      <p:pic>
        <p:nvPicPr>
          <p:cNvPr id="7" name="內容版面配置區 6" descr="一張含有 文字, 圖表, 螢幕擷取畫面, 行 的圖片&#10;&#10;AI 產生的內容可能不正確。">
            <a:extLst>
              <a:ext uri="{FF2B5EF4-FFF2-40B4-BE49-F238E27FC236}">
                <a16:creationId xmlns:a16="http://schemas.microsoft.com/office/drawing/2014/main" id="{4298F59F-3C07-6D3F-D60E-55E3332A5D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4495" y="1300850"/>
            <a:ext cx="9362829" cy="5266592"/>
          </a:xfrm>
        </p:spPr>
      </p:pic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A67412E-F326-B655-A5C8-D96C8B6E63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6935A242-3844-8027-67D9-41957556E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469246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4B422BE-5CFA-5511-A0D9-74C271DDD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依照 feature importance 與錯誤分析來挑選與調整 features</a:t>
            </a:r>
            <a:endParaRPr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E71A9F67-0BC7-0861-12C8-38AF8FA31E1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629365" y="2757128"/>
            <a:ext cx="4724435" cy="2105040"/>
          </a:xfrm>
        </p:spPr>
      </p:pic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BA236470-73E3-18A2-32D1-3BDA56DED8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0FAFFFA-002D-E03D-4BBC-E0EA2D1A1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48</a:t>
            </a:fld>
            <a:endParaRPr 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A8901CCE-F620-3358-3527-4126BB8662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760" y="3121816"/>
            <a:ext cx="5157825" cy="614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727130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2A11D13-C620-B6BE-1084-C964DEC38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在 test set 上評估效能</a:t>
            </a:r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3C7B87CB-4FD3-F5B6-393C-44DA2DBAD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CFE083C-680A-A70F-5668-C734D3867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49</a:t>
            </a:fld>
            <a:endParaRPr 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A1FE326B-A65C-5DA7-E1A3-D91F0B6A03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0331" y="1835068"/>
            <a:ext cx="7156818" cy="1593932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880C6D5D-EA05-C348-71C0-2A729D3CC9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8771" y="3959276"/>
            <a:ext cx="6369377" cy="1828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765595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0DDFA4C-15A9-A8EC-8912-7FB92FBAD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訓練與測試的整體流程 (Flow of Training and Testing)</a:t>
            </a:r>
            <a:endParaRPr lang="zh-TW" altLang="en-US" dirty="0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221547C0-45E1-207C-ACC1-225F02B01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E4459EE-C354-91D1-BA59-8AAA887B7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50</a:t>
            </a:fld>
            <a:endParaRPr 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C2E6B40F-E116-CDE5-6B5B-5AE78C41D8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6517" y="1802029"/>
            <a:ext cx="7899806" cy="3924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754206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8">
            <a:extLst>
              <a:ext uri="{FF2B5EF4-FFF2-40B4-BE49-F238E27FC236}">
                <a16:creationId xmlns:a16="http://schemas.microsoft.com/office/drawing/2014/main" id="{6539F5E1-12D4-8477-834A-4A169BE90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機器學習專案檢核表 (ML Project Checklist)</a:t>
            </a:r>
            <a:endParaRPr lang="zh-TW" altLang="en-US" dirty="0"/>
          </a:p>
        </p:txBody>
      </p:sp>
      <p:sp>
        <p:nvSpPr>
          <p:cNvPr id="10" name="內容版面配置區 9">
            <a:extLst>
              <a:ext uri="{FF2B5EF4-FFF2-40B4-BE49-F238E27FC236}">
                <a16:creationId xmlns:a16="http://schemas.microsoft.com/office/drawing/2014/main" id="{B4A668FD-5916-CCF0-FF12-0F036A5836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界定問題並從整體角度思考 (Frame the problem and look at the big picture)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取得資料 (Get the data)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探索資料以取得洞察 (Explore the data to gain insights)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準備資料，讓底層的資料樣態 (data patterns) 更容易被機器學習演算法擷取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嘗試多種模型 (models)，列出表現較佳的候選清單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微調 (fine-tune) 模型並組合 (ensemble) 成最終的解決方案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呈現你的解決方案 (Present your solution)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/>
              <a:t>上線、監控與維護系統 (Launch, monitor, and maintain your system)</a:t>
            </a: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/>
            </a:r>
            <a:endParaRPr lang="zh-TW" alt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" name="頁尾版面配置區 6">
            <a:extLst>
              <a:ext uri="{FF2B5EF4-FFF2-40B4-BE49-F238E27FC236}">
                <a16:creationId xmlns:a16="http://schemas.microsoft.com/office/drawing/2014/main" id="{967616C3-0590-0FD3-4472-31D1447935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8" name="投影片編號版面配置區 7">
            <a:extLst>
              <a:ext uri="{FF2B5EF4-FFF2-40B4-BE49-F238E27FC236}">
                <a16:creationId xmlns:a16="http://schemas.microsoft.com/office/drawing/2014/main" id="{65524E61-8B45-42D7-2FAA-E1FA6EFD7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04102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accent1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E1A5E41F-C53B-BD15-2F62-12DB4FAE3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上線、監控、維護 (Launch, Monitor, Maintain)</a:t>
            </a:r>
            <a:endParaRPr lang="zh-TW" altLang="en-US" dirty="0"/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331AF127-9B46-5876-99D3-B5FA6EB1A83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altLang="zh-TW" dirty="0"/>
              <a:t>部署 (Deployment)</a:t>
            </a:r>
          </a:p>
          <a:p>
            <a:pPr lvl="1"/>
            <a:r>
              <a:rPr lang="en-US" altLang="zh-TW" dirty="0"/>
              <a:t>將訓練完成的模型部署到 production 環境，通常以 web service 或 batch process 形式，讓它能對實際資料 (live data) 進行預測</a:t>
            </a:r>
          </a:p>
          <a:p>
            <a:r>
              <a:rPr lang="en-US" altLang="zh-TW" dirty="0"/>
              <a:t>版本控管 (Versioning)</a:t>
            </a:r>
          </a:p>
          <a:p>
            <a:pPr lvl="1"/>
            <a:r>
              <a:rPr lang="en-US" altLang="zh-TW" dirty="0"/>
              <a:t>管理不同模型版本，方便平滑切換、回退 (rollback) 與 A/B 測試</a:t>
            </a:r>
          </a:p>
          <a:p>
            <a:r>
              <a:rPr lang="en-US" altLang="zh-TW" dirty="0"/>
              <a:t>擴充 (Scaling)</a:t>
            </a:r>
          </a:p>
          <a:p>
            <a:pPr lvl="1"/>
            <a:r>
              <a:rPr lang="en-US" altLang="zh-TW" dirty="0"/>
              <a:t>依負載需要擴充硬體 (on-premises 或 cloud)，確保系統能處理流量增加</a:t>
            </a:r>
          </a:p>
          <a:p>
            <a:endParaRPr lang="zh-TW" altLang="en-US" dirty="0"/>
          </a:p>
        </p:txBody>
      </p:sp>
      <p:sp>
        <p:nvSpPr>
          <p:cNvPr id="8" name="內容版面配置區 7">
            <a:extLst>
              <a:ext uri="{FF2B5EF4-FFF2-40B4-BE49-F238E27FC236}">
                <a16:creationId xmlns:a16="http://schemas.microsoft.com/office/drawing/2014/main" id="{509228DE-CC71-E26E-ABDB-6B510647E83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altLang="zh-TW" dirty="0"/>
              <a:t>監控 (Monitoring)</a:t>
            </a:r>
          </a:p>
          <a:p>
            <a:pPr lvl="1"/>
            <a:r>
              <a:rPr lang="en-US" altLang="zh-TW" dirty="0"/>
              <a:t>持續監控模型效能與系統狀態，及早偵測 data drift 或 accuracy 衰退</a:t>
            </a:r>
          </a:p>
          <a:p>
            <a:r>
              <a:rPr lang="en-US" altLang="zh-TW" dirty="0"/>
              <a:t>維護 (Maintenance)</a:t>
            </a:r>
          </a:p>
          <a:p>
            <a:pPr lvl="1"/>
            <a:r>
              <a:rPr lang="en-US" altLang="zh-TW" dirty="0"/>
              <a:t>定期以新資料重新訓練 (retrain) 模型、更新版本，並維護周邊基礎設施</a:t>
            </a:r>
            <a:endParaRPr lang="zh-TW" altLang="en-US" dirty="0"/>
          </a:p>
          <a:p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82C69238-6A3B-7A10-77AB-83712A394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4611D7C-EBAA-2F30-7CE4-A11F870815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9730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2FD206B-18D4-D3D9-97C2-7E9F377F7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A/B 測試 (A/B Testing)</a:t>
            </a:r>
            <a:endParaRPr lang="zh-TW" altLang="en-US" dirty="0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C5A12A7-6FA5-CAAF-1F66-6E9EDBD92C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4C165AD-D888-12CC-E3F1-9B42E2E207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53</a:t>
            </a:fld>
            <a:endParaRPr lang="en-US"/>
          </a:p>
        </p:txBody>
      </p:sp>
      <p:pic>
        <p:nvPicPr>
          <p:cNvPr id="13" name="內容版面配置區 12" descr="一張含有 文字, 螢幕擷取畫面, 設計 的圖片&#10;&#10;AI 產生的內容可能不正確。">
            <a:extLst>
              <a:ext uri="{FF2B5EF4-FFF2-40B4-BE49-F238E27FC236}">
                <a16:creationId xmlns:a16="http://schemas.microsoft.com/office/drawing/2014/main" id="{5FB69B3C-6EF9-AA75-FF32-51C5C676B276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5913" y="2277480"/>
            <a:ext cx="5178425" cy="3068216"/>
          </a:xfrm>
        </p:spPr>
      </p:pic>
      <p:pic>
        <p:nvPicPr>
          <p:cNvPr id="11" name="內容版面配置區 7" descr="一張含有 圖表, 螢幕擷取畫面, 行, 文字 的圖片&#10;&#10;AI 產生的內容可能不正確。">
            <a:extLst>
              <a:ext uri="{FF2B5EF4-FFF2-40B4-BE49-F238E27FC236}">
                <a16:creationId xmlns:a16="http://schemas.microsoft.com/office/drawing/2014/main" id="{94A9C095-00E3-6E35-3DF4-5B7691551F2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1388" y="2546033"/>
            <a:ext cx="5178425" cy="2515234"/>
          </a:xfrm>
        </p:spPr>
      </p:pic>
    </p:spTree>
    <p:extLst>
      <p:ext uri="{BB962C8B-B14F-4D97-AF65-F5344CB8AC3E}">
        <p14:creationId xmlns:p14="http://schemas.microsoft.com/office/powerpoint/2010/main" val="203173378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146B10E-5D27-F172-54F2-7EBB0BA51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部署 ML 模型的不同方式</a:t>
            </a:r>
            <a:endParaRPr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CA4A07DD-1374-A9F4-CC3F-32439509B6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00312" y="4526515"/>
            <a:ext cx="10671266" cy="1429845"/>
          </a:xfrm>
        </p:spPr>
      </p:pic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C684A736-0FD4-D098-A2FE-FBE864D5E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781C7F8-9173-CC8C-A65D-2CF6078CC3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54</a:t>
            </a:fld>
            <a:endParaRPr lang="en-US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F9706C95-FF3F-6E09-CB00-99E5A02D4C4A}"/>
              </a:ext>
            </a:extLst>
          </p:cNvPr>
          <p:cNvSpPr txBox="1"/>
          <p:nvPr/>
        </p:nvSpPr>
        <p:spPr>
          <a:xfrm>
            <a:off x="500312" y="3979763"/>
            <a:ext cx="46017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作為 web service 讓 web app 呼叫</a:t>
            </a:r>
            <a:endParaRPr lang="zh-TW" alt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8A7AD3A8-3E24-D109-892E-6A238363F173}"/>
              </a:ext>
            </a:extLst>
          </p:cNvPr>
          <p:cNvSpPr txBox="1"/>
          <p:nvPr/>
        </p:nvSpPr>
        <p:spPr>
          <a:xfrm>
            <a:off x="399569" y="1616562"/>
            <a:ext cx="31718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直接以網頁 (webpage) 的形式提供</a:t>
            </a:r>
            <a:endParaRPr lang="zh-TW" altLang="en-US" dirty="0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4F41D675-8117-15F3-58FC-A4873BF492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1198" y="2140822"/>
            <a:ext cx="5410279" cy="1337175"/>
          </a:xfrm>
          <a:prstGeom prst="rect">
            <a:avLst/>
          </a:prstGeom>
        </p:spPr>
      </p:pic>
      <p:sp>
        <p:nvSpPr>
          <p:cNvPr id="12" name="雲朵形 11">
            <a:extLst>
              <a:ext uri="{FF2B5EF4-FFF2-40B4-BE49-F238E27FC236}">
                <a16:creationId xmlns:a16="http://schemas.microsoft.com/office/drawing/2014/main" id="{AA2A9D4A-1599-F825-D7AA-9A459E06E02D}"/>
              </a:ext>
            </a:extLst>
          </p:cNvPr>
          <p:cNvSpPr/>
          <p:nvPr/>
        </p:nvSpPr>
        <p:spPr>
          <a:xfrm>
            <a:off x="4676693" y="2269593"/>
            <a:ext cx="1659288" cy="1079632"/>
          </a:xfrm>
          <a:prstGeom prst="cloud">
            <a:avLst/>
          </a:prstGeom>
          <a:solidFill>
            <a:srgbClr val="B2D4EA">
              <a:alpha val="39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02421026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00FDFB8-18A6-9B2B-4843-1234C251B4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經驗法則與建議 (Guidelines and Advice)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5D21407-11D6-36A9-C4F4-3BDFB81DA8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一個 ML 專案的多數工作集中在 data preparation</a:t>
            </a:r>
          </a:p>
          <a:p>
            <a:pPr lvl="1"/>
            <a:r>
              <a:rPr lang="en-US" altLang="zh-TW" dirty="0"/>
              <a:t>建立監控工具</a:t>
            </a:r>
          </a:p>
          <a:p>
            <a:pPr lvl="1"/>
            <a:r>
              <a:rPr lang="en-US" altLang="zh-TW" dirty="0"/>
              <a:t>建立人工評估流程 (human evaluation pipeline)</a:t>
            </a:r>
          </a:p>
          <a:p>
            <a:pPr lvl="1"/>
            <a:r>
              <a:rPr lang="en-US" altLang="zh-TW" dirty="0"/>
              <a:t>讓模型訓練 (training) 自動化、定期執行</a:t>
            </a:r>
          </a:p>
          <a:p>
            <a:r>
              <a:rPr lang="en-US" altLang="zh-TW" dirty="0"/>
              <a:t>學習 ML 的建議：</a:t>
            </a:r>
          </a:p>
          <a:p>
            <a:pPr lvl="1"/>
            <a:r>
              <a:rPr lang="en-US" altLang="zh-TW" dirty="0"/>
              <a:t>先了解整體工作流程，並把少數幾種演算法用熟</a:t>
            </a:r>
          </a:p>
          <a:p>
            <a:pPr lvl="1"/>
            <a:r>
              <a:rPr lang="en-US" altLang="zh-TW" dirty="0"/>
              <a:t>不要一開始就只追求進階技術 (如 CNNs)</a:t>
            </a:r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663C832-9D91-5334-1EAA-3149BBDCA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F8DE803-C421-9E62-6885-1D416CBA97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96769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01E2A05-FD04-22C8-FAD4-320175D21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經驗法則與建議 (Guidelines and Advice)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0E2F106-53FD-D94A-30C9-7C70A90D61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典型工作流程 (typical workflow)：</a:t>
            </a:r>
          </a:p>
          <a:p>
            <a:pPr lvl="1"/>
            <a:r>
              <a:rPr lang="en-US" altLang="zh-TW" dirty="0"/>
              <a:t>定義問題</a:t>
            </a:r>
          </a:p>
          <a:p>
            <a:pPr lvl="1"/>
            <a:r>
              <a:rPr lang="en-US" altLang="zh-TW" dirty="0"/>
              <a:t>收集與準備資料</a:t>
            </a:r>
          </a:p>
          <a:p>
            <a:pPr lvl="1"/>
            <a:r>
              <a:rPr lang="en-US" altLang="zh-TW" dirty="0"/>
              <a:t>訓練與評估模型</a:t>
            </a:r>
          </a:p>
          <a:p>
            <a:pPr lvl="1"/>
            <a:r>
              <a:rPr lang="en-US" altLang="zh-TW" dirty="0"/>
              <a:t>設定監控與 retraining 流程</a:t>
            </a:r>
          </a:p>
          <a:p>
            <a:r>
              <a:rPr lang="en-US" altLang="zh-TW" dirty="0"/>
              <a:t>動手做：</a:t>
            </a:r>
          </a:p>
          <a:p>
            <a:pPr lvl="1"/>
            <a:r>
              <a:rPr lang="en-US" altLang="zh-TW" dirty="0"/>
              <a:t>找一份感興趣的資料集，把整個流程從頭到尾跑一遍</a:t>
            </a:r>
          </a:p>
          <a:p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BA2CA3DF-6F5A-E89A-9A35-71C44D39CF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681F5C76-7CA9-EBA9-76D9-BD7A87513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929494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0FA2168A-F2A5-9FED-B655-E9286D5A5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分類 (Classification)</a:t>
            </a:r>
            <a:endParaRPr lang="zh-TW" altLang="en-US" dirty="0"/>
          </a:p>
        </p:txBody>
      </p:sp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BD09CB27-39E5-3623-A3FB-A686822FCD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2D921874-1729-D0F4-BE23-ED729F041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0248891-3AF6-BA8C-2DBF-B21095664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428219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10AAFF42-1AE9-DBF0-A3ED-C9BC7130F4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分類 (Classification)</a:t>
            </a:r>
            <a:endParaRPr lang="zh-TW" altLang="en-US" dirty="0"/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15804C29-9B8C-E803-649B-25CFBF6E31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TW" dirty="0"/>
              <a:t>範例資料：MNIST</a:t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</a:p>
          <a:p>
            <a:r>
              <a:rPr lang="en-US" altLang="zh-TW" dirty="0"/>
              <a:t>訓練二元分類器 (binary classifier)</a:t>
            </a:r>
          </a:p>
          <a:p>
            <a:r>
              <a:rPr lang="en-US" altLang="zh-TW" dirty="0"/>
              <a:t>效能指標 (performance measures)</a:t>
            </a:r>
          </a:p>
          <a:p>
            <a:r>
              <a:rPr lang="en-US" altLang="zh-TW" dirty="0"/>
              <a:t>多類別分類 (multiclass classification)</a:t>
            </a:r>
          </a:p>
          <a:p>
            <a:r>
              <a:rPr lang="en-US" altLang="zh-TW" dirty="0"/>
              <a:t>錯誤分析 (error analysis)</a:t>
            </a:r>
          </a:p>
          <a:p>
            <a:r>
              <a:rPr lang="en-US" altLang="zh-TW" dirty="0"/>
              <a:t>多標籤分類 (multilabel classification)</a:t>
            </a:r>
          </a:p>
          <a:p>
            <a:r>
              <a:rPr lang="en-US" altLang="zh-TW" dirty="0"/>
              <a:t>多輸出分類 (multioutput classification)</a:t>
            </a:r>
          </a:p>
          <a:p>
            <a:pPr marL="0" indent="0">
              <a:buNone/>
            </a:pPr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F55F00B-4910-57BD-1303-967235AD3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6E1044F4-1591-A87B-258F-C2D61162A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58</a:t>
            </a:fld>
            <a:endParaRPr lang="en-US"/>
          </a:p>
        </p:txBody>
      </p:sp>
      <p:pic>
        <p:nvPicPr>
          <p:cNvPr id="2" name="內容版面配置區 6">
            <a:extLst>
              <a:ext uri="{FF2B5EF4-FFF2-40B4-BE49-F238E27FC236}">
                <a16:creationId xmlns:a16="http://schemas.microsoft.com/office/drawing/2014/main" id="{CDD780C5-B85E-9FBD-BCD6-4252A4B9F6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2352" y="1825316"/>
            <a:ext cx="4783113" cy="3699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259485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10AAFF42-1AE9-DBF0-A3ED-C9BC7130F4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分類 (Classification)</a:t>
            </a:r>
            <a:endParaRPr lang="zh-TW" altLang="en-US" dirty="0"/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15804C29-9B8C-E803-649B-25CFBF6E31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範例資料：MNIST</a:t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</a:p>
          <a:p>
            <a:r>
              <a:rPr lang="en-US" altLang="zh-TW" dirty="0">
                <a:solidFill>
                  <a:schemeClr val="bg1">
                    <a:lumMod val="75000"/>
                  </a:schemeClr>
                </a:solidFill>
              </a:rPr>
              <a:t>訓練二元分類器 (binary classifier)</a:t>
            </a:r>
          </a:p>
          <a:p>
            <a:r>
              <a:rPr lang="en-US" altLang="zh-TW" dirty="0">
                <a:solidFill>
                  <a:schemeClr val="bg1">
                    <a:lumMod val="75000"/>
                  </a:schemeClr>
                </a:solidFill>
              </a:rPr>
              <a:t>效能指標 (performance measures)</a:t>
            </a:r>
          </a:p>
          <a:p>
            <a:r>
              <a:rPr lang="en-US" altLang="zh-TW" dirty="0">
                <a:solidFill>
                  <a:schemeClr val="bg1">
                    <a:lumMod val="75000"/>
                  </a:schemeClr>
                </a:solidFill>
              </a:rPr>
              <a:t>不同類型的 classification 任務</a:t>
            </a:r>
          </a:p>
          <a:p>
            <a:r>
              <a:rPr lang="en-US" altLang="zh-TW" dirty="0">
                <a:solidFill>
                  <a:schemeClr val="bg1">
                    <a:lumMod val="75000"/>
                  </a:schemeClr>
                </a:solidFill>
              </a:rPr>
              <a:t>錯誤分析 (error analysis)</a:t>
            </a:r>
          </a:p>
          <a:p>
            <a:pPr marL="0" indent="0">
              <a:buNone/>
            </a:pPr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F55F00B-4910-57BD-1303-967235AD3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6E1044F4-1591-A87B-258F-C2D61162A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0000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871C025-A1EC-961A-81ED-4D54A5E14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MNIST 數字範例 (Example Digits from MNIST)</a:t>
            </a:r>
            <a:endParaRPr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972AEEFA-6C78-3598-B8FA-0BE91C43B5F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490725" y="1251079"/>
            <a:ext cx="5178425" cy="4004911"/>
          </a:xfrm>
        </p:spPr>
      </p:pic>
      <p:sp>
        <p:nvSpPr>
          <p:cNvPr id="8" name="內容版面配置區 7">
            <a:extLst>
              <a:ext uri="{FF2B5EF4-FFF2-40B4-BE49-F238E27FC236}">
                <a16:creationId xmlns:a16="http://schemas.microsoft.com/office/drawing/2014/main" id="{D35CD40B-F71F-46D1-0B13-861B6B6C0F4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altLang="zh-TW" dirty="0"/>
              <a:t>70,000 張小尺寸手寫數字 (handwritten digits) 圖像</a:t>
            </a:r>
          </a:p>
          <a:p>
            <a:r>
              <a:rPr lang="en-US" altLang="zh-TW" dirty="0"/>
              <a:t>每張圖都有對應的數字標籤 (0–9)</a:t>
            </a:r>
          </a:p>
          <a:p>
            <a:r>
              <a:rPr lang="en-US" altLang="zh-TW" dirty="0"/>
              <a:t>由美國高中生與人口普查局 (Census Bureau) 員工書寫</a:t>
            </a:r>
          </a:p>
          <a:p>
            <a:r>
              <a:rPr lang="en-US" altLang="zh-TW" dirty="0"/>
              <a:t>ML 領域廣泛使用的 benchmark 資料集</a:t>
            </a:r>
          </a:p>
          <a:p>
            <a:r>
              <a:rPr lang="en-US" altLang="zh-TW" dirty="0"/>
              <a:t>可說是 classification 任務的「hello world」</a:t>
            </a:r>
            <a:r>
              <a:rPr lang="en-US" altLang="zh-TW" b="1" dirty="0"/>
              <a:t/>
            </a:r>
            <a:r>
              <a:rPr lang="en-US" altLang="zh-TW" dirty="0"/>
              <a:t/>
            </a:r>
          </a:p>
          <a:p>
            <a:r>
              <a:rPr lang="en-US" altLang="zh-TW" dirty="0"/>
              <a:t>常被用來測試新的 classification 演算法</a:t>
            </a:r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805B7DFA-5AB2-5AE3-8018-160F7848F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4CE192F-CEAB-1B9A-9B81-5FAC96677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60</a:t>
            </a:fld>
            <a:endParaRPr lang="en-US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5919C0A3-4256-C25D-D00A-D4555FE575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9810" y="5372161"/>
            <a:ext cx="1321420" cy="1311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102097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10AAFF42-1AE9-DBF0-A3ED-C9BC7130F4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分類 (Classification)</a:t>
            </a:r>
            <a:endParaRPr lang="zh-TW" altLang="en-US" dirty="0"/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15804C29-9B8C-E803-649B-25CFBF6E31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>
                <a:solidFill>
                  <a:schemeClr val="bg1">
                    <a:lumMod val="75000"/>
                  </a:schemeClr>
                </a:solidFill>
              </a:rPr>
              <a:t>範例資料：MNIST</a:t>
            </a:r>
            <a:r>
              <a:rPr lang="zh-TW" altLang="en-US" dirty="0">
                <a:solidFill>
                  <a:schemeClr val="bg1">
                    <a:lumMod val="75000"/>
                  </a:schemeClr>
                </a:solidFill>
              </a:rPr>
              <a:t/>
            </a:r>
            <a:r>
              <a:rPr lang="en-US" altLang="zh-TW" dirty="0">
                <a:solidFill>
                  <a:schemeClr val="bg1">
                    <a:lumMod val="75000"/>
                  </a:schemeClr>
                </a:solidFill>
              </a:rPr>
              <a:t/>
            </a:r>
            <a:r>
              <a:rPr lang="zh-TW" altLang="en-US" dirty="0">
                <a:solidFill>
                  <a:schemeClr val="bg1">
                    <a:lumMod val="75000"/>
                  </a:schemeClr>
                </a:solidFill>
              </a:rPr>
              <a:t/>
            </a:r>
            <a:r>
              <a:rPr lang="en-US" altLang="zh-TW" dirty="0">
                <a:solidFill>
                  <a:schemeClr val="bg1">
                    <a:lumMod val="75000"/>
                  </a:schemeClr>
                </a:solidFill>
              </a:rPr>
              <a:t/>
            </a:r>
            <a:r>
              <a:rPr lang="zh-TW" altLang="en-US" dirty="0">
                <a:solidFill>
                  <a:schemeClr val="bg1">
                    <a:lumMod val="75000"/>
                  </a:schemeClr>
                </a:solidFill>
              </a:rPr>
              <a:t/>
            </a:r>
            <a:r>
              <a:rPr lang="en-US" altLang="zh-TW" dirty="0">
                <a:solidFill>
                  <a:schemeClr val="bg1">
                    <a:lumMod val="75000"/>
                  </a:schemeClr>
                </a:solidFill>
              </a:rPr>
              <a:t/>
            </a:r>
          </a:p>
          <a:p>
            <a:r>
              <a:rPr lang="en-US" altLang="zh-TW" dirty="0"/>
              <a:t>訓練二元分類器 (binary classifier)</a:t>
            </a:r>
          </a:p>
          <a:p>
            <a:r>
              <a:rPr lang="en-US" altLang="zh-TW" dirty="0">
                <a:solidFill>
                  <a:schemeClr val="bg1">
                    <a:lumMod val="75000"/>
                  </a:schemeClr>
                </a:solidFill>
              </a:rPr>
              <a:t>效能指標 (performance measures)</a:t>
            </a:r>
          </a:p>
          <a:p>
            <a:r>
              <a:rPr lang="en-US" altLang="zh-TW" dirty="0">
                <a:solidFill>
                  <a:schemeClr val="bg1">
                    <a:lumMod val="75000"/>
                  </a:schemeClr>
                </a:solidFill>
              </a:rPr>
              <a:t>不同類型的 classification 任務</a:t>
            </a:r>
          </a:p>
          <a:p>
            <a:r>
              <a:rPr lang="en-US" altLang="zh-TW" dirty="0">
                <a:solidFill>
                  <a:schemeClr val="bg1">
                    <a:lumMod val="75000"/>
                  </a:schemeClr>
                </a:solidFill>
              </a:rPr>
              <a:t>錯誤分析 (error analysis)</a:t>
            </a:r>
          </a:p>
          <a:p>
            <a:pPr marL="0" indent="0">
              <a:buNone/>
            </a:pPr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F55F00B-4910-57BD-1303-967235AD3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6E1044F4-1591-A87B-258F-C2D61162A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50720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F53F964-CFC2-6C95-90C8-571A24E01B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二元分類器 (Binary Classifier)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EAC053D-4343-169D-586C-EC3C5AC000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7423" y="1415345"/>
            <a:ext cx="10381517" cy="4434627"/>
          </a:xfrm>
        </p:spPr>
        <p:txBody>
          <a:bodyPr/>
          <a:lstStyle/>
          <a:p>
            <a:r>
              <a:rPr lang="en-US" altLang="zh-TW" dirty="0"/>
              <a:t>只區分兩個類別 (positive vs. negative)</a:t>
            </a:r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95BFA5E4-04C6-4044-D3E2-17D9228D9D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8DB921F-5561-7B9D-D78E-73DD47C02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62</a:t>
            </a:fld>
            <a:endParaRPr 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0899FF95-4174-04B9-E498-1D3382658F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050" y="2617496"/>
            <a:ext cx="3419284" cy="515669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43460629-2E61-2D9B-CF54-6FFEEE4760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276" y="3429000"/>
            <a:ext cx="5258473" cy="1035424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DDDD3197-C9C3-5BF4-08FC-C772B5FF6B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275" y="4828178"/>
            <a:ext cx="4040775" cy="517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084004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10AAFF42-1AE9-DBF0-A3ED-C9BC7130F4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分類 (Classification)</a:t>
            </a:r>
            <a:endParaRPr lang="zh-TW" altLang="en-US" dirty="0"/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15804C29-9B8C-E803-649B-25CFBF6E31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>
                <a:solidFill>
                  <a:schemeClr val="bg1">
                    <a:lumMod val="75000"/>
                  </a:schemeClr>
                </a:solidFill>
              </a:rPr>
              <a:t>範例資料：MNIST</a:t>
            </a:r>
            <a:r>
              <a:rPr lang="zh-TW" altLang="en-US" dirty="0">
                <a:solidFill>
                  <a:schemeClr val="bg1">
                    <a:lumMod val="75000"/>
                  </a:schemeClr>
                </a:solidFill>
              </a:rPr>
              <a:t/>
            </a:r>
            <a:r>
              <a:rPr lang="en-US" altLang="zh-TW" dirty="0">
                <a:solidFill>
                  <a:schemeClr val="bg1">
                    <a:lumMod val="75000"/>
                  </a:schemeClr>
                </a:solidFill>
              </a:rPr>
              <a:t/>
            </a:r>
            <a:r>
              <a:rPr lang="zh-TW" altLang="en-US" dirty="0">
                <a:solidFill>
                  <a:schemeClr val="bg1">
                    <a:lumMod val="75000"/>
                  </a:schemeClr>
                </a:solidFill>
              </a:rPr>
              <a:t/>
            </a:r>
            <a:r>
              <a:rPr lang="en-US" altLang="zh-TW" dirty="0">
                <a:solidFill>
                  <a:schemeClr val="bg1">
                    <a:lumMod val="75000"/>
                  </a:schemeClr>
                </a:solidFill>
              </a:rPr>
              <a:t/>
            </a:r>
            <a:r>
              <a:rPr lang="zh-TW" altLang="en-US" dirty="0">
                <a:solidFill>
                  <a:schemeClr val="bg1">
                    <a:lumMod val="75000"/>
                  </a:schemeClr>
                </a:solidFill>
              </a:rPr>
              <a:t/>
            </a:r>
            <a:r>
              <a:rPr lang="en-US" altLang="zh-TW" dirty="0">
                <a:solidFill>
                  <a:schemeClr val="bg1">
                    <a:lumMod val="75000"/>
                  </a:schemeClr>
                </a:solidFill>
              </a:rPr>
              <a:t/>
            </a:r>
          </a:p>
          <a:p>
            <a:r>
              <a:rPr lang="en-US" altLang="zh-TW" dirty="0">
                <a:solidFill>
                  <a:schemeClr val="bg1">
                    <a:lumMod val="75000"/>
                  </a:schemeClr>
                </a:solidFill>
              </a:rPr>
              <a:t>訓練二元分類器 (binary classifier)</a:t>
            </a:r>
          </a:p>
          <a:p>
            <a:r>
              <a:rPr lang="en-US" altLang="zh-TW" dirty="0"/>
              <a:t>效能指標 (performance measures)</a:t>
            </a:r>
          </a:p>
          <a:p>
            <a:r>
              <a:rPr lang="en-US" altLang="zh-TW" dirty="0">
                <a:solidFill>
                  <a:schemeClr val="bg1">
                    <a:lumMod val="75000"/>
                  </a:schemeClr>
                </a:solidFill>
              </a:rPr>
              <a:t>不同類型的 classification 任務</a:t>
            </a:r>
          </a:p>
          <a:p>
            <a:r>
              <a:rPr lang="en-US" altLang="zh-TW" dirty="0">
                <a:solidFill>
                  <a:schemeClr val="bg1">
                    <a:lumMod val="75000"/>
                  </a:schemeClr>
                </a:solidFill>
              </a:rPr>
              <a:t>錯誤分析 (error analysis)</a:t>
            </a:r>
          </a:p>
          <a:p>
            <a:pPr marL="0" indent="0">
              <a:buNone/>
            </a:pPr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F55F00B-4910-57BD-1303-967235AD3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6E1044F4-1591-A87B-258F-C2D61162A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736106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898F1B3-71FA-6283-5B09-02789637F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效能評估指標 (Performance Measures)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68CD95F-6A6D-132B-F55D-5DF611AACB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694" y="1623774"/>
            <a:ext cx="10381517" cy="4434627"/>
          </a:xfrm>
        </p:spPr>
        <p:txBody>
          <a:bodyPr/>
          <a:lstStyle/>
          <a:p>
            <a:r>
              <a:rPr lang="en-US" altLang="zh-TW" dirty="0"/>
              <a:t>以 cross-validation 衡量 accuracy</a:t>
            </a:r>
          </a:p>
          <a:p>
            <a:r>
              <a:rPr lang="en-US" altLang="zh-TW" dirty="0"/>
              <a:t>混淆矩陣 (confusion matrices)</a:t>
            </a:r>
          </a:p>
          <a:p>
            <a:r>
              <a:rPr lang="en-US" altLang="zh-TW" dirty="0"/>
              <a:t>Precision 與 recall</a:t>
            </a:r>
          </a:p>
          <a:p>
            <a:pPr lvl="1"/>
            <a:r>
              <a:rPr lang="en-US" altLang="zh-TW" dirty="0"/>
              <a:t>Precision-recall trade-off</a:t>
            </a:r>
          </a:p>
          <a:p>
            <a:r>
              <a:rPr lang="en-US" altLang="zh-TW" dirty="0"/>
              <a:t>ROC 曲線 (ROC curve)</a:t>
            </a:r>
          </a:p>
          <a:p>
            <a:pPr lvl="1"/>
            <a:endParaRPr lang="en-US" altLang="zh-TW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02B382A0-BD0D-6BFC-AE03-D7AF54C40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3637BA3-6F7E-F6E7-E02E-9D87EE9DE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30754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540441D-76A1-A15F-707A-5199200D7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混淆矩陣 (Confusion Matrix)、precision 與 recall</a:t>
            </a:r>
            <a:endParaRPr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1FE234DE-D780-5074-36E9-9ED481A6DB7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7042" y="2037243"/>
            <a:ext cx="6369721" cy="3380578"/>
          </a:xfrm>
        </p:spPr>
      </p:pic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FD415001-AEA2-AF5D-B47A-E341082A20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80D68D4-F19C-B78D-2314-59C9E9DBF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65</a:t>
            </a:fld>
            <a:endParaRPr 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604F9D90-9786-4198-C423-1DBABE459D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6326" y="2340528"/>
            <a:ext cx="2762031" cy="559185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8DD20C90-ABCF-E1E2-FD89-C1030684DF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6072" y="3524982"/>
            <a:ext cx="2354961" cy="569332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D5F64192-ADA8-61CE-3421-AB91BB60F4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07917" y="4696414"/>
            <a:ext cx="5860506" cy="658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72810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0AD0A242-6546-A942-9D8E-8B55D250BB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Precision、recall 與 F1-score</a:t>
            </a:r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156883D-5D08-CE96-3DFB-BD878B5FA7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D8CDE2F-F47B-A98F-F992-B2ECF03BF8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66</a:t>
            </a:fld>
            <a:endParaRPr 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2D9C3D01-CC15-D057-A385-4DC6810C26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2210" y="2033175"/>
            <a:ext cx="2762031" cy="559185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1EE10B50-7FDB-B1F9-4181-1A19DDE490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8679" y="3534698"/>
            <a:ext cx="2354961" cy="569332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D5ED8B8E-A8F7-8AE0-89A0-98B2B95B6B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4431" y="5210558"/>
            <a:ext cx="6406047" cy="719595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6F9B9855-9083-E964-82A8-62F1CB566C0C}"/>
              </a:ext>
            </a:extLst>
          </p:cNvPr>
          <p:cNvSpPr txBox="1"/>
          <p:nvPr/>
        </p:nvSpPr>
        <p:spPr>
          <a:xfrm>
            <a:off x="4719917" y="1989601"/>
            <a:ext cx="43366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Precision：被預測為 positive 的樣本中，實際為 true positive 的比例</a:t>
            </a:r>
            <a:endParaRPr lang="zh-TW" altLang="en-US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D1DC0660-090B-3B5B-BE4B-53C05B81396A}"/>
              </a:ext>
            </a:extLst>
          </p:cNvPr>
          <p:cNvSpPr txBox="1"/>
          <p:nvPr/>
        </p:nvSpPr>
        <p:spPr>
          <a:xfrm>
            <a:off x="4719917" y="3562196"/>
            <a:ext cx="43366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Recall：所有實際 positive 樣本中，被正確抓出 (true positive) 的比例</a:t>
            </a:r>
            <a:endParaRPr lang="zh-TW" altLang="en-US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1A288D40-ECB5-2191-9E28-D72102C7F90C}"/>
              </a:ext>
            </a:extLst>
          </p:cNvPr>
          <p:cNvSpPr txBox="1"/>
          <p:nvPr/>
        </p:nvSpPr>
        <p:spPr>
          <a:xfrm>
            <a:off x="7386917" y="5134791"/>
            <a:ext cx="43366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F1-score：precision 與 recall 的一種平均 (harmonic mean)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2907179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E6C508A-19FD-B908-143D-A479DEEC6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Precision / recall 的取捨 (trade-off)</a:t>
            </a:r>
            <a:endParaRPr lang="zh-TW" altLang="en-US" dirty="0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0D08963C-1A6A-9197-CAB3-9DC79E92FD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A9E93AB-7446-DD29-620B-BC95A07BF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67</a:t>
            </a:fld>
            <a:endParaRPr 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767E5E16-ABA2-C5AB-F893-EAD7749D7C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7325" y="2501455"/>
            <a:ext cx="8299877" cy="2756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956064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10EB477-AA1F-3112-9DCE-6EE62C78DE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Precision 與 recall 隨 decision threshold 的變化</a:t>
            </a:r>
            <a:r>
              <a:rPr lang="en-US" altLang="zh-TW" dirty="0" err="1"/>
              <a:t/>
            </a:r>
            <a:endParaRPr lang="zh-TW" altLang="en-US" dirty="0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7134752C-94DD-5B30-8C6A-145F3D1AB8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9FCFE7A-70E4-E221-37CA-D103C5F88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68</a:t>
            </a:fld>
            <a:endParaRPr 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3B557B74-8EEE-BF0E-12ED-EEF3A6740F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693" y="1772460"/>
            <a:ext cx="9169871" cy="4832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784023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8E28A4E-D05E-0BEF-82F2-B1FB4EC25D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472" y="244730"/>
            <a:ext cx="8886884" cy="1043078"/>
          </a:xfrm>
        </p:spPr>
        <p:txBody>
          <a:bodyPr/>
          <a:lstStyle/>
          <a:p>
            <a:r>
              <a:rPr lang="en-US" altLang="zh-TW" dirty="0"/>
              <a:t>Precision-recall 曲線 (PR curve)</a:t>
            </a:r>
            <a:endParaRPr lang="zh-TW" altLang="en-US" dirty="0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9E5A03B2-A8E8-7EDD-9B01-DFF779359E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99C6794-A2B5-5619-25AC-19A19BFE5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69</a:t>
            </a:fld>
            <a:endParaRPr 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0FF6C87A-565F-F4A1-8537-ADA8ECFCEC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4447" y="1355200"/>
            <a:ext cx="6401129" cy="5258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138113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D8FAEE0-B6AB-C763-6DBA-DA9A2B930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643" y="174429"/>
            <a:ext cx="8886884" cy="1043078"/>
          </a:xfrm>
        </p:spPr>
        <p:txBody>
          <a:bodyPr/>
          <a:lstStyle/>
          <a:p>
            <a:r>
              <a:rPr lang="en-US" altLang="zh-TW" dirty="0"/>
              <a:t>ROC 曲線 (ROC Curve)</a:t>
            </a:r>
            <a:r>
              <a:rPr lang="en-US" altLang="zh-TW"/>
              <a:t/>
            </a:r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7E324D24-23ED-F4B0-2CED-20D0914311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6F0E1C3-3A45-B0F6-1E6C-BAE1DB6455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70</a:t>
            </a:fld>
            <a:endParaRPr 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8C0EE2BA-B2AB-A3A2-20CA-585BE6A47E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230237"/>
            <a:ext cx="6401129" cy="5270771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77A445F3-73AE-0EE9-CF80-E6952D35AB3F}"/>
              </a:ext>
            </a:extLst>
          </p:cNvPr>
          <p:cNvSpPr txBox="1"/>
          <p:nvPr/>
        </p:nvSpPr>
        <p:spPr>
          <a:xfrm>
            <a:off x="8442960" y="2435428"/>
            <a:ext cx="2801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曲線下面積 (Area Under Curve, AUC)</a:t>
            </a:r>
            <a:endParaRPr lang="zh-TW" altLang="en-US" dirty="0"/>
          </a:p>
        </p:txBody>
      </p:sp>
      <p:pic>
        <p:nvPicPr>
          <p:cNvPr id="8" name="圖片 7" descr="一張含有 行, 圖表, 繪圖, 字型 的圖片&#10;&#10;AI 產生的內容可能不正確。">
            <a:extLst>
              <a:ext uri="{FF2B5EF4-FFF2-40B4-BE49-F238E27FC236}">
                <a16:creationId xmlns:a16="http://schemas.microsoft.com/office/drawing/2014/main" id="{27D2B6C8-23FA-FCC2-BC19-3714260BA08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826" y="2897386"/>
            <a:ext cx="4526670" cy="3328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795614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4836FCA-0115-15FA-48ED-0565493B0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比較不同模型的 PR curve</a:t>
            </a:r>
            <a:endParaRPr lang="zh-TW" altLang="en-US" dirty="0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D291E4A1-A5A2-3AE5-E614-4FD40ED084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C34AAEB-1330-F742-D0E6-1A9EAE714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71</a:t>
            </a:fld>
            <a:endParaRPr 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03B854C4-94F5-472F-EDA8-32FA9B04FB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236" y="1566204"/>
            <a:ext cx="5601254" cy="4601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36348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2D61126-9355-3499-57E4-7E17D85F1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PR curve 與 ROC curve 何時使用？</a:t>
            </a:r>
            <a:endParaRPr lang="zh-TW" alt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C8231AE0-1DDC-0C3A-BD76-FE99017CB1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altLang="zh-TW" dirty="0"/>
              <a:t>使用 PR curve：</a:t>
            </a:r>
          </a:p>
          <a:p>
            <a:pPr lvl="1"/>
            <a:r>
              <a:rPr lang="en-US" altLang="zh-TW" dirty="0"/>
              <a:t>當 positive cases 較稀有時</a:t>
            </a:r>
          </a:p>
          <a:p>
            <a:pPr lvl="2"/>
            <a:r>
              <a:rPr lang="en-US" altLang="zh-TW" dirty="0"/>
              <a:t>例如：小腦失調 (cerebellar ataxia) 等罕見疾病</a:t>
            </a:r>
          </a:p>
          <a:p>
            <a:pPr lvl="1"/>
            <a:r>
              <a:rPr lang="en-US" altLang="zh-TW" dirty="0"/>
              <a:t>當 false positive (FP) 的代價比 false negative (FN) 更高時</a:t>
            </a:r>
          </a:p>
          <a:p>
            <a:pPr lvl="2"/>
            <a:r>
              <a:rPr lang="en-US" altLang="zh-TW" dirty="0"/>
              <a:t>也就是寧可漏判 (FN)，也不要誤報 (FP) 的情境</a:t>
            </a:r>
          </a:p>
          <a:p>
            <a:pPr lvl="3"/>
            <a:r>
              <a:rPr lang="en-US" altLang="zh-TW" b="1" dirty="0"/>
              <a:t>例：垃圾信過濾，漏掉幾封垃圾信 (FN) 沒關係，但把重要信件誤判為垃圾 (FP) 不行</a:t>
            </a:r>
            <a:r>
              <a:rPr lang="en-US" altLang="zh-TW" dirty="0"/>
              <a:t/>
            </a:r>
          </a:p>
          <a:p>
            <a:pPr lvl="3"/>
            <a:r>
              <a:rPr lang="en-US" altLang="zh-TW" b="1" dirty="0"/>
              <a:t>例：反洗錢 (AML) 系統，把正常帳戶誤標 (FP)  造成困擾</a:t>
            </a:r>
            <a:r>
              <a:rPr lang="en-US" altLang="zh-TW" dirty="0"/>
              <a:t/>
            </a:r>
            <a:r>
              <a:rPr lang="en-US" altLang="zh-TW" dirty="0">
                <a:sym typeface="Wingdings" panose="05000000000000000000" pitchFamily="2" charset="2"/>
              </a:rPr>
              <a:t/>
            </a:r>
          </a:p>
          <a:p>
            <a:pPr lvl="3"/>
            <a:r>
              <a:rPr lang="en-US" altLang="zh-TW" b="1" dirty="0"/>
              <a:t>例：刑事司法，把無辜者定罪 (FP) 比放走真正罪犯 (FN) 更嚴重</a:t>
            </a:r>
            <a:r>
              <a:rPr lang="en-US" altLang="zh-TW" dirty="0"/>
              <a:t/>
            </a:r>
          </a:p>
          <a:p>
            <a:pPr lvl="1"/>
            <a:r>
              <a:rPr lang="en-US" altLang="zh-TW" dirty="0"/>
              <a:t>反過來的情境：</a:t>
            </a:r>
          </a:p>
          <a:p>
            <a:pPr lvl="2"/>
            <a:r>
              <a:rPr lang="en-US" altLang="zh-TW" dirty="0"/>
              <a:t>寧可誤報 (FP)，也不要漏判 (FN)</a:t>
            </a:r>
          </a:p>
          <a:p>
            <a:pPr lvl="3"/>
            <a:r>
              <a:rPr lang="en-US" altLang="zh-TW" b="1" dirty="0"/>
              <a:t>例：安檢，FN  造成安全風險</a:t>
            </a:r>
            <a:r>
              <a:rPr lang="en-US" altLang="zh-TW" dirty="0"/>
              <a:t/>
            </a:r>
            <a:r>
              <a:rPr lang="en-US" altLang="zh-TW" dirty="0">
                <a:sym typeface="Wingdings" panose="05000000000000000000" pitchFamily="2" charset="2"/>
              </a:rPr>
              <a:t/>
            </a:r>
          </a:p>
          <a:p>
            <a:pPr lvl="3"/>
            <a:r>
              <a:rPr lang="en-US" altLang="zh-TW" b="1" dirty="0">
                <a:sym typeface="Wingdings" panose="05000000000000000000" pitchFamily="2" charset="2"/>
              </a:rPr>
              <a:t>例：肺癌、大腸癌、阿茲海默症 (Alzheimer) 的早期篩檢</a:t>
            </a:r>
            <a:r>
              <a:rPr lang="en-US" altLang="zh-TW" dirty="0">
                <a:sym typeface="Wingdings" panose="05000000000000000000" pitchFamily="2" charset="2"/>
              </a:rPr>
              <a:t/>
            </a:r>
          </a:p>
          <a:p>
            <a:pPr lvl="3"/>
            <a:endParaRPr lang="en-US" altLang="zh-TW" dirty="0"/>
          </a:p>
          <a:p>
            <a:r>
              <a:rPr lang="en-US" altLang="zh-TW" dirty="0"/>
              <a:t>其他情況通常使用 ROC curve</a:t>
            </a:r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29185846-C8E6-F1ED-97D4-F12736F042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387011F-4946-EC3E-1553-48FE325BF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93920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10AAFF42-1AE9-DBF0-A3ED-C9BC7130F4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分類 (Classification)</a:t>
            </a:r>
            <a:endParaRPr lang="zh-TW" altLang="en-US" dirty="0"/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15804C29-9B8C-E803-649B-25CFBF6E31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>
                <a:solidFill>
                  <a:schemeClr val="bg1">
                    <a:lumMod val="75000"/>
                  </a:schemeClr>
                </a:solidFill>
              </a:rPr>
              <a:t>範例資料：MNIST</a:t>
            </a:r>
            <a:r>
              <a:rPr lang="zh-TW" altLang="en-US" dirty="0">
                <a:solidFill>
                  <a:schemeClr val="bg1">
                    <a:lumMod val="75000"/>
                  </a:schemeClr>
                </a:solidFill>
              </a:rPr>
              <a:t/>
            </a:r>
            <a:r>
              <a:rPr lang="en-US" altLang="zh-TW" dirty="0">
                <a:solidFill>
                  <a:schemeClr val="bg1">
                    <a:lumMod val="75000"/>
                  </a:schemeClr>
                </a:solidFill>
              </a:rPr>
              <a:t/>
            </a:r>
            <a:r>
              <a:rPr lang="zh-TW" altLang="en-US" dirty="0">
                <a:solidFill>
                  <a:schemeClr val="bg1">
                    <a:lumMod val="75000"/>
                  </a:schemeClr>
                </a:solidFill>
              </a:rPr>
              <a:t/>
            </a:r>
            <a:r>
              <a:rPr lang="en-US" altLang="zh-TW" dirty="0">
                <a:solidFill>
                  <a:schemeClr val="bg1">
                    <a:lumMod val="75000"/>
                  </a:schemeClr>
                </a:solidFill>
              </a:rPr>
              <a:t/>
            </a:r>
            <a:r>
              <a:rPr lang="zh-TW" altLang="en-US" dirty="0">
                <a:solidFill>
                  <a:schemeClr val="bg1">
                    <a:lumMod val="75000"/>
                  </a:schemeClr>
                </a:solidFill>
              </a:rPr>
              <a:t/>
            </a:r>
            <a:r>
              <a:rPr lang="en-US" altLang="zh-TW" dirty="0">
                <a:solidFill>
                  <a:schemeClr val="bg1">
                    <a:lumMod val="75000"/>
                  </a:schemeClr>
                </a:solidFill>
              </a:rPr>
              <a:t/>
            </a:r>
          </a:p>
          <a:p>
            <a:r>
              <a:rPr lang="en-US" altLang="zh-TW" dirty="0">
                <a:solidFill>
                  <a:schemeClr val="bg1">
                    <a:lumMod val="75000"/>
                  </a:schemeClr>
                </a:solidFill>
              </a:rPr>
              <a:t>訓練二元分類器 (binary classifier)</a:t>
            </a:r>
          </a:p>
          <a:p>
            <a:r>
              <a:rPr lang="en-US" altLang="zh-TW" dirty="0">
                <a:solidFill>
                  <a:schemeClr val="bg1">
                    <a:lumMod val="75000"/>
                  </a:schemeClr>
                </a:solidFill>
              </a:rPr>
              <a:t>效能指標 (performance measures)</a:t>
            </a:r>
          </a:p>
          <a:p>
            <a:r>
              <a:rPr lang="en-US" altLang="zh-TW" dirty="0"/>
              <a:t>不同類型的 classification 任務</a:t>
            </a:r>
          </a:p>
          <a:p>
            <a:r>
              <a:rPr lang="en-US" altLang="zh-TW" dirty="0">
                <a:solidFill>
                  <a:schemeClr val="bg1">
                    <a:lumMod val="75000"/>
                  </a:schemeClr>
                </a:solidFill>
              </a:rPr>
              <a:t>錯誤分析 (error analysis)</a:t>
            </a:r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F55F00B-4910-57BD-1303-967235AD3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6E1044F4-1591-A87B-258F-C2D61162A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329643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F6DED06-BA60-EAC7-06C1-59807770B5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7" name="內容版面配置區 6" descr="一張含有 文字, 螢幕擷取畫面, 字型, Rectangle 的圖片&#10;&#10;AI 產生的內容可能不正確。">
            <a:extLst>
              <a:ext uri="{FF2B5EF4-FFF2-40B4-BE49-F238E27FC236}">
                <a16:creationId xmlns:a16="http://schemas.microsoft.com/office/drawing/2014/main" id="{85F291FA-4B3A-BF3B-F182-B9F3DA8147B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079" y="1393023"/>
            <a:ext cx="9914359" cy="4833250"/>
          </a:xfrm>
        </p:spPr>
      </p:pic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F7F00944-BB77-BC24-A583-485DE88E5D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9A2D0F2-4360-03F5-7201-5DE7A32A1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588317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878A463-136D-6824-E6C6-D8F298C3B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不同類型的 classification (Different Types of Classification)</a:t>
            </a:r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96A4B3D8-CCE6-DE6A-B104-414760DD9B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B4BC3D2-4162-5C10-92E8-3CF103FDA2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75</a:t>
            </a:fld>
            <a:endParaRPr lang="en-US"/>
          </a:p>
        </p:txBody>
      </p:sp>
      <p:pic>
        <p:nvPicPr>
          <p:cNvPr id="8" name="內容版面配置區 7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129BD08C-6671-4F87-2E66-31A6CB5DC33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848" y="1667330"/>
            <a:ext cx="8493358" cy="2777701"/>
          </a:xfrm>
          <a:prstGeom prst="rect">
            <a:avLst/>
          </a:prstGeom>
        </p:spPr>
      </p:pic>
      <p:pic>
        <p:nvPicPr>
          <p:cNvPr id="7" name="圖片 6" descr="一張含有 字型, 螢幕擷取畫面, 圓形 的圖片&#10;&#10;AI 產生的內容可能不正確。">
            <a:extLst>
              <a:ext uri="{FF2B5EF4-FFF2-40B4-BE49-F238E27FC236}">
                <a16:creationId xmlns:a16="http://schemas.microsoft.com/office/drawing/2014/main" id="{0EB95AEA-8D38-E3F5-2A98-B6FD9D3392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2252" y="4704905"/>
            <a:ext cx="4853748" cy="1895995"/>
          </a:xfrm>
          <a:prstGeom prst="rect">
            <a:avLst/>
          </a:prstGeom>
        </p:spPr>
      </p:pic>
      <p:pic>
        <p:nvPicPr>
          <p:cNvPr id="6" name="圖片 5" descr="一張含有 字型, 螢幕擷取畫面, 圓形 的圖片&#10;&#10;AI 產生的內容可能不正確。">
            <a:extLst>
              <a:ext uri="{FF2B5EF4-FFF2-40B4-BE49-F238E27FC236}">
                <a16:creationId xmlns:a16="http://schemas.microsoft.com/office/drawing/2014/main" id="{B10C7EB1-87CD-B27E-4FFF-951D6D6C66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04" t="13547" r="11016" b="29309"/>
          <a:stretch/>
        </p:blipFill>
        <p:spPr>
          <a:xfrm>
            <a:off x="6419482" y="5002305"/>
            <a:ext cx="1091133" cy="1083450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314C2180-004D-AC0D-6333-F8801356E7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33478" y="4597514"/>
            <a:ext cx="479035" cy="1744028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F93D55AB-19B2-331C-9CBB-833EDB55BC2F}"/>
              </a:ext>
            </a:extLst>
          </p:cNvPr>
          <p:cNvSpPr txBox="1"/>
          <p:nvPr/>
        </p:nvSpPr>
        <p:spPr>
          <a:xfrm>
            <a:off x="6315673" y="6172265"/>
            <a:ext cx="12987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b="1" dirty="0"/>
              <a:t>多類別 (Multi-class)</a:t>
            </a:r>
            <a:endParaRPr lang="zh-TW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332283776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2D327E7-9A54-5F81-30D1-3C684BC86A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多類別分類器 (Multiclass Classifiers)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777FE17-7CCE-D8B8-798E-26143CC0D3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又稱 multinomial classifiers</a:t>
            </a:r>
          </a:p>
          <a:p>
            <a:r>
              <a:rPr lang="en-US" altLang="zh-TW" dirty="0"/>
              <a:t>Scikit-Learn 的支援情況：</a:t>
            </a:r>
          </a:p>
          <a:p>
            <a:pPr lvl="1"/>
            <a:r>
              <a:rPr lang="en-US" altLang="zh-TW" dirty="0"/>
              <a:t>原生支援 (native multiclass)：</a:t>
            </a:r>
          </a:p>
          <a:p>
            <a:pPr lvl="2"/>
            <a:r>
              <a:rPr lang="en-US" altLang="zh-TW" dirty="0" err="1"/>
              <a:t>LogisticRegression、RandomForestClassifier、GaussianNB</a:t>
            </a:r>
            <a:r>
              <a:rPr lang="en-US" altLang="zh-TW" dirty="0"/>
              <a:t/>
            </a:r>
            <a:r>
              <a:rPr lang="en-US" altLang="zh-TW" dirty="0" err="1"/>
              <a:t/>
            </a:r>
            <a:r>
              <a:rPr lang="en-US" altLang="zh-TW" dirty="0"/>
              <a:t/>
            </a:r>
            <a:r>
              <a:rPr lang="en-US" altLang="zh-TW" dirty="0" err="1"/>
              <a:t/>
            </a:r>
            <a:endParaRPr lang="en-US" altLang="zh-TW" dirty="0"/>
          </a:p>
          <a:p>
            <a:pPr lvl="1"/>
            <a:endParaRPr lang="en-US" altLang="zh-TW" dirty="0"/>
          </a:p>
          <a:p>
            <a:pPr lvl="1"/>
            <a:r>
              <a:rPr lang="en-US" altLang="zh-TW" dirty="0" err="1"/>
              <a:t>僅支援 binary classification：</a:t>
            </a:r>
            <a:r>
              <a:rPr lang="en-US" altLang="zh-TW" dirty="0"/>
              <a:t/>
            </a:r>
          </a:p>
          <a:p>
            <a:pPr lvl="2"/>
            <a:r>
              <a:rPr lang="en-US" altLang="zh-TW" dirty="0" err="1"/>
              <a:t>SGDClassifier、SVC</a:t>
            </a:r>
            <a:r>
              <a:rPr lang="en-US" altLang="zh-TW" dirty="0"/>
              <a:t/>
            </a:r>
          </a:p>
          <a:p>
            <a:pPr lvl="2"/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9E13E695-CA6B-54E9-04FB-1E5491D98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D82C5D5-DE9F-4A8B-54B8-E63FFCCF3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84416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945EB58-36D3-9DB5-48AE-EC69EC505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多類別分類的策略 (Strategies in Multiclass Classification)</a:t>
            </a:r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4B0F4A84-E37F-DBAB-A99F-CF8D8FCE60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4BE49E0-C1F6-61D6-2993-108DB42C1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77</a:t>
            </a:fld>
            <a:endParaRPr 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AE8932F3-0204-DED8-FCCA-A001E45BBE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5212" y="2054774"/>
            <a:ext cx="8662567" cy="4056466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7289E722-EAEF-5E6D-DCB6-8DCB9CCB3266}"/>
              </a:ext>
            </a:extLst>
          </p:cNvPr>
          <p:cNvSpPr txBox="1"/>
          <p:nvPr/>
        </p:nvSpPr>
        <p:spPr>
          <a:xfrm>
            <a:off x="1615440" y="1522795"/>
            <a:ext cx="35724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400" b="1" u="sng" dirty="0"/>
              <a:t>One-versus-Rest (OvR)</a:t>
            </a:r>
            <a:r>
              <a:rPr lang="zh-TW" altLang="en-US" sz="2400" b="1" u="sng" dirty="0"/>
              <a:t/>
            </a:r>
            <a:r>
              <a:rPr lang="en-US" altLang="zh-TW" sz="2400" b="1" u="sng" dirty="0"/>
              <a:t/>
            </a:r>
            <a:r>
              <a:rPr lang="en-US" altLang="zh-TW" sz="2400" b="1" u="sng" dirty="0" err="1"/>
              <a:t/>
            </a:r>
            <a:r>
              <a:rPr lang="en-US" altLang="zh-TW" sz="2400" b="1" u="sng" dirty="0"/>
              <a:t/>
            </a:r>
            <a:endParaRPr lang="zh-TW" altLang="en-US" sz="2400" b="1" u="sng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B275C29F-E0EE-231F-1657-6A532A487257}"/>
              </a:ext>
            </a:extLst>
          </p:cNvPr>
          <p:cNvSpPr txBox="1"/>
          <p:nvPr/>
        </p:nvSpPr>
        <p:spPr>
          <a:xfrm>
            <a:off x="5923255" y="1522794"/>
            <a:ext cx="36025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400" b="1" u="sng" dirty="0"/>
              <a:t>One-versus-One (OvO)</a:t>
            </a:r>
            <a:r>
              <a:rPr lang="zh-TW" altLang="en-US" sz="2400" b="1" u="sng" dirty="0"/>
              <a:t/>
            </a:r>
            <a:r>
              <a:rPr lang="en-US" altLang="zh-TW" sz="2400" b="1" u="sng" dirty="0"/>
              <a:t/>
            </a:r>
            <a:r>
              <a:rPr lang="en-US" altLang="zh-TW" sz="2400" b="1" u="sng" dirty="0" err="1"/>
              <a:t/>
            </a:r>
            <a:r>
              <a:rPr lang="en-US" altLang="zh-TW" sz="2400" b="1" u="sng" dirty="0"/>
              <a:t/>
            </a:r>
            <a:endParaRPr lang="zh-TW" altLang="en-US" sz="2400" b="1" u="sng" dirty="0"/>
          </a:p>
        </p:txBody>
      </p:sp>
    </p:spTree>
    <p:extLst>
      <p:ext uri="{BB962C8B-B14F-4D97-AF65-F5344CB8AC3E}">
        <p14:creationId xmlns:p14="http://schemas.microsoft.com/office/powerpoint/2010/main" val="145274167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5D70E3D-5A84-AE2C-60DD-F52586EBC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OvR 與 OvO 的優缺點 (Pros &amp; Cons)</a:t>
            </a:r>
            <a:r>
              <a:rPr lang="en-US" altLang="zh-TW" dirty="0" err="1"/>
              <a:t/>
            </a:r>
            <a:r>
              <a:rPr lang="en-US" altLang="zh-TW" dirty="0"/>
              <a:t/>
            </a:r>
            <a:r>
              <a:rPr lang="en-US" altLang="zh-TW" dirty="0" err="1"/>
              <a:t/>
            </a:r>
            <a:endParaRPr lang="zh-TW" altLang="en-US" dirty="0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DD491322-5123-D15E-DB3A-06F0742BA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5AB212F-605E-42A4-05EE-917AEF8D68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78</a:t>
            </a:fld>
            <a:endParaRPr 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1B2BD5E0-948C-800A-65D6-056A729C55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431" y="2105586"/>
            <a:ext cx="10751654" cy="3586553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58258AE8-C73C-B737-9DFC-5330F6629A0C}"/>
              </a:ext>
            </a:extLst>
          </p:cNvPr>
          <p:cNvSpPr txBox="1"/>
          <p:nvPr/>
        </p:nvSpPr>
        <p:spPr>
          <a:xfrm>
            <a:off x="2659380" y="1561601"/>
            <a:ext cx="35724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400" b="1" u="sng" dirty="0"/>
              <a:t>One-versus-Rest (OvR)</a:t>
            </a:r>
            <a:r>
              <a:rPr lang="zh-TW" altLang="en-US" sz="2400" b="1" u="sng" dirty="0"/>
              <a:t/>
            </a:r>
            <a:r>
              <a:rPr lang="en-US" altLang="zh-TW" sz="2400" b="1" u="sng" dirty="0"/>
              <a:t/>
            </a:r>
            <a:r>
              <a:rPr lang="en-US" altLang="zh-TW" sz="2400" b="1" u="sng" dirty="0" err="1"/>
              <a:t/>
            </a:r>
            <a:r>
              <a:rPr lang="en-US" altLang="zh-TW" sz="2400" b="1" u="sng" dirty="0"/>
              <a:t/>
            </a:r>
            <a:endParaRPr lang="zh-TW" altLang="en-US" sz="2400" b="1" u="sng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8643EB3-AF02-676D-E29E-6B5B3B83FB88}"/>
              </a:ext>
            </a:extLst>
          </p:cNvPr>
          <p:cNvSpPr txBox="1"/>
          <p:nvPr/>
        </p:nvSpPr>
        <p:spPr>
          <a:xfrm>
            <a:off x="6925253" y="1561600"/>
            <a:ext cx="36025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400" b="1" u="sng" dirty="0"/>
              <a:t>One-versus-One (OvO)</a:t>
            </a:r>
            <a:r>
              <a:rPr lang="zh-TW" altLang="en-US" sz="2400" b="1" u="sng" dirty="0"/>
              <a:t/>
            </a:r>
            <a:r>
              <a:rPr lang="en-US" altLang="zh-TW" sz="2400" b="1" u="sng" dirty="0"/>
              <a:t/>
            </a:r>
            <a:r>
              <a:rPr lang="en-US" altLang="zh-TW" sz="2400" b="1" u="sng" dirty="0" err="1"/>
              <a:t/>
            </a:r>
            <a:r>
              <a:rPr lang="en-US" altLang="zh-TW" sz="2400" b="1" u="sng" dirty="0"/>
              <a:t/>
            </a:r>
            <a:endParaRPr lang="zh-TW" altLang="en-US" sz="2400" b="1" u="sng" dirty="0"/>
          </a:p>
        </p:txBody>
      </p:sp>
    </p:spTree>
    <p:extLst>
      <p:ext uri="{BB962C8B-B14F-4D97-AF65-F5344CB8AC3E}">
        <p14:creationId xmlns:p14="http://schemas.microsoft.com/office/powerpoint/2010/main" val="274412189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F85C0B4-92F2-0A56-B546-250705123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多標籤分類 (Multilabel Classification)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7C648BB-584C-FF5B-0BC9-28131AEEAC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每個樣本 (instance) 同時對應多個 label</a:t>
            </a:r>
          </a:p>
          <a:p>
            <a:r>
              <a:rPr lang="en-US" altLang="zh-TW" dirty="0"/>
              <a:t>分類器必須對每個樣本輸出多個 class</a:t>
            </a:r>
          </a:p>
          <a:p>
            <a:pPr lvl="1"/>
            <a:r>
              <a:rPr lang="en-US" altLang="zh-TW" dirty="0"/>
              <a:t>範例：對一個數字同時判斷</a:t>
            </a:r>
          </a:p>
          <a:p>
            <a:pPr lvl="2"/>
            <a:r>
              <a:rPr lang="en-US" altLang="zh-TW" dirty="0"/>
              <a:t>是否大於 5</a:t>
            </a:r>
          </a:p>
          <a:p>
            <a:pPr lvl="2"/>
            <a:r>
              <a:rPr lang="en-US" altLang="zh-TW" dirty="0"/>
              <a:t>是奇數或偶數</a:t>
            </a:r>
          </a:p>
          <a:p>
            <a:pPr lvl="1"/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ACCD2BEE-D20A-43FC-8B30-5DFABD9DE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B1F6B25-6FE8-BA72-3272-FFFF75E1C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79</a:t>
            </a:fld>
            <a:endParaRPr lang="en-US"/>
          </a:p>
        </p:txBody>
      </p:sp>
      <p:pic>
        <p:nvPicPr>
          <p:cNvPr id="7" name="圖片 6" descr="一張含有 文字, 狗, 螢幕擷取畫面 的圖片&#10;&#10;AI 產生的內容可能不正確。">
            <a:extLst>
              <a:ext uri="{FF2B5EF4-FFF2-40B4-BE49-F238E27FC236}">
                <a16:creationId xmlns:a16="http://schemas.microsoft.com/office/drawing/2014/main" id="{69C0ED1A-4A2C-D0F2-82C5-F70271AF2A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444"/>
          <a:stretch/>
        </p:blipFill>
        <p:spPr>
          <a:xfrm>
            <a:off x="5765847" y="3185160"/>
            <a:ext cx="4574494" cy="30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646369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17E4527-53D8-D60A-5E29-FC5D3298B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多輸出分類 (Multioutput Classification)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7402905-576C-C5E9-7D06-B79551DD7F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694" y="1439702"/>
            <a:ext cx="10381517" cy="4434627"/>
          </a:xfrm>
        </p:spPr>
        <p:txBody>
          <a:bodyPr/>
          <a:lstStyle/>
          <a:p>
            <a:r>
              <a:rPr lang="en-US" altLang="zh-TW" dirty="0"/>
              <a:t>Multilabel classification 的推廣</a:t>
            </a:r>
          </a:p>
          <a:p>
            <a:r>
              <a:rPr lang="en-US" altLang="zh-TW" dirty="0"/>
              <a:t>每個 label 又可以是 multi-class</a:t>
            </a:r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FDE62E14-E186-3939-254C-8D97DA983C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D7E37E3-B350-E514-0666-3CC875C7B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80</a:t>
            </a:fld>
            <a:endParaRPr 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F07F1E76-AA06-71F0-076F-01409117B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318" y="3040131"/>
            <a:ext cx="5486682" cy="2984653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1D9506E6-C0A2-8D04-13AE-DCF7758444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1801" y="3579908"/>
            <a:ext cx="1828894" cy="2444876"/>
          </a:xfrm>
          <a:prstGeom prst="rect">
            <a:avLst/>
          </a:prstGeom>
        </p:spPr>
      </p:pic>
      <p:sp>
        <p:nvSpPr>
          <p:cNvPr id="10" name="箭號: 向右 9">
            <a:extLst>
              <a:ext uri="{FF2B5EF4-FFF2-40B4-BE49-F238E27FC236}">
                <a16:creationId xmlns:a16="http://schemas.microsoft.com/office/drawing/2014/main" id="{B2C48F8C-1C9B-B349-CEB3-D51CE9B26D8F}"/>
              </a:ext>
            </a:extLst>
          </p:cNvPr>
          <p:cNvSpPr/>
          <p:nvPr/>
        </p:nvSpPr>
        <p:spPr>
          <a:xfrm>
            <a:off x="7218241" y="4390866"/>
            <a:ext cx="1051560" cy="41148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E93A28AF-227D-C0E9-8923-08507B1D609A}"/>
              </a:ext>
            </a:extLst>
          </p:cNvPr>
          <p:cNvSpPr txBox="1"/>
          <p:nvPr/>
        </p:nvSpPr>
        <p:spPr>
          <a:xfrm>
            <a:off x="1760220" y="6165813"/>
            <a:ext cx="59942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每個 pixel 都是一個 label  multilabel</a:t>
            </a:r>
            <a:r>
              <a:rPr lang="en-US" altLang="zh-TW" dirty="0">
                <a:sym typeface="Wingdings" panose="05000000000000000000" pitchFamily="2" charset="2"/>
              </a:rPr>
              <a:t/>
            </a:r>
          </a:p>
          <a:p>
            <a:r>
              <a:rPr lang="en-US" altLang="zh-TW" dirty="0">
                <a:sym typeface="Wingdings" panose="05000000000000000000" pitchFamily="2" charset="2"/>
              </a:rPr>
              <a:t>每個 pixel 的值介於 0–255  multiclass</a:t>
            </a:r>
            <a:endParaRPr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E85B74A0-8FDD-6215-A1ED-65CB13ADC4BA}"/>
              </a:ext>
            </a:extLst>
          </p:cNvPr>
          <p:cNvSpPr txBox="1"/>
          <p:nvPr/>
        </p:nvSpPr>
        <p:spPr>
          <a:xfrm>
            <a:off x="1371600" y="2750824"/>
            <a:ext cx="16462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28 × 28 pixels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59043881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10AAFF42-1AE9-DBF0-A3ED-C9BC7130F4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分類 (Classification)</a:t>
            </a:r>
            <a:endParaRPr lang="zh-TW" altLang="en-US" dirty="0"/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15804C29-9B8C-E803-649B-25CFBF6E31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範例資料：MNIST</a:t>
            </a:r>
            <a:r>
              <a:rPr lang="zh-TW" altLang="en-US" dirty="0">
                <a:solidFill>
                  <a:schemeClr val="bg1">
                    <a:lumMod val="65000"/>
                  </a:schemeClr>
                </a:solidFill>
              </a:rPr>
              <a:t/>
            </a: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/>
            </a:r>
            <a:r>
              <a:rPr lang="zh-TW" altLang="en-US" dirty="0">
                <a:solidFill>
                  <a:schemeClr val="bg1">
                    <a:lumMod val="65000"/>
                  </a:schemeClr>
                </a:solidFill>
              </a:rPr>
              <a:t/>
            </a: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/>
            </a:r>
            <a:r>
              <a:rPr lang="zh-TW" altLang="en-US" dirty="0">
                <a:solidFill>
                  <a:schemeClr val="bg1">
                    <a:lumMod val="65000"/>
                  </a:schemeClr>
                </a:solidFill>
              </a:rPr>
              <a:t/>
            </a: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/>
            </a:r>
          </a:p>
          <a:p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訓練二元分類器 (binary classifier)</a:t>
            </a:r>
          </a:p>
          <a:p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效能指標 (performance measures)</a:t>
            </a:r>
          </a:p>
          <a:p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不同類型的 classification 任務</a:t>
            </a:r>
          </a:p>
          <a:p>
            <a:r>
              <a:rPr lang="en-US" altLang="zh-TW" dirty="0"/>
              <a:t>錯誤分析 (error analysis)</a:t>
            </a:r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F55F00B-4910-57BD-1303-967235AD3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6E1044F4-1591-A87B-258F-C2D61162A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965680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363DB6F-FF33-3058-3D56-0F23B3D4F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混淆矩陣 (Confusion Matrix)</a:t>
            </a:r>
            <a:endParaRPr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A4097025-E6F6-2AC4-8C2B-959097C7EE1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472974" y="1924747"/>
            <a:ext cx="8788852" cy="3765744"/>
          </a:xfrm>
        </p:spPr>
      </p:pic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36684C87-EB9C-EFFB-E906-FE2F75AF6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64A68D7D-8137-3A9F-6429-F347B8469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745571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B7EE020-DAD2-9CD5-8DBA-82416532DA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聚焦於錯誤的 confusion matrix (Confusion Matrix with Errors)</a:t>
            </a:r>
            <a:endParaRPr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004AA3D9-BE71-4B49-F343-E3032806D5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472974" y="1892995"/>
            <a:ext cx="8788852" cy="3829247"/>
          </a:xfrm>
        </p:spPr>
      </p:pic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AB3C63E5-E715-C6DD-7D0D-72F0ACDC3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AFC1B1C-4D2B-0C51-B7AA-A4D7DCBFBD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36325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CCA584A-34EF-7853-BD36-A8FAB907E5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如何根據錯誤改善模型？(How to Improve on Errors)</a:t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0264F20-74B9-CCE5-F5AB-F0A61FDAA5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741" y="1402081"/>
            <a:ext cx="10829459" cy="4916365"/>
          </a:xfrm>
        </p:spPr>
        <p:txBody>
          <a:bodyPr>
            <a:normAutofit fontScale="62500" lnSpcReduction="20000"/>
          </a:bodyPr>
          <a:lstStyle/>
          <a:p>
            <a:r>
              <a:rPr lang="en-US" altLang="zh-TW" dirty="0"/>
              <a:t>鎖定特定錯誤類型 (Target specific errors)</a:t>
            </a:r>
          </a:p>
          <a:p>
            <a:pPr lvl="1"/>
            <a:r>
              <a:rPr lang="en-US" altLang="zh-TW" dirty="0"/>
              <a:t>把改善精力集中在最常見、最嚴重的誤判 (例如「被誤判成 8」)</a:t>
            </a:r>
          </a:p>
          <a:p>
            <a:r>
              <a:rPr lang="en-US" altLang="zh-TW" dirty="0"/>
              <a:t>收集更多相關 training data</a:t>
            </a:r>
          </a:p>
          <a:p>
            <a:pPr lvl="1"/>
            <a:r>
              <a:rPr lang="en-US" altLang="zh-TW" dirty="0"/>
              <a:t>尤其針對容易混淆的類別 (classes)，收集更多範例</a:t>
            </a:r>
          </a:p>
          <a:p>
            <a:pPr lvl="1"/>
            <a:r>
              <a:rPr lang="en-US" altLang="zh-TW" dirty="0"/>
              <a:t>例如：如果其他數字常被誤判為 8，就多收集「外觀像 8 但其實不是」的範例，幫助模型學會區辨</a:t>
            </a:r>
          </a:p>
          <a:p>
            <a:r>
              <a:rPr lang="en-US" altLang="zh-TW" dirty="0"/>
              <a:t>設計新的 features (Feature engineering)</a:t>
            </a:r>
          </a:p>
          <a:p>
            <a:pPr lvl="1"/>
            <a:r>
              <a:rPr lang="en-US" altLang="zh-TW" dirty="0"/>
              <a:t>設計並加入能幫助模型區分易混淆類別的新 features</a:t>
            </a:r>
          </a:p>
          <a:p>
            <a:pPr lvl="1"/>
            <a:r>
              <a:rPr lang="en-US" altLang="zh-TW" dirty="0"/>
              <a:t>例如：若 8 是難點，可以設計一個計算圖中封閉迴圈 (closed loops) 數量的 feature (8 有兩個、6 有一個、5 沒有)</a:t>
            </a:r>
          </a:p>
          <a:p>
            <a:r>
              <a:rPr lang="en-US" altLang="zh-TW" dirty="0"/>
              <a:t>資料/影像前處理 (Preprocess data / images)</a:t>
            </a:r>
          </a:p>
          <a:p>
            <a:pPr lvl="1"/>
            <a:r>
              <a:rPr lang="en-US" altLang="zh-TW" dirty="0"/>
              <a:t>用前處理技巧讓區辨用的 pattern 更明顯，便於模型學習</a:t>
            </a:r>
          </a:p>
          <a:p>
            <a:pPr lvl="1"/>
            <a:r>
              <a:rPr lang="en-US" altLang="zh-TW" dirty="0"/>
              <a:t>例如：使用 Scikit-Image、Pillow、OpenCV 等影像處理套件，加強數字圖中的封閉迴圈特徵</a:t>
            </a:r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156E3AC-6765-8682-B4B4-3075F071CC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85C25AD-DBA9-40A4-2EDB-EB809067B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48449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82D634E-5B81-3DD9-A2D1-A17C8147E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錯誤分析 (Error Analysis)</a:t>
            </a:r>
            <a:endParaRPr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C91587FB-1436-ECAB-DF31-604B91DF12A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63240" y="1590675"/>
            <a:ext cx="5018541" cy="5024350"/>
          </a:xfrm>
        </p:spPr>
      </p:pic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C657E7CC-838B-3C1F-5A62-1052000A8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545DF390-ACE3-46F7-5429-AA6B32EF77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008725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3F5E8FD-8FC0-8A72-4E4F-7F574662B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資料增強 (Data Augmentation)</a:t>
            </a:r>
            <a:endParaRPr lang="zh-TW" altLang="en-US" dirty="0"/>
          </a:p>
        </p:txBody>
      </p:sp>
      <p:pic>
        <p:nvPicPr>
          <p:cNvPr id="7" name="內容版面配置區 6" descr="一張含有 螢幕擷取畫面, 字型, 白色, 黑色 的圖片&#10;&#10;AI 產生的內容可能不正確。">
            <a:extLst>
              <a:ext uri="{FF2B5EF4-FFF2-40B4-BE49-F238E27FC236}">
                <a16:creationId xmlns:a16="http://schemas.microsoft.com/office/drawing/2014/main" id="{F6A4A2FD-25BF-7EE7-EB1C-7C3706C65F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634" y="2315051"/>
            <a:ext cx="9676683" cy="2493169"/>
          </a:xfrm>
        </p:spPr>
      </p:pic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E6E00CF3-E855-1020-65EF-21A9FB00D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Computers, Programming, &amp; Big Data. 2026 Spring</a:t>
            </a: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9B4F77C-BDEF-289B-3DF9-4CCD48EDB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86</a:t>
            </a:fld>
            <a:endParaRPr 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B498F55-2884-10D2-900A-565FEF533D87}"/>
              </a:ext>
            </a:extLst>
          </p:cNvPr>
          <p:cNvSpPr txBox="1"/>
          <p:nvPr/>
        </p:nvSpPr>
        <p:spPr>
          <a:xfrm>
            <a:off x="1325880" y="4884420"/>
            <a:ext cx="1050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原圖 (Original)</a:t>
            </a:r>
            <a:endParaRPr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FE04EA4A-3D1F-865D-054A-6BA0C4B7843B}"/>
              </a:ext>
            </a:extLst>
          </p:cNvPr>
          <p:cNvSpPr txBox="1"/>
          <p:nvPr/>
        </p:nvSpPr>
        <p:spPr>
          <a:xfrm>
            <a:off x="3116580" y="4745920"/>
            <a:ext cx="13789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dirty="0"/>
              <a:t>水平 (Horizontal)</a:t>
            </a:r>
          </a:p>
          <a:p>
            <a:pPr algn="ctr"/>
            <a:r>
              <a:rPr lang="en-US" altLang="zh-TW" dirty="0"/>
              <a:t>翻轉 (flip)</a:t>
            </a:r>
            <a:endParaRPr lang="zh-TW" altLang="en-US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20A887EE-9AE5-B81B-83FB-242651429FE8}"/>
              </a:ext>
            </a:extLst>
          </p:cNvPr>
          <p:cNvSpPr txBox="1"/>
          <p:nvPr/>
        </p:nvSpPr>
        <p:spPr>
          <a:xfrm>
            <a:off x="5203827" y="4745919"/>
            <a:ext cx="10483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dirty="0"/>
              <a:t>垂直 (Vertical)</a:t>
            </a:r>
          </a:p>
          <a:p>
            <a:pPr algn="ctr"/>
            <a:r>
              <a:rPr lang="en-US" altLang="zh-TW" dirty="0"/>
              <a:t>翻轉 (flip)</a:t>
            </a:r>
            <a:endParaRPr lang="zh-TW" altLang="en-US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B027334D-4E36-EC14-6141-1D6A686802F0}"/>
              </a:ext>
            </a:extLst>
          </p:cNvPr>
          <p:cNvSpPr txBox="1"/>
          <p:nvPr/>
        </p:nvSpPr>
        <p:spPr>
          <a:xfrm>
            <a:off x="7043342" y="4848104"/>
            <a:ext cx="12554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dirty="0"/>
              <a:t>遮擋 (Occlusion)</a:t>
            </a:r>
            <a:endParaRPr lang="zh-TW" altLang="en-US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01D59B51-5509-BBBF-21CF-FE90AB701395}"/>
              </a:ext>
            </a:extLst>
          </p:cNvPr>
          <p:cNvSpPr txBox="1"/>
          <p:nvPr/>
        </p:nvSpPr>
        <p:spPr>
          <a:xfrm>
            <a:off x="8980131" y="4777070"/>
            <a:ext cx="11608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dirty="0"/>
              <a:t>高斯 (Gaussian)</a:t>
            </a:r>
          </a:p>
          <a:p>
            <a:pPr algn="ctr"/>
            <a:r>
              <a:rPr lang="en-US" altLang="zh-TW" dirty="0"/>
              <a:t>雜訊 (noise)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012C081-CF6F-5573-B5B5-BEBC2B77CFF8}"/>
              </a:ext>
            </a:extLst>
          </p:cNvPr>
          <p:cNvSpPr txBox="1"/>
          <p:nvPr/>
        </p:nvSpPr>
        <p:spPr>
          <a:xfrm>
            <a:off x="967740" y="1741111"/>
            <a:ext cx="93646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讓模型看到 target 的多種變形，提升 robustness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5323961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13.0.5724"/>
  <p:tag name="SLIDO_PRESENTATION_ID" val="3503345f-5125-4760-823f-2e8e2a60e9a1"/>
  <p:tag name="SLIDO_EVENT_UUID" val="9f01878d-775c-475b-a82f-25ec57480eb1"/>
  <p:tag name="SLIDO_EVENT_SECTION_UUID" val="fc18856c-4aaa-4964-b06c-794514368f9e"/>
</p:tagLst>
</file>

<file path=ppt/theme/theme1.xml><?xml version="1.0" encoding="utf-8"?>
<a:theme xmlns:a="http://schemas.openxmlformats.org/drawingml/2006/main" name="SwellVTI">
  <a:themeElements>
    <a:clrScheme name="AnalogousFromLightSeedRightStep">
      <a:dk1>
        <a:srgbClr val="000000"/>
      </a:dk1>
      <a:lt1>
        <a:srgbClr val="FFFFFF"/>
      </a:lt1>
      <a:dk2>
        <a:srgbClr val="243341"/>
      </a:dk2>
      <a:lt2>
        <a:srgbClr val="E8E2E7"/>
      </a:lt2>
      <a:accent1>
        <a:srgbClr val="7DAD88"/>
      </a:accent1>
      <a:accent2>
        <a:srgbClr val="6FAC96"/>
      </a:accent2>
      <a:accent3>
        <a:srgbClr val="7DA9AC"/>
      </a:accent3>
      <a:accent4>
        <a:srgbClr val="7B9EBE"/>
      </a:accent4>
      <a:accent5>
        <a:srgbClr val="9399CA"/>
      </a:accent5>
      <a:accent6>
        <a:srgbClr val="8F7BBE"/>
      </a:accent6>
      <a:hlink>
        <a:srgbClr val="AE699F"/>
      </a:hlink>
      <a:folHlink>
        <a:srgbClr val="7F7F7F"/>
      </a:folHlink>
    </a:clrScheme>
    <a:fontScheme name="自訂 6">
      <a:majorFont>
        <a:latin typeface="微軟正黑體"/>
        <a:ea typeface="微軟正黑體"/>
        <a:cs typeface=""/>
      </a:majorFont>
      <a:minorFont>
        <a:latin typeface="微軟正黑體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wellVTI" id="{8361A04D-931A-43DC-973B-1B0B1DD5DECC}" vid="{6DDB23E8-D18E-4BDA-98D6-324466149EBD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701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FB60585-45DD-4756-8BFA-050389CF340D}">
  <we:reference id="wa200004052" version="1.0.0.2" store="zh-TW" storeType="OMEX"/>
  <we:alternateReferences>
    <we:reference id="WA200004052" version="1.0.0.2" store="WA200004052" storeType="OMEX"/>
  </we:alternateReferences>
  <we:properties>
    <we:property name="holatex.main" value="{&quot;pictures&quot;:[{&quot;name&quot;:&quot;LaTex&quot;,&quot;code&quot;:&quot;\\documentclass{article}\n\\usepackage{amsmath}\n\\begin{document}\n\n\n\\begin{aligned}\n&amp; \\mathrm{H}_0: \\mu = 30 \\\\\n&amp; \\mathrm{H}_1: \\mu \\neq 30\n\\end{aligned}\n\n\n\\end{document}\n&quot;}]}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10856</TotalTime>
  <Words>3420</Words>
  <Application>Microsoft Office PowerPoint</Application>
  <PresentationFormat>寬螢幕</PresentationFormat>
  <Paragraphs>674</Paragraphs>
  <Slides>86</Slides>
  <Notes>86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86</vt:i4>
      </vt:variant>
    </vt:vector>
  </HeadingPairs>
  <TitlesOfParts>
    <vt:vector size="92" baseType="lpstr">
      <vt:lpstr>微軟正黑體</vt:lpstr>
      <vt:lpstr>Aptos</vt:lpstr>
      <vt:lpstr>Arial</vt:lpstr>
      <vt:lpstr>Neue Haas Grotesk Text Pro</vt:lpstr>
      <vt:lpstr>Wingdings</vt:lpstr>
      <vt:lpstr>SwellVTI</vt:lpstr>
      <vt:lpstr>ML Project End-to-End Classification</vt:lpstr>
      <vt:lpstr>End-to-End Machine Learning</vt:lpstr>
      <vt:lpstr>ML Project Checklist</vt:lpstr>
      <vt:lpstr>ML Project Check List</vt:lpstr>
      <vt:lpstr>Looking at the Big Picture</vt:lpstr>
      <vt:lpstr>Frame the Problem</vt:lpstr>
      <vt:lpstr>Decisions to Make</vt:lpstr>
      <vt:lpstr>Answers to the Decisions</vt:lpstr>
      <vt:lpstr>Select a Performance Measure</vt:lpstr>
      <vt:lpstr>L1 vs. L2 Norm</vt:lpstr>
      <vt:lpstr>ML Project Check List</vt:lpstr>
      <vt:lpstr>Get the Data and Play with It</vt:lpstr>
      <vt:lpstr>PowerPoint 簡報</vt:lpstr>
      <vt:lpstr>Visualize Distributions</vt:lpstr>
      <vt:lpstr>Create a test set</vt:lpstr>
      <vt:lpstr>Stratified Sampling</vt:lpstr>
      <vt:lpstr>ML Project Check List</vt:lpstr>
      <vt:lpstr>Explore the Data to Gain Insights </vt:lpstr>
      <vt:lpstr>PowerPoint 簡報</vt:lpstr>
      <vt:lpstr>Look for Relationship between Features</vt:lpstr>
      <vt:lpstr>Median Income vs. Median House Value</vt:lpstr>
      <vt:lpstr>Scatterplots for Various Extent of Correlation</vt:lpstr>
      <vt:lpstr>Experiment with Attribute Combinations</vt:lpstr>
      <vt:lpstr>Create Informative Features</vt:lpstr>
      <vt:lpstr>ML Project Check List</vt:lpstr>
      <vt:lpstr>Preprocessing or Feature Engineering</vt:lpstr>
      <vt:lpstr>Clean the Data</vt:lpstr>
      <vt:lpstr>Handling Text and Categorical Attributes</vt:lpstr>
      <vt:lpstr>One-hot Encoding</vt:lpstr>
      <vt:lpstr>Scaling &amp; Distribution Transformation</vt:lpstr>
      <vt:lpstr>Bucketizing (Binning) </vt:lpstr>
      <vt:lpstr>Equal Range vs. Quantile Bucketing</vt:lpstr>
      <vt:lpstr>Recoding Multimodal Distribution:  Radial Basis Function</vt:lpstr>
      <vt:lpstr>Custom Transformers</vt:lpstr>
      <vt:lpstr>Rationales for Transformation</vt:lpstr>
      <vt:lpstr>Implementation of Transformation Pipelines</vt:lpstr>
      <vt:lpstr>ML Project Check List</vt:lpstr>
      <vt:lpstr>Model Selection</vt:lpstr>
      <vt:lpstr>Training a Model</vt:lpstr>
      <vt:lpstr>Another Model: Decision Tree</vt:lpstr>
      <vt:lpstr>Better Evaluation with Cross-Validation</vt:lpstr>
      <vt:lpstr>Cross-Validation on Random Forest</vt:lpstr>
      <vt:lpstr>ML Project Check List</vt:lpstr>
      <vt:lpstr>Fine Tune the Model</vt:lpstr>
      <vt:lpstr>Grid Search vs. Random Search</vt:lpstr>
      <vt:lpstr>Example for Grid Search</vt:lpstr>
      <vt:lpstr>Ensemble Learning</vt:lpstr>
      <vt:lpstr>Select and Adjust Features Based on Importance &amp; Errors</vt:lpstr>
      <vt:lpstr>Evaluate Performance on the Test Set </vt:lpstr>
      <vt:lpstr>Flow of Training and Testing</vt:lpstr>
      <vt:lpstr>ML Project Check List</vt:lpstr>
      <vt:lpstr>Launch, Monitor and Maintain Your System</vt:lpstr>
      <vt:lpstr>A/B Testing</vt:lpstr>
      <vt:lpstr>Different Approaches of Launching the ML Model</vt:lpstr>
      <vt:lpstr>Guidelines and Advice</vt:lpstr>
      <vt:lpstr>Guidelines and Advice</vt:lpstr>
      <vt:lpstr>Classification</vt:lpstr>
      <vt:lpstr>Classification</vt:lpstr>
      <vt:lpstr>Classification</vt:lpstr>
      <vt:lpstr>Example Digits from MNIST</vt:lpstr>
      <vt:lpstr>Classification</vt:lpstr>
      <vt:lpstr>Binary Classifier</vt:lpstr>
      <vt:lpstr>Classification</vt:lpstr>
      <vt:lpstr>Performance Measures</vt:lpstr>
      <vt:lpstr>Confusion Matrix, Precision, &amp; Recall</vt:lpstr>
      <vt:lpstr>Precision, Recall, &amp; F1-score</vt:lpstr>
      <vt:lpstr>Precision/Recall Trade-off</vt:lpstr>
      <vt:lpstr>Precision &amp; Recall versus the Decision Treshold</vt:lpstr>
      <vt:lpstr>Precision/Recall Curve</vt:lpstr>
      <vt:lpstr>The ROC Curve </vt:lpstr>
      <vt:lpstr>Comparing between Precision/Recall Curves</vt:lpstr>
      <vt:lpstr>When to Use Which?</vt:lpstr>
      <vt:lpstr>Classification</vt:lpstr>
      <vt:lpstr>PowerPoint 簡報</vt:lpstr>
      <vt:lpstr>Different Types of Classification</vt:lpstr>
      <vt:lpstr>Multiclass Classifiers</vt:lpstr>
      <vt:lpstr>Strategies in Multiclass Classification</vt:lpstr>
      <vt:lpstr>Pros &amp; Cons of OvR vs. OvO</vt:lpstr>
      <vt:lpstr>Multilabel Classification</vt:lpstr>
      <vt:lpstr>Multioutput Classification</vt:lpstr>
      <vt:lpstr>Classification</vt:lpstr>
      <vt:lpstr>Confusion Matrix</vt:lpstr>
      <vt:lpstr>Confusion Matrix with Errors</vt:lpstr>
      <vt:lpstr>How to Improve on Errors?</vt:lpstr>
      <vt:lpstr>Error Analysis</vt:lpstr>
      <vt:lpstr>Data Augmentation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張智宏  (audachang)</dc:creator>
  <cp:lastModifiedBy>audachang</cp:lastModifiedBy>
  <cp:revision>301</cp:revision>
  <cp:lastPrinted>2025-05-15T00:55:31Z</cp:lastPrinted>
  <dcterms:created xsi:type="dcterms:W3CDTF">2024-10-23T10:48:05Z</dcterms:created>
  <dcterms:modified xsi:type="dcterms:W3CDTF">2025-05-16T01:11:11Z</dcterms:modified>
</cp:coreProperties>
</file>