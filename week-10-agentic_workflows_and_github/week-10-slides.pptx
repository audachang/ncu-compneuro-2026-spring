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305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87" r:id="rId32"/>
    <p:sldId id="304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92" y="4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6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2011680"/>
            <a:ext cx="274320" cy="26517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B8D4"/>
                </a:solidFill>
                <a:latin typeface="Calibri"/>
              </a:rPr>
              <a:t>WEEK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>
                <a:solidFill>
                  <a:srgbClr val="F7F9FB"/>
                </a:solidFill>
                <a:latin typeface="Calibri"/>
              </a:rPr>
              <a:t>Agentic Workflows ×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118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00B8D4"/>
                </a:solidFill>
                <a:latin typeface="Microsoft JhengHei"/>
              </a:rPr>
              <a:t>用 Claude Code 建立資料分析專案環境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160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00B8D4"/>
                </a:solidFill>
                <a:latin typeface="Microsoft JhengHei"/>
              </a:rPr>
              <a:t>× GitHub Repo &amp; GitHub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7F9FB"/>
                </a:solidFill>
                <a:latin typeface="Calibri"/>
              </a:rPr>
              <a:t>NS5116  Programming &amp; AI Applications in Behavioral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760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5657B"/>
                </a:solidFill>
                <a:latin typeface="Calibri"/>
              </a:rPr>
              <a:t>Spring 2026  •  2026-04-30  •  150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本週</a:t>
            </a:r>
            <a:r>
              <a:rPr lang="zh-TW" altLang="en-US" sz="42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課程</a:t>
            </a:r>
            <a:r>
              <a:rPr sz="4200" b="1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結束後，你會</a:t>
            </a:r>
            <a:r>
              <a:rPr sz="42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dirty="0">
                <a:solidFill>
                  <a:srgbClr val="00B8D4"/>
                </a:solidFill>
                <a:latin typeface="Calibri"/>
              </a:rPr>
              <a:t>•  </a:t>
            </a:r>
            <a:r>
              <a:rPr sz="2600" dirty="0">
                <a:solidFill>
                  <a:srgbClr val="1E293B"/>
                </a:solidFill>
                <a:latin typeface="Microsoft JhengHei"/>
              </a:rPr>
              <a:t>依 SOP </a:t>
            </a:r>
            <a:r>
              <a:rPr sz="2600" dirty="0" err="1">
                <a:solidFill>
                  <a:srgbClr val="1E293B"/>
                </a:solidFill>
                <a:latin typeface="Microsoft JhengHei"/>
              </a:rPr>
              <a:t>從零建立可重現</a:t>
            </a:r>
            <a:r>
              <a:rPr sz="2600" dirty="0">
                <a:solidFill>
                  <a:srgbClr val="1E293B"/>
                </a:solidFill>
                <a:latin typeface="Microsoft JhengHei"/>
              </a:rPr>
              <a:t> (reproducible) 的 Python </a:t>
            </a:r>
            <a:r>
              <a:rPr sz="2600" dirty="0" err="1">
                <a:solidFill>
                  <a:srgbClr val="1E293B"/>
                </a:solidFill>
                <a:latin typeface="Microsoft JhengHei"/>
              </a:rPr>
              <a:t>資料分析專案</a:t>
            </a:r>
            <a:endParaRPr sz="2600" dirty="0">
              <a:solidFill>
                <a:srgbClr val="1E293B"/>
              </a:solidFill>
              <a:latin typeface="Microsoft JhengHei"/>
            </a:endParaRPr>
          </a:p>
          <a:p>
            <a:pPr algn="l">
              <a:lnSpc>
                <a:spcPct val="120000"/>
              </a:lnSpc>
              <a:spcBef>
                <a:spcPts val="1170"/>
              </a:spcBef>
            </a:pPr>
            <a:r>
              <a:rPr sz="2600" b="1" dirty="0">
                <a:solidFill>
                  <a:srgbClr val="00B8D4"/>
                </a:solidFill>
                <a:latin typeface="Calibri"/>
              </a:rPr>
              <a:t>•  </a:t>
            </a:r>
            <a:r>
              <a:rPr sz="2600" dirty="0">
                <a:solidFill>
                  <a:srgbClr val="1E293B"/>
                </a:solidFill>
                <a:latin typeface="Microsoft JhengHei"/>
              </a:rPr>
              <a:t>用 Claude Code </a:t>
            </a:r>
            <a:r>
              <a:rPr sz="2600" dirty="0" err="1">
                <a:solidFill>
                  <a:srgbClr val="1E293B"/>
                </a:solidFill>
                <a:latin typeface="Microsoft JhengHei"/>
              </a:rPr>
              <a:t>自動產生標準專案結構（venv</a:t>
            </a:r>
            <a:r>
              <a:rPr sz="2600" dirty="0">
                <a:solidFill>
                  <a:srgbClr val="1E293B"/>
                </a:solidFill>
                <a:latin typeface="Microsoft JhengHei"/>
              </a:rPr>
              <a:t> / requirements / </a:t>
            </a:r>
            <a:r>
              <a:rPr sz="2600" dirty="0" err="1">
                <a:solidFill>
                  <a:srgbClr val="1E293B"/>
                </a:solidFill>
                <a:latin typeface="Microsoft JhengHei"/>
              </a:rPr>
              <a:t>src</a:t>
            </a:r>
            <a:r>
              <a:rPr sz="2600" dirty="0">
                <a:solidFill>
                  <a:srgbClr val="1E293B"/>
                </a:solidFill>
                <a:latin typeface="Microsoft JhengHei"/>
              </a:rPr>
              <a:t> / data）</a:t>
            </a:r>
          </a:p>
          <a:p>
            <a:pPr algn="l">
              <a:lnSpc>
                <a:spcPct val="120000"/>
              </a:lnSpc>
              <a:spcBef>
                <a:spcPts val="1170"/>
              </a:spcBef>
            </a:pPr>
            <a:r>
              <a:rPr sz="2600" b="1" dirty="0">
                <a:solidFill>
                  <a:srgbClr val="00B8D4"/>
                </a:solidFill>
                <a:latin typeface="Calibri"/>
              </a:rPr>
              <a:t>•  </a:t>
            </a:r>
            <a:r>
              <a:rPr sz="2600" dirty="0" err="1">
                <a:solidFill>
                  <a:srgbClr val="1E293B"/>
                </a:solidFill>
                <a:latin typeface="Microsoft JhengHei"/>
              </a:rPr>
              <a:t>把本機專案推上</a:t>
            </a:r>
            <a:r>
              <a:rPr sz="2600" dirty="0">
                <a:solidFill>
                  <a:srgbClr val="1E293B"/>
                </a:solidFill>
                <a:latin typeface="Microsoft JhengHei"/>
              </a:rPr>
              <a:t> </a:t>
            </a:r>
            <a:r>
              <a:rPr sz="2600" dirty="0" err="1">
                <a:solidFill>
                  <a:srgbClr val="1E293B"/>
                </a:solidFill>
                <a:latin typeface="Microsoft JhengHei"/>
              </a:rPr>
              <a:t>GitHub，理解</a:t>
            </a:r>
            <a:r>
              <a:rPr sz="2600" dirty="0">
                <a:solidFill>
                  <a:srgbClr val="1E293B"/>
                </a:solidFill>
                <a:latin typeface="Microsoft JhengHei"/>
              </a:rPr>
              <a:t> repo </a:t>
            </a:r>
            <a:r>
              <a:rPr sz="2600" dirty="0" err="1">
                <a:solidFill>
                  <a:srgbClr val="1E293B"/>
                </a:solidFill>
                <a:latin typeface="Microsoft JhengHei"/>
              </a:rPr>
              <a:t>是專案的「正式對外形象</a:t>
            </a:r>
            <a:r>
              <a:rPr sz="2600" dirty="0">
                <a:solidFill>
                  <a:srgbClr val="1E293B"/>
                </a:solidFill>
                <a:latin typeface="Microsoft JhengHei"/>
              </a:rPr>
              <a:t>」</a:t>
            </a:r>
          </a:p>
          <a:p>
            <a:pPr algn="l">
              <a:lnSpc>
                <a:spcPct val="120000"/>
              </a:lnSpc>
              <a:spcBef>
                <a:spcPts val="1170"/>
              </a:spcBef>
            </a:pPr>
            <a:r>
              <a:rPr sz="2600" b="1" dirty="0">
                <a:solidFill>
                  <a:srgbClr val="00B8D4"/>
                </a:solidFill>
                <a:latin typeface="Calibri"/>
              </a:rPr>
              <a:t>•  </a:t>
            </a:r>
            <a:r>
              <a:rPr sz="2600" dirty="0" err="1">
                <a:solidFill>
                  <a:srgbClr val="1E293B"/>
                </a:solidFill>
                <a:latin typeface="Microsoft JhengHei"/>
              </a:rPr>
              <a:t>設定</a:t>
            </a:r>
            <a:r>
              <a:rPr sz="2600" dirty="0">
                <a:solidFill>
                  <a:srgbClr val="1E293B"/>
                </a:solidFill>
                <a:latin typeface="Microsoft JhengHei"/>
              </a:rPr>
              <a:t> GitHub </a:t>
            </a:r>
            <a:r>
              <a:rPr sz="2600" dirty="0" err="1">
                <a:solidFill>
                  <a:srgbClr val="1E293B"/>
                </a:solidFill>
                <a:latin typeface="Microsoft JhengHei"/>
              </a:rPr>
              <a:t>Pages，把分析結果發布為</a:t>
            </a:r>
            <a:r>
              <a:rPr sz="2600" dirty="0">
                <a:solidFill>
                  <a:srgbClr val="1E293B"/>
                </a:solidFill>
                <a:latin typeface="Microsoft JhengHei"/>
              </a:rPr>
              <a:t> https://&lt;user&gt;.github.io/&lt;repo&gt;/</a:t>
            </a:r>
          </a:p>
          <a:p>
            <a:pPr algn="l">
              <a:lnSpc>
                <a:spcPct val="120000"/>
              </a:lnSpc>
              <a:spcBef>
                <a:spcPts val="1170"/>
              </a:spcBef>
            </a:pPr>
            <a:r>
              <a:rPr sz="2600" b="1" dirty="0">
                <a:solidFill>
                  <a:srgbClr val="00B8D4"/>
                </a:solidFill>
                <a:latin typeface="Calibri"/>
              </a:rPr>
              <a:t>•  </a:t>
            </a:r>
            <a:r>
              <a:rPr sz="2600" dirty="0" err="1">
                <a:solidFill>
                  <a:srgbClr val="1E293B"/>
                </a:solidFill>
                <a:latin typeface="Microsoft JhengHei"/>
              </a:rPr>
              <a:t>解釋</a:t>
            </a:r>
            <a:r>
              <a:rPr sz="2600" dirty="0">
                <a:solidFill>
                  <a:srgbClr val="1E293B"/>
                </a:solidFill>
                <a:latin typeface="Microsoft JhengHei"/>
              </a:rPr>
              <a:t> GitHub repo 與 Pages </a:t>
            </a:r>
            <a:r>
              <a:rPr sz="2600" dirty="0" err="1">
                <a:solidFill>
                  <a:srgbClr val="1E293B"/>
                </a:solidFill>
                <a:latin typeface="Microsoft JhengHei"/>
              </a:rPr>
              <a:t>在資料科學作品集中的角色</a:t>
            </a:r>
            <a:endParaRPr sz="2600" dirty="0">
              <a:solidFill>
                <a:srgbClr val="1E293B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2 / 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B700"/>
                </a:solidFill>
                <a:latin typeface="Calibri"/>
              </a:rPr>
              <a:t>SECTION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>
                <a:solidFill>
                  <a:srgbClr val="F7F9FB"/>
                </a:solidFill>
                <a:latin typeface="Calibri"/>
              </a:rPr>
              <a:t>Why SOP &amp; Public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F7F9FB"/>
                </a:solidFill>
                <a:latin typeface="Microsoft JhengHei"/>
              </a:rPr>
              <a:t>為什麼需要 SOP 與公開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7F9F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7F9FB"/>
                </a:solidFill>
                <a:latin typeface="Calibri"/>
              </a:rPr>
              <a:t>4 / 47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0 · 開場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Microsoft JhengHei"/>
              </a:rPr>
              <a:t>一份分析專案 = 4 個元素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0" rIns="182880" bIns="182880" rtlCol="0" anchor="ctr"/>
          <a:lstStyle/>
          <a:p>
            <a:pPr algn="ctr"/>
            <a:r>
              <a:rPr sz="3400" b="1">
                <a:solidFill>
                  <a:srgbClr val="F7F9FB"/>
                </a:solidFill>
                <a:latin typeface="Microsoft JhengHei"/>
              </a:rPr>
              <a:t>程式碼</a:t>
            </a:r>
          </a:p>
          <a:p>
            <a:pPr algn="ctr">
              <a:spcBef>
                <a:spcPts val="2000"/>
              </a:spcBef>
            </a:pPr>
            <a:r>
              <a:rPr sz="2000">
                <a:solidFill>
                  <a:srgbClr val="F7F9FB"/>
                </a:solidFill>
                <a:latin typeface="Consolas"/>
              </a:rPr>
              <a:t>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830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0" rIns="182880" bIns="182880" rtlCol="0" anchor="ctr"/>
          <a:lstStyle/>
          <a:p>
            <a:pPr algn="ctr"/>
            <a:r>
              <a:rPr sz="3400" b="1">
                <a:solidFill>
                  <a:srgbClr val="F7F9FB"/>
                </a:solidFill>
                <a:latin typeface="Microsoft JhengHei"/>
              </a:rPr>
              <a:t>環境</a:t>
            </a:r>
          </a:p>
          <a:p>
            <a:pPr algn="ctr">
              <a:spcBef>
                <a:spcPts val="2000"/>
              </a:spcBef>
            </a:pPr>
            <a:r>
              <a:rPr sz="2000">
                <a:solidFill>
                  <a:srgbClr val="F7F9FB"/>
                </a:solidFill>
                <a:latin typeface="Consolas"/>
              </a:rPr>
              <a:t>venv + deps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0" rIns="182880" bIns="182880" rtlCol="0" anchor="ctr"/>
          <a:lstStyle/>
          <a:p>
            <a:pPr algn="ctr"/>
            <a:r>
              <a:rPr sz="3400" b="1">
                <a:solidFill>
                  <a:srgbClr val="F7F9FB"/>
                </a:solidFill>
                <a:latin typeface="Microsoft JhengHei"/>
              </a:rPr>
              <a:t>資料</a:t>
            </a:r>
          </a:p>
          <a:p>
            <a:pPr algn="ctr">
              <a:spcBef>
                <a:spcPts val="2000"/>
              </a:spcBef>
            </a:pPr>
            <a:r>
              <a:rPr sz="2000">
                <a:solidFill>
                  <a:srgbClr val="F7F9FB"/>
                </a:solidFill>
                <a:latin typeface="Consolas"/>
              </a:rPr>
              <a:t>raw / processed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39" y="17830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E04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0" rIns="182880" bIns="182880" rtlCol="0" anchor="ctr"/>
          <a:lstStyle/>
          <a:p>
            <a:pPr algn="ctr"/>
            <a:r>
              <a:rPr sz="3400" b="1">
                <a:solidFill>
                  <a:srgbClr val="F7F9FB"/>
                </a:solidFill>
                <a:latin typeface="Microsoft JhengHei"/>
              </a:rPr>
              <a:t>對外展示</a:t>
            </a:r>
          </a:p>
          <a:p>
            <a:pPr algn="ctr">
              <a:spcBef>
                <a:spcPts val="2000"/>
              </a:spcBef>
            </a:pPr>
            <a:r>
              <a:rPr sz="2000">
                <a:solidFill>
                  <a:srgbClr val="F7F9FB"/>
                </a:solidFill>
                <a:latin typeface="Consolas"/>
              </a:rPr>
              <a:t>repo +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E293B"/>
                </a:solidFill>
                <a:latin typeface="Microsoft JhengHei"/>
              </a:rPr>
              <a:t>四者缺一 → 別人（包括三個月後的你）就重現不了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5 / 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0 · 痛點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Microsoft JhengHei"/>
              </a:rPr>
              <a:t>三個你一定遇過的悲劇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0">
                <a:solidFill>
                  <a:srgbClr val="EF4444"/>
                </a:solidFill>
                <a:latin typeface="Calibri"/>
              </a:rPr>
              <a:t>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JhengHei"/>
              </a:rPr>
              <a:t>「我電腦上可以跑」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317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→ 沒 venv、沒 requirements.txt，到別人電腦就壞了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0">
                <a:solidFill>
                  <a:srgbClr val="EF4444"/>
                </a:solidFill>
                <a:latin typeface="Calibri"/>
              </a:rPr>
              <a:t>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461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JhengHei"/>
              </a:rPr>
              <a:t>「這 code 是我寫的嗎？」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49039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→ 沒 README、沒 notebook 註解，三個月後自己都看不懂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0">
                <a:solidFill>
                  <a:srgbClr val="EF4444"/>
                </a:solidFill>
                <a:latin typeface="Calibri"/>
              </a:rP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6634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JhengHei"/>
              </a:rPr>
              <a:t>「老師，作品給你 zip 檔可以嗎？」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166359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→ 沒公開 repo、沒 live demo URL，履歷上沒東西可貼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0B8D4"/>
                </a:solidFill>
                <a:latin typeface="Microsoft JhengHei"/>
              </a:rPr>
              <a:t>本週解法：用 SOP 把每次新專案都做對 + 用 GitHub 把成果端出去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6 / 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B700"/>
                </a:solidFill>
                <a:latin typeface="Calibri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>
                <a:solidFill>
                  <a:srgbClr val="F7F9FB"/>
                </a:solidFill>
                <a:latin typeface="Calibri"/>
              </a:rPr>
              <a:t>SOP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F7F9FB"/>
                </a:solidFill>
                <a:latin typeface="Microsoft JhengHei"/>
              </a:rPr>
              <a:t>環境設定 SOP 全景圖（6 步驟）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7F9F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7F9FB"/>
                </a:solidFill>
                <a:latin typeface="Calibri"/>
              </a:rPr>
              <a:t>7 / 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1 · SOP 全景圖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Microsoft JhengHei"/>
              </a:rPr>
              <a:t>資料分析專案環境設定 SOP — 6 步驟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91640"/>
            <a:ext cx="914400" cy="914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7F9F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856232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Microsoft JhengHei"/>
              </a:rPr>
              <a:t>建立專案資料夾並進入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1691640"/>
            <a:ext cx="914400" cy="914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7F9F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856232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Microsoft JhengHei"/>
              </a:rPr>
              <a:t>建立並啟用 Python venv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108960"/>
            <a:ext cx="914400" cy="914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7F9FB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273552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Microsoft JhengHei"/>
              </a:rPr>
              <a:t>git init + 第一個 commit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3108960"/>
            <a:ext cx="914400" cy="914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7F9FB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273552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Microsoft JhengHei"/>
              </a:rPr>
              <a:t>用 Claude Code 產生專案骨架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26280"/>
            <a:ext cx="914400" cy="914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7F9FB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690872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Microsoft JhengHei"/>
              </a:rPr>
              <a:t>寫第一份分析（notebook 或 script）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4526280"/>
            <a:ext cx="914400" cy="914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7F9FB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690872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Microsoft JhengHei"/>
              </a:rPr>
              <a:t>push 到 GitHub + 啟用 GitHub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B700"/>
                </a:solidFill>
                <a:latin typeface="Microsoft JhengHei"/>
              </a:rPr>
              <a:t>每次新專案都從這 6 步開始 — 不省略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8 / 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1 · SOP 對照表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Microsoft JhengHei"/>
              </a:rPr>
              <a:t>每一步的「目的 → 工具 → 產出」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8308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7F9FB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7F9FB"/>
                          </a:solidFill>
                          <a:latin typeface="Microsoft JhengHei"/>
                        </a:rPr>
                        <a:t>目的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7F9FB"/>
                          </a:solidFill>
                          <a:latin typeface="Microsoft JhengHei"/>
                        </a:rPr>
                        <a:t>工具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7F9FB"/>
                          </a:solidFill>
                          <a:latin typeface="Microsoft JhengHei"/>
                        </a:rPr>
                        <a:t>產出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E293B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E293B"/>
                          </a:solidFill>
                          <a:latin typeface="Microsoft JhengHei"/>
                        </a:rPr>
                        <a:t>隔離專案空間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E293B"/>
                          </a:solidFill>
                          <a:latin typeface="Consolas"/>
                        </a:rPr>
                        <a:t>mkdir, cd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E293B"/>
                          </a:solidFill>
                          <a:latin typeface="Consolas"/>
                        </a:rPr>
                        <a:t>專案根目錄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E293B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E293B"/>
                          </a:solidFill>
                          <a:latin typeface="Microsoft JhengHei"/>
                        </a:rPr>
                        <a:t>鎖定套件版本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E293B"/>
                          </a:solidFill>
                          <a:latin typeface="Consolas"/>
                        </a:rPr>
                        <a:t>python -m venv, pip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E293B"/>
                          </a:solidFill>
                          <a:latin typeface="Consolas"/>
                        </a:rPr>
                        <a:t>.venv/, requirements.txt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E293B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E293B"/>
                          </a:solidFill>
                          <a:latin typeface="Microsoft JhengHei"/>
                        </a:rPr>
                        <a:t>開始版本控制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E293B"/>
                          </a:solidFill>
                          <a:latin typeface="Consolas"/>
                        </a:rPr>
                        <a:t>git init, .gitignore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E293B"/>
                          </a:solidFill>
                          <a:latin typeface="Consolas"/>
                        </a:rPr>
                        <a:t>.git/, .gitignore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E293B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E293B"/>
                          </a:solidFill>
                          <a:latin typeface="Microsoft JhengHei"/>
                        </a:rPr>
                        <a:t>建立標準目錄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E293B"/>
                          </a:solidFill>
                          <a:latin typeface="Consolas"/>
                        </a:rPr>
                        <a:t>Claude Code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E293B"/>
                          </a:solidFill>
                          <a:latin typeface="Consolas"/>
                        </a:rPr>
                        <a:t>src/, data/, notebooks/, README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E293B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E293B"/>
                          </a:solidFill>
                          <a:latin typeface="Microsoft JhengHei"/>
                        </a:rPr>
                        <a:t>產出可重現分析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E293B"/>
                          </a:solidFill>
                          <a:latin typeface="Consolas"/>
                        </a:rPr>
                        <a:t>Jupyter / Python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E293B"/>
                          </a:solidFill>
                          <a:latin typeface="Consolas"/>
                        </a:rPr>
                        <a:t>analysis.ipynb / report.html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E293B"/>
                          </a:solidFill>
                          <a:latin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E293B"/>
                          </a:solidFill>
                          <a:latin typeface="Microsoft JhengHei"/>
                        </a:rPr>
                        <a:t>對外發布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E293B"/>
                          </a:solidFill>
                          <a:latin typeface="Consolas"/>
                        </a:rPr>
                        <a:t>GitHub + Pages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E293B"/>
                          </a:solidFill>
                          <a:latin typeface="Consolas"/>
                        </a:rPr>
                        <a:t>repo URL + *.github.io URL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9 / 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B700"/>
                </a:solidFill>
                <a:latin typeface="Calibri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>
                <a:solidFill>
                  <a:srgbClr val="F7F9FB"/>
                </a:solidFill>
                <a:latin typeface="Calibri"/>
              </a:rPr>
              <a:t>Hands-on #1 · Folder, venv,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F7F9FB"/>
                </a:solidFill>
                <a:latin typeface="Microsoft JhengHei"/>
              </a:rPr>
              <a:t>實作 #1：Step 1–3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7F9F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7F9FB"/>
                </a:solidFill>
                <a:latin typeface="Calibri"/>
              </a:rPr>
              <a:t>10 / 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2 · 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Microsoft JhengHei"/>
              </a:rPr>
              <a:t>建立專案資料夾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範例專案名稱：tw-airquality-mini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881360" cy="3931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2400">
                <a:solidFill>
                  <a:srgbClr val="8B9DB8"/>
                </a:solidFill>
                <a:latin typeface="Consolas"/>
              </a:rPr>
              <a:t># 進入你習慣的工作目錄</a:t>
            </a:r>
          </a:p>
          <a:p>
            <a:pPr algn="l">
              <a:lnSpc>
                <a:spcPct val="110000"/>
              </a:lnSpc>
            </a:pPr>
            <a:r>
              <a:rPr sz="2400">
                <a:solidFill>
                  <a:srgbClr val="F7F9FB"/>
                </a:solidFill>
                <a:latin typeface="Consolas"/>
              </a:rPr>
              <a:t>cd ~/projects</a:t>
            </a:r>
          </a:p>
          <a:p>
            <a:pPr algn="l">
              <a:lnSpc>
                <a:spcPct val="110000"/>
              </a:lnSpc>
            </a:pPr>
            <a:r>
              <a:rPr sz="24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400">
                <a:solidFill>
                  <a:srgbClr val="8B9DB8"/>
                </a:solidFill>
                <a:latin typeface="Consolas"/>
              </a:rPr>
              <a:t># 建立並進入新資料夾</a:t>
            </a:r>
          </a:p>
          <a:p>
            <a:pPr algn="l">
              <a:lnSpc>
                <a:spcPct val="110000"/>
              </a:lnSpc>
            </a:pPr>
            <a:r>
              <a:rPr sz="2400">
                <a:solidFill>
                  <a:srgbClr val="F7F9FB"/>
                </a:solidFill>
                <a:latin typeface="Consolas"/>
              </a:rPr>
              <a:t>mkdir tw-airquality-mini</a:t>
            </a:r>
          </a:p>
          <a:p>
            <a:pPr algn="l">
              <a:lnSpc>
                <a:spcPct val="110000"/>
              </a:lnSpc>
            </a:pPr>
            <a:r>
              <a:rPr sz="2400">
                <a:solidFill>
                  <a:srgbClr val="F7F9FB"/>
                </a:solidFill>
                <a:latin typeface="Consolas"/>
              </a:rPr>
              <a:t>cd tw-airquality-mini</a:t>
            </a:r>
          </a:p>
          <a:p>
            <a:pPr algn="l">
              <a:lnSpc>
                <a:spcPct val="110000"/>
              </a:lnSpc>
            </a:pPr>
            <a:r>
              <a:rPr sz="24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400">
                <a:solidFill>
                  <a:srgbClr val="8B9DB8"/>
                </a:solidFill>
                <a:latin typeface="Consolas"/>
              </a:rPr>
              <a:t># 確認位置</a:t>
            </a:r>
          </a:p>
          <a:p>
            <a:pPr algn="l">
              <a:lnSpc>
                <a:spcPct val="110000"/>
              </a:lnSpc>
            </a:pPr>
            <a:r>
              <a:rPr sz="2400">
                <a:solidFill>
                  <a:srgbClr val="F7F9FB"/>
                </a:solidFill>
                <a:latin typeface="Consolas"/>
              </a:rPr>
              <a:t>pwd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11 / 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2 · 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Microsoft JhengHei"/>
              </a:rPr>
              <a:t>建立並啟用 Python venv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Windows 與 macOS/Linux 啟用指令不同 — 認清自己的系統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0B8D4"/>
                </a:solidFill>
                <a:latin typeface="Calibri"/>
              </a:rPr>
              <a:t>Windows (PowerShell / cmd)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48640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2000">
                <a:solidFill>
                  <a:srgbClr val="8B9DB8"/>
                </a:solidFill>
                <a:latin typeface="Consolas"/>
              </a:rPr>
              <a:t># 建立 venv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python -m venv .venv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8B9DB8"/>
                </a:solidFill>
                <a:latin typeface="Consolas"/>
              </a:rPr>
              <a:t># 啟用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.venv\Scripts\activate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8B9DB8"/>
                </a:solidFill>
                <a:latin typeface="Consolas"/>
              </a:rPr>
              <a:t># 提示符會出現 (.venv)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(.venv) C:\&gt;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9659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0B8D4"/>
                </a:solidFill>
                <a:latin typeface="Calibri"/>
              </a:rPr>
              <a:t>macOS / Linux (bash / zsh)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423160"/>
            <a:ext cx="548640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2000">
                <a:solidFill>
                  <a:srgbClr val="8B9DB8"/>
                </a:solidFill>
                <a:latin typeface="Consolas"/>
              </a:rPr>
              <a:t># 建立 venv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python -m venv .venv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8B9DB8"/>
                </a:solidFill>
                <a:latin typeface="Consolas"/>
              </a:rPr>
              <a:t># 啟用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source .venv/bin/activate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8B9DB8"/>
                </a:solidFill>
                <a:latin typeface="Consolas"/>
              </a:rPr>
              <a:t># 提示符會出現 (.venv)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(.venv) 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55657B"/>
                </a:solidFill>
                <a:latin typeface="Microsoft JhengHei"/>
              </a:rPr>
              <a:t>驗收：執行 which python（macOS）或 where python（Win）→ 路徑應指向 .venv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12 / 47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2 · STEP 2 (續)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Microsoft JhengHei"/>
              </a:rPr>
              <a:t>安裝套件 + 凍結版本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0585"/>
            <a:ext cx="10881360" cy="452873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2200" dirty="0">
                <a:solidFill>
                  <a:srgbClr val="8B9DB8"/>
                </a:solidFill>
                <a:latin typeface="Consolas"/>
              </a:rPr>
              <a:t># </a:t>
            </a:r>
            <a:r>
              <a:rPr sz="2200" dirty="0" err="1">
                <a:solidFill>
                  <a:srgbClr val="8B9DB8"/>
                </a:solidFill>
                <a:latin typeface="Consolas"/>
              </a:rPr>
              <a:t>升級</a:t>
            </a:r>
            <a:r>
              <a:rPr sz="2200" dirty="0">
                <a:solidFill>
                  <a:srgbClr val="8B9DB8"/>
                </a:solidFill>
                <a:latin typeface="Consolas"/>
              </a:rPr>
              <a:t> pip</a:t>
            </a:r>
          </a:p>
          <a:p>
            <a:pPr algn="l">
              <a:lnSpc>
                <a:spcPct val="110000"/>
              </a:lnSpc>
            </a:pPr>
            <a:r>
              <a:rPr sz="2200" dirty="0">
                <a:solidFill>
                  <a:srgbClr val="F7F9FB"/>
                </a:solidFill>
                <a:latin typeface="Consolas"/>
              </a:rPr>
              <a:t>pip install --upgrade pip</a:t>
            </a:r>
          </a:p>
          <a:p>
            <a:pPr algn="l">
              <a:lnSpc>
                <a:spcPct val="110000"/>
              </a:lnSpc>
            </a:pPr>
            <a:r>
              <a:rPr sz="2200" dirty="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200" dirty="0">
                <a:solidFill>
                  <a:srgbClr val="8B9DB8"/>
                </a:solidFill>
                <a:latin typeface="Consolas"/>
              </a:rPr>
              <a:t># </a:t>
            </a:r>
            <a:r>
              <a:rPr sz="2200" dirty="0" err="1">
                <a:solidFill>
                  <a:srgbClr val="8B9DB8"/>
                </a:solidFill>
                <a:latin typeface="Consolas"/>
              </a:rPr>
              <a:t>安裝最小套件集合</a:t>
            </a:r>
            <a:endParaRPr sz="2200" dirty="0">
              <a:solidFill>
                <a:srgbClr val="8B9DB8"/>
              </a:solidFill>
              <a:latin typeface="Consolas"/>
            </a:endParaRPr>
          </a:p>
          <a:p>
            <a:pPr algn="l">
              <a:lnSpc>
                <a:spcPct val="110000"/>
              </a:lnSpc>
            </a:pPr>
            <a:r>
              <a:rPr sz="2200" dirty="0">
                <a:solidFill>
                  <a:srgbClr val="F7F9FB"/>
                </a:solidFill>
                <a:latin typeface="Consolas"/>
              </a:rPr>
              <a:t>pip install pandas matplotlib </a:t>
            </a:r>
            <a:r>
              <a:rPr sz="2200" dirty="0" err="1">
                <a:solidFill>
                  <a:srgbClr val="F7F9FB"/>
                </a:solidFill>
                <a:latin typeface="Consolas"/>
              </a:rPr>
              <a:t>jupyter</a:t>
            </a:r>
            <a:endParaRPr sz="2200" dirty="0">
              <a:solidFill>
                <a:srgbClr val="F7F9FB"/>
              </a:solidFill>
              <a:latin typeface="Consolas"/>
            </a:endParaRPr>
          </a:p>
          <a:p>
            <a:pPr algn="l">
              <a:lnSpc>
                <a:spcPct val="110000"/>
              </a:lnSpc>
            </a:pPr>
            <a:r>
              <a:rPr sz="2200" dirty="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200" dirty="0">
                <a:solidFill>
                  <a:srgbClr val="8B9DB8"/>
                </a:solidFill>
                <a:latin typeface="Consolas"/>
              </a:rPr>
              <a:t># </a:t>
            </a:r>
            <a:r>
              <a:rPr sz="2200" dirty="0" err="1">
                <a:solidFill>
                  <a:srgbClr val="8B9DB8"/>
                </a:solidFill>
                <a:latin typeface="Consolas"/>
              </a:rPr>
              <a:t>把目前環境凍結成</a:t>
            </a:r>
            <a:r>
              <a:rPr sz="2200" dirty="0">
                <a:solidFill>
                  <a:srgbClr val="8B9DB8"/>
                </a:solidFill>
                <a:latin typeface="Consolas"/>
              </a:rPr>
              <a:t> requirements.txt</a:t>
            </a:r>
          </a:p>
          <a:p>
            <a:pPr algn="l">
              <a:lnSpc>
                <a:spcPct val="110000"/>
              </a:lnSpc>
            </a:pPr>
            <a:r>
              <a:rPr sz="2200" dirty="0">
                <a:solidFill>
                  <a:srgbClr val="F7F9FB"/>
                </a:solidFill>
                <a:latin typeface="Consolas"/>
              </a:rPr>
              <a:t>pip freeze &gt; requirements.txt</a:t>
            </a:r>
          </a:p>
          <a:p>
            <a:pPr algn="l">
              <a:lnSpc>
                <a:spcPct val="110000"/>
              </a:lnSpc>
            </a:pPr>
            <a:r>
              <a:rPr sz="2200" dirty="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200" dirty="0">
                <a:solidFill>
                  <a:srgbClr val="8B9DB8"/>
                </a:solidFill>
                <a:latin typeface="Consolas"/>
              </a:rPr>
              <a:t># </a:t>
            </a:r>
            <a:r>
              <a:rPr sz="2200" dirty="0" err="1">
                <a:solidFill>
                  <a:srgbClr val="8B9DB8"/>
                </a:solidFill>
                <a:latin typeface="Consolas"/>
              </a:rPr>
              <a:t>確認</a:t>
            </a:r>
            <a:endParaRPr sz="2200" dirty="0">
              <a:solidFill>
                <a:srgbClr val="8B9DB8"/>
              </a:solidFill>
              <a:latin typeface="Consolas"/>
            </a:endParaRPr>
          </a:p>
          <a:p>
            <a:pPr algn="l">
              <a:lnSpc>
                <a:spcPct val="110000"/>
              </a:lnSpc>
            </a:pPr>
            <a:r>
              <a:rPr sz="2200" dirty="0">
                <a:solidFill>
                  <a:srgbClr val="F7F9FB"/>
                </a:solidFill>
                <a:latin typeface="Consolas"/>
              </a:rPr>
              <a:t>cat requirements.txt   # macOS/Linux</a:t>
            </a:r>
          </a:p>
          <a:p>
            <a:pPr algn="l">
              <a:lnSpc>
                <a:spcPct val="110000"/>
              </a:lnSpc>
            </a:pPr>
            <a:r>
              <a:rPr sz="2200" dirty="0">
                <a:solidFill>
                  <a:srgbClr val="F7F9FB"/>
                </a:solidFill>
                <a:latin typeface="Consolas"/>
              </a:rPr>
              <a:t>type requirements.txt  #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FB700"/>
                </a:solidFill>
                <a:latin typeface="Microsoft JhengHei"/>
              </a:rPr>
              <a:t>為什麼要 freeze？→ 別人 clone 後可以 pip install -r requirements.txt 復刻你的環境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13 / 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7F9FB"/>
                </a:solidFill>
                <a:latin typeface="Calibri"/>
              </a:rPr>
              <a:t>14 / 47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7F9FB"/>
                </a:solidFill>
                <a:latin typeface="Calibri"/>
              </a:rPr>
              <a:t>15 / 47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7F9FB"/>
                </a:solidFill>
                <a:latin typeface="Calibri"/>
              </a:rPr>
              <a:t>16 / 47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2 · 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Microsoft JhengHei"/>
              </a:rPr>
              <a:t>git init + 第一個 commit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206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2000" dirty="0">
                <a:solidFill>
                  <a:srgbClr val="8B9DB8"/>
                </a:solidFill>
                <a:latin typeface="Consolas"/>
              </a:rPr>
              <a:t># </a:t>
            </a:r>
            <a:r>
              <a:rPr sz="2000" dirty="0" err="1">
                <a:solidFill>
                  <a:srgbClr val="8B9DB8"/>
                </a:solidFill>
                <a:latin typeface="Consolas"/>
              </a:rPr>
              <a:t>初始化</a:t>
            </a:r>
            <a:r>
              <a:rPr sz="2000" dirty="0">
                <a:solidFill>
                  <a:srgbClr val="8B9DB8"/>
                </a:solidFill>
                <a:latin typeface="Consolas"/>
              </a:rPr>
              <a:t> git</a:t>
            </a:r>
          </a:p>
          <a:p>
            <a:pPr algn="l">
              <a:lnSpc>
                <a:spcPct val="110000"/>
              </a:lnSpc>
            </a:pPr>
            <a:r>
              <a:rPr sz="2000" dirty="0">
                <a:solidFill>
                  <a:srgbClr val="F7F9FB"/>
                </a:solidFill>
                <a:latin typeface="Consolas"/>
              </a:rPr>
              <a:t>git </a:t>
            </a:r>
            <a:r>
              <a:rPr sz="2000" dirty="0" err="1">
                <a:solidFill>
                  <a:srgbClr val="F7F9FB"/>
                </a:solidFill>
                <a:latin typeface="Consolas"/>
              </a:rPr>
              <a:t>init</a:t>
            </a:r>
            <a:endParaRPr sz="2000" dirty="0">
              <a:solidFill>
                <a:srgbClr val="F7F9FB"/>
              </a:solidFill>
              <a:latin typeface="Consolas"/>
            </a:endParaRPr>
          </a:p>
          <a:p>
            <a:pPr algn="l">
              <a:lnSpc>
                <a:spcPct val="110000"/>
              </a:lnSpc>
            </a:pPr>
            <a:r>
              <a:rPr sz="2000" dirty="0">
                <a:solidFill>
                  <a:srgbClr val="F7F9FB"/>
                </a:solidFill>
                <a:latin typeface="Consolas"/>
              </a:rPr>
              <a:t>git branch -M main</a:t>
            </a:r>
          </a:p>
          <a:p>
            <a:pPr algn="l">
              <a:lnSpc>
                <a:spcPct val="110000"/>
              </a:lnSpc>
            </a:pPr>
            <a:r>
              <a:rPr sz="2000" dirty="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000" dirty="0">
                <a:solidFill>
                  <a:srgbClr val="8B9DB8"/>
                </a:solidFill>
                <a:latin typeface="Consolas"/>
              </a:rPr>
              <a:t># </a:t>
            </a:r>
            <a:r>
              <a:rPr sz="2000" dirty="0" err="1">
                <a:solidFill>
                  <a:srgbClr val="8B9DB8"/>
                </a:solidFill>
                <a:latin typeface="Consolas"/>
              </a:rPr>
              <a:t>建立</a:t>
            </a:r>
            <a:r>
              <a:rPr sz="2000" dirty="0">
                <a:solidFill>
                  <a:srgbClr val="8B9DB8"/>
                </a:solidFill>
                <a:latin typeface="Consolas"/>
              </a:rPr>
              <a:t> .</a:t>
            </a:r>
            <a:r>
              <a:rPr sz="2000" dirty="0" err="1">
                <a:solidFill>
                  <a:srgbClr val="8B9DB8"/>
                </a:solidFill>
                <a:latin typeface="Consolas"/>
              </a:rPr>
              <a:t>gitignore（先暫時手寫，之後交給</a:t>
            </a:r>
            <a:r>
              <a:rPr sz="2000" dirty="0">
                <a:solidFill>
                  <a:srgbClr val="8B9DB8"/>
                </a:solidFill>
                <a:latin typeface="Consolas"/>
              </a:rPr>
              <a:t> Claude Code </a:t>
            </a:r>
            <a:r>
              <a:rPr sz="2000" dirty="0" err="1">
                <a:solidFill>
                  <a:srgbClr val="8B9DB8"/>
                </a:solidFill>
                <a:latin typeface="Consolas"/>
              </a:rPr>
              <a:t>完整版</a:t>
            </a:r>
            <a:r>
              <a:rPr sz="2000" dirty="0">
                <a:solidFill>
                  <a:srgbClr val="8B9DB8"/>
                </a:solidFill>
                <a:latin typeface="Consolas"/>
              </a:rPr>
              <a:t>）</a:t>
            </a:r>
          </a:p>
          <a:p>
            <a:pPr algn="l">
              <a:lnSpc>
                <a:spcPct val="110000"/>
              </a:lnSpc>
            </a:pPr>
            <a:r>
              <a:rPr sz="2000" dirty="0">
                <a:solidFill>
                  <a:srgbClr val="F7F9FB"/>
                </a:solidFill>
                <a:latin typeface="Consolas"/>
              </a:rPr>
              <a:t>echo ".</a:t>
            </a:r>
            <a:r>
              <a:rPr sz="2000" dirty="0" err="1">
                <a:solidFill>
                  <a:srgbClr val="F7F9FB"/>
                </a:solidFill>
                <a:latin typeface="Consolas"/>
              </a:rPr>
              <a:t>venv</a:t>
            </a:r>
            <a:r>
              <a:rPr sz="2000" dirty="0">
                <a:solidFill>
                  <a:srgbClr val="F7F9FB"/>
                </a:solidFill>
                <a:latin typeface="Consolas"/>
              </a:rPr>
              <a:t>/"               &gt; .</a:t>
            </a:r>
            <a:r>
              <a:rPr sz="2000" dirty="0" err="1">
                <a:solidFill>
                  <a:srgbClr val="F7F9FB"/>
                </a:solidFill>
                <a:latin typeface="Consolas"/>
              </a:rPr>
              <a:t>gitignore</a:t>
            </a:r>
            <a:endParaRPr sz="2000" dirty="0">
              <a:solidFill>
                <a:srgbClr val="F7F9FB"/>
              </a:solidFill>
              <a:latin typeface="Consolas"/>
            </a:endParaRPr>
          </a:p>
          <a:p>
            <a:pPr algn="l">
              <a:lnSpc>
                <a:spcPct val="110000"/>
              </a:lnSpc>
            </a:pPr>
            <a:r>
              <a:rPr sz="2000" dirty="0">
                <a:solidFill>
                  <a:srgbClr val="F7F9FB"/>
                </a:solidFill>
                <a:latin typeface="Consolas"/>
              </a:rPr>
              <a:t>echo "__</a:t>
            </a:r>
            <a:r>
              <a:rPr sz="2000" dirty="0" err="1">
                <a:solidFill>
                  <a:srgbClr val="F7F9FB"/>
                </a:solidFill>
                <a:latin typeface="Consolas"/>
              </a:rPr>
              <a:t>pycache</a:t>
            </a:r>
            <a:r>
              <a:rPr sz="2000" dirty="0">
                <a:solidFill>
                  <a:srgbClr val="F7F9FB"/>
                </a:solidFill>
                <a:latin typeface="Consolas"/>
              </a:rPr>
              <a:t>__/"         &gt;&gt; .</a:t>
            </a:r>
            <a:r>
              <a:rPr sz="2000" dirty="0" err="1">
                <a:solidFill>
                  <a:srgbClr val="F7F9FB"/>
                </a:solidFill>
                <a:latin typeface="Consolas"/>
              </a:rPr>
              <a:t>gitignore</a:t>
            </a:r>
            <a:endParaRPr sz="2000" dirty="0">
              <a:solidFill>
                <a:srgbClr val="F7F9FB"/>
              </a:solidFill>
              <a:latin typeface="Consolas"/>
            </a:endParaRPr>
          </a:p>
          <a:p>
            <a:pPr algn="l">
              <a:lnSpc>
                <a:spcPct val="110000"/>
              </a:lnSpc>
            </a:pPr>
            <a:r>
              <a:rPr sz="2000" dirty="0">
                <a:solidFill>
                  <a:srgbClr val="F7F9FB"/>
                </a:solidFill>
                <a:latin typeface="Consolas"/>
              </a:rPr>
              <a:t>echo ".</a:t>
            </a:r>
            <a:r>
              <a:rPr sz="2000" dirty="0" err="1">
                <a:solidFill>
                  <a:srgbClr val="F7F9FB"/>
                </a:solidFill>
                <a:latin typeface="Consolas"/>
              </a:rPr>
              <a:t>ipynb_checkpoints</a:t>
            </a:r>
            <a:r>
              <a:rPr sz="2000" dirty="0">
                <a:solidFill>
                  <a:srgbClr val="F7F9FB"/>
                </a:solidFill>
                <a:latin typeface="Consolas"/>
              </a:rPr>
              <a:t>/"  &gt;&gt; .</a:t>
            </a:r>
            <a:r>
              <a:rPr sz="2000" dirty="0" err="1">
                <a:solidFill>
                  <a:srgbClr val="F7F9FB"/>
                </a:solidFill>
                <a:latin typeface="Consolas"/>
              </a:rPr>
              <a:t>gitignore</a:t>
            </a:r>
            <a:endParaRPr sz="2000" dirty="0">
              <a:solidFill>
                <a:srgbClr val="F7F9FB"/>
              </a:solidFill>
              <a:latin typeface="Consolas"/>
            </a:endParaRPr>
          </a:p>
          <a:p>
            <a:pPr algn="l">
              <a:lnSpc>
                <a:spcPct val="110000"/>
              </a:lnSpc>
            </a:pPr>
            <a:r>
              <a:rPr sz="2000" dirty="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000" dirty="0">
                <a:solidFill>
                  <a:srgbClr val="8B9DB8"/>
                </a:solidFill>
                <a:latin typeface="Consolas"/>
              </a:rPr>
              <a:t># </a:t>
            </a:r>
            <a:r>
              <a:rPr sz="2000" dirty="0" err="1">
                <a:solidFill>
                  <a:srgbClr val="8B9DB8"/>
                </a:solidFill>
                <a:latin typeface="Consolas"/>
              </a:rPr>
              <a:t>加入並提交</a:t>
            </a:r>
            <a:endParaRPr sz="2000" dirty="0">
              <a:solidFill>
                <a:srgbClr val="8B9DB8"/>
              </a:solidFill>
              <a:latin typeface="Consolas"/>
            </a:endParaRPr>
          </a:p>
          <a:p>
            <a:pPr algn="l">
              <a:lnSpc>
                <a:spcPct val="110000"/>
              </a:lnSpc>
            </a:pPr>
            <a:r>
              <a:rPr sz="2000" dirty="0">
                <a:solidFill>
                  <a:srgbClr val="F7F9FB"/>
                </a:solidFill>
                <a:latin typeface="Consolas"/>
              </a:rPr>
              <a:t>git add .</a:t>
            </a:r>
            <a:r>
              <a:rPr sz="2000" dirty="0" err="1">
                <a:solidFill>
                  <a:srgbClr val="F7F9FB"/>
                </a:solidFill>
                <a:latin typeface="Consolas"/>
              </a:rPr>
              <a:t>gitignore</a:t>
            </a:r>
            <a:r>
              <a:rPr sz="2000" dirty="0">
                <a:solidFill>
                  <a:srgbClr val="F7F9FB"/>
                </a:solidFill>
                <a:latin typeface="Consolas"/>
              </a:rPr>
              <a:t> requirements.txt</a:t>
            </a:r>
          </a:p>
          <a:p>
            <a:pPr algn="l">
              <a:lnSpc>
                <a:spcPct val="110000"/>
              </a:lnSpc>
            </a:pPr>
            <a:r>
              <a:rPr sz="2000" dirty="0">
                <a:solidFill>
                  <a:srgbClr val="F7F9FB"/>
                </a:solidFill>
                <a:latin typeface="Consolas"/>
              </a:rPr>
              <a:t>git commit -m "Initial commit: </a:t>
            </a:r>
            <a:r>
              <a:rPr sz="2000" dirty="0" err="1">
                <a:solidFill>
                  <a:srgbClr val="F7F9FB"/>
                </a:solidFill>
                <a:latin typeface="Consolas"/>
              </a:rPr>
              <a:t>venv</a:t>
            </a:r>
            <a:r>
              <a:rPr sz="2000" dirty="0">
                <a:solidFill>
                  <a:srgbClr val="F7F9FB"/>
                </a:solidFill>
                <a:latin typeface="Consolas"/>
              </a:rPr>
              <a:t> and </a:t>
            </a:r>
            <a:r>
              <a:rPr sz="2000" dirty="0" err="1">
                <a:solidFill>
                  <a:srgbClr val="F7F9FB"/>
                </a:solidFill>
                <a:latin typeface="Consolas"/>
              </a:rPr>
              <a:t>gitignore</a:t>
            </a:r>
            <a:r>
              <a:rPr sz="2000" dirty="0">
                <a:solidFill>
                  <a:srgbClr val="F7F9FB"/>
                </a:solidFill>
                <a:latin typeface="Consolas"/>
              </a:rPr>
              <a:t>"</a:t>
            </a:r>
          </a:p>
          <a:p>
            <a:pPr algn="l">
              <a:lnSpc>
                <a:spcPct val="110000"/>
              </a:lnSpc>
            </a:pPr>
            <a:r>
              <a:rPr sz="2000" dirty="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000" dirty="0">
                <a:solidFill>
                  <a:srgbClr val="8B9DB8"/>
                </a:solidFill>
                <a:latin typeface="Consolas"/>
              </a:rPr>
              <a:t># </a:t>
            </a:r>
            <a:r>
              <a:rPr sz="2000" dirty="0" err="1">
                <a:solidFill>
                  <a:srgbClr val="8B9DB8"/>
                </a:solidFill>
                <a:latin typeface="Consolas"/>
              </a:rPr>
              <a:t>確認</a:t>
            </a:r>
            <a:endParaRPr sz="2000" dirty="0">
              <a:solidFill>
                <a:srgbClr val="8B9DB8"/>
              </a:solidFill>
              <a:latin typeface="Consolas"/>
            </a:endParaRPr>
          </a:p>
          <a:p>
            <a:pPr algn="l">
              <a:lnSpc>
                <a:spcPct val="110000"/>
              </a:lnSpc>
            </a:pPr>
            <a:r>
              <a:rPr sz="2000" dirty="0">
                <a:solidFill>
                  <a:srgbClr val="F7F9FB"/>
                </a:solidFill>
                <a:latin typeface="Consolas"/>
              </a:rPr>
              <a:t>git log --</a:t>
            </a:r>
            <a:r>
              <a:rPr sz="2000" dirty="0" err="1">
                <a:solidFill>
                  <a:srgbClr val="F7F9FB"/>
                </a:solidFill>
                <a:latin typeface="Consolas"/>
              </a:rPr>
              <a:t>oneline</a:t>
            </a:r>
            <a:endParaRPr sz="2000" dirty="0">
              <a:solidFill>
                <a:srgbClr val="F7F9FB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FB700"/>
                </a:solidFill>
                <a:latin typeface="Microsoft JhengHei"/>
              </a:rPr>
              <a:t>.venv/ 永遠不入 git — 它太大，而且每個人的系統會自己重建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17 / 47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SECTION 2 · 驗收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E293B"/>
                </a:solidFill>
                <a:latin typeface="Microsoft JhengHei"/>
              </a:rPr>
              <a:t>Step 1–3 完成 — 三個檢查點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7452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Consolas"/>
              </a:rPr>
              <a:t>which python  /  where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231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→ 顯示路徑包含 .venv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5468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Consolas"/>
              </a:rPr>
              <a:t>git log --oneline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03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→ 看到第一個 commit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Consolas"/>
              </a:rPr>
              <a:t>git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983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→ .venv/ 不在追蹤清單中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18 / 47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7F9FB"/>
                </a:solidFill>
                <a:latin typeface="Calibri"/>
              </a:rPr>
              <a:t>19 / 47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B700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>
                <a:solidFill>
                  <a:srgbClr val="F7F9FB"/>
                </a:solidFill>
                <a:latin typeface="Calibri"/>
              </a:rPr>
              <a:t>Claude Code Scaffold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F7F9FB"/>
                </a:solidFill>
                <a:latin typeface="Microsoft JhengHei"/>
              </a:rPr>
              <a:t>用 Claude Code 產生專案骨架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7F9F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7F9FB"/>
                </a:solidFill>
                <a:latin typeface="Calibri"/>
              </a:rPr>
              <a:t>20 / 47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3 · 為什麼用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Microsoft JhengHei"/>
              </a:rPr>
              <a:t>不要再手工建 10 個資料夾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把這件事交給 Claude Code，每次都用同一份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EF4444"/>
                </a:solidFill>
                <a:latin typeface="Microsoft JhengHei"/>
              </a:rPr>
              <a:t>❌ 手工建立的問題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486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0B8D4"/>
                </a:solidFill>
                <a:latin typeface="Calibri"/>
              </a:rPr>
              <a:t>•  </a:t>
            </a:r>
            <a:r>
              <a:rPr sz="2200">
                <a:solidFill>
                  <a:srgbClr val="1E293B"/>
                </a:solidFill>
                <a:latin typeface="Microsoft JhengHei"/>
              </a:rPr>
              <a:t>每次都要記得建哪些資料夾</a:t>
            </a:r>
          </a:p>
          <a:p>
            <a:pPr algn="l">
              <a:lnSpc>
                <a:spcPct val="120000"/>
              </a:lnSpc>
              <a:spcBef>
                <a:spcPts val="990"/>
              </a:spcBef>
            </a:pPr>
            <a:r>
              <a:rPr sz="2200" b="1">
                <a:solidFill>
                  <a:srgbClr val="00B8D4"/>
                </a:solidFill>
                <a:latin typeface="Calibri"/>
              </a:rPr>
              <a:t>•  </a:t>
            </a:r>
            <a:r>
              <a:rPr sz="2200">
                <a:solidFill>
                  <a:srgbClr val="1E293B"/>
                </a:solidFill>
                <a:latin typeface="Microsoft JhengHei"/>
              </a:rPr>
              <a:t>README 樣板要重寫一次</a:t>
            </a:r>
          </a:p>
          <a:p>
            <a:pPr algn="l">
              <a:lnSpc>
                <a:spcPct val="120000"/>
              </a:lnSpc>
              <a:spcBef>
                <a:spcPts val="990"/>
              </a:spcBef>
            </a:pPr>
            <a:r>
              <a:rPr sz="2200" b="1">
                <a:solidFill>
                  <a:srgbClr val="00B8D4"/>
                </a:solidFill>
                <a:latin typeface="Calibri"/>
              </a:rPr>
              <a:t>•  </a:t>
            </a:r>
            <a:r>
              <a:rPr sz="2200">
                <a:solidFill>
                  <a:srgbClr val="1E293B"/>
                </a:solidFill>
                <a:latin typeface="Microsoft JhengHei"/>
              </a:rPr>
              <a:t>.gitignore 漏東漏西</a:t>
            </a:r>
          </a:p>
          <a:p>
            <a:pPr algn="l">
              <a:lnSpc>
                <a:spcPct val="120000"/>
              </a:lnSpc>
              <a:spcBef>
                <a:spcPts val="990"/>
              </a:spcBef>
            </a:pPr>
            <a:r>
              <a:rPr sz="2200" b="1">
                <a:solidFill>
                  <a:srgbClr val="00B8D4"/>
                </a:solidFill>
                <a:latin typeface="Calibri"/>
              </a:rPr>
              <a:t>•  </a:t>
            </a:r>
            <a:r>
              <a:rPr sz="2200">
                <a:solidFill>
                  <a:srgbClr val="1E293B"/>
                </a:solidFill>
                <a:latin typeface="Microsoft JhengHei"/>
              </a:rPr>
              <a:t>新成員照抄你的舊專案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Microsoft JhengHei"/>
              </a:rPr>
              <a:t>✅ Claude Code scaffold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5486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0B8D4"/>
                </a:solidFill>
                <a:latin typeface="Calibri"/>
              </a:rPr>
              <a:t>•  </a:t>
            </a:r>
            <a:r>
              <a:rPr sz="2200">
                <a:solidFill>
                  <a:srgbClr val="1E293B"/>
                </a:solidFill>
                <a:latin typeface="Microsoft JhengHei"/>
              </a:rPr>
              <a:t>一份 prompt 解決所有事</a:t>
            </a:r>
          </a:p>
          <a:p>
            <a:pPr algn="l">
              <a:lnSpc>
                <a:spcPct val="120000"/>
              </a:lnSpc>
              <a:spcBef>
                <a:spcPts val="990"/>
              </a:spcBef>
            </a:pPr>
            <a:r>
              <a:rPr sz="2200" b="1">
                <a:solidFill>
                  <a:srgbClr val="00B8D4"/>
                </a:solidFill>
                <a:latin typeface="Calibri"/>
              </a:rPr>
              <a:t>•  </a:t>
            </a:r>
            <a:r>
              <a:rPr sz="2200">
                <a:solidFill>
                  <a:srgbClr val="1E293B"/>
                </a:solidFill>
                <a:latin typeface="Microsoft JhengHei"/>
              </a:rPr>
              <a:t>每次都得到一致的結構</a:t>
            </a:r>
          </a:p>
          <a:p>
            <a:pPr algn="l">
              <a:lnSpc>
                <a:spcPct val="120000"/>
              </a:lnSpc>
              <a:spcBef>
                <a:spcPts val="990"/>
              </a:spcBef>
            </a:pPr>
            <a:r>
              <a:rPr sz="2200" b="1">
                <a:solidFill>
                  <a:srgbClr val="00B8D4"/>
                </a:solidFill>
                <a:latin typeface="Calibri"/>
              </a:rPr>
              <a:t>•  </a:t>
            </a:r>
            <a:r>
              <a:rPr sz="2200">
                <a:solidFill>
                  <a:srgbClr val="1E293B"/>
                </a:solidFill>
                <a:latin typeface="Microsoft JhengHei"/>
              </a:rPr>
              <a:t>.gitignore / README 直接生成</a:t>
            </a:r>
          </a:p>
          <a:p>
            <a:pPr algn="l">
              <a:lnSpc>
                <a:spcPct val="120000"/>
              </a:lnSpc>
              <a:spcBef>
                <a:spcPts val="990"/>
              </a:spcBef>
            </a:pPr>
            <a:r>
              <a:rPr sz="2200" b="1">
                <a:solidFill>
                  <a:srgbClr val="00B8D4"/>
                </a:solidFill>
                <a:latin typeface="Calibri"/>
              </a:rPr>
              <a:t>•  </a:t>
            </a:r>
            <a:r>
              <a:rPr sz="2200">
                <a:solidFill>
                  <a:srgbClr val="1E293B"/>
                </a:solidFill>
                <a:latin typeface="Microsoft JhengHei"/>
              </a:rPr>
              <a:t>新專案 30 秒搞定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0B8D4"/>
                </a:solidFill>
                <a:latin typeface="Microsoft JhengHei"/>
              </a:rPr>
              <a:t>Scaffold prompt = 專案啟動的「儀式」 — 每個新專案都從這份開始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21 / 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3 · Scaffold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Microsoft JhengHei"/>
              </a:rPr>
              <a:t>標準骨架 prompt（直接複製）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86829"/>
            <a:ext cx="11247120" cy="4776811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2000"/>
              </a:lnSpc>
            </a:pPr>
            <a:r>
              <a:rPr sz="1700" dirty="0">
                <a:solidFill>
                  <a:srgbClr val="FFB700"/>
                </a:solidFill>
                <a:latin typeface="Consolas"/>
              </a:rPr>
              <a:t>&gt; Scaffold a data analysis project in the current directory:</a:t>
            </a:r>
          </a:p>
          <a:p>
            <a:pPr algn="l">
              <a:lnSpc>
                <a:spcPct val="112000"/>
              </a:lnSpc>
            </a:pPr>
            <a:r>
              <a:rPr sz="1700" dirty="0">
                <a:solidFill>
                  <a:srgbClr val="F7F9FB"/>
                </a:solidFill>
                <a:latin typeface="Consolas"/>
              </a:rPr>
              <a:t>    data/</a:t>
            </a:r>
          </a:p>
          <a:p>
            <a:pPr algn="l">
              <a:lnSpc>
                <a:spcPct val="112000"/>
              </a:lnSpc>
            </a:pPr>
            <a:r>
              <a:rPr sz="1700" dirty="0">
                <a:solidFill>
                  <a:srgbClr val="F7F9FB"/>
                </a:solidFill>
                <a:latin typeface="Consolas"/>
              </a:rPr>
              <a:t>      raw/         (read-only original data; add .</a:t>
            </a:r>
            <a:r>
              <a:rPr sz="1700" dirty="0" err="1">
                <a:solidFill>
                  <a:srgbClr val="F7F9FB"/>
                </a:solidFill>
                <a:latin typeface="Consolas"/>
              </a:rPr>
              <a:t>gitkeep</a:t>
            </a:r>
            <a:r>
              <a:rPr sz="1700" dirty="0">
                <a:solidFill>
                  <a:srgbClr val="F7F9FB"/>
                </a:solidFill>
                <a:latin typeface="Consolas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1700" dirty="0">
                <a:solidFill>
                  <a:srgbClr val="F7F9FB"/>
                </a:solidFill>
                <a:latin typeface="Consolas"/>
              </a:rPr>
              <a:t>      processed/   (cleaned outputs; add .</a:t>
            </a:r>
            <a:r>
              <a:rPr sz="1700" dirty="0" err="1">
                <a:solidFill>
                  <a:srgbClr val="F7F9FB"/>
                </a:solidFill>
                <a:latin typeface="Consolas"/>
              </a:rPr>
              <a:t>gitkeep</a:t>
            </a:r>
            <a:r>
              <a:rPr sz="1700" dirty="0">
                <a:solidFill>
                  <a:srgbClr val="F7F9FB"/>
                </a:solidFill>
                <a:latin typeface="Consolas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1700" dirty="0">
                <a:solidFill>
                  <a:srgbClr val="F7F9FB"/>
                </a:solidFill>
                <a:latin typeface="Consolas"/>
              </a:rPr>
              <a:t>    notebooks/</a:t>
            </a:r>
          </a:p>
          <a:p>
            <a:pPr algn="l">
              <a:lnSpc>
                <a:spcPct val="112000"/>
              </a:lnSpc>
            </a:pPr>
            <a:r>
              <a:rPr sz="1700" dirty="0">
                <a:solidFill>
                  <a:srgbClr val="F7F9FB"/>
                </a:solidFill>
                <a:latin typeface="Consolas"/>
              </a:rPr>
              <a:t>      01_explore.ipynb   (starter notebook with title + pandas import)</a:t>
            </a:r>
          </a:p>
          <a:p>
            <a:pPr algn="l">
              <a:lnSpc>
                <a:spcPct val="112000"/>
              </a:lnSpc>
            </a:pPr>
            <a:r>
              <a:rPr sz="1700" dirty="0">
                <a:solidFill>
                  <a:srgbClr val="F7F9FB"/>
                </a:solidFill>
                <a:latin typeface="Consolas"/>
              </a:rPr>
              <a:t>    </a:t>
            </a:r>
            <a:r>
              <a:rPr sz="1700" dirty="0" err="1">
                <a:solidFill>
                  <a:srgbClr val="F7F9FB"/>
                </a:solidFill>
                <a:latin typeface="Consolas"/>
              </a:rPr>
              <a:t>src</a:t>
            </a:r>
            <a:r>
              <a:rPr sz="1700" dirty="0">
                <a:solidFill>
                  <a:srgbClr val="F7F9FB"/>
                </a:solidFill>
                <a:latin typeface="Consolas"/>
              </a:rPr>
              <a:t>/</a:t>
            </a:r>
          </a:p>
          <a:p>
            <a:pPr algn="l">
              <a:lnSpc>
                <a:spcPct val="112000"/>
              </a:lnSpc>
            </a:pPr>
            <a:r>
              <a:rPr sz="1700" dirty="0">
                <a:solidFill>
                  <a:srgbClr val="F7F9FB"/>
                </a:solidFill>
                <a:latin typeface="Consolas"/>
              </a:rPr>
              <a:t>      __init__.py</a:t>
            </a:r>
          </a:p>
          <a:p>
            <a:pPr algn="l">
              <a:lnSpc>
                <a:spcPct val="112000"/>
              </a:lnSpc>
            </a:pPr>
            <a:r>
              <a:rPr sz="1700" dirty="0">
                <a:solidFill>
                  <a:srgbClr val="F7F9FB"/>
                </a:solidFill>
                <a:latin typeface="Consolas"/>
              </a:rPr>
              <a:t>      load_data.py       (stub: </a:t>
            </a:r>
            <a:r>
              <a:rPr sz="1700" dirty="0" err="1">
                <a:solidFill>
                  <a:srgbClr val="F7F9FB"/>
                </a:solidFill>
                <a:latin typeface="Consolas"/>
              </a:rPr>
              <a:t>load_csv</a:t>
            </a:r>
            <a:r>
              <a:rPr sz="1700" dirty="0">
                <a:solidFill>
                  <a:srgbClr val="F7F9FB"/>
                </a:solidFill>
                <a:latin typeface="Consolas"/>
              </a:rPr>
              <a:t>(path) -&gt; </a:t>
            </a:r>
            <a:r>
              <a:rPr sz="1700" dirty="0" err="1">
                <a:solidFill>
                  <a:srgbClr val="F7F9FB"/>
                </a:solidFill>
                <a:latin typeface="Consolas"/>
              </a:rPr>
              <a:t>pd.DataFrame</a:t>
            </a:r>
            <a:r>
              <a:rPr sz="1700" dirty="0">
                <a:solidFill>
                  <a:srgbClr val="F7F9FB"/>
                </a:solidFill>
                <a:latin typeface="Consolas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1700" dirty="0">
                <a:solidFill>
                  <a:srgbClr val="F7F9FB"/>
                </a:solidFill>
                <a:latin typeface="Consolas"/>
              </a:rPr>
              <a:t>      clean_data.py      (stub: clean(</a:t>
            </a:r>
            <a:r>
              <a:rPr sz="1700" dirty="0" err="1">
                <a:solidFill>
                  <a:srgbClr val="F7F9FB"/>
                </a:solidFill>
                <a:latin typeface="Consolas"/>
              </a:rPr>
              <a:t>df</a:t>
            </a:r>
            <a:r>
              <a:rPr sz="1700" dirty="0">
                <a:solidFill>
                  <a:srgbClr val="F7F9FB"/>
                </a:solidFill>
                <a:latin typeface="Consolas"/>
              </a:rPr>
              <a:t>) -&gt; </a:t>
            </a:r>
            <a:r>
              <a:rPr sz="1700" dirty="0" err="1">
                <a:solidFill>
                  <a:srgbClr val="F7F9FB"/>
                </a:solidFill>
                <a:latin typeface="Consolas"/>
              </a:rPr>
              <a:t>pd.DataFrame</a:t>
            </a:r>
            <a:r>
              <a:rPr sz="1700" dirty="0">
                <a:solidFill>
                  <a:srgbClr val="F7F9FB"/>
                </a:solidFill>
                <a:latin typeface="Consolas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1700" dirty="0">
                <a:solidFill>
                  <a:srgbClr val="F7F9FB"/>
                </a:solidFill>
                <a:latin typeface="Consolas"/>
              </a:rPr>
              <a:t>    reports/             (HTML / PDF outputs; add .</a:t>
            </a:r>
            <a:r>
              <a:rPr sz="1700" dirty="0" err="1">
                <a:solidFill>
                  <a:srgbClr val="F7F9FB"/>
                </a:solidFill>
                <a:latin typeface="Consolas"/>
              </a:rPr>
              <a:t>gitkeep</a:t>
            </a:r>
            <a:r>
              <a:rPr sz="1700" dirty="0">
                <a:solidFill>
                  <a:srgbClr val="F7F9FB"/>
                </a:solidFill>
                <a:latin typeface="Consolas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1700" dirty="0">
                <a:solidFill>
                  <a:srgbClr val="F7F9FB"/>
                </a:solidFill>
                <a:latin typeface="Consolas"/>
              </a:rPr>
              <a:t>    README.md            (title, one-paragraph description, How to run)</a:t>
            </a:r>
          </a:p>
          <a:p>
            <a:pPr algn="l">
              <a:lnSpc>
                <a:spcPct val="112000"/>
              </a:lnSpc>
            </a:pPr>
            <a:r>
              <a:rPr sz="1700" dirty="0">
                <a:solidFill>
                  <a:srgbClr val="F7F9FB"/>
                </a:solidFill>
                <a:latin typeface="Consolas"/>
              </a:rPr>
              <a:t>    .</a:t>
            </a:r>
            <a:r>
              <a:rPr sz="1700" dirty="0" err="1">
                <a:solidFill>
                  <a:srgbClr val="F7F9FB"/>
                </a:solidFill>
                <a:latin typeface="Consolas"/>
              </a:rPr>
              <a:t>gitignore</a:t>
            </a:r>
            <a:r>
              <a:rPr sz="1700" dirty="0">
                <a:solidFill>
                  <a:srgbClr val="F7F9FB"/>
                </a:solidFill>
                <a:latin typeface="Consolas"/>
              </a:rPr>
              <a:t>           (Python, </a:t>
            </a:r>
            <a:r>
              <a:rPr sz="1700" dirty="0" err="1">
                <a:solidFill>
                  <a:srgbClr val="F7F9FB"/>
                </a:solidFill>
                <a:latin typeface="Consolas"/>
              </a:rPr>
              <a:t>Jupyter</a:t>
            </a:r>
            <a:r>
              <a:rPr sz="1700" dirty="0">
                <a:solidFill>
                  <a:srgbClr val="F7F9FB"/>
                </a:solidFill>
                <a:latin typeface="Consolas"/>
              </a:rPr>
              <a:t>, </a:t>
            </a:r>
            <a:r>
              <a:rPr sz="1700" dirty="0" err="1">
                <a:solidFill>
                  <a:srgbClr val="F7F9FB"/>
                </a:solidFill>
                <a:latin typeface="Consolas"/>
              </a:rPr>
              <a:t>venv</a:t>
            </a:r>
            <a:r>
              <a:rPr sz="1700" dirty="0">
                <a:solidFill>
                  <a:srgbClr val="F7F9FB"/>
                </a:solidFill>
                <a:latin typeface="Consolas"/>
              </a:rPr>
              <a:t>, OS, data/raw/*.csv)</a:t>
            </a:r>
          </a:p>
          <a:p>
            <a:pPr algn="l">
              <a:lnSpc>
                <a:spcPct val="112000"/>
              </a:lnSpc>
            </a:pPr>
            <a:r>
              <a:rPr sz="1700" dirty="0">
                <a:solidFill>
                  <a:srgbClr val="F7F9FB"/>
                </a:solidFill>
                <a:latin typeface="Consolas"/>
              </a:rPr>
              <a:t>    requirements.txt     (keep existing entries, just confirm)</a:t>
            </a:r>
          </a:p>
          <a:p>
            <a:pPr algn="l">
              <a:lnSpc>
                <a:spcPct val="112000"/>
              </a:lnSpc>
            </a:pPr>
            <a:r>
              <a:rPr sz="1700" dirty="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700" dirty="0">
                <a:solidFill>
                  <a:srgbClr val="F7F9FB"/>
                </a:solidFill>
                <a:latin typeface="Consolas"/>
              </a:rPr>
              <a:t>  Do not overwrite requirements.txt. Use placeholder 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22 / 47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4E036A1-3D49-B7CB-8EC5-1B9DD95DE23E}"/>
              </a:ext>
            </a:extLst>
          </p:cNvPr>
          <p:cNvSpPr txBox="1"/>
          <p:nvPr/>
        </p:nvSpPr>
        <p:spPr>
          <a:xfrm>
            <a:off x="423746" y="3242475"/>
            <a:ext cx="9656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https://airtw.moenv.gov.tw/cht/Query/His_Data.aspx</a:t>
            </a:r>
          </a:p>
        </p:txBody>
      </p:sp>
    </p:spTree>
    <p:extLst>
      <p:ext uri="{BB962C8B-B14F-4D97-AF65-F5344CB8AC3E}">
        <p14:creationId xmlns:p14="http://schemas.microsoft.com/office/powerpoint/2010/main" val="4125986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3 · Prompt 寫法 vs 產出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1E293B"/>
                </a:solidFill>
                <a:latin typeface="Microsoft JhengHei"/>
              </a:rPr>
              <a:t>同樣分析空氣品質,prompt 寫法決定品質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1 句話 vs 結構化指令 — 結果差 10 倍,後面兩頁示範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532120" cy="3886200"/>
          </a:xfrm>
          <a:prstGeom prst="roundRect">
            <a:avLst>
              <a:gd name="adj" fmla="val 4000"/>
            </a:avLst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F4444"/>
                </a:solidFill>
                <a:latin typeface="Microsoft JhengHei"/>
              </a:rPr>
              <a:t>❌  Vague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icrosoft JhengHei"/>
              </a:rPr>
              <a:t>「幫我分析這份空氣品質資料」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50292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EF4444"/>
                </a:solidFill>
                <a:latin typeface="Calibri"/>
              </a:rPr>
              <a:t>•  </a:t>
            </a:r>
            <a:r>
              <a:rPr sz="1700">
                <a:solidFill>
                  <a:srgbClr val="1E293B"/>
                </a:solidFill>
                <a:latin typeface="Microsoft JhengHei"/>
              </a:rPr>
              <a:t>1 句話、無明確產出</a:t>
            </a:r>
          </a:p>
          <a:p>
            <a:pPr algn="l">
              <a:lnSpc>
                <a:spcPct val="118000"/>
              </a:lnSpc>
              <a:spcBef>
                <a:spcPts val="765"/>
              </a:spcBef>
            </a:pPr>
            <a:r>
              <a:rPr sz="1700" b="1">
                <a:solidFill>
                  <a:srgbClr val="EF4444"/>
                </a:solidFill>
                <a:latin typeface="Calibri"/>
              </a:rPr>
              <a:t>•  </a:t>
            </a:r>
            <a:r>
              <a:rPr sz="1700">
                <a:solidFill>
                  <a:srgbClr val="1E293B"/>
                </a:solidFill>
                <a:latin typeface="Microsoft JhengHei"/>
              </a:rPr>
              <a:t>Claude 自由發揮、你猜對方猜</a:t>
            </a:r>
          </a:p>
          <a:p>
            <a:pPr algn="l">
              <a:lnSpc>
                <a:spcPct val="118000"/>
              </a:lnSpc>
              <a:spcBef>
                <a:spcPts val="765"/>
              </a:spcBef>
            </a:pPr>
            <a:r>
              <a:rPr sz="1700" b="1">
                <a:solidFill>
                  <a:srgbClr val="EF4444"/>
                </a:solidFill>
                <a:latin typeface="Calibri"/>
              </a:rPr>
              <a:t>•  </a:t>
            </a:r>
            <a:r>
              <a:rPr sz="1700">
                <a:solidFill>
                  <a:srgbClr val="1E293B"/>
                </a:solidFill>
                <a:latin typeface="Microsoft JhengHei"/>
              </a:rPr>
              <a:t>沒有檢查點 → 跑完才發現方向錯</a:t>
            </a:r>
          </a:p>
          <a:p>
            <a:pPr algn="l">
              <a:lnSpc>
                <a:spcPct val="118000"/>
              </a:lnSpc>
              <a:spcBef>
                <a:spcPts val="765"/>
              </a:spcBef>
            </a:pPr>
            <a:r>
              <a:rPr sz="1700" b="1">
                <a:solidFill>
                  <a:srgbClr val="EF4444"/>
                </a:solidFill>
                <a:latin typeface="Calibri"/>
              </a:rPr>
              <a:t>•  </a:t>
            </a:r>
            <a:r>
              <a:rPr sz="1700">
                <a:solidFill>
                  <a:srgbClr val="1E293B"/>
                </a:solidFill>
                <a:latin typeface="Microsoft JhengHei"/>
              </a:rPr>
              <a:t>重跑結果不一樣、無法驗收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03120"/>
            <a:ext cx="5532120" cy="3886200"/>
          </a:xfrm>
          <a:prstGeom prst="roundRect">
            <a:avLst>
              <a:gd name="adj" fmla="val 4000"/>
            </a:avLst>
          </a:prstGeom>
          <a:solidFill>
            <a:srgbClr val="E6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0B981"/>
                </a:solidFill>
                <a:latin typeface="Microsoft JhengHei"/>
              </a:rPr>
              <a:t>✅  Structured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88920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Goal · Inputs · Steps · Checkpoints ·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29000"/>
            <a:ext cx="50292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0B981"/>
                </a:solidFill>
                <a:latin typeface="Calibri"/>
              </a:rPr>
              <a:t>•  </a:t>
            </a:r>
            <a:r>
              <a:rPr sz="1700">
                <a:solidFill>
                  <a:srgbClr val="1E293B"/>
                </a:solidFill>
                <a:latin typeface="Microsoft JhengHei"/>
              </a:rPr>
              <a:t>明確 deliverable + 明確輸入欄位</a:t>
            </a:r>
          </a:p>
          <a:p>
            <a:pPr algn="l">
              <a:lnSpc>
                <a:spcPct val="118000"/>
              </a:lnSpc>
              <a:spcBef>
                <a:spcPts val="765"/>
              </a:spcBef>
            </a:pPr>
            <a:r>
              <a:rPr sz="1700" b="1">
                <a:solidFill>
                  <a:srgbClr val="10B981"/>
                </a:solidFill>
                <a:latin typeface="Calibri"/>
              </a:rPr>
              <a:t>•  </a:t>
            </a:r>
            <a:r>
              <a:rPr sz="1700">
                <a:solidFill>
                  <a:srgbClr val="1E293B"/>
                </a:solidFill>
                <a:latin typeface="Microsoft JhengHei"/>
              </a:rPr>
              <a:t>分步驟、在關鍵點要 Claude 暫停</a:t>
            </a:r>
          </a:p>
          <a:p>
            <a:pPr algn="l">
              <a:lnSpc>
                <a:spcPct val="118000"/>
              </a:lnSpc>
              <a:spcBef>
                <a:spcPts val="765"/>
              </a:spcBef>
            </a:pPr>
            <a:r>
              <a:rPr sz="1700" b="1">
                <a:solidFill>
                  <a:srgbClr val="10B981"/>
                </a:solidFill>
                <a:latin typeface="Calibri"/>
              </a:rPr>
              <a:t>•  </a:t>
            </a:r>
            <a:r>
              <a:rPr sz="1700">
                <a:solidFill>
                  <a:srgbClr val="1E293B"/>
                </a:solidFill>
                <a:latin typeface="Microsoft JhengHei"/>
              </a:rPr>
              <a:t>限制套件、隨機種子 → 可重現</a:t>
            </a:r>
          </a:p>
          <a:p>
            <a:pPr algn="l">
              <a:lnSpc>
                <a:spcPct val="118000"/>
              </a:lnSpc>
              <a:spcBef>
                <a:spcPts val="765"/>
              </a:spcBef>
            </a:pPr>
            <a:r>
              <a:rPr sz="1700" b="1">
                <a:solidFill>
                  <a:srgbClr val="10B981"/>
                </a:solidFill>
                <a:latin typeface="Calibri"/>
              </a:rPr>
              <a:t>•  </a:t>
            </a:r>
            <a:r>
              <a:rPr sz="1700">
                <a:solidFill>
                  <a:srgbClr val="1E293B"/>
                </a:solidFill>
                <a:latin typeface="Microsoft JhengHei"/>
              </a:rPr>
              <a:t>整段 prompt 可以存進 README 重用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0B8D4"/>
                </a:solidFill>
                <a:latin typeface="Microsoft JhengHei"/>
              </a:rPr>
              <a:t>原則:Prompt 像「上司交辦」,不是「亂丟一句話」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23 / 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  <a:latin typeface="Calibri"/>
              </a:rPr>
              <a:t>SECTION 3 · ❌ Vague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1E293B"/>
                </a:solidFill>
                <a:latin typeface="Microsoft JhengHei"/>
              </a:rPr>
              <a:t>「幫我看一下這份空氣品質資料」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1 句話 → Claude 自由發揮 → 通常不會是你想要的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Microsoft JhengHei"/>
              </a:rPr>
              <a:t>你打的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577840" cy="14630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FB700"/>
                </a:solidFill>
                <a:latin typeface="Consolas"/>
              </a:rPr>
              <a:t>&gt; Analyze the air quality data</a:t>
            </a:r>
          </a:p>
          <a:p>
            <a:pPr algn="l">
              <a:lnSpc>
                <a:spcPct val="115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 in data/raw/ and make a plot.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74519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Microsoft JhengHei"/>
              </a:rPr>
              <a:t>Claude 給你什麼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331720"/>
            <a:ext cx="548640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F4444"/>
                </a:solidFill>
                <a:latin typeface="Calibri"/>
              </a:rPr>
              <a:t>•  </a:t>
            </a:r>
            <a:r>
              <a:rPr sz="1700">
                <a:solidFill>
                  <a:srgbClr val="1E293B"/>
                </a:solidFill>
                <a:latin typeface="Microsoft JhengHei"/>
              </a:rPr>
              <a:t>隨機挑 1 個測站(沒問你哪一個)</a:t>
            </a:r>
          </a:p>
          <a:p>
            <a:pPr algn="l">
              <a:lnSpc>
                <a:spcPct val="120000"/>
              </a:lnSpc>
              <a:spcBef>
                <a:spcPts val="765"/>
              </a:spcBef>
            </a:pPr>
            <a:r>
              <a:rPr sz="1700" b="1">
                <a:solidFill>
                  <a:srgbClr val="EF4444"/>
                </a:solidFill>
                <a:latin typeface="Calibri"/>
              </a:rPr>
              <a:t>•  </a:t>
            </a:r>
            <a:r>
              <a:rPr sz="1700">
                <a:solidFill>
                  <a:srgbClr val="1E293B"/>
                </a:solidFill>
                <a:latin typeface="Microsoft JhengHei"/>
              </a:rPr>
              <a:t>可能用 pandas、seaborn、plotly 任一套</a:t>
            </a:r>
          </a:p>
          <a:p>
            <a:pPr algn="l">
              <a:lnSpc>
                <a:spcPct val="120000"/>
              </a:lnSpc>
              <a:spcBef>
                <a:spcPts val="765"/>
              </a:spcBef>
            </a:pPr>
            <a:r>
              <a:rPr sz="1700" b="1">
                <a:solidFill>
                  <a:srgbClr val="EF4444"/>
                </a:solidFill>
                <a:latin typeface="Calibri"/>
              </a:rPr>
              <a:t>•  </a:t>
            </a:r>
            <a:r>
              <a:rPr sz="1700">
                <a:solidFill>
                  <a:srgbClr val="1E293B"/>
                </a:solidFill>
                <a:latin typeface="Microsoft JhengHei"/>
              </a:rPr>
              <a:t>Y 軸沒單位、X 軸日期亂跳</a:t>
            </a:r>
          </a:p>
          <a:p>
            <a:pPr algn="l">
              <a:lnSpc>
                <a:spcPct val="120000"/>
              </a:lnSpc>
              <a:spcBef>
                <a:spcPts val="765"/>
              </a:spcBef>
            </a:pPr>
            <a:r>
              <a:rPr sz="1700" b="1">
                <a:solidFill>
                  <a:srgbClr val="EF4444"/>
                </a:solidFill>
                <a:latin typeface="Calibri"/>
              </a:rPr>
              <a:t>•  </a:t>
            </a:r>
            <a:r>
              <a:rPr sz="1700">
                <a:solidFill>
                  <a:srgbClr val="1E293B"/>
                </a:solidFill>
                <a:latin typeface="Microsoft JhengHei"/>
              </a:rPr>
              <a:t>圖檔存哪? 不知道、下次再跑也找不到</a:t>
            </a:r>
          </a:p>
          <a:p>
            <a:pPr algn="l">
              <a:lnSpc>
                <a:spcPct val="120000"/>
              </a:lnSpc>
              <a:spcBef>
                <a:spcPts val="765"/>
              </a:spcBef>
            </a:pPr>
            <a:r>
              <a:rPr sz="1700" b="1">
                <a:solidFill>
                  <a:srgbClr val="EF4444"/>
                </a:solidFill>
                <a:latin typeface="Calibri"/>
              </a:rPr>
              <a:t>•  </a:t>
            </a:r>
            <a:r>
              <a:rPr sz="1700">
                <a:solidFill>
                  <a:srgbClr val="1E293B"/>
                </a:solidFill>
                <a:latin typeface="Microsoft JhengHei"/>
              </a:rPr>
              <a:t>你看不懂程式邏輯、無法 commit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B700"/>
                </a:solidFill>
                <a:latin typeface="Microsoft JhengHei"/>
              </a:rPr>
              <a:t>💸  代價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26280"/>
            <a:ext cx="5577840" cy="1554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46304" rIns="256032" bIns="146304" rtlCol="0" anchor="ctr"/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8B9DB8"/>
                </a:solidFill>
                <a:latin typeface="Consolas"/>
              </a:rPr>
              <a:t># 實際對話通常長這樣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B700"/>
                </a:solidFill>
                <a:latin typeface="Consolas"/>
              </a:rPr>
              <a:t>&gt; 不是這個測站,我要新店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B700"/>
                </a:solidFill>
                <a:latin typeface="Consolas"/>
              </a:rPr>
              <a:t>&gt; 改成 PM2.5 不要 PM10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B700"/>
                </a:solidFill>
                <a:latin typeface="Consolas"/>
              </a:rPr>
              <a:t>&gt; 圖太醜了再改一次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B700"/>
                </a:solidFill>
                <a:latin typeface="Consolas"/>
              </a:rPr>
              <a:t>&gt; 為什麼每次顏色不一樣...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EF4444"/>
                </a:solidFill>
                <a:latin typeface="Microsoft JhengHei"/>
              </a:rPr>
              <a:t>結果:來回 5 次澄清,還是改不到你要的圖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24 / 47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SECTION 3 · ✅ Structured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1E293B"/>
                </a:solidFill>
                <a:latin typeface="Microsoft JhengHei"/>
              </a:rPr>
              <a:t>目標 / 輸入 / 步驟 / 檢查點 / 限制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同一筆 PM2.5 data,改寫成可驗收的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6766560" cy="42519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46304" rIns="256032" bIns="146304" rtlCol="0" anchor="ctr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FFB700"/>
                </a:solidFill>
                <a:latin typeface="Consolas"/>
              </a:rPr>
              <a:t>&gt; Goal: 4-station PM2.5 daily trend (2025).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 Inputs: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   - data/raw/{中山,古亭,新店,板橋}_2025.csv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   - long format: 測站, 日期, 測項, 00..23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 Steps (PAUSE after step 3):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   1. Load the 4 CSVs, keep 測項 == 'PM2.5'.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   2. Melt 00..23 → long, compute daily mean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      per station.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   3. Print mean / p95 / days_above_35 per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      station — wait for OK.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   4. Plot 4 lines on one axes, save to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      reports/pm25_compare.png (DPI 150).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 Constraints: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   - pandas + matplotlib only (no seaborn).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   - Add 35 µg/m³ horizontal reference line.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7F9FB"/>
                </a:solidFill>
                <a:latin typeface="Consolas"/>
              </a:rPr>
              <a:t>    - np.random.seed(42) for any synthetic.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874519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Microsoft JhengHei"/>
              </a:rPr>
              <a:t>Claude 給你什麼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33172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10B981"/>
                </a:solidFill>
                <a:latin typeface="Calibri"/>
              </a:rPr>
              <a:t>•  </a:t>
            </a:r>
            <a:r>
              <a:rPr sz="1500">
                <a:solidFill>
                  <a:srgbClr val="1E293B"/>
                </a:solidFill>
                <a:latin typeface="Microsoft JhengHei"/>
              </a:rPr>
              <a:t>明確 4 個測站 — 不會自己選錯</a:t>
            </a:r>
          </a:p>
          <a:p>
            <a:pPr algn="l">
              <a:lnSpc>
                <a:spcPct val="122000"/>
              </a:lnSpc>
              <a:spcBef>
                <a:spcPts val="675"/>
              </a:spcBef>
            </a:pPr>
            <a:r>
              <a:rPr sz="1500" b="1">
                <a:solidFill>
                  <a:srgbClr val="10B981"/>
                </a:solidFill>
                <a:latin typeface="Calibri"/>
              </a:rPr>
              <a:t>•  </a:t>
            </a:r>
            <a:r>
              <a:rPr sz="1500">
                <a:solidFill>
                  <a:srgbClr val="1E293B"/>
                </a:solidFill>
                <a:latin typeface="Microsoft JhengHei"/>
              </a:rPr>
              <a:t>Step 3 暫停 → 你看到表格才決定要不要畫圖</a:t>
            </a:r>
          </a:p>
          <a:p>
            <a:pPr algn="l">
              <a:lnSpc>
                <a:spcPct val="122000"/>
              </a:lnSpc>
              <a:spcBef>
                <a:spcPts val="675"/>
              </a:spcBef>
            </a:pPr>
            <a:r>
              <a:rPr sz="1500" b="1">
                <a:solidFill>
                  <a:srgbClr val="10B981"/>
                </a:solidFill>
                <a:latin typeface="Calibri"/>
              </a:rPr>
              <a:t>•  </a:t>
            </a:r>
            <a:r>
              <a:rPr sz="1500">
                <a:solidFill>
                  <a:srgbClr val="1E293B"/>
                </a:solidFill>
                <a:latin typeface="Microsoft JhengHei"/>
              </a:rPr>
              <a:t>圖檔路徑固定 → 直接 git add 進 commit</a:t>
            </a:r>
          </a:p>
          <a:p>
            <a:pPr algn="l">
              <a:lnSpc>
                <a:spcPct val="122000"/>
              </a:lnSpc>
              <a:spcBef>
                <a:spcPts val="675"/>
              </a:spcBef>
            </a:pPr>
            <a:r>
              <a:rPr sz="1500" b="1">
                <a:solidFill>
                  <a:srgbClr val="10B981"/>
                </a:solidFill>
                <a:latin typeface="Calibri"/>
              </a:rPr>
              <a:t>•  </a:t>
            </a:r>
            <a:r>
              <a:rPr sz="1500">
                <a:solidFill>
                  <a:srgbClr val="1E293B"/>
                </a:solidFill>
                <a:latin typeface="Microsoft JhengHei"/>
              </a:rPr>
              <a:t>pandas + seed 固定 → 同學重跑結果一致</a:t>
            </a:r>
          </a:p>
          <a:p>
            <a:pPr algn="l">
              <a:lnSpc>
                <a:spcPct val="122000"/>
              </a:lnSpc>
              <a:spcBef>
                <a:spcPts val="675"/>
              </a:spcBef>
            </a:pPr>
            <a:r>
              <a:rPr sz="1500" b="1">
                <a:solidFill>
                  <a:srgbClr val="10B981"/>
                </a:solidFill>
                <a:latin typeface="Calibri"/>
              </a:rPr>
              <a:t>•  </a:t>
            </a:r>
            <a:r>
              <a:rPr sz="1500">
                <a:solidFill>
                  <a:srgbClr val="1E293B"/>
                </a:solidFill>
                <a:latin typeface="Microsoft JhengHei"/>
              </a:rPr>
              <a:t>整段 prompt 可貼進 notebook 開頭當紀錄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0B981"/>
                </a:solidFill>
                <a:latin typeface="Microsoft JhengHei"/>
              </a:rPr>
              <a:t>5 個錨點:Goal · Inputs · Steps · Checkpoints ·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25 / 47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B700"/>
                </a:solidFill>
                <a:latin typeface="Calibri"/>
              </a:rP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>
                <a:solidFill>
                  <a:srgbClr val="F7F9FB"/>
                </a:solidFill>
                <a:latin typeface="Calibri"/>
              </a:rPr>
              <a:t>Hands-on #2 · Scaffold + First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F7F9FB"/>
                </a:solidFill>
                <a:latin typeface="Microsoft JhengHei"/>
              </a:rPr>
              <a:t>實作 #2：scaffold + 第一份分析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7F9F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7F9FB"/>
                </a:solidFill>
                <a:latin typeface="Calibri"/>
              </a:rPr>
              <a:t>26 / 47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4 · 任務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Microsoft JhengHei"/>
              </a:rPr>
              <a:t>跑 scaffold + 驗收結構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對自己的 tw-airquality-mini 跑 scaffold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088136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2200">
                <a:solidFill>
                  <a:srgbClr val="8B9DB8"/>
                </a:solidFill>
                <a:latin typeface="Consolas"/>
              </a:rPr>
              <a:t># 1. 啟動 Claude Code</a:t>
            </a:r>
          </a:p>
          <a:p>
            <a:pPr algn="l">
              <a:lnSpc>
                <a:spcPct val="110000"/>
              </a:lnSpc>
            </a:pPr>
            <a:r>
              <a:rPr sz="2200">
                <a:solidFill>
                  <a:srgbClr val="F7F9FB"/>
                </a:solidFill>
                <a:latin typeface="Consolas"/>
              </a:rPr>
              <a:t>claude</a:t>
            </a:r>
          </a:p>
          <a:p>
            <a:pPr algn="l">
              <a:lnSpc>
                <a:spcPct val="110000"/>
              </a:lnSpc>
            </a:pPr>
            <a:r>
              <a:rPr sz="22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200">
                <a:solidFill>
                  <a:srgbClr val="8B9DB8"/>
                </a:solidFill>
                <a:latin typeface="Consolas"/>
              </a:rPr>
              <a:t># 2. 貼上 scaffold prompt（前一頁那段）</a:t>
            </a:r>
          </a:p>
          <a:p>
            <a:pPr algn="l">
              <a:lnSpc>
                <a:spcPct val="110000"/>
              </a:lnSpc>
            </a:pPr>
            <a:r>
              <a:rPr sz="2200">
                <a:solidFill>
                  <a:srgbClr val="8B9DB8"/>
                </a:solidFill>
                <a:latin typeface="Consolas"/>
              </a:rPr>
              <a:t>#    觀察 Claude 列出將建立的檔案 → 暫停 review</a:t>
            </a:r>
          </a:p>
          <a:p>
            <a:pPr algn="l">
              <a:lnSpc>
                <a:spcPct val="110000"/>
              </a:lnSpc>
            </a:pPr>
            <a:r>
              <a:rPr sz="22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200">
                <a:solidFill>
                  <a:srgbClr val="8B9DB8"/>
                </a:solidFill>
                <a:latin typeface="Consolas"/>
              </a:rPr>
              <a:t># 3. 確認後執行，檢查目錄</a:t>
            </a:r>
          </a:p>
          <a:p>
            <a:pPr algn="l">
              <a:lnSpc>
                <a:spcPct val="110000"/>
              </a:lnSpc>
            </a:pPr>
            <a:r>
              <a:rPr sz="2200">
                <a:solidFill>
                  <a:srgbClr val="F7F9FB"/>
                </a:solidFill>
                <a:latin typeface="Consolas"/>
              </a:rPr>
              <a:t>tree -L 2          # macOS/Linux</a:t>
            </a:r>
          </a:p>
          <a:p>
            <a:pPr algn="l">
              <a:lnSpc>
                <a:spcPct val="110000"/>
              </a:lnSpc>
            </a:pPr>
            <a:r>
              <a:rPr sz="2200">
                <a:solidFill>
                  <a:srgbClr val="F7F9FB"/>
                </a:solidFill>
                <a:latin typeface="Consolas"/>
              </a:rPr>
              <a:t>ls -R              # Windows</a:t>
            </a:r>
          </a:p>
          <a:p>
            <a:pPr algn="l">
              <a:lnSpc>
                <a:spcPct val="110000"/>
              </a:lnSpc>
            </a:pPr>
            <a:r>
              <a:rPr sz="2200">
                <a:solidFill>
                  <a:srgbClr val="F7F9FB"/>
                </a:solidFill>
                <a:latin typeface="Consolas"/>
              </a:rPr>
              <a:t>git status         # 應該看到一堆新檔案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27 / 47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4 · 任務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Microsoft JhengHei"/>
              </a:rPr>
              <a:t>第一份分析 +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0B8D4"/>
                </a:solidFill>
                <a:latin typeface="Microsoft JhengHei"/>
              </a:rPr>
              <a:t>1. 請 Claude 寫 notebook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577840" cy="35661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1700">
                <a:solidFill>
                  <a:srgbClr val="FFB700"/>
                </a:solidFill>
                <a:latin typeface="Consolas"/>
              </a:rPr>
              <a:t>&gt; In notebooks/01_explore.ipynb,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add cells that: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1. Import pandas + matplotlib.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2. Create a fake DataFrame with columns: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   date (10 days), station ('Taipei'),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   pm25 (random integers 10-80).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3. Plot a line chart of pm25 over date.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4. Save the plot to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   reports/pm25_demo.png.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0B8D4"/>
                </a:solidFill>
                <a:latin typeface="Microsoft JhengHei"/>
              </a:rPr>
              <a:t>2. 跑 notebook + commit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86000"/>
            <a:ext cx="5486400" cy="35661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1800">
                <a:solidFill>
                  <a:srgbClr val="8B9DB8"/>
                </a:solidFill>
                <a:latin typeface="Consolas"/>
              </a:rPr>
              <a:t># 在 Jupyter 執行所有 cell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8B9DB8"/>
                </a:solidFill>
                <a:latin typeface="Consolas"/>
              </a:rPr>
              <a:t># 確認 reports/pm25_demo.png 產生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git add .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git status   # 確認要進的檔案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git commit -m "Scaffold project + first \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             demo notebook"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git log --oneline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FB700"/>
                </a:solidFill>
                <a:latin typeface="Microsoft JhengHei"/>
              </a:rPr>
              <a:t>Jupyter kernel 接不到 .venv？→ pip install ipykernel 然後重啟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28 / 47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B700"/>
                </a:solidFill>
                <a:latin typeface="Calibri"/>
              </a:rP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>
                <a:solidFill>
                  <a:srgbClr val="F7F9FB"/>
                </a:solidFill>
                <a:latin typeface="Calibri"/>
              </a:rPr>
              <a:t>GitHub Repo &amp; README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F7F9FB"/>
                </a:solidFill>
                <a:latin typeface="Microsoft JhengHei"/>
              </a:rPr>
              <a:t>GitHub Repo 與 README 寫法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7F9F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7F9FB"/>
                </a:solidFill>
                <a:latin typeface="Calibri"/>
              </a:rPr>
              <a:t>30 / 47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5 · GitHub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1E293B"/>
                </a:solidFill>
                <a:latin typeface="Microsoft JhengHei"/>
              </a:rPr>
              <a:t>Repo 是你的對外名片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招生委員、PI、雇主第一個會點的就是 repo 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972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0B8D4"/>
                </a:solidFill>
                <a:latin typeface="Calibri"/>
              </a:rPr>
              <a:t>•  </a:t>
            </a:r>
            <a:r>
              <a:rPr sz="2400">
                <a:solidFill>
                  <a:srgbClr val="1E293B"/>
                </a:solidFill>
                <a:latin typeface="Microsoft JhengHei"/>
              </a:rPr>
              <a:t>Repo 的「外觀分數」來自 → README 第一屏 + commit 訊息 + 檔案命名</a:t>
            </a:r>
          </a:p>
          <a:p>
            <a:pPr algn="l">
              <a:lnSpc>
                <a:spcPct val="120000"/>
              </a:lnSpc>
              <a:spcBef>
                <a:spcPts val="1080"/>
              </a:spcBef>
            </a:pPr>
            <a:r>
              <a:rPr sz="2400" b="1">
                <a:solidFill>
                  <a:srgbClr val="00B8D4"/>
                </a:solidFill>
                <a:latin typeface="Calibri"/>
              </a:rPr>
              <a:t>•  </a:t>
            </a:r>
            <a:r>
              <a:rPr sz="2400">
                <a:solidFill>
                  <a:srgbClr val="1E293B"/>
                </a:solidFill>
                <a:latin typeface="Microsoft JhengHei"/>
              </a:rPr>
              <a:t>沒有 README 的 repo = 沒有名片，連網址都沒人想點</a:t>
            </a:r>
          </a:p>
          <a:p>
            <a:pPr algn="l">
              <a:lnSpc>
                <a:spcPct val="120000"/>
              </a:lnSpc>
              <a:spcBef>
                <a:spcPts val="1080"/>
              </a:spcBef>
            </a:pPr>
            <a:r>
              <a:rPr sz="2400" b="1">
                <a:solidFill>
                  <a:srgbClr val="00B8D4"/>
                </a:solidFill>
                <a:latin typeface="Calibri"/>
              </a:rPr>
              <a:t>•  </a:t>
            </a:r>
            <a:r>
              <a:rPr sz="2400">
                <a:solidFill>
                  <a:srgbClr val="1E293B"/>
                </a:solidFill>
                <a:latin typeface="Microsoft JhengHei"/>
              </a:rPr>
              <a:t>Commit 訊息寫成「update」「fix」= 自己也找不到改了什麼</a:t>
            </a:r>
          </a:p>
          <a:p>
            <a:pPr algn="l">
              <a:lnSpc>
                <a:spcPct val="120000"/>
              </a:lnSpc>
              <a:spcBef>
                <a:spcPts val="1080"/>
              </a:spcBef>
            </a:pPr>
            <a:r>
              <a:rPr sz="2400" b="1">
                <a:solidFill>
                  <a:srgbClr val="00B8D4"/>
                </a:solidFill>
                <a:latin typeface="Calibri"/>
              </a:rPr>
              <a:t>•  </a:t>
            </a:r>
            <a:r>
              <a:rPr sz="2400">
                <a:solidFill>
                  <a:srgbClr val="1E293B"/>
                </a:solidFill>
                <a:latin typeface="Microsoft JhengHei"/>
              </a:rPr>
              <a:t>從本週起，每個作業都繳交「GitHub repo URL + live demo URL」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31 / 47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5 · 建立遠端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Microsoft JhengHei"/>
              </a:rPr>
              <a:t>兩種方式建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本機已有專案 → 不要勾「Add a README」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B8D4"/>
                </a:solidFill>
                <a:latin typeface="Microsoft JhengHei"/>
              </a:rPr>
              <a:t>🌐 網頁建立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486400" cy="3383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1800" dirty="0">
                <a:solidFill>
                  <a:srgbClr val="8B9DB8"/>
                </a:solidFill>
                <a:latin typeface="Consolas"/>
              </a:rPr>
              <a:t># 1. GitHub → New repository</a:t>
            </a:r>
          </a:p>
          <a:p>
            <a:pPr algn="l">
              <a:lnSpc>
                <a:spcPct val="110000"/>
              </a:lnSpc>
            </a:pPr>
            <a:r>
              <a:rPr sz="1800" dirty="0">
                <a:solidFill>
                  <a:srgbClr val="8B9DB8"/>
                </a:solidFill>
                <a:latin typeface="Consolas"/>
              </a:rPr>
              <a:t># 2. </a:t>
            </a:r>
            <a:r>
              <a:rPr sz="1800" dirty="0" err="1">
                <a:solidFill>
                  <a:srgbClr val="8B9DB8"/>
                </a:solidFill>
                <a:latin typeface="Consolas"/>
              </a:rPr>
              <a:t>名稱填</a:t>
            </a:r>
            <a:r>
              <a:rPr sz="1800" dirty="0">
                <a:solidFill>
                  <a:srgbClr val="8B9DB8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8B9DB8"/>
                </a:solidFill>
                <a:latin typeface="Consolas"/>
              </a:rPr>
              <a:t>tw</a:t>
            </a:r>
            <a:r>
              <a:rPr sz="1800" dirty="0">
                <a:solidFill>
                  <a:srgbClr val="8B9DB8"/>
                </a:solidFill>
                <a:latin typeface="Consolas"/>
              </a:rPr>
              <a:t>-</a:t>
            </a:r>
            <a:r>
              <a:rPr sz="1800" dirty="0" err="1">
                <a:solidFill>
                  <a:srgbClr val="8B9DB8"/>
                </a:solidFill>
                <a:latin typeface="Consolas"/>
              </a:rPr>
              <a:t>airquality</a:t>
            </a:r>
            <a:r>
              <a:rPr sz="1800" dirty="0">
                <a:solidFill>
                  <a:srgbClr val="8B9DB8"/>
                </a:solidFill>
                <a:latin typeface="Consolas"/>
              </a:rPr>
              <a:t>-mini</a:t>
            </a:r>
          </a:p>
          <a:p>
            <a:pPr algn="l">
              <a:lnSpc>
                <a:spcPct val="110000"/>
              </a:lnSpc>
            </a:pPr>
            <a:r>
              <a:rPr sz="1800" dirty="0">
                <a:solidFill>
                  <a:srgbClr val="8B9DB8"/>
                </a:solidFill>
                <a:latin typeface="Consolas"/>
              </a:rPr>
              <a:t># 3. </a:t>
            </a:r>
            <a:r>
              <a:rPr sz="1800" dirty="0" err="1">
                <a:solidFill>
                  <a:srgbClr val="8B9DB8"/>
                </a:solidFill>
                <a:latin typeface="Consolas"/>
              </a:rPr>
              <a:t>Public，不勾</a:t>
            </a:r>
            <a:r>
              <a:rPr sz="1800" dirty="0">
                <a:solidFill>
                  <a:srgbClr val="8B9DB8"/>
                </a:solidFill>
                <a:latin typeface="Consolas"/>
              </a:rPr>
              <a:t> Add README</a:t>
            </a:r>
          </a:p>
          <a:p>
            <a:pPr algn="l">
              <a:lnSpc>
                <a:spcPct val="110000"/>
              </a:lnSpc>
            </a:pPr>
            <a:r>
              <a:rPr sz="1800" dirty="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800" dirty="0">
                <a:solidFill>
                  <a:srgbClr val="8B9DB8"/>
                </a:solidFill>
                <a:latin typeface="Consolas"/>
              </a:rPr>
              <a:t># </a:t>
            </a:r>
            <a:r>
              <a:rPr sz="1800" dirty="0" err="1">
                <a:solidFill>
                  <a:srgbClr val="8B9DB8"/>
                </a:solidFill>
                <a:latin typeface="Consolas"/>
              </a:rPr>
              <a:t>之後在本機加遠端</a:t>
            </a:r>
            <a:r>
              <a:rPr sz="1800" dirty="0">
                <a:solidFill>
                  <a:srgbClr val="8B9DB8"/>
                </a:solidFill>
                <a:latin typeface="Consolas"/>
              </a:rPr>
              <a:t>：</a:t>
            </a:r>
          </a:p>
          <a:p>
            <a:pPr algn="l">
              <a:lnSpc>
                <a:spcPct val="110000"/>
              </a:lnSpc>
            </a:pPr>
            <a:r>
              <a:rPr sz="1800" dirty="0">
                <a:solidFill>
                  <a:srgbClr val="F7F9FB"/>
                </a:solidFill>
                <a:latin typeface="Consolas"/>
              </a:rPr>
              <a:t>git remote add origin \</a:t>
            </a:r>
          </a:p>
          <a:p>
            <a:pPr algn="l">
              <a:lnSpc>
                <a:spcPct val="110000"/>
              </a:lnSpc>
            </a:pPr>
            <a:r>
              <a:rPr sz="1800" dirty="0">
                <a:solidFill>
                  <a:srgbClr val="F7F9FB"/>
                </a:solidFill>
                <a:latin typeface="Consolas"/>
              </a:rPr>
              <a:t>  https://github.com/&lt;user&gt;/\</a:t>
            </a:r>
          </a:p>
          <a:p>
            <a:pPr algn="l">
              <a:lnSpc>
                <a:spcPct val="110000"/>
              </a:lnSpc>
            </a:pPr>
            <a:r>
              <a:rPr sz="1800" dirty="0">
                <a:solidFill>
                  <a:srgbClr val="F7F9FB"/>
                </a:solidFill>
                <a:latin typeface="Consolas"/>
              </a:rPr>
              <a:t>  </a:t>
            </a:r>
            <a:r>
              <a:rPr sz="1800" dirty="0" err="1">
                <a:solidFill>
                  <a:srgbClr val="F7F9FB"/>
                </a:solidFill>
                <a:latin typeface="Consolas"/>
              </a:rPr>
              <a:t>tw-airquality-mini.git</a:t>
            </a:r>
            <a:endParaRPr sz="1800" dirty="0">
              <a:solidFill>
                <a:srgbClr val="F7F9FB"/>
              </a:solidFill>
              <a:latin typeface="Consolas"/>
            </a:endParaRPr>
          </a:p>
          <a:p>
            <a:pPr algn="l">
              <a:lnSpc>
                <a:spcPct val="110000"/>
              </a:lnSpc>
            </a:pPr>
            <a:r>
              <a:rPr sz="1800" dirty="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800" dirty="0">
                <a:solidFill>
                  <a:srgbClr val="F7F9FB"/>
                </a:solidFill>
                <a:latin typeface="Consolas"/>
              </a:rPr>
              <a:t>git push -u origin 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9659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Microsoft JhengHei"/>
              </a:rPr>
              <a:t>⚡ gh CLI (推薦)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423160"/>
            <a:ext cx="5486400" cy="3383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1800">
                <a:solidFill>
                  <a:srgbClr val="8B9DB8"/>
                </a:solidFill>
                <a:latin typeface="Consolas"/>
              </a:rPr>
              <a:t># 一行完成：建 repo + 設遠端 + push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gh repo create \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 tw-airquality-mini \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 --public \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 --source=. \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 --remote=origin \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 --push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8B9DB8"/>
                </a:solidFill>
                <a:latin typeface="Consolas"/>
              </a:rPr>
              <a:t># 前提：先 gh auth login 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FB700"/>
                </a:solidFill>
                <a:latin typeface="Microsoft JhengHei"/>
              </a:rPr>
              <a:t>Push 被拒（remote 有 README）→ git pull --rebase origin main 後再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32 / 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5 · 建立遠端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Microsoft JhengHei"/>
              </a:rPr>
              <a:t>拆解 git push origin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>
                <a:solidFill>
                  <a:srgbClr val="55657B"/>
                </a:solidFill>
                <a:latin typeface="Microsoft JhengHei"/>
              </a:rPr>
              <a:t>把本地的 </a:t>
            </a:r>
            <a:r>
              <a:rPr sz="2000" b="1">
                <a:solidFill>
                  <a:srgbClr val="1E293B"/>
                </a:solidFill>
                <a:latin typeface="Consolas"/>
              </a:rPr>
              <a:t>main</a:t>
            </a:r>
            <a:r>
              <a:rPr sz="2000">
                <a:solidFill>
                  <a:srgbClr val="55657B"/>
                </a:solidFill>
                <a:latin typeface="Microsoft JhengHei"/>
              </a:rPr>
              <a:t> 分支推送到名為 </a:t>
            </a:r>
            <a:r>
              <a:rPr sz="2000" b="1">
                <a:solidFill>
                  <a:srgbClr val="1E293B"/>
                </a:solidFill>
                <a:latin typeface="Consolas"/>
              </a:rPr>
              <a:t>origin</a:t>
            </a:r>
            <a:r>
              <a:rPr sz="2000">
                <a:solidFill>
                  <a:srgbClr val="55657B"/>
                </a:solidFill>
                <a:latin typeface="Microsoft JhengHei"/>
              </a:rPr>
              <a:t> 的遠端儲存庫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B8D4"/>
                </a:solidFill>
                <a:latin typeface="Consolas"/>
              </a:rPr>
              <a:t>origin</a:t>
            </a:r>
            <a:r>
              <a:rPr sz="2400" b="1">
                <a:solidFill>
                  <a:srgbClr val="00B8D4"/>
                </a:solidFill>
                <a:latin typeface="Microsoft JhengHei"/>
              </a:rPr>
              <a:t>　＝ 遠端名稱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486400" cy="3383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>
                <a:solidFill>
                  <a:srgbClr val="F7F9FB"/>
                </a:solidFill>
                <a:latin typeface="Microsoft JhengHei"/>
              </a:rPr>
              <a:t>遠端儲存庫（remote）的名稱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8B9DB8"/>
                </a:solidFill>
                <a:latin typeface="Microsoft JhengHei"/>
              </a:rPr>
              <a:t>git clone 時 Git 預設會把來源命名為 </a:t>
            </a:r>
            <a:r>
              <a:rPr sz="1500">
                <a:solidFill>
                  <a:srgbClr val="F7F9FB"/>
                </a:solidFill>
                <a:latin typeface="Consolas"/>
              </a:rPr>
              <a:t>origin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8B9DB8"/>
                </a:solidFill>
                <a:latin typeface="Microsoft JhengHei"/>
              </a:rPr>
              <a:t>本質是 URL 的別名</a:t>
            </a:r>
          </a:p>
          <a:p>
            <a:pPr algn="l">
              <a:lnSpc>
                <a:spcPct val="110000"/>
              </a:lnSpc>
            </a:pPr>
            <a:r>
              <a:rPr sz="1500">
                <a:solidFill>
                  <a:srgbClr val="F7F9FB"/>
                </a:solidFill>
                <a:latin typeface="Consolas"/>
              </a:rPr>
              <a:t>$ git remote -v</a:t>
            </a:r>
          </a:p>
          <a:p>
            <a:pPr algn="l">
              <a:lnSpc>
                <a:spcPct val="110000"/>
              </a:lnSpc>
            </a:pPr>
            <a:r>
              <a:rPr sz="1500">
                <a:solidFill>
                  <a:srgbClr val="8B9DB8"/>
                </a:solidFill>
                <a:latin typeface="Consolas"/>
              </a:rPr>
              <a:t>origin  https://github.com/</a:t>
            </a:r>
          </a:p>
          <a:p>
            <a:pPr algn="l">
              <a:lnSpc>
                <a:spcPct val="110000"/>
              </a:lnSpc>
            </a:pPr>
            <a:r>
              <a:rPr sz="1500">
                <a:solidFill>
                  <a:srgbClr val="8B9DB8"/>
                </a:solidFill>
                <a:latin typeface="Consolas"/>
              </a:rPr>
              <a:t>        user/repo.git (fetch)</a:t>
            </a:r>
          </a:p>
          <a:p>
            <a:pPr algn="l">
              <a:lnSpc>
                <a:spcPct val="110000"/>
              </a:lnSpc>
            </a:pPr>
            <a:r>
              <a:rPr sz="1500">
                <a:solidFill>
                  <a:srgbClr val="8B9DB8"/>
                </a:solidFill>
                <a:latin typeface="Consolas"/>
              </a:rPr>
              <a:t>origin  https://github.com/</a:t>
            </a:r>
          </a:p>
          <a:p>
            <a:pPr algn="l">
              <a:lnSpc>
                <a:spcPct val="110000"/>
              </a:lnSpc>
            </a:pPr>
            <a:r>
              <a:rPr sz="1500">
                <a:solidFill>
                  <a:srgbClr val="8B9DB8"/>
                </a:solidFill>
                <a:latin typeface="Consolas"/>
              </a:rPr>
              <a:t>        user/repo.git (push)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965960"/>
            <a:ext cx="5486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B8D4"/>
                </a:solidFill>
                <a:latin typeface="Consolas"/>
              </a:rPr>
              <a:t>main</a:t>
            </a:r>
            <a:r>
              <a:rPr sz="2400" b="1">
                <a:solidFill>
                  <a:srgbClr val="00B8D4"/>
                </a:solidFill>
                <a:latin typeface="Microsoft JhengHei"/>
              </a:rPr>
              <a:t>　＝ 本地分支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423160"/>
            <a:ext cx="5486400" cy="3383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>
                <a:solidFill>
                  <a:srgbClr val="F7F9FB"/>
                </a:solidFill>
                <a:latin typeface="Microsoft JhengHei"/>
              </a:rPr>
              <a:t>要推送的本地分支名稱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8B9DB8"/>
                </a:solidFill>
                <a:latin typeface="Microsoft JhengHei"/>
              </a:rPr>
              <a:t>以前預設是 </a:t>
            </a:r>
            <a:r>
              <a:rPr sz="1500">
                <a:solidFill>
                  <a:srgbClr val="F7F9FB"/>
                </a:solidFill>
                <a:latin typeface="Consolas"/>
              </a:rPr>
              <a:t>master</a:t>
            </a:r>
            <a:r>
              <a:rPr sz="1500">
                <a:solidFill>
                  <a:srgbClr val="8B9DB8"/>
                </a:solidFill>
                <a:latin typeface="Microsoft JhengHei"/>
              </a:rPr>
              <a:t>，現在多數平台改用 </a:t>
            </a:r>
            <a:r>
              <a:rPr sz="1500">
                <a:solidFill>
                  <a:srgbClr val="F7F9FB"/>
                </a:solidFill>
                <a:latin typeface="Consolas"/>
              </a:rPr>
              <a:t>main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FFB700"/>
                </a:solidFill>
                <a:latin typeface="Microsoft JhengHei"/>
              </a:rPr>
              <a:t>完整語法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F7F9FB"/>
                </a:solidFill>
                <a:latin typeface="Consolas"/>
              </a:rPr>
              <a:t>git push &lt;remote&gt; &lt;local&gt;:&lt;remote&gt;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8B9DB8"/>
                </a:solidFill>
                <a:latin typeface="Microsoft JhengHei"/>
              </a:rPr>
              <a:t>本地與遠端分支同名時可省略後半，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8B9DB8"/>
                </a:solidFill>
                <a:latin typeface="Microsoft JhengHei"/>
              </a:rPr>
              <a:t>寫成 </a:t>
            </a:r>
            <a:r>
              <a:rPr sz="1400">
                <a:solidFill>
                  <a:srgbClr val="F7F9FB"/>
                </a:solidFill>
                <a:latin typeface="Consolas"/>
              </a:rPr>
              <a:t>git push origin main</a:t>
            </a:r>
            <a:r>
              <a:rPr sz="1400">
                <a:solidFill>
                  <a:srgbClr val="8B9DB8"/>
                </a:solidFill>
                <a:latin typeface="Microsoft JhengHei"/>
              </a:rPr>
              <a:t> 即可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972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B700"/>
                </a:solidFill>
                <a:latin typeface="Microsoft JhengHei"/>
              </a:rPr>
              <a:t>延伸　</a:t>
            </a:r>
            <a:r>
              <a:rPr sz="1500">
                <a:solidFill>
                  <a:srgbClr val="1E293B"/>
                </a:solidFill>
                <a:latin typeface="Microsoft JhengHei"/>
              </a:rPr>
              <a:t>第一次推送加 </a:t>
            </a:r>
            <a:r>
              <a:rPr sz="1500" b="1">
                <a:solidFill>
                  <a:srgbClr val="1E293B"/>
                </a:solidFill>
                <a:latin typeface="Consolas"/>
              </a:rPr>
              <a:t>-u</a:t>
            </a:r>
            <a:r>
              <a:rPr sz="1500">
                <a:solidFill>
                  <a:srgbClr val="1E293B"/>
                </a:solidFill>
                <a:latin typeface="Microsoft JhengHei"/>
              </a:rPr>
              <a:t> 建立 tracking　·　推不同名遠端分支：</a:t>
            </a:r>
            <a:r>
              <a:rPr sz="1500" b="1">
                <a:solidFill>
                  <a:srgbClr val="1E293B"/>
                </a:solidFill>
                <a:latin typeface="Consolas"/>
              </a:rPr>
              <a:t>git push origin main:feature-x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>
                <a:solidFill>
                  <a:srgbClr val="55657B"/>
                </a:solidFill>
                <a:latin typeface="Calibri"/>
              </a:rPr>
              <a:t>33 / 48</a:t>
            </a:r>
          </a:p>
        </p:txBody>
      </p:sp>
    </p:spTree>
    <p:extLst>
      <p:ext uri="{BB962C8B-B14F-4D97-AF65-F5344CB8AC3E}">
        <p14:creationId xmlns:p14="http://schemas.microsoft.com/office/powerpoint/2010/main" val="42485464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5 · README 寫法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E293B"/>
                </a:solidFill>
                <a:latin typeface="Microsoft JhengHei"/>
              </a:rPr>
              <a:t>最小可行 README 架構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11247120" cy="4526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1700">
                <a:solidFill>
                  <a:srgbClr val="8B9DB8"/>
                </a:solidFill>
                <a:latin typeface="Consolas"/>
              </a:rPr>
              <a:t># TW Air Quality Mini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一個示範用的台灣空氣品質迷你分析專案，作為 NS5116 Week 10 練習。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8B9DB8"/>
                </a:solidFill>
                <a:latin typeface="Consolas"/>
              </a:rPr>
              <a:t>## How to run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git clone https://github.com/&lt;user&gt;/tw-airquality-mini.git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cd tw-airquality-mini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python -m venv .venv &amp;&amp; source .venv/bin/activate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pip install -r requirements.txt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jupyter notebook notebooks/01_explore.ipynb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8B9DB8"/>
                </a:solidFill>
                <a:latin typeface="Consolas"/>
              </a:rPr>
              <a:t>## Project structure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- data/raw/    — 原始 CSV（不入 git）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- notebooks/   — 探索性分析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- src/         — 共用函數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- reports/     — 產生的圖表與 HTML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8B9DB8"/>
                </a:solidFill>
                <a:latin typeface="Consolas"/>
              </a:rPr>
              <a:t>## Author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Erik Chang, NCU 認知神經科學研究所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33 / 47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5 · README 原則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1E293B"/>
                </a:solidFill>
                <a:latin typeface="Microsoft JhengHei"/>
              </a:rPr>
              <a:t>三個 README 寫作原則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868680" cy="86868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1E293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Microsoft JhengHei"/>
              </a:rPr>
              <a:t>第一段一句話講清楚這是什麼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31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55657B"/>
                </a:solidFill>
                <a:latin typeface="Microsoft JhengHei"/>
              </a:rPr>
              <a:t>讀者 3 秒內要知道：這個 repo 在做什麼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154680"/>
            <a:ext cx="868680" cy="86868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1E293B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54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Microsoft JhengHei"/>
              </a:rPr>
              <a:t>一定要有 How to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57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55657B"/>
                </a:solidFill>
                <a:latin typeface="Microsoft JhengHei"/>
              </a:rPr>
              <a:t>包含 clone / venv / install / 執行的完整步驟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480560"/>
            <a:ext cx="868680" cy="86868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1E293B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48056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Microsoft JhengHei"/>
              </a:rPr>
              <a:t>圖表 / 截圖 放最上面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983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55657B"/>
                </a:solidFill>
                <a:latin typeface="Microsoft JhengHei"/>
              </a:rPr>
              <a:t>讓滑過的人 3 秒內看到成果，不用 clone 才知道好不好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34 / 47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B700"/>
                </a:solidFill>
                <a:latin typeface="Calibri"/>
              </a:rP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>
                <a:solidFill>
                  <a:srgbClr val="F7F9FB"/>
                </a:solidFill>
                <a:latin typeface="Calibri"/>
              </a:rPr>
              <a:t>Hands-on #3 · Push to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F7F9FB"/>
                </a:solidFill>
                <a:latin typeface="Microsoft JhengHei"/>
              </a:rPr>
              <a:t>實作 #3：建遠端 repo 並 push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7F9F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7F9FB"/>
                </a:solidFill>
                <a:latin typeface="Calibri"/>
              </a:rPr>
              <a:t>35 / 47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6 · 實作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Microsoft JhengHei"/>
              </a:rPr>
              <a:t>建遠端 repo &amp; push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2000">
                <a:solidFill>
                  <a:srgbClr val="8B9DB8"/>
                </a:solidFill>
                <a:latin typeface="Consolas"/>
              </a:rPr>
              <a:t># 推薦：gh CLI 一條龍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gh repo create tw-airquality-mini \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  --public --source=. --remote=origin --push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8B9DB8"/>
                </a:solidFill>
                <a:latin typeface="Consolas"/>
              </a:rPr>
              <a:t># 備案：網頁建空 repo 後手動接遠端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git remote add origin https://github.com/&lt;user&gt;/tw-airquality-mini.git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git push -u origin main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8B9DB8"/>
                </a:solidFill>
                <a:latin typeface="Consolas"/>
              </a:rPr>
              <a:t># 確認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git remote -v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git log --oneline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807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FB700"/>
                </a:solidFill>
                <a:latin typeface="Microsoft JhengHei"/>
              </a:rPr>
              <a:t>驗收：開啟 https://github.com/&lt;user&gt;/tw-airquality-mini，README 在首頁完整呈現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36 / 47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6 · 用 Claude Code 改 README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Microsoft JhengHei"/>
              </a:rPr>
              <a:t>讓 AI 把 README 寫漂亮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B8D4"/>
                </a:solidFill>
                <a:latin typeface="Calibri"/>
              </a:rPr>
              <a:t>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577840" cy="35661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1800">
                <a:solidFill>
                  <a:srgbClr val="FFB700"/>
                </a:solidFill>
                <a:latin typeface="Consolas"/>
              </a:rPr>
              <a:t>&gt; Improve README.md: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 - add a one-paragraph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   description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 - add a "How to run" section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   with venv + pip + jupyter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   commands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 - list the project structure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 - add a placeholder image link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   for reports/pm25_demo.png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B8D4"/>
                </a:solidFill>
                <a:latin typeface="Calibri"/>
              </a:rPr>
              <a:t>Commit +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86000"/>
            <a:ext cx="5486400" cy="35661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2000">
                <a:solidFill>
                  <a:srgbClr val="8B9DB8"/>
                </a:solidFill>
                <a:latin typeface="Consolas"/>
              </a:rPr>
              <a:t># 檢查 Claude 改了什麼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git diff README.md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8B9DB8"/>
                </a:solidFill>
                <a:latin typeface="Consolas"/>
              </a:rPr>
              <a:t># 滿意就 commit + push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git add README.md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git commit -m "Improve README \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              with how-to-run \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              and structure"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git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37 / 47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B700"/>
                </a:solidFill>
                <a:latin typeface="Calibri"/>
              </a:rP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>
                <a:solidFill>
                  <a:srgbClr val="F7F9FB"/>
                </a:solidFill>
                <a:latin typeface="Calibri"/>
              </a:rPr>
              <a:t>GitHub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F7F9FB"/>
                </a:solidFill>
                <a:latin typeface="Microsoft JhengHei"/>
              </a:rPr>
              <a:t>把分析結果變成網頁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7F9F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7F9FB"/>
                </a:solidFill>
                <a:latin typeface="Calibri"/>
              </a:rPr>
              <a:t>38 / 47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7 · GitHub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E293B"/>
                </a:solidFill>
                <a:latin typeface="Microsoft JhengHei"/>
              </a:rPr>
              <a:t>免費、零部署成本的靜態網站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把 reports/ 裡的 HTML 直接公開出去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0B8D4"/>
                </a:solidFill>
                <a:latin typeface="Microsoft JhengHei"/>
              </a:rPr>
              <a:t>適用場景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>
                <a:solidFill>
                  <a:srgbClr val="00B8D4"/>
                </a:solidFill>
                <a:latin typeface="Calibri"/>
              </a:rPr>
              <a:t>•  </a:t>
            </a:r>
            <a:r>
              <a:rPr sz="2300">
                <a:solidFill>
                  <a:srgbClr val="1E293B"/>
                </a:solidFill>
                <a:latin typeface="Consolas"/>
              </a:rPr>
              <a:t>個人作品集    →  https://&lt;user&gt;.github.io</a:t>
            </a:r>
          </a:p>
          <a:p>
            <a:pPr algn="l">
              <a:lnSpc>
                <a:spcPct val="140000"/>
              </a:lnSpc>
              <a:spcBef>
                <a:spcPts val="1035"/>
              </a:spcBef>
            </a:pPr>
            <a:r>
              <a:rPr sz="2300" b="1">
                <a:solidFill>
                  <a:srgbClr val="00B8D4"/>
                </a:solidFill>
                <a:latin typeface="Calibri"/>
              </a:rPr>
              <a:t>•  </a:t>
            </a:r>
            <a:r>
              <a:rPr sz="2300">
                <a:solidFill>
                  <a:srgbClr val="1E293B"/>
                </a:solidFill>
                <a:latin typeface="Consolas"/>
              </a:rPr>
              <a:t>專案展示頁    →  https://&lt;user&gt;.github.io/&lt;repo&gt;/</a:t>
            </a:r>
          </a:p>
          <a:p>
            <a:pPr algn="l">
              <a:lnSpc>
                <a:spcPct val="140000"/>
              </a:lnSpc>
              <a:spcBef>
                <a:spcPts val="1035"/>
              </a:spcBef>
            </a:pPr>
            <a:r>
              <a:rPr sz="2300" b="1">
                <a:solidFill>
                  <a:srgbClr val="00B8D4"/>
                </a:solidFill>
                <a:latin typeface="Calibri"/>
              </a:rPr>
              <a:t>•  </a:t>
            </a:r>
            <a:r>
              <a:rPr sz="2300">
                <a:solidFill>
                  <a:srgbClr val="1E293B"/>
                </a:solidFill>
                <a:latin typeface="Consolas"/>
              </a:rPr>
              <a:t>課堂作業 live demo（取代「附件 zip」）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B700"/>
                </a:solidFill>
                <a:latin typeface="Microsoft JhengHei"/>
              </a:rPr>
              <a:t>三種發布方式（本課用 docs/，最乾淨）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JhengHei"/>
              </a:rPr>
              <a:t>• docs/ 子目錄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507492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5657B"/>
                </a:solidFill>
                <a:latin typeface="Microsoft JhengHei"/>
              </a:rPr>
              <a:t>main 分支放 docs/index.html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50749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Microsoft JhengHei"/>
              </a:rPr>
              <a:t>✓ 推薦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406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JhengHei"/>
              </a:rPr>
              <a:t>• gh-pages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544068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5657B"/>
                </a:solidFill>
                <a:latin typeface="Microsoft JhengHei"/>
              </a:rPr>
              <a:t>另開分支放網頁檔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544068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55657B"/>
                </a:solidFill>
                <a:latin typeface="Microsoft JhengHei"/>
              </a:rPr>
              <a:t>本週不教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JhengHei"/>
              </a:rPr>
              <a:t>• main root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80644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5657B"/>
                </a:solidFill>
                <a:latin typeface="Microsoft JhengHei"/>
              </a:rPr>
              <a:t>整個 main 當網站根目錄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580644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55657B"/>
                </a:solidFill>
                <a:latin typeface="Microsoft JhengHei"/>
              </a:rPr>
              <a:t>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39 / 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7 · 發布步驟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Microsoft JhengHei"/>
              </a:rPr>
              <a:t>用 docs/ 發布 — 4 個步驟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783080"/>
            <a:ext cx="777240" cy="77724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7F9F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90195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Microsoft JhengHei"/>
              </a:rPr>
              <a:t>在 repo 根目錄建 docs/ 資料夾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777240" cy="77724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7F9F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86207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Microsoft JhengHei"/>
              </a:rPr>
              <a:t>把 reports/analysis.html 複製成 docs/index.html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03320"/>
            <a:ext cx="777240" cy="77724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7F9FB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822191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Microsoft JhengHei"/>
              </a:rPr>
              <a:t>GitHub → Settings → Pages → Source: 'Deploy from a branch'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663440"/>
            <a:ext cx="777240" cy="77724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7F9FB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78231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Microsoft JhengHei"/>
              </a:rPr>
              <a:t>Branch: main，Folder: /docs → Save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B700"/>
                </a:solidFill>
                <a:latin typeface="Consolas"/>
              </a:rPr>
              <a:t>等 1–2 分鐘 → 拜訪 https://&lt;user&gt;.github.io/&lt;repo&gt;/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40 / 47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B700"/>
                </a:solidFill>
                <a:latin typeface="Calibri"/>
              </a:rP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>
                <a:solidFill>
                  <a:srgbClr val="F7F9FB"/>
                </a:solidFill>
                <a:latin typeface="Calibri"/>
              </a:rPr>
              <a:t>Hands-on #4 · Enable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F7F9FB"/>
                </a:solidFill>
                <a:latin typeface="Microsoft JhengHei"/>
              </a:rPr>
              <a:t>實作 #4：啟用 Pages、發布 index.html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7F9F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7F9FB"/>
                </a:solidFill>
                <a:latin typeface="Calibri"/>
              </a:rPr>
              <a:t>41 / 47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8 · 任務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Microsoft JhengHei"/>
              </a:rPr>
              <a:t>把 notebook 轉成 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2000">
                <a:solidFill>
                  <a:srgbClr val="8B9DB8"/>
                </a:solidFill>
                <a:latin typeface="Consolas"/>
              </a:rPr>
              <a:t># 在專案根目錄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mkdir -p docs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8B9DB8"/>
                </a:solidFill>
                <a:latin typeface="Consolas"/>
              </a:rPr>
              <a:t># 用 jupyter nbconvert 把 notebook 轉成 HTML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8B9DB8"/>
                </a:solidFill>
                <a:latin typeface="Consolas"/>
              </a:rPr>
              <a:t># 並輸出到 docs/index.html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jupyter nbconvert --to html notebooks/01_explore.ipynb \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                  --output index.html \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                  --output-dir docs/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8B9DB8"/>
                </a:solidFill>
                <a:latin typeface="Consolas"/>
              </a:rPr>
              <a:t># 確認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ls docs/                           # macOS/Linux</a:t>
            </a:r>
          </a:p>
          <a:p>
            <a:pPr algn="l">
              <a:lnSpc>
                <a:spcPct val="110000"/>
              </a:lnSpc>
            </a:pPr>
            <a:r>
              <a:rPr sz="2000">
                <a:solidFill>
                  <a:srgbClr val="F7F9FB"/>
                </a:solidFill>
                <a:latin typeface="Consolas"/>
              </a:rPr>
              <a:t>dir docs\                          #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FB700"/>
                </a:solidFill>
                <a:latin typeface="Microsoft JhengHei"/>
              </a:rPr>
              <a:t>找不到 nbconvert？→ pip install nbconvert 然後加進 requirements.txt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42 / 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8 · 任務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E293B"/>
                </a:solidFill>
                <a:latin typeface="Microsoft JhengHei"/>
              </a:rPr>
              <a:t>或讓 Claude Code 寫一個簡單首頁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B8D4"/>
                </a:solidFill>
                <a:latin typeface="Calibri"/>
              </a:rPr>
              <a:t>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577840" cy="35661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1700">
                <a:solidFill>
                  <a:srgbClr val="FFB700"/>
                </a:solidFill>
                <a:latin typeface="Consolas"/>
              </a:rPr>
              <a:t>&gt; Create docs/index.html: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- minimal landing page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- project title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- one-paragraph description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- embedded image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  (../reports/pm25_demo.png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  copied to docs/)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- link to notebook on GitHub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- plain HTML + tiny inline CSS</a:t>
            </a:r>
          </a:p>
          <a:p>
            <a:pPr algn="l">
              <a:lnSpc>
                <a:spcPct val="110000"/>
              </a:lnSpc>
            </a:pPr>
            <a:r>
              <a:rPr sz="1700">
                <a:solidFill>
                  <a:srgbClr val="F7F9FB"/>
                </a:solidFill>
                <a:latin typeface="Consolas"/>
              </a:rPr>
              <a:t>    for readable typography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B8D4"/>
                </a:solidFill>
                <a:latin typeface="Calibri"/>
              </a:rPr>
              <a:t>Commit +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86000"/>
            <a:ext cx="5486400" cy="35661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10000"/>
              </a:lnSpc>
            </a:pPr>
            <a:r>
              <a:rPr sz="1800">
                <a:solidFill>
                  <a:srgbClr val="8B9DB8"/>
                </a:solidFill>
                <a:latin typeface="Consolas"/>
              </a:rPr>
              <a:t># 把 docs/ 整個目錄加進來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git add docs/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git commit -m "Add docs/index.html \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             for GitHub Pages"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git push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F7F9FB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8B9DB8"/>
                </a:solidFill>
                <a:latin typeface="Consolas"/>
              </a:rPr>
              <a:t># 然後到 Settings → Pages</a:t>
            </a:r>
          </a:p>
          <a:p>
            <a:pPr algn="l">
              <a:lnSpc>
                <a:spcPct val="110000"/>
              </a:lnSpc>
            </a:pPr>
            <a:r>
              <a:rPr sz="1800">
                <a:solidFill>
                  <a:srgbClr val="8B9DB8"/>
                </a:solidFill>
                <a:latin typeface="Consolas"/>
              </a:rPr>
              <a:t># 啟用後等 1-2 分鐘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43 / 47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B8D4"/>
                </a:solidFill>
                <a:latin typeface="Calibri"/>
              </a:rPr>
              <a:t>SECTION 8 · 啟用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1E293B"/>
                </a:solidFill>
                <a:latin typeface="Microsoft JhengHei"/>
              </a:rPr>
              <a:t>Settings →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在 GitHub 網頁設定，存檔後等 1–2 分鐘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286000"/>
            <a:ext cx="22860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7F9FB"/>
                </a:solidFill>
                <a:latin typeface="Calibri"/>
              </a:rPr>
              <a:t>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286000"/>
            <a:ext cx="6400800" cy="640080"/>
          </a:xfrm>
          <a:prstGeom prst="rect">
            <a:avLst/>
          </a:prstGeom>
          <a:solidFill>
            <a:srgbClr val="E8EEF4"/>
          </a:solidFill>
          <a:ln>
            <a:solidFill>
              <a:srgbClr val="CB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1E293B"/>
                </a:solidFill>
                <a:latin typeface="Consolas"/>
              </a:rPr>
              <a:t>Deploy from a 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063240"/>
            <a:ext cx="22860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7F9FB"/>
                </a:solidFill>
                <a:latin typeface="Calibri"/>
              </a:rPr>
              <a:t>Branch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3063240"/>
            <a:ext cx="6400800" cy="640080"/>
          </a:xfrm>
          <a:prstGeom prst="rect">
            <a:avLst/>
          </a:prstGeom>
          <a:solidFill>
            <a:srgbClr val="E8EEF4"/>
          </a:solidFill>
          <a:ln>
            <a:solidFill>
              <a:srgbClr val="CB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1E293B"/>
                </a:solidFill>
                <a:latin typeface="Consolas"/>
              </a:rPr>
              <a:t>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840480"/>
            <a:ext cx="22860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7F9FB"/>
                </a:solidFill>
                <a:latin typeface="Calibri"/>
              </a:rPr>
              <a:t>Folder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840480"/>
            <a:ext cx="6400800" cy="640080"/>
          </a:xfrm>
          <a:prstGeom prst="rect">
            <a:avLst/>
          </a:prstGeom>
          <a:solidFill>
            <a:srgbClr val="E8EEF4"/>
          </a:solidFill>
          <a:ln>
            <a:solidFill>
              <a:srgbClr val="CB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1E293B"/>
                </a:solidFill>
                <a:latin typeface="Consolas"/>
              </a:rPr>
              <a:t>/docs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617720"/>
            <a:ext cx="22860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7F9FB"/>
                </a:solidFill>
                <a:latin typeface="Calibri"/>
              </a:rP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4617720"/>
            <a:ext cx="6400800" cy="640080"/>
          </a:xfrm>
          <a:prstGeom prst="rect">
            <a:avLst/>
          </a:prstGeom>
          <a:solidFill>
            <a:srgbClr val="E8EEF4"/>
          </a:solidFill>
          <a:ln>
            <a:solidFill>
              <a:srgbClr val="CB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1E293B"/>
                </a:solidFill>
                <a:latin typeface="Consolas"/>
              </a:rPr>
              <a:t>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Consolas"/>
              </a:rPr>
              <a:t>✅  Your site is live at https://&lt;user&gt;.github.io/&lt;repo&gt;/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44 / 47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B700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7F9FB"/>
                </a:solidFill>
                <a:latin typeface="Microsoft JhengHei"/>
              </a:rPr>
              <a:t>本週你走過的完整 SOP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451" y="2743200"/>
            <a:ext cx="1417320" cy="1188720"/>
          </a:xfrm>
          <a:prstGeom prst="roundRect">
            <a:avLst>
              <a:gd name="adj" fmla="val 12000"/>
            </a:avLst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E293B"/>
                </a:solidFill>
                <a:latin typeface="Microsoft JhengHei"/>
              </a:rPr>
              <a:t>資料夾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67915" y="3200400"/>
            <a:ext cx="146304" cy="274320"/>
          </a:xfrm>
          <a:prstGeom prst="rightArrow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23363" y="2743200"/>
            <a:ext cx="1417320" cy="1188720"/>
          </a:xfrm>
          <a:prstGeom prst="roundRect">
            <a:avLst>
              <a:gd name="adj" fmla="val 12000"/>
            </a:avLst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E293B"/>
                </a:solidFill>
                <a:latin typeface="Microsoft JhengHei"/>
              </a:rPr>
              <a:t>venv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49827" y="3200400"/>
            <a:ext cx="146304" cy="274320"/>
          </a:xfrm>
          <a:prstGeom prst="rightArrow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05275" y="2743200"/>
            <a:ext cx="1417320" cy="1188720"/>
          </a:xfrm>
          <a:prstGeom prst="roundRect">
            <a:avLst>
              <a:gd name="adj" fmla="val 12000"/>
            </a:avLst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E293B"/>
                </a:solidFill>
                <a:latin typeface="Microsoft JhengHei"/>
              </a:rPr>
              <a:t>git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31739" y="3200400"/>
            <a:ext cx="146304" cy="274320"/>
          </a:xfrm>
          <a:prstGeom prst="rightArrow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87187" y="2743200"/>
            <a:ext cx="1417320" cy="1188720"/>
          </a:xfrm>
          <a:prstGeom prst="roundRect">
            <a:avLst>
              <a:gd name="adj" fmla="val 12000"/>
            </a:avLst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E293B"/>
                </a:solidFill>
                <a:latin typeface="Microsoft JhengHei"/>
              </a:rPr>
              <a:t>Claude Code</a:t>
            </a:r>
          </a:p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E293B"/>
                </a:solidFill>
                <a:latin typeface="Microsoft JhengHei"/>
              </a:rPr>
              <a:t>scaffold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13651" y="3200400"/>
            <a:ext cx="146304" cy="274320"/>
          </a:xfrm>
          <a:prstGeom prst="rightArrow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69099" y="2743200"/>
            <a:ext cx="1417320" cy="1188720"/>
          </a:xfrm>
          <a:prstGeom prst="roundRect">
            <a:avLst>
              <a:gd name="adj" fmla="val 12000"/>
            </a:avLst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E293B"/>
                </a:solidFill>
                <a:latin typeface="Microsoft JhengHei"/>
              </a:rPr>
              <a:t>分析</a:t>
            </a:r>
          </a:p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E293B"/>
                </a:solidFill>
                <a:latin typeface="Microsoft JhengHei"/>
              </a:rPr>
              <a:t>(notebook)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395563" y="3200400"/>
            <a:ext cx="146304" cy="274320"/>
          </a:xfrm>
          <a:prstGeom prst="rightArrow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51011" y="2743200"/>
            <a:ext cx="1417320" cy="1188720"/>
          </a:xfrm>
          <a:prstGeom prst="roundRect">
            <a:avLst>
              <a:gd name="adj" fmla="val 12000"/>
            </a:avLst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E293B"/>
                </a:solidFill>
                <a:latin typeface="Microsoft JhengHei"/>
              </a:rPr>
              <a:t>GitHub</a:t>
            </a:r>
          </a:p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E293B"/>
                </a:solidFill>
                <a:latin typeface="Microsoft JhengHei"/>
              </a:rPr>
              <a:t>repo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977475" y="3200400"/>
            <a:ext cx="146304" cy="274320"/>
          </a:xfrm>
          <a:prstGeom prst="rightArrow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32923" y="2743200"/>
            <a:ext cx="1417320" cy="1188720"/>
          </a:xfrm>
          <a:prstGeom prst="roundRect">
            <a:avLst>
              <a:gd name="adj" fmla="val 12000"/>
            </a:avLst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E293B"/>
                </a:solidFill>
                <a:latin typeface="Microsoft JhengHei"/>
              </a:rPr>
              <a:t>GitHub</a:t>
            </a:r>
          </a:p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E293B"/>
                </a:solidFill>
                <a:latin typeface="Microsoft JhengHei"/>
              </a:rPr>
              <a:t>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F7F9FB"/>
                </a:solidFill>
                <a:latin typeface="Microsoft JhengHei"/>
              </a:rPr>
              <a:t>從今天起，你的每個分析作業都應該是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FFB700"/>
                </a:solidFill>
                <a:latin typeface="Microsoft JhengHei"/>
              </a:rPr>
              <a:t>「可 clone、可重現、可線上看」的 repo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B700"/>
                </a:solidFill>
                <a:latin typeface="Calibri"/>
              </a:rPr>
              <a:t>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E293B"/>
                </a:solidFill>
                <a:latin typeface="Microsoft JhengHei"/>
              </a:rPr>
              <a:t>本週作業：你的第一個發布專案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5657B"/>
                </a:solidFill>
                <a:latin typeface="Microsoft JhengHei"/>
              </a:rPr>
              <a:t>把今天範例改造成你自己的迷你資料分析 repo（不要重用 tw-airquality-mini）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972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B700"/>
                </a:solidFill>
                <a:latin typeface="Calibri"/>
              </a:rPr>
              <a:t>✓  </a:t>
            </a:r>
            <a:r>
              <a:rPr sz="2200">
                <a:solidFill>
                  <a:srgbClr val="1E293B"/>
                </a:solidFill>
                <a:latin typeface="Microsoft JhengHei"/>
              </a:rPr>
              <a:t>任選一個感興趣的小資料集（Week 09 台灣 open data 或自己的 CSV）</a:t>
            </a:r>
          </a:p>
          <a:p>
            <a:pPr algn="l">
              <a:lnSpc>
                <a:spcPct val="120000"/>
              </a:lnSpc>
              <a:spcBef>
                <a:spcPts val="990"/>
              </a:spcBef>
            </a:pPr>
            <a:r>
              <a:rPr sz="2200" b="1">
                <a:solidFill>
                  <a:srgbClr val="FFB700"/>
                </a:solidFill>
                <a:latin typeface="Calibri"/>
              </a:rPr>
              <a:t>✓  </a:t>
            </a:r>
            <a:r>
              <a:rPr sz="2200">
                <a:solidFill>
                  <a:srgbClr val="1E293B"/>
                </a:solidFill>
                <a:latin typeface="Microsoft JhengHei"/>
              </a:rPr>
              <a:t>依 SOP 6 步驟建立全新 repo</a:t>
            </a:r>
          </a:p>
          <a:p>
            <a:pPr algn="l">
              <a:lnSpc>
                <a:spcPct val="120000"/>
              </a:lnSpc>
              <a:spcBef>
                <a:spcPts val="990"/>
              </a:spcBef>
            </a:pPr>
            <a:r>
              <a:rPr sz="2200" b="1">
                <a:solidFill>
                  <a:srgbClr val="FFB700"/>
                </a:solidFill>
                <a:latin typeface="Calibri"/>
              </a:rPr>
              <a:t>✓  </a:t>
            </a:r>
            <a:r>
              <a:rPr sz="2200">
                <a:solidFill>
                  <a:srgbClr val="1E293B"/>
                </a:solidFill>
                <a:latin typeface="Microsoft JhengHei"/>
              </a:rPr>
              <a:t>README 至少包含：標題、一段描述、How to run、結構、作者</a:t>
            </a:r>
          </a:p>
          <a:p>
            <a:pPr algn="l">
              <a:lnSpc>
                <a:spcPct val="120000"/>
              </a:lnSpc>
              <a:spcBef>
                <a:spcPts val="990"/>
              </a:spcBef>
            </a:pPr>
            <a:r>
              <a:rPr sz="2200" b="1">
                <a:solidFill>
                  <a:srgbClr val="FFB700"/>
                </a:solidFill>
                <a:latin typeface="Calibri"/>
              </a:rPr>
              <a:t>✓  </a:t>
            </a:r>
            <a:r>
              <a:rPr sz="2200">
                <a:solidFill>
                  <a:srgbClr val="1E293B"/>
                </a:solidFill>
                <a:latin typeface="Microsoft JhengHei"/>
              </a:rPr>
              <a:t>在 notebook 完成至少 1 個資料探索圖表</a:t>
            </a:r>
          </a:p>
          <a:p>
            <a:pPr algn="l">
              <a:lnSpc>
                <a:spcPct val="120000"/>
              </a:lnSpc>
              <a:spcBef>
                <a:spcPts val="990"/>
              </a:spcBef>
            </a:pPr>
            <a:r>
              <a:rPr sz="2200" b="1">
                <a:solidFill>
                  <a:srgbClr val="FFB700"/>
                </a:solidFill>
                <a:latin typeface="Calibri"/>
              </a:rPr>
              <a:t>✓  </a:t>
            </a:r>
            <a:r>
              <a:rPr sz="2200">
                <a:solidFill>
                  <a:srgbClr val="1E293B"/>
                </a:solidFill>
                <a:latin typeface="Microsoft JhengHei"/>
              </a:rPr>
              <a:t>啟用 GitHub Pages，把 notebook 轉 HTML 發布</a:t>
            </a:r>
          </a:p>
          <a:p>
            <a:pPr algn="l">
              <a:lnSpc>
                <a:spcPct val="120000"/>
              </a:lnSpc>
              <a:spcBef>
                <a:spcPts val="990"/>
              </a:spcBef>
            </a:pPr>
            <a:r>
              <a:rPr sz="2200" b="1">
                <a:solidFill>
                  <a:srgbClr val="FFB700"/>
                </a:solidFill>
                <a:latin typeface="Calibri"/>
              </a:rPr>
              <a:t>✓  </a:t>
            </a:r>
            <a:r>
              <a:rPr sz="2200">
                <a:solidFill>
                  <a:srgbClr val="1E293B"/>
                </a:solidFill>
                <a:latin typeface="Microsoft JhengHei"/>
              </a:rPr>
              <a:t>繳交：repo URL + Pages URL（兩個都要能打開）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B700"/>
                </a:solidFill>
                <a:latin typeface="Microsoft JhengHei"/>
              </a:rPr>
              <a:t>⏰  繳交期限：Week 11 上課前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657B"/>
                </a:solidFill>
                <a:latin typeface="Calibri"/>
              </a:rPr>
              <a:t>Week 10 — Agentic Workflows &amp;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5657B"/>
                </a:solidFill>
                <a:latin typeface="Calibri"/>
              </a:rPr>
              <a:t>46 / 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00B8D4"/>
                </a:solidFill>
                <a:latin typeface="Microsoft JhengHei"/>
              </a:rPr>
              <a:t>下週預告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783080"/>
            <a:ext cx="868680" cy="86868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E293B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947672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F7F9FB"/>
                </a:solidFill>
                <a:latin typeface="Microsoft JhengHei"/>
              </a:rPr>
              <a:t>Streamlit Cloud 部署（互動 app vs. 靜態 Pages 對比）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16352"/>
            <a:ext cx="868680" cy="86868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E293B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980944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F7F9FB"/>
                </a:solidFill>
                <a:latin typeface="Microsoft JhengHei"/>
              </a:rPr>
              <a:t>Taiwan open data APIs — fetch / parse / clean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849624"/>
            <a:ext cx="868680" cy="86868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E293B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4014215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F7F9FB"/>
                </a:solidFill>
                <a:latin typeface="Microsoft JhengHei"/>
              </a:rPr>
              <a:t>Interactive dashboards with Plotly Express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882896"/>
            <a:ext cx="868680" cy="86868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E293B"/>
                </a:solidFill>
                <a:latin typeface="Calibr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04748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F7F9FB"/>
                </a:solidFill>
                <a:latin typeface="Microsoft JhengHei"/>
              </a:rPr>
              <a:t>Final milestone:  Live web app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B700"/>
                </a:solidFill>
                <a:latin typeface="Calibri"/>
              </a:rP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E68F8E8-D07B-42B0-90FE-8937BCFDB7D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111c9b90-0719-4517-884d-f11c0eeabfb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3262</Words>
  <Application>Microsoft Office PowerPoint</Application>
  <PresentationFormat>寬螢幕</PresentationFormat>
  <Paragraphs>639</Paragraphs>
  <Slides>47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47</vt:i4>
      </vt:variant>
    </vt:vector>
  </HeadingPairs>
  <TitlesOfParts>
    <vt:vector size="53" baseType="lpstr">
      <vt:lpstr>微軟正黑體</vt:lpstr>
      <vt:lpstr>微軟正黑體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Erik Chang</cp:lastModifiedBy>
  <cp:revision>4</cp:revision>
  <dcterms:created xsi:type="dcterms:W3CDTF">2013-01-27T09:14:16Z</dcterms:created>
  <dcterms:modified xsi:type="dcterms:W3CDTF">2026-04-30T00:58:57Z</dcterms:modified>
  <cp:category/>
</cp:coreProperties>
</file>