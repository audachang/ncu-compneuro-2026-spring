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4"/>
  </p:notesMasterIdLst>
  <p:sldIdLst>
    <p:sldId id="356" r:id="rId2"/>
    <p:sldId id="878" r:id="rId3"/>
    <p:sldId id="879" r:id="rId4"/>
    <p:sldId id="880" r:id="rId5"/>
    <p:sldId id="258" r:id="rId6"/>
    <p:sldId id="881" r:id="rId7"/>
    <p:sldId id="266" r:id="rId8"/>
    <p:sldId id="262" r:id="rId9"/>
    <p:sldId id="267" r:id="rId10"/>
    <p:sldId id="281" r:id="rId11"/>
    <p:sldId id="875" r:id="rId12"/>
    <p:sldId id="390" r:id="rId13"/>
    <p:sldId id="270" r:id="rId14"/>
    <p:sldId id="263" r:id="rId15"/>
    <p:sldId id="274" r:id="rId16"/>
    <p:sldId id="264" r:id="rId17"/>
    <p:sldId id="271" r:id="rId18"/>
    <p:sldId id="877" r:id="rId19"/>
    <p:sldId id="272" r:id="rId20"/>
    <p:sldId id="276" r:id="rId21"/>
    <p:sldId id="278" r:id="rId22"/>
    <p:sldId id="285" r:id="rId23"/>
    <p:sldId id="335" r:id="rId24"/>
    <p:sldId id="331" r:id="rId25"/>
    <p:sldId id="332" r:id="rId26"/>
    <p:sldId id="333" r:id="rId27"/>
    <p:sldId id="307" r:id="rId28"/>
    <p:sldId id="394" r:id="rId29"/>
    <p:sldId id="395" r:id="rId30"/>
    <p:sldId id="396" r:id="rId31"/>
    <p:sldId id="342" r:id="rId32"/>
    <p:sldId id="265" r:id="rId33"/>
    <p:sldId id="268" r:id="rId34"/>
    <p:sldId id="876" r:id="rId35"/>
    <p:sldId id="312" r:id="rId36"/>
    <p:sldId id="313" r:id="rId37"/>
    <p:sldId id="314" r:id="rId38"/>
    <p:sldId id="315" r:id="rId39"/>
    <p:sldId id="261" r:id="rId40"/>
    <p:sldId id="316" r:id="rId41"/>
    <p:sldId id="317" r:id="rId42"/>
    <p:sldId id="318" r:id="rId43"/>
    <p:sldId id="319" r:id="rId44"/>
    <p:sldId id="320" r:id="rId45"/>
    <p:sldId id="321" r:id="rId46"/>
    <p:sldId id="293" r:id="rId47"/>
    <p:sldId id="323" r:id="rId48"/>
    <p:sldId id="325" r:id="rId49"/>
    <p:sldId id="326" r:id="rId50"/>
    <p:sldId id="327" r:id="rId51"/>
    <p:sldId id="328" r:id="rId52"/>
    <p:sldId id="283" r:id="rId53"/>
    <p:sldId id="329" r:id="rId54"/>
    <p:sldId id="330" r:id="rId55"/>
    <p:sldId id="351" r:id="rId56"/>
    <p:sldId id="352" r:id="rId57"/>
    <p:sldId id="353" r:id="rId58"/>
    <p:sldId id="354" r:id="rId59"/>
    <p:sldId id="355" r:id="rId60"/>
    <p:sldId id="873" r:id="rId61"/>
    <p:sldId id="368" r:id="rId62"/>
    <p:sldId id="357" r:id="rId63"/>
    <p:sldId id="369" r:id="rId64"/>
    <p:sldId id="370" r:id="rId65"/>
    <p:sldId id="358" r:id="rId66"/>
    <p:sldId id="359" r:id="rId67"/>
    <p:sldId id="387" r:id="rId68"/>
    <p:sldId id="388" r:id="rId69"/>
    <p:sldId id="371" r:id="rId70"/>
    <p:sldId id="372" r:id="rId71"/>
    <p:sldId id="373" r:id="rId72"/>
    <p:sldId id="374" r:id="rId73"/>
    <p:sldId id="389" r:id="rId74"/>
    <p:sldId id="375" r:id="rId75"/>
    <p:sldId id="376" r:id="rId76"/>
    <p:sldId id="377" r:id="rId77"/>
    <p:sldId id="378" r:id="rId78"/>
    <p:sldId id="379" r:id="rId79"/>
    <p:sldId id="380" r:id="rId80"/>
    <p:sldId id="381" r:id="rId81"/>
    <p:sldId id="382" r:id="rId82"/>
    <p:sldId id="383" r:id="rId83"/>
    <p:sldId id="384" r:id="rId84"/>
    <p:sldId id="385" r:id="rId85"/>
    <p:sldId id="393" r:id="rId86"/>
    <p:sldId id="336" r:id="rId87"/>
    <p:sldId id="343" r:id="rId88"/>
    <p:sldId id="345" r:id="rId89"/>
    <p:sldId id="344" r:id="rId90"/>
    <p:sldId id="257" r:id="rId91"/>
    <p:sldId id="874" r:id="rId92"/>
    <p:sldId id="289" r:id="rId93"/>
  </p:sldIdLst>
  <p:sldSz cx="12192000" cy="6858000"/>
  <p:notesSz cx="6858000" cy="9144000"/>
  <p:custDataLst>
    <p:tags r:id="rId9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963" autoAdjust="0"/>
  </p:normalViewPr>
  <p:slideViewPr>
    <p:cSldViewPr snapToGrid="0">
      <p:cViewPr varScale="1">
        <p:scale>
          <a:sx n="90" d="100"/>
          <a:sy n="90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gs" Target="tags/tag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F197A6-BE36-4D6D-BBE6-9633BE34F474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C74F81-CD54-4030-AC9C-0ED56CF0AA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788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https://stackoverflow.com/questions/29826523/python-float-precision-float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407CB-E12F-4AA7-85C0-FC40B9E5637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5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38AAD-C976-449A-9F9C-85708E2961C3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522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3407CB-E12F-4AA7-85C0-FC40B9E56371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750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78641-BD4E-449A-A3D9-752DA257DA00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6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694" y="347181"/>
            <a:ext cx="8886884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741" y="1590157"/>
            <a:ext cx="10381517" cy="4434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C4ED-1F25-4192-9276-570070F77693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5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67F74-1818-42F0-8D0F-0BC58AA304FF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4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CD8-191F-48FD-BCF7-4CCCCEC844F1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7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86F8C-643D-4B24-9301-80B30397A8D1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4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31" y="606946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3F8C-29DA-4DC9-9345-B674DAF40B8E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6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84DE2-8F08-4B81-9F3A-24920788BBFD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8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F65D1-FA2B-4BA9-AD44-ABA3000FC94A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5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2DD5-F7BA-4306-AFAC-6AC17163D95B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50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1A87F-E59E-4A44-9109-382669B056A4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2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42A68-B3CB-4FBA-AD57-31B1EC3EE007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5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D230AEE-0558-472F-B4BC-00FAB4F97945}" type="datetime1">
              <a:rPr lang="en-US" altLang="zh-TW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0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un.pavlovia.org/demos/corsi_block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ytoolkit.org/#_library_of_experiments" TargetMode="External"/><Relationship Id="rId2" Type="http://schemas.openxmlformats.org/officeDocument/2006/relationships/hyperlink" Target="https://pavlovia.org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mand-line_interface" TargetMode="External"/><Relationship Id="rId2" Type="http://schemas.openxmlformats.org/officeDocument/2006/relationships/hyperlink" Target="https://en.wikipedia.org/wiki/Shell_(computing)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.png"/><Relationship Id="rId4" Type="http://schemas.openxmlformats.org/officeDocument/2006/relationships/hyperlink" Target="http://www.it.uu.se/education/course/homepage/os/vt18/module-0/shell-and-terminal/terminal-emulator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4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" descr="天空中的彩色圖案">
            <a:extLst>
              <a:ext uri="{FF2B5EF4-FFF2-40B4-BE49-F238E27FC236}">
                <a16:creationId xmlns:a16="http://schemas.microsoft.com/office/drawing/2014/main" id="{ED98725C-038E-6A06-4C58-01CA646C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38" b="10193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74E6BD4-9370-439F-94BB-34169C12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6913" y="4906317"/>
            <a:ext cx="9216167" cy="1232744"/>
          </a:xfrm>
        </p:spPr>
        <p:txBody>
          <a:bodyPr anchor="ctr">
            <a:normAutofit/>
          </a:bodyPr>
          <a:lstStyle/>
          <a:p>
            <a:pPr algn="r"/>
            <a:r>
              <a:rPr lang="en-US" altLang="zh-TW" sz="3200" dirty="0"/>
              <a:t>Variables, Scripting, Control Flow, &amp; Functions</a:t>
            </a:r>
            <a:endParaRPr lang="zh-TW" altLang="en-US" sz="3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3D1A53-2BC1-6F24-5CC4-46EA5C26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10281" y="3847907"/>
            <a:ext cx="3129921" cy="1010882"/>
          </a:xfrm>
        </p:spPr>
        <p:txBody>
          <a:bodyPr anchor="b">
            <a:normAutofit fontScale="85000" lnSpcReduction="20000"/>
          </a:bodyPr>
          <a:lstStyle/>
          <a:p>
            <a:pPr algn="ctr"/>
            <a:r>
              <a:rPr lang="en-US" altLang="zh-TW" dirty="0"/>
              <a:t>NS5116</a:t>
            </a:r>
          </a:p>
          <a:p>
            <a:r>
              <a:rPr lang="zh-TW" altLang="zh-TW" b="1" dirty="0"/>
              <a:t>電腦硬體與程式語言在行為科學實驗與大數據分析之應用</a:t>
            </a:r>
            <a:endParaRPr lang="zh-TW" altLang="zh-TW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C6E18B-DBDF-ADE3-AE6C-175FCBE7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9D671-9BE8-890D-315E-3958C17E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9FDAF-84C2-BC99-6F5C-BF3AD618D8DA}"/>
              </a:ext>
            </a:extLst>
          </p:cNvPr>
          <p:cNvSpPr txBox="1"/>
          <p:nvPr/>
        </p:nvSpPr>
        <p:spPr>
          <a:xfrm>
            <a:off x="429935" y="5677396"/>
            <a:ext cx="60946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March 05, 2026</a:t>
            </a:r>
          </a:p>
          <a:p>
            <a:r>
              <a:rPr lang="zh-TW" altLang="en-US" dirty="0"/>
              <a:t>講師：張智宏</a:t>
            </a:r>
            <a:endParaRPr lang="en-US" altLang="zh-TW" dirty="0"/>
          </a:p>
          <a:p>
            <a:r>
              <a:rPr lang="zh-TW" altLang="en-US" dirty="0"/>
              <a:t>教室</a:t>
            </a:r>
            <a:r>
              <a:rPr lang="en-US" altLang="zh-TW" dirty="0"/>
              <a:t>: S5-Ideabrain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092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3D6410-66A7-58AF-FA7B-73BAB122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BBF132-51B4-F06C-F2A5-E48177ED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2</a:t>
            </a:fld>
            <a:endParaRPr lang="en-US"/>
          </a:p>
        </p:txBody>
      </p:sp>
      <p:pic>
        <p:nvPicPr>
          <p:cNvPr id="8" name="圖片 7" descr="一張含有 文字, 圖表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C498DD2C-3919-7F0B-ED17-80A48ECCBE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46" y="0"/>
            <a:ext cx="66096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68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字型, 平面設計 的圖片&#10;&#10;AI 產生的內容可能不正確。">
            <a:extLst>
              <a:ext uri="{FF2B5EF4-FFF2-40B4-BE49-F238E27FC236}">
                <a16:creationId xmlns:a16="http://schemas.microsoft.com/office/drawing/2014/main" id="{7A217622-5315-B5E4-EDA7-DF2788E458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3000"/>
          </a:blip>
          <a:srcRect r="1" b="44454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128164" y="4906317"/>
            <a:ext cx="4224916" cy="12327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TW" altLang="en-US" sz="3200"/>
              <a:t>資料型別和變數</a:t>
            </a:r>
          </a:p>
        </p:txBody>
      </p:sp>
      <p:sp>
        <p:nvSpPr>
          <p:cNvPr id="3" name="副標題 2"/>
          <p:cNvSpPr>
            <a:spLocks noGrp="1"/>
          </p:cNvSpPr>
          <p:nvPr>
            <p:ph type="body" idx="1"/>
          </p:nvPr>
        </p:nvSpPr>
        <p:spPr>
          <a:xfrm>
            <a:off x="8210281" y="3847907"/>
            <a:ext cx="3129921" cy="10108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altLang="zh-TW"/>
          </a:p>
          <a:p>
            <a:pPr algn="r"/>
            <a:endParaRPr lang="en-US" altLang="zh-TW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6C5A87F-09BC-2D82-89ED-61B3B553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Computers, Programming, &amp; Big Data. 2026 Spring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C0C4CD-820D-26DB-E65D-D2B968F0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D57F1E4F-1CFF-5643-939E-217C01CDF565}" type="slidenum">
              <a:rPr lang="en-US" smtClean="0"/>
              <a:pPr defTabSz="914400"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52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E577F9FF-903C-E9EC-4D77-8441A41C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7FDE1F-5D82-A223-A19F-8E8354267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01A74D-590F-4B02-6934-47CBED8E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4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C859A9D-1119-9B8D-37C0-6E1DD34FB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780" y="252850"/>
            <a:ext cx="6275766" cy="635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62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7858" y="576722"/>
            <a:ext cx="10092477" cy="953669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資料值 </a:t>
            </a:r>
            <a:r>
              <a:rPr lang="en-US" altLang="zh-TW" dirty="0"/>
              <a:t>(Values): </a:t>
            </a:r>
            <a:r>
              <a:rPr lang="zh-TW" altLang="en-US" dirty="0"/>
              <a:t>一切量化工具的基礎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>
          <a:xfrm>
            <a:off x="1371600" y="1895301"/>
            <a:ext cx="4447786" cy="3581401"/>
          </a:xfrm>
        </p:spPr>
        <p:txBody>
          <a:bodyPr>
            <a:normAutofit/>
          </a:bodyPr>
          <a:lstStyle/>
          <a:p>
            <a:r>
              <a:rPr lang="zh-TW" altLang="en-US" dirty="0"/>
              <a:t>資料值具有不同型態</a:t>
            </a:r>
            <a:endParaRPr lang="en-US" altLang="zh-TW" dirty="0"/>
          </a:p>
          <a:p>
            <a:pPr lvl="1"/>
            <a:r>
              <a:rPr lang="zh-TW" altLang="en-US" b="1" dirty="0"/>
              <a:t>數 </a:t>
            </a:r>
            <a:r>
              <a:rPr lang="en-US" altLang="zh-TW" b="1" dirty="0"/>
              <a:t>Numbers</a:t>
            </a:r>
          </a:p>
          <a:p>
            <a:pPr lvl="2"/>
            <a:r>
              <a:rPr lang="zh-TW" altLang="en-US" dirty="0"/>
              <a:t>整數 </a:t>
            </a:r>
            <a:r>
              <a:rPr lang="en-US" altLang="zh-TW" dirty="0"/>
              <a:t>Integers</a:t>
            </a:r>
          </a:p>
          <a:p>
            <a:pPr lvl="3"/>
            <a:r>
              <a:rPr lang="en-US" altLang="zh-TW" dirty="0"/>
              <a:t>1, 2, 300</a:t>
            </a:r>
          </a:p>
          <a:p>
            <a:pPr lvl="2"/>
            <a:r>
              <a:rPr lang="zh-TW" altLang="en-US" dirty="0"/>
              <a:t>小數 </a:t>
            </a:r>
            <a:r>
              <a:rPr lang="en-US" altLang="zh-TW" dirty="0"/>
              <a:t>(</a:t>
            </a:r>
            <a:r>
              <a:rPr lang="zh-TW" altLang="en-US" dirty="0"/>
              <a:t>浮點數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floats</a:t>
            </a:r>
          </a:p>
          <a:p>
            <a:pPr lvl="3"/>
            <a:r>
              <a:rPr lang="en-US" altLang="zh-TW" dirty="0"/>
              <a:t>3.14, 2.7896</a:t>
            </a:r>
          </a:p>
          <a:p>
            <a:pPr lvl="2"/>
            <a:r>
              <a:rPr lang="zh-TW" altLang="en-US" dirty="0"/>
              <a:t>複數  </a:t>
            </a:r>
            <a:r>
              <a:rPr lang="en-US" altLang="zh-TW" dirty="0"/>
              <a:t>complex</a:t>
            </a:r>
          </a:p>
          <a:p>
            <a:pPr lvl="3"/>
            <a:r>
              <a:rPr lang="en-US" altLang="zh-TW" dirty="0"/>
              <a:t>4 + 2j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6525014" y="1895301"/>
            <a:ext cx="4447786" cy="3581401"/>
          </a:xfrm>
        </p:spPr>
        <p:txBody>
          <a:bodyPr>
            <a:normAutofit/>
          </a:bodyPr>
          <a:lstStyle/>
          <a:p>
            <a:pPr lvl="1"/>
            <a:r>
              <a:rPr lang="zh-TW" altLang="en-US" b="1" dirty="0"/>
              <a:t>字元</a:t>
            </a:r>
            <a:endParaRPr lang="en-US" altLang="zh-TW" b="1" dirty="0"/>
          </a:p>
          <a:p>
            <a:pPr lvl="2"/>
            <a:r>
              <a:rPr lang="zh-TW" altLang="en-US" dirty="0"/>
              <a:t>單一字元 </a:t>
            </a:r>
            <a:r>
              <a:rPr lang="en-US" altLang="zh-TW" dirty="0"/>
              <a:t>character</a:t>
            </a:r>
          </a:p>
          <a:p>
            <a:pPr lvl="3"/>
            <a:r>
              <a:rPr lang="en-US" altLang="zh-TW" dirty="0"/>
              <a:t>"a", "G"</a:t>
            </a:r>
          </a:p>
          <a:p>
            <a:pPr lvl="2"/>
            <a:r>
              <a:rPr lang="zh-TW" altLang="en-US" dirty="0"/>
              <a:t>字串</a:t>
            </a:r>
            <a:r>
              <a:rPr lang="en-US" altLang="zh-TW" dirty="0"/>
              <a:t>:  </a:t>
            </a:r>
            <a:r>
              <a:rPr lang="zh-TW" altLang="en-US" dirty="0"/>
              <a:t>一串字元 </a:t>
            </a:r>
            <a:r>
              <a:rPr lang="en-US" altLang="zh-TW" dirty="0"/>
              <a:t>string</a:t>
            </a:r>
          </a:p>
          <a:p>
            <a:pPr lvl="3"/>
            <a:r>
              <a:rPr lang="en-US" altLang="zh-TW" dirty="0"/>
              <a:t>"banana", 'psych'</a:t>
            </a:r>
            <a:endParaRPr lang="zh-TW" altLang="en-US" dirty="0"/>
          </a:p>
          <a:p>
            <a:pPr lvl="1"/>
            <a:r>
              <a:rPr lang="zh-TW" altLang="en-US" b="1" dirty="0"/>
              <a:t>邏輯值 </a:t>
            </a:r>
            <a:r>
              <a:rPr lang="en-US" altLang="zh-TW" b="1" dirty="0"/>
              <a:t>Boolean</a:t>
            </a:r>
          </a:p>
          <a:p>
            <a:pPr lvl="2"/>
            <a:r>
              <a:rPr lang="en-US" altLang="zh-TW" dirty="0"/>
              <a:t>True, False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356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物件：</a:t>
            </a:r>
            <a:r>
              <a:rPr lang="en-US" altLang="zh-TW"/>
              <a:t>Python</a:t>
            </a:r>
            <a:r>
              <a:rPr lang="zh-TW" altLang="en-US"/>
              <a:t>裡的每個「東西」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/>
              <a:t>屬性 </a:t>
            </a:r>
            <a:r>
              <a:rPr lang="en-US" altLang="zh-TW"/>
              <a:t>Attributes or Properties</a:t>
            </a:r>
          </a:p>
          <a:p>
            <a:pPr lvl="1"/>
            <a:r>
              <a:rPr lang="zh-TW" altLang="en-US"/>
              <a:t>從屬性中可以得知該物件相關值、資料和特性</a:t>
            </a:r>
            <a:endParaRPr lang="en-US" altLang="zh-TW"/>
          </a:p>
          <a:p>
            <a:pPr lvl="1"/>
            <a:endParaRPr lang="en-US"/>
          </a:p>
          <a:p>
            <a:r>
              <a:rPr lang="zh-TW" altLang="en-US"/>
              <a:t>方法 </a:t>
            </a:r>
            <a:r>
              <a:rPr lang="en-US" altLang="zh-TW"/>
              <a:t>Methods</a:t>
            </a:r>
          </a:p>
          <a:p>
            <a:pPr lvl="1"/>
            <a:r>
              <a:rPr lang="zh-TW" altLang="en-US"/>
              <a:t>某物件專屬的操作</a:t>
            </a:r>
            <a:r>
              <a:rPr lang="en-US" altLang="zh-TW"/>
              <a:t>(operations)</a:t>
            </a:r>
            <a:r>
              <a:rPr lang="zh-TW" altLang="en-US"/>
              <a:t>，可對物件執行特定動作</a:t>
            </a:r>
            <a:endParaRPr lang="en-US" altLang="zh-TW"/>
          </a:p>
          <a:p>
            <a:pPr lvl="1"/>
            <a:endParaRPr lang="en-US"/>
          </a:p>
          <a:p>
            <a:r>
              <a:rPr lang="en-US" altLang="zh-TW"/>
              <a:t>"apple"</a:t>
            </a:r>
          </a:p>
          <a:p>
            <a:pPr lvl="1"/>
            <a:r>
              <a:rPr lang="en-US" altLang="zh-TW"/>
              <a:t>"apple".count("p")</a:t>
            </a:r>
          </a:p>
          <a:p>
            <a:pPr lvl="1"/>
            <a:r>
              <a:rPr lang="en-US" altLang="zh-TW"/>
              <a:t>"apple".__doc__</a:t>
            </a:r>
          </a:p>
          <a:p>
            <a:endParaRPr 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E3DB4B4-504F-053C-6506-03E92E897D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493" y="2018380"/>
            <a:ext cx="6221930" cy="4204006"/>
          </a:xfrm>
        </p:spPr>
      </p:pic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249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變數：以等號將右邊值指派</a:t>
            </a:r>
            <a:r>
              <a:rPr lang="en-US" altLang="zh-TW" dirty="0"/>
              <a:t>(assign)</a:t>
            </a:r>
            <a:r>
              <a:rPr lang="zh-TW" altLang="en-US" dirty="0"/>
              <a:t>給左邊名稱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 = 1</a:t>
            </a:r>
          </a:p>
          <a:p>
            <a:r>
              <a:rPr lang="en-US" dirty="0"/>
              <a:t>B = 99.5</a:t>
            </a:r>
          </a:p>
          <a:p>
            <a:r>
              <a:rPr lang="en-US" dirty="0"/>
              <a:t>Pi = 3.14</a:t>
            </a:r>
          </a:p>
          <a:p>
            <a:r>
              <a:rPr lang="en-US" dirty="0" err="1"/>
              <a:t>mystring</a:t>
            </a:r>
            <a:r>
              <a:rPr lang="en-US" dirty="0"/>
              <a:t> = "orange"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45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zh-TW" altLang="en-US" dirty="0"/>
              <a:t>變數命名與</a:t>
            </a:r>
            <a:r>
              <a:rPr lang="en-US" altLang="zh-TW" dirty="0"/>
              <a:t>Python</a:t>
            </a:r>
            <a:r>
              <a:rPr lang="zh-TW" altLang="en-US" dirty="0"/>
              <a:t>保留字 </a:t>
            </a:r>
            <a:r>
              <a:rPr lang="en-US" altLang="zh-TW" dirty="0"/>
              <a:t>(reserved words)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>
            <a:normAutofit/>
          </a:bodyPr>
          <a:lstStyle/>
          <a:p>
            <a:r>
              <a:rPr lang="zh-TW" altLang="en-US" dirty="0"/>
              <a:t>變數就是物件的名稱</a:t>
            </a:r>
            <a:endParaRPr lang="en-US" altLang="zh-TW" dirty="0"/>
          </a:p>
          <a:p>
            <a:pPr lvl="1"/>
            <a:r>
              <a:rPr lang="zh-TW" altLang="en-US" dirty="0"/>
              <a:t>開頭必須是</a:t>
            </a:r>
            <a:r>
              <a:rPr lang="en-US" altLang="zh-TW" dirty="0"/>
              <a:t>A-Z </a:t>
            </a:r>
            <a:r>
              <a:rPr lang="en-US" altLang="zh-TW" dirty="0" err="1"/>
              <a:t>a-z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/>
              <a:t>_</a:t>
            </a:r>
          </a:p>
          <a:p>
            <a:pPr lvl="1"/>
            <a:r>
              <a:rPr lang="zh-TW" altLang="en-US" dirty="0"/>
              <a:t>第二字起可以是字母、數字或底線</a:t>
            </a:r>
            <a:endParaRPr lang="en-US" altLang="zh-TW" dirty="0"/>
          </a:p>
          <a:p>
            <a:pPr lvl="1"/>
            <a:r>
              <a:rPr lang="zh-TW" altLang="en-US" dirty="0"/>
              <a:t>大小寫是不同的名稱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變數初始化 </a:t>
            </a:r>
            <a:r>
              <a:rPr lang="en-US" altLang="zh-TW" dirty="0"/>
              <a:t>(initialization)</a:t>
            </a:r>
          </a:p>
          <a:p>
            <a:pPr lvl="1"/>
            <a:r>
              <a:rPr lang="zh-TW" altLang="en-US" dirty="0"/>
              <a:t>第一次使用等號連結變數和某個物件</a:t>
            </a:r>
            <a:endParaRPr lang="en-US" altLang="zh-TW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6021652" y="1476480"/>
            <a:ext cx="5177899" cy="4654766"/>
          </a:xfrm>
        </p:spPr>
        <p:txBody>
          <a:bodyPr>
            <a:normAutofit/>
          </a:bodyPr>
          <a:lstStyle/>
          <a:p>
            <a:r>
              <a:rPr lang="zh-TW" altLang="en-US" dirty="0"/>
              <a:t>禁忌之名</a:t>
            </a:r>
            <a:endParaRPr lang="en-US" altLang="zh-TW" dirty="0"/>
          </a:p>
          <a:p>
            <a:pPr lvl="1"/>
            <a:r>
              <a:rPr lang="en-US" altLang="zh-TW" dirty="0"/>
              <a:t>Start with a number: 185height</a:t>
            </a:r>
          </a:p>
          <a:p>
            <a:pPr lvl="1"/>
            <a:r>
              <a:rPr lang="en-US" altLang="zh-TW" dirty="0"/>
              <a:t>Start with symbols or operands: , $ : %</a:t>
            </a:r>
          </a:p>
          <a:p>
            <a:pPr lvl="1"/>
            <a:r>
              <a:rPr lang="en-US" altLang="zh-TW" dirty="0"/>
              <a:t>Using the following reserved words</a:t>
            </a:r>
            <a:endParaRPr lang="zh-TW" altLang="en-US" dirty="0"/>
          </a:p>
          <a:p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fld id="{F2788EFF-DBB2-4622-9977-4541E57FF71D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13" y="3981856"/>
            <a:ext cx="6666867" cy="1956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803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22" y="1021743"/>
            <a:ext cx="7643160" cy="524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8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6522" y="181239"/>
            <a:ext cx="10092477" cy="953669"/>
          </a:xfrm>
        </p:spPr>
        <p:txBody>
          <a:bodyPr/>
          <a:lstStyle/>
          <a:p>
            <a:r>
              <a:rPr lang="zh-TW" altLang="en-US" dirty="0"/>
              <a:t>最佳化程式碼可讀性</a:t>
            </a:r>
            <a:endParaRPr 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177899" cy="4654766"/>
          </a:xfrm>
        </p:spPr>
        <p:txBody>
          <a:bodyPr/>
          <a:lstStyle/>
          <a:p>
            <a:r>
              <a:rPr lang="pt-BR" dirty="0"/>
              <a:t>a = 3.1</a:t>
            </a:r>
          </a:p>
          <a:p>
            <a:r>
              <a:rPr lang="pt-BR" dirty="0"/>
              <a:t>b = 2.2</a:t>
            </a:r>
          </a:p>
          <a:p>
            <a:r>
              <a:rPr lang="pt-BR" dirty="0"/>
              <a:t>c = a * b * b</a:t>
            </a:r>
          </a:p>
          <a:p>
            <a:endParaRPr lang="pt-BR" dirty="0"/>
          </a:p>
          <a:p>
            <a:r>
              <a:rPr lang="zh-TW" altLang="en-US"/>
              <a:t>要如何命名變數？</a:t>
            </a:r>
            <a:endParaRPr 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9768B85A-50C2-EE41-8BB3-3A242EBE69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/>
          <a:lstStyle/>
          <a:p>
            <a:fld id="{C4251BFD-B6F2-45D9-8499-05F55995A73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738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907753-90C5-ACC5-8861-1B4F45E5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#3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0B0691-6AC0-C458-29BB-84965A28DF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Point out whether the codes at the right side are correct or incorrect and why. 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B683D4C3-71B8-FBAE-7D77-D95B2A25B0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8025" y="1484295"/>
            <a:ext cx="2286017" cy="4481545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92E8F1-A562-7759-90B8-CA79E78F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DD85D0-FA8B-B5C9-9966-4173D1B58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03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AA37442-EAE9-6CFC-AC74-44222B37F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伺服器網路面板與燈和纜線的特寫">
            <a:extLst>
              <a:ext uri="{FF2B5EF4-FFF2-40B4-BE49-F238E27FC236}">
                <a16:creationId xmlns:a16="http://schemas.microsoft.com/office/drawing/2014/main" id="{A682D8A2-923A-AD64-BA90-351DB8E3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4" b="1320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46D3F9-4530-49F3-8EAA-885330969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10602" y="6318446"/>
            <a:ext cx="274319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altLang="zh-TW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Computers, Programming, &amp; Big Data. 2026 Spring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117A24-9D5E-A791-A2F4-8C81AC60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60265" y="-960268"/>
            <a:ext cx="6857998" cy="87785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58000"/>
                </a:srgbClr>
              </a:gs>
              <a:gs pos="100000">
                <a:srgbClr val="000000">
                  <a:alpha val="5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6963966-6FDA-42EC-9DBD-0EBEBB3A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2" y="1122363"/>
            <a:ext cx="5029198" cy="230524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3600">
                <a:solidFill>
                  <a:srgbClr val="FFFFFF"/>
                </a:solidFill>
              </a:rPr>
              <a:t>運算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1222F38A-3F9A-44C2-BD82-7FD7505B3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2" y="3549048"/>
            <a:ext cx="5029198" cy="195627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dirty="0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97A1CA-D4D5-4EFD-AF89-DB47BA30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318446"/>
            <a:ext cx="61569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4251BFD-B6F2-45D9-8499-05F55995A735}" type="slidenum">
              <a:rPr lang="en-US" altLang="zh-TW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12</a:t>
            </a:fld>
            <a:endParaRPr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91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敘述 </a:t>
            </a:r>
            <a:r>
              <a:rPr lang="en-US" altLang="zh-TW" dirty="0"/>
              <a:t>vs. </a:t>
            </a:r>
            <a:r>
              <a:rPr lang="zh-TW" altLang="en-US" dirty="0"/>
              <a:t>運算式</a:t>
            </a:r>
            <a:br>
              <a:rPr lang="en-US" altLang="zh-TW" dirty="0"/>
            </a:br>
            <a:r>
              <a:rPr lang="en-US" altLang="zh-TW" dirty="0"/>
              <a:t>Statements vs. Expressions</a:t>
            </a:r>
            <a:endParaRPr 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每行程式碼都是敘述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>
          <a:xfrm>
            <a:off x="6525402" y="2285999"/>
            <a:ext cx="5317409" cy="3581401"/>
          </a:xfrm>
        </p:spPr>
        <p:txBody>
          <a:bodyPr/>
          <a:lstStyle/>
          <a:p>
            <a:r>
              <a:rPr lang="zh-TW" altLang="en-US" dirty="0"/>
              <a:t>運算式</a:t>
            </a:r>
            <a:endParaRPr lang="en-US" altLang="zh-TW" dirty="0"/>
          </a:p>
          <a:p>
            <a:pPr lvl="1"/>
            <a:r>
              <a:rPr lang="zh-TW" altLang="en-US" dirty="0"/>
              <a:t>能簡化為一個值的敘述</a:t>
            </a:r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04" y="2803812"/>
            <a:ext cx="5415083" cy="95274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588" y="3912870"/>
            <a:ext cx="1741340" cy="10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2590800" y="685800"/>
            <a:ext cx="9601200" cy="1485900"/>
          </a:xfrm>
        </p:spPr>
        <p:txBody>
          <a:bodyPr/>
          <a:lstStyle/>
          <a:p>
            <a:r>
              <a:rPr lang="zh-TW" altLang="en-US" dirty="0"/>
              <a:t>運算元、運算子和運算式</a:t>
            </a:r>
            <a:br>
              <a:rPr lang="en-US" altLang="zh-TW" dirty="0"/>
            </a:br>
            <a:r>
              <a:rPr lang="en-US" altLang="zh-TW" dirty="0"/>
              <a:t>Operator, Operands, and Expression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38" y="2804769"/>
            <a:ext cx="4391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496" y="4498109"/>
            <a:ext cx="291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1"/>
          <p:cNvGrpSpPr/>
          <p:nvPr/>
        </p:nvGrpSpPr>
        <p:grpSpPr>
          <a:xfrm>
            <a:off x="2893564" y="2926080"/>
            <a:ext cx="1146421" cy="1055717"/>
            <a:chOff x="2893564" y="2926080"/>
            <a:chExt cx="1146421" cy="1055717"/>
          </a:xfrm>
        </p:grpSpPr>
        <p:cxnSp>
          <p:nvCxnSpPr>
            <p:cNvPr id="8" name="直線單箭頭接點 7"/>
            <p:cNvCxnSpPr>
              <a:endCxn id="10" idx="0"/>
            </p:cNvCxnSpPr>
            <p:nvPr/>
          </p:nvCxnSpPr>
          <p:spPr>
            <a:xfrm flipH="1">
              <a:off x="3391457" y="3183775"/>
              <a:ext cx="451005" cy="42869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644938" y="2926080"/>
              <a:ext cx="395047" cy="2576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893564" y="3612465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operand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6244979" y="2942696"/>
            <a:ext cx="1602236" cy="1055717"/>
            <a:chOff x="2893564" y="2926080"/>
            <a:chExt cx="1602236" cy="1055717"/>
          </a:xfrm>
        </p:grpSpPr>
        <p:cxnSp>
          <p:nvCxnSpPr>
            <p:cNvPr id="16" name="直線單箭頭接點 15"/>
            <p:cNvCxnSpPr>
              <a:endCxn id="18" idx="0"/>
            </p:cNvCxnSpPr>
            <p:nvPr/>
          </p:nvCxnSpPr>
          <p:spPr>
            <a:xfrm flipH="1">
              <a:off x="3391457" y="3183775"/>
              <a:ext cx="451005" cy="42869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3644938" y="2926080"/>
              <a:ext cx="850862" cy="2576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893564" y="3612465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705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2590800" y="685800"/>
            <a:ext cx="9601200" cy="1485900"/>
          </a:xfrm>
        </p:spPr>
        <p:txBody>
          <a:bodyPr/>
          <a:lstStyle/>
          <a:p>
            <a:r>
              <a:rPr lang="zh-TW" altLang="en-US" dirty="0"/>
              <a:t>運算元、運算子和運算式</a:t>
            </a:r>
            <a:br>
              <a:rPr lang="en-US" altLang="zh-TW" dirty="0"/>
            </a:br>
            <a:r>
              <a:rPr lang="en-US" altLang="zh-TW" dirty="0"/>
              <a:t>Operator, Operands, and Expression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938" y="2804769"/>
            <a:ext cx="4391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496" y="4498109"/>
            <a:ext cx="2914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1"/>
          <p:cNvGrpSpPr/>
          <p:nvPr/>
        </p:nvGrpSpPr>
        <p:grpSpPr>
          <a:xfrm>
            <a:off x="4506471" y="2957148"/>
            <a:ext cx="1008353" cy="1055717"/>
            <a:chOff x="2893564" y="2926080"/>
            <a:chExt cx="1008353" cy="1055717"/>
          </a:xfrm>
        </p:grpSpPr>
        <p:cxnSp>
          <p:nvCxnSpPr>
            <p:cNvPr id="8" name="直線單箭頭接點 7"/>
            <p:cNvCxnSpPr>
              <a:endCxn id="10" idx="0"/>
            </p:cNvCxnSpPr>
            <p:nvPr/>
          </p:nvCxnSpPr>
          <p:spPr>
            <a:xfrm flipH="1">
              <a:off x="3391457" y="3183775"/>
              <a:ext cx="451005" cy="42869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3644938" y="2926080"/>
              <a:ext cx="244411" cy="25769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893564" y="3612465"/>
              <a:ext cx="1008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operator</a:t>
              </a:r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3850283" y="4648323"/>
            <a:ext cx="1070851" cy="1055717"/>
            <a:chOff x="2893564" y="2926080"/>
            <a:chExt cx="1070851" cy="1055717"/>
          </a:xfrm>
        </p:grpSpPr>
        <p:cxnSp>
          <p:nvCxnSpPr>
            <p:cNvPr id="16" name="直線單箭頭接點 15"/>
            <p:cNvCxnSpPr>
              <a:endCxn id="18" idx="0"/>
            </p:cNvCxnSpPr>
            <p:nvPr/>
          </p:nvCxnSpPr>
          <p:spPr>
            <a:xfrm flipH="1">
              <a:off x="3391457" y="3183775"/>
              <a:ext cx="451005" cy="42869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3644938" y="2926080"/>
              <a:ext cx="319477" cy="25769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2893564" y="3612465"/>
              <a:ext cx="1008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893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13411" y="214113"/>
            <a:ext cx="9601200" cy="1485900"/>
          </a:xfrm>
        </p:spPr>
        <p:txBody>
          <a:bodyPr/>
          <a:lstStyle/>
          <a:p>
            <a:r>
              <a:rPr lang="zh-TW" altLang="en-US" dirty="0"/>
              <a:t>運算順序 （</a:t>
            </a:r>
            <a:r>
              <a:rPr lang="en-US" altLang="zh-TW" dirty="0"/>
              <a:t>Precedence</a:t>
            </a:r>
            <a:r>
              <a:rPr lang="zh-TW" altLang="en-US" dirty="0"/>
              <a:t>）</a:t>
            </a:r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7639309" y="2119167"/>
            <a:ext cx="4447786" cy="3581401"/>
          </a:xfrm>
        </p:spPr>
        <p:txBody>
          <a:bodyPr/>
          <a:lstStyle/>
          <a:p>
            <a:r>
              <a:rPr lang="zh-TW" altLang="en-US" dirty="0"/>
              <a:t>運算優先序</a:t>
            </a:r>
            <a:endParaRPr lang="en-US" altLang="zh-TW" dirty="0"/>
          </a:p>
          <a:p>
            <a:pPr lvl="1"/>
            <a:r>
              <a:rPr lang="zh-TW" altLang="en-US" dirty="0"/>
              <a:t>由上至下</a:t>
            </a:r>
            <a:endParaRPr lang="en-US" altLang="zh-TW" dirty="0"/>
          </a:p>
          <a:p>
            <a:pPr lvl="1"/>
            <a:r>
              <a:rPr lang="zh-TW" altLang="en-US" dirty="0"/>
              <a:t>由左而右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16</a:t>
            </a:fld>
            <a:endParaRPr lang="zh-TW" altLang="en-US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54884089"/>
              </p:ext>
            </p:extLst>
          </p:nvPr>
        </p:nvGraphicFramePr>
        <p:xfrm>
          <a:off x="1112607" y="502920"/>
          <a:ext cx="6126396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673">
                  <a:extLst>
                    <a:ext uri="{9D8B030D-6E8A-4147-A177-3AD203B41FA5}">
                      <a16:colId xmlns:a16="http://schemas.microsoft.com/office/drawing/2014/main" val="695030959"/>
                    </a:ext>
                  </a:extLst>
                </a:gridCol>
                <a:gridCol w="4584723">
                  <a:extLst>
                    <a:ext uri="{9D8B030D-6E8A-4147-A177-3AD203B41FA5}">
                      <a16:colId xmlns:a16="http://schemas.microsoft.com/office/drawing/2014/main" val="1117627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運算子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意義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896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Parentheses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19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Exponent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474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+x, -x, ~x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Unary plus, Unary minus, Bitwise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637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*, /, //,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Multiplication, Division, Floor division, Modulus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25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+, 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Addition, Subtraction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23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&lt;&lt;, 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Bitwise shift operators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999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49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^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XOR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36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Bitwise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82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==, !=, &gt;, &gt;=, &lt;, &lt;=, is, is not, in, not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Comparisions, Identity, Membership operators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089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Logical NOT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57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Logical 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28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Logical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539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0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運算序中的怪咖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x &lt; y &lt; z</a:t>
            </a:r>
          </a:p>
          <a:p>
            <a:pPr lvl="1"/>
            <a:r>
              <a:rPr lang="zh-TW" altLang="en-US" dirty="0"/>
              <a:t>相當於下列運算式</a:t>
            </a:r>
            <a:endParaRPr lang="en-US" altLang="zh-TW" dirty="0"/>
          </a:p>
          <a:p>
            <a:pPr lvl="2"/>
            <a:r>
              <a:rPr lang="en-US" altLang="zh-TW" dirty="0"/>
              <a:t>x&lt; y and y &lt; z</a:t>
            </a:r>
          </a:p>
          <a:p>
            <a:pPr lvl="1"/>
            <a:endParaRPr lang="en-US" dirty="0"/>
          </a:p>
          <a:p>
            <a:r>
              <a:rPr lang="en-US" dirty="0"/>
              <a:t>3**2**5</a:t>
            </a:r>
          </a:p>
          <a:p>
            <a:pPr lvl="1"/>
            <a:r>
              <a:rPr lang="zh-TW" altLang="en-US" dirty="0"/>
              <a:t>相當於 </a:t>
            </a:r>
            <a:r>
              <a:rPr lang="en-US" altLang="zh-TW" dirty="0"/>
              <a:t>3**(2**5)</a:t>
            </a:r>
          </a:p>
          <a:p>
            <a:pPr lvl="1"/>
            <a:r>
              <a:rPr lang="zh-TW" altLang="en-US" dirty="0"/>
              <a:t>右邊的</a:t>
            </a:r>
            <a:r>
              <a:rPr lang="en-US" altLang="zh-TW" dirty="0"/>
              <a:t>**</a:t>
            </a:r>
            <a:r>
              <a:rPr lang="zh-TW" altLang="en-US" dirty="0"/>
              <a:t>運算優先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x = y = z</a:t>
            </a:r>
          </a:p>
          <a:p>
            <a:pPr lvl="1"/>
            <a:r>
              <a:rPr lang="en-US" dirty="0"/>
              <a:t>z</a:t>
            </a:r>
            <a:r>
              <a:rPr lang="zh-TW" altLang="en-US" dirty="0"/>
              <a:t>要先被定義</a:t>
            </a:r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3070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B9A276-35CF-5A51-D198-8CB18C67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#4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08320C-18DC-56CA-BDAA-550ADE91EE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Write a Python script to perform the following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Calculate the result of (5+3)×2(5+3)×2.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Find the remainder when 17 is divided by 4.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Compute 2</a:t>
            </a:r>
            <a:r>
              <a:rPr lang="en-US" altLang="zh-TW" baseline="30000" dirty="0"/>
              <a:t>5</a:t>
            </a:r>
            <a:r>
              <a:rPr lang="en-US" altLang="zh-TW" dirty="0"/>
              <a:t> using the exponent operator.</a:t>
            </a:r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FFCA4E-E154-2A1D-1EB3-EAD80972F1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389CB6-E484-98BD-608C-19BF69E95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294D64-DB84-38D9-61A8-79102B1E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75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型別轉換 </a:t>
            </a:r>
            <a:r>
              <a:rPr lang="en-US" altLang="zh-TW" dirty="0"/>
              <a:t>Type conversion (Typecasting)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01148" y="1581323"/>
            <a:ext cx="4824484" cy="4060210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/>
              <a:t>明著來 </a:t>
            </a:r>
            <a:r>
              <a:rPr lang="en-US" altLang="zh-TW" dirty="0"/>
              <a:t>(explicit)</a:t>
            </a:r>
          </a:p>
          <a:p>
            <a:pPr marL="530352" lvl="1" indent="0">
              <a:buNone/>
            </a:pPr>
            <a:r>
              <a:rPr lang="en-US" sz="2000" dirty="0"/>
              <a:t>(</a:t>
            </a:r>
            <a:r>
              <a:rPr lang="en-US" sz="2000" dirty="0" err="1"/>
              <a:t>required_datatype</a:t>
            </a:r>
            <a:r>
              <a:rPr lang="en-US" sz="2000" dirty="0"/>
              <a:t>)(expression)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/>
              <a:t>int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float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complex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bool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 err="1"/>
              <a:t>str</a:t>
            </a:r>
            <a:endParaRPr lang="en-US" sz="2000" dirty="0"/>
          </a:p>
          <a:p>
            <a:endParaRPr lang="en-US" altLang="zh-TW" dirty="0"/>
          </a:p>
          <a:p>
            <a:r>
              <a:rPr lang="zh-TW" altLang="en-US" dirty="0"/>
              <a:t>只能從定義「窄」的轉換到定義「廣」的</a:t>
            </a:r>
            <a:endParaRPr lang="en-US" altLang="zh-TW" dirty="0"/>
          </a:p>
          <a:p>
            <a:pPr lvl="1"/>
            <a:r>
              <a:rPr lang="en-US" altLang="zh-TW" dirty="0"/>
              <a:t> </a:t>
            </a:r>
            <a:r>
              <a:rPr lang="zh-TW" altLang="en-US" dirty="0"/>
              <a:t>保持原值不變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530352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TW" altLang="en-US" dirty="0"/>
              <a:t>暗著來 </a:t>
            </a:r>
            <a:r>
              <a:rPr lang="en-US" altLang="zh-TW" dirty="0"/>
              <a:t>(</a:t>
            </a:r>
            <a:r>
              <a:rPr lang="en-US" dirty="0"/>
              <a:t>implicit)</a:t>
            </a:r>
          </a:p>
          <a:p>
            <a:pPr lvl="1"/>
            <a:r>
              <a:rPr lang="en-US" dirty="0"/>
              <a:t>3 * 2.71828</a:t>
            </a:r>
          </a:p>
          <a:p>
            <a:pPr lvl="1"/>
            <a:r>
              <a:rPr lang="en-US" dirty="0"/>
              <a:t>2.5 * (2 + 3j)</a:t>
            </a:r>
          </a:p>
          <a:p>
            <a:pPr lvl="1"/>
            <a:endParaRPr lang="en-US" dirty="0"/>
          </a:p>
          <a:p>
            <a:r>
              <a:rPr lang="zh-TW" altLang="en-US" dirty="0"/>
              <a:t>運算結果會是運算元中定義最廣的</a:t>
            </a:r>
            <a:endParaRPr lang="en-US" alt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31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0C6B82-3ECD-41FD-AAAF-F07E5243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61100"/>
            <a:ext cx="9601200" cy="1485900"/>
          </a:xfrm>
        </p:spPr>
        <p:txBody>
          <a:bodyPr/>
          <a:lstStyle/>
          <a:p>
            <a:r>
              <a:rPr lang="en-US" altLang="zh-TW" dirty="0"/>
              <a:t>Implicit Typecasting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103112" y="1947000"/>
          <a:ext cx="10496202" cy="38657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49367">
                  <a:extLst>
                    <a:ext uri="{9D8B030D-6E8A-4147-A177-3AD203B41FA5}">
                      <a16:colId xmlns:a16="http://schemas.microsoft.com/office/drawing/2014/main" val="3986811198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1067089389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2476682482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3702577377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4276706949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1127364154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first object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Operation(s)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second object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result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243457"/>
                  </a:ext>
                </a:extLst>
              </a:tr>
              <a:tr h="66322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+ - * ** 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+ 2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3 - 2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* 2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**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3 % 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5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6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9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extLst>
                  <a:ext uri="{0D108BD9-81ED-4DB2-BD59-A6C34878D82A}">
                    <a16:rowId xmlns:a16="http://schemas.microsoft.com/office/drawing/2014/main" val="951990512"/>
                  </a:ext>
                </a:extLst>
              </a:tr>
              <a:tr h="13264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/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float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2/3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>
                          <a:effectLst/>
                        </a:rPr>
                        <a:t>gives 1.5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extLst>
                  <a:ext uri="{0D108BD9-81ED-4DB2-BD59-A6C34878D82A}">
                    <a16:rowId xmlns:a16="http://schemas.microsoft.com/office/drawing/2014/main" val="4061905775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+ - * / ** 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float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+ 2.0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3 - 2.0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*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/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**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3 % 2.0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5.0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6.0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1.5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9.0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extLst>
                  <a:ext uri="{0D108BD9-81ED-4DB2-BD59-A6C34878D82A}">
                    <a16:rowId xmlns:a16="http://schemas.microsoft.com/office/drawing/2014/main" val="1034907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99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4F0F1-A081-40E0-BBC9-5EE29B0D2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Implicit Typecasting</a:t>
            </a:r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35123" y="2329137"/>
          <a:ext cx="10496202" cy="385942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49367">
                  <a:extLst>
                    <a:ext uri="{9D8B030D-6E8A-4147-A177-3AD203B41FA5}">
                      <a16:colId xmlns:a16="http://schemas.microsoft.com/office/drawing/2014/main" val="3986811198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1067089389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2476682482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3702577377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4276706949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1127364154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first object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Operation(s)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second object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</a:rPr>
                        <a:t>Type of result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243457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+ - * / ** %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int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effectLst/>
                        </a:rPr>
                        <a:t>float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+ 2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3.0 - 2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*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/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** 2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3.0 % 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5.0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6.0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1.5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9.0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extLst>
                  <a:ext uri="{0D108BD9-81ED-4DB2-BD59-A6C34878D82A}">
                    <a16:rowId xmlns:a16="http://schemas.microsoft.com/office/drawing/2014/main" val="3275695959"/>
                  </a:ext>
                </a:extLst>
              </a:tr>
              <a:tr h="79586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+ - * / ** %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effectLst/>
                        </a:rPr>
                        <a:t>float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+ 2.0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3.0 - 2.0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*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/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** 2.0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3.0 % 2.0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5.0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6.0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1.5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9.0 </a:t>
                      </a:r>
                    </a:p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gives 1.0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16" marR="6316" marT="6316" marB="0"/>
                </a:tc>
                <a:extLst>
                  <a:ext uri="{0D108BD9-81ED-4DB2-BD59-A6C34878D82A}">
                    <a16:rowId xmlns:a16="http://schemas.microsoft.com/office/drawing/2014/main" val="2009523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07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Practice #5</a:t>
            </a:r>
            <a:r>
              <a:rPr lang="zh-TW" altLang="en-US" b="1" dirty="0"/>
              <a:t>：下列運算結果型別為何？</a:t>
            </a:r>
            <a:endParaRPr lang="en-US" b="1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1"/>
          </p:nvPr>
        </p:nvSpPr>
        <p:spPr>
          <a:xfrm>
            <a:off x="668859" y="1476480"/>
            <a:ext cx="5177899" cy="4654766"/>
          </a:xfrm>
        </p:spPr>
        <p:txBody>
          <a:bodyPr/>
          <a:lstStyle/>
          <a:p>
            <a:r>
              <a:rPr lang="en-US" dirty="0"/>
              <a:t>2**4.0</a:t>
            </a:r>
          </a:p>
          <a:p>
            <a:r>
              <a:rPr lang="en-US" dirty="0"/>
              <a:t>6%4.5</a:t>
            </a:r>
          </a:p>
          <a:p>
            <a:r>
              <a:rPr lang="en-US" dirty="0"/>
              <a:t>6//4.5</a:t>
            </a:r>
          </a:p>
          <a:p>
            <a:r>
              <a:rPr lang="en-US" dirty="0"/>
              <a:t>6/4.5</a:t>
            </a:r>
          </a:p>
          <a:p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375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F112963-DECA-4AA5-81FF-421B65CE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About Project #1…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DB9B0A40-2F56-427A-B783-AEB6553B1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105FC27-E890-4A7E-B171-0F48B3BB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B4FF521-9F1B-43DD-A344-E14DE2D6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50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0417B-ECCB-41C5-8760-C666482C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Pavlovia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A1721B-E5F7-45A6-BABE-DEFE1357D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DAF26E-5F67-4D42-898D-D0C91C2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D6362D-5846-4925-8C1D-0B59809B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77" y="1669130"/>
            <a:ext cx="10401376" cy="415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00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EC1A37B5-54F2-4064-AFE7-5132B1CE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 err="1"/>
              <a:t>Corsi</a:t>
            </a:r>
            <a:r>
              <a:rPr lang="en-US" altLang="zh-TW" dirty="0"/>
              <a:t> Block</a:t>
            </a:r>
            <a:endParaRPr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DC205D9-2D29-40EC-85CC-3A1BC5AA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83ED74-5735-4A4B-97CC-9713D42B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86665B9-0414-47F4-9011-59A3B9FF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76" y="1650024"/>
            <a:ext cx="9801297" cy="336711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A3C3C86-8E48-DA62-7933-6BB4215A790C}"/>
              </a:ext>
            </a:extLst>
          </p:cNvPr>
          <p:cNvSpPr txBox="1"/>
          <p:nvPr/>
        </p:nvSpPr>
        <p:spPr>
          <a:xfrm>
            <a:off x="1970572" y="5483125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https://run.pavlovia.org/demos/corsi_blocks/</a:t>
            </a:r>
            <a:r>
              <a:rPr lang="zh-TW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614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4A4E762E-3C07-49A8-8D9B-5CE3BE78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0F6AC4B-7992-41FB-B31C-776935E70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75CDBE-9571-44FB-8B0D-66A81F0E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86" y="1107706"/>
            <a:ext cx="5167350" cy="483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3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F1F024-643C-4312-86A8-F922AF2A6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期中計畫要求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EA66A9-762D-4A2A-8360-8AB6C38DB9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以</a:t>
            </a:r>
            <a:r>
              <a:rPr lang="en-US" altLang="zh-TW" dirty="0"/>
              <a:t>python script </a:t>
            </a:r>
            <a:r>
              <a:rPr lang="zh-TW" altLang="en-US" dirty="0"/>
              <a:t>或 </a:t>
            </a:r>
            <a:r>
              <a:rPr lang="en-US" altLang="zh-TW" dirty="0"/>
              <a:t>builder</a:t>
            </a:r>
            <a:r>
              <a:rPr lang="zh-TW" altLang="en-US" dirty="0"/>
              <a:t>寫出一個認知實驗作業</a:t>
            </a:r>
            <a:endParaRPr lang="en-US" altLang="zh-TW" dirty="0"/>
          </a:p>
          <a:p>
            <a:pPr lvl="1"/>
            <a:r>
              <a:rPr lang="zh-TW" altLang="en-US" dirty="0"/>
              <a:t>指導語</a:t>
            </a:r>
            <a:endParaRPr lang="en-US" altLang="zh-TW" dirty="0"/>
          </a:p>
          <a:p>
            <a:pPr lvl="1"/>
            <a:r>
              <a:rPr lang="zh-TW" altLang="en-US" dirty="0"/>
              <a:t>刺激材料呈現</a:t>
            </a:r>
            <a:endParaRPr lang="en-US" altLang="zh-TW" dirty="0"/>
          </a:p>
          <a:p>
            <a:pPr lvl="1"/>
            <a:r>
              <a:rPr lang="zh-TW" altLang="en-US" dirty="0"/>
              <a:t>反應記錄</a:t>
            </a:r>
            <a:endParaRPr lang="en-US" altLang="zh-TW" dirty="0"/>
          </a:p>
          <a:p>
            <a:pPr lvl="1"/>
            <a:r>
              <a:rPr lang="zh-TW" altLang="en-US" dirty="0"/>
              <a:t>每一 嘗試記錄存檔</a:t>
            </a:r>
            <a:endParaRPr lang="en-US" altLang="zh-TW" dirty="0"/>
          </a:p>
          <a:p>
            <a:pPr lvl="1"/>
            <a:r>
              <a:rPr lang="zh-TW" altLang="en-US" dirty="0"/>
              <a:t>分析結果</a:t>
            </a: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38F96CC-0FB1-4C3B-91B1-914DD87AD1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307B59-6FB1-43F6-8128-02B3C35C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483EBF-4D4E-4247-81BC-D5F71ABE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632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9A6C8B5-4DDA-F9D0-924F-D07A0957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Sources of Experimental Tasks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A93E103-55B7-0EEE-3708-51B6237D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43314"/>
            <a:ext cx="9601200" cy="3581400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https://pavlovia.org/</a:t>
            </a:r>
            <a:r>
              <a:rPr lang="en-US" altLang="zh-TW" dirty="0"/>
              <a:t> </a:t>
            </a:r>
          </a:p>
          <a:p>
            <a:r>
              <a:rPr lang="en-US" altLang="zh-TW" dirty="0">
                <a:hlinkClick r:id="rId3"/>
              </a:rPr>
              <a:t>https://www.psytoolkit.org/#_library_of_experiments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B512C6-D00D-917A-9BCC-4CAD93D07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9AA5B2-BFB3-17F5-F380-74848205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013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BEF5A3-1588-EF0C-AB00-787749171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985" y="330670"/>
            <a:ext cx="8886884" cy="104307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Tools for Programming Experiments in Psychology and Neuroscience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7CA090-F582-07AD-B2C0-FB7E9BECC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E9E37A-4500-99EF-F635-54DDC0CA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A691434-34DD-0052-3380-CB5E73C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48" y="1575852"/>
            <a:ext cx="9964118" cy="454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9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0814BF31-C516-8A04-24DF-88B8CA20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65EB298-AD00-9AC0-6E30-4E4D1F6DD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07412C-5913-2686-B646-ED1A9636E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19" y="1236760"/>
            <a:ext cx="9858447" cy="419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3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EBA7C51-4479-49FD-843F-84C3853F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資料型態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22D8F15-4C29-43B0-B792-994ED7D6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Types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A0A421-C020-4C81-AA25-5A84FE98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BCDC0D-B640-4EE9-AEF0-9741373C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7922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數字系統 </a:t>
            </a:r>
            <a:r>
              <a:rPr lang="en-US" altLang="zh-TW" dirty="0"/>
              <a:t>numerical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7171" y="1348034"/>
            <a:ext cx="5178829" cy="3581401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/>
              <a:t>二進位 </a:t>
            </a:r>
            <a:r>
              <a:rPr lang="en-US" altLang="zh-TW" dirty="0"/>
              <a:t>Binary</a:t>
            </a:r>
          </a:p>
          <a:p>
            <a:pPr lvl="1"/>
            <a:r>
              <a:rPr lang="en-US" altLang="zh-TW" dirty="0"/>
              <a:t>0, 1</a:t>
            </a:r>
          </a:p>
          <a:p>
            <a:endParaRPr lang="en-US" altLang="zh-TW" dirty="0"/>
          </a:p>
          <a:p>
            <a:r>
              <a:rPr lang="zh-TW" altLang="en-US" dirty="0"/>
              <a:t>八進位 </a:t>
            </a:r>
            <a:r>
              <a:rPr lang="en-US" altLang="zh-TW" dirty="0"/>
              <a:t>Octal</a:t>
            </a:r>
          </a:p>
          <a:p>
            <a:pPr lvl="1"/>
            <a:r>
              <a:rPr lang="en-US" altLang="zh-TW" dirty="0"/>
              <a:t>0, 1, 2, 3, 4, 5, 6, 7, 8</a:t>
            </a:r>
          </a:p>
          <a:p>
            <a:endParaRPr lang="en-US" altLang="zh-TW" dirty="0"/>
          </a:p>
          <a:p>
            <a:r>
              <a:rPr lang="zh-TW" altLang="en-US" dirty="0"/>
              <a:t>十進位  </a:t>
            </a:r>
            <a:r>
              <a:rPr lang="en-US" altLang="zh-TW" dirty="0"/>
              <a:t>Decimal</a:t>
            </a:r>
          </a:p>
          <a:p>
            <a:endParaRPr lang="en-US" altLang="zh-TW" dirty="0"/>
          </a:p>
          <a:p>
            <a:r>
              <a:rPr lang="zh-TW" altLang="en-US" dirty="0"/>
              <a:t>十六進位 </a:t>
            </a:r>
            <a:r>
              <a:rPr lang="en-US" altLang="zh-TW" dirty="0"/>
              <a:t>Hexadecimal</a:t>
            </a:r>
          </a:p>
          <a:p>
            <a:pPr lvl="1"/>
            <a:r>
              <a:rPr lang="en-US" altLang="zh-TW" dirty="0"/>
              <a:t>0, 1, 2, 3, 4, 5, 6, 7, 8, 9, A, B, C, D, E, F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>
          <a:xfrm>
            <a:off x="6672219" y="799345"/>
            <a:ext cx="5004350" cy="565404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8, 16, 32, 64</a:t>
            </a:r>
            <a:r>
              <a:rPr lang="zh-TW" altLang="en-US" dirty="0"/>
              <a:t>位元</a:t>
            </a:r>
            <a:endParaRPr lang="en-US" altLang="zh-TW" dirty="0"/>
          </a:p>
          <a:p>
            <a:r>
              <a:rPr lang="en-US" altLang="zh-TW" dirty="0"/>
              <a:t>unsigned</a:t>
            </a:r>
          </a:p>
          <a:p>
            <a:pPr lvl="1"/>
            <a:r>
              <a:rPr lang="en-US" dirty="0"/>
              <a:t>2^8 = 256 </a:t>
            </a:r>
          </a:p>
          <a:p>
            <a:pPr lvl="2"/>
            <a:r>
              <a:rPr lang="en-US" dirty="0"/>
              <a:t>[0,   255]</a:t>
            </a:r>
          </a:p>
          <a:p>
            <a:pPr lvl="1"/>
            <a:r>
              <a:rPr lang="en-US" dirty="0"/>
              <a:t>2^16 = 65,536 </a:t>
            </a:r>
          </a:p>
          <a:p>
            <a:pPr lvl="2"/>
            <a:r>
              <a:rPr lang="en-US" dirty="0"/>
              <a:t>[0,   65,535]</a:t>
            </a:r>
          </a:p>
          <a:p>
            <a:pPr lvl="1"/>
            <a:r>
              <a:rPr lang="en-US" dirty="0"/>
              <a:t>2^32 = 4,294,967,296 </a:t>
            </a:r>
          </a:p>
          <a:p>
            <a:pPr lvl="2"/>
            <a:r>
              <a:rPr lang="en-US" dirty="0"/>
              <a:t>[0,   4,294,967,295]</a:t>
            </a:r>
          </a:p>
          <a:p>
            <a:pPr lvl="1"/>
            <a:r>
              <a:rPr lang="en-US" dirty="0"/>
              <a:t>2^64 = 18,446,744,073,709,551,616</a:t>
            </a:r>
          </a:p>
          <a:p>
            <a:pPr lvl="2"/>
            <a:r>
              <a:rPr lang="en-US" dirty="0"/>
              <a:t>[0,   18,446,744,073,709,551,615]</a:t>
            </a:r>
          </a:p>
          <a:p>
            <a:r>
              <a:rPr lang="en-US" altLang="zh-TW" dirty="0"/>
              <a:t>signed</a:t>
            </a:r>
          </a:p>
          <a:p>
            <a:pPr lvl="1"/>
            <a:r>
              <a:rPr lang="en-US" dirty="0"/>
              <a:t>2^8 = 256 </a:t>
            </a:r>
          </a:p>
          <a:p>
            <a:pPr lvl="2"/>
            <a:r>
              <a:rPr lang="en-US" dirty="0"/>
              <a:t>[-128, 127]</a:t>
            </a:r>
          </a:p>
          <a:p>
            <a:pPr lvl="1"/>
            <a:r>
              <a:rPr lang="en-US" dirty="0"/>
              <a:t>2^16 = 65,536 </a:t>
            </a:r>
          </a:p>
          <a:p>
            <a:pPr lvl="2"/>
            <a:r>
              <a:rPr lang="en-US" dirty="0"/>
              <a:t>[-32,768 32,767]</a:t>
            </a:r>
          </a:p>
          <a:p>
            <a:pPr lvl="1"/>
            <a:r>
              <a:rPr lang="en-US" dirty="0"/>
              <a:t>2^32 = 4,294,967,296 </a:t>
            </a:r>
          </a:p>
          <a:p>
            <a:pPr lvl="1"/>
            <a:r>
              <a:rPr lang="en-US" dirty="0"/>
              <a:t>2^64 = 18,446,744,073,709,551,616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0987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數字系統間互轉：十進位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二進位</a:t>
            </a:r>
            <a:endParaRPr 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Step-by-Step Conversion</a:t>
            </a:r>
          </a:p>
          <a:p>
            <a:pPr lvl="1">
              <a:buFont typeface="+mj-lt"/>
              <a:buAutoNum type="arabicPeriod"/>
            </a:pPr>
            <a:r>
              <a:rPr lang="en-US" altLang="zh-TW" b="1" dirty="0"/>
              <a:t>Divide the Decimal Number by 2</a:t>
            </a:r>
            <a:r>
              <a:rPr lang="en-US" altLang="zh-TW" dirty="0"/>
              <a:t>: Record the quotient and the remainder.</a:t>
            </a:r>
          </a:p>
          <a:p>
            <a:pPr lvl="1">
              <a:buFont typeface="+mj-lt"/>
              <a:buAutoNum type="arabicPeriod"/>
            </a:pPr>
            <a:r>
              <a:rPr lang="en-US" altLang="zh-TW" b="1" dirty="0"/>
              <a:t>Repeat Until the Quotient is 0</a:t>
            </a:r>
            <a:r>
              <a:rPr lang="en-US" altLang="zh-TW" dirty="0"/>
              <a:t>: Continue dividing the quotient by 2 and recording the remainders.</a:t>
            </a:r>
          </a:p>
          <a:p>
            <a:pPr lvl="1">
              <a:buFont typeface="+mj-lt"/>
              <a:buAutoNum type="arabicPeriod"/>
            </a:pPr>
            <a:r>
              <a:rPr lang="en-US" altLang="zh-TW" b="1" dirty="0"/>
              <a:t>Write the Binary Number</a:t>
            </a:r>
            <a:r>
              <a:rPr lang="en-US" altLang="zh-TW" dirty="0"/>
              <a:t>: The binary representation is the sequence of remainders read from bottom to top.</a:t>
            </a:r>
          </a:p>
          <a:p>
            <a:pPr lvl="1"/>
            <a:endParaRPr lang="en-US" altLang="zh-TW" dirty="0"/>
          </a:p>
        </p:txBody>
      </p:sp>
      <p:sp>
        <p:nvSpPr>
          <p:cNvPr id="8" name="內容版面配置區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Example: Convert Decimal 33 to Binary</a:t>
            </a:r>
          </a:p>
          <a:p>
            <a:pPr lvl="1">
              <a:buFont typeface="+mj-lt"/>
              <a:buAutoNum type="arabicPeriod"/>
            </a:pPr>
            <a:r>
              <a:rPr lang="en-US" altLang="zh-TW" dirty="0"/>
              <a:t>33÷2=16 remainder </a:t>
            </a:r>
            <a:r>
              <a:rPr lang="en-US" altLang="zh-TW" b="1" dirty="0"/>
              <a:t>1</a:t>
            </a:r>
            <a:endParaRPr lang="en-US" altLang="zh-TW" dirty="0"/>
          </a:p>
          <a:p>
            <a:pPr lvl="1">
              <a:buFont typeface="+mj-lt"/>
              <a:buAutoNum type="arabicPeriod"/>
            </a:pPr>
            <a:r>
              <a:rPr lang="en-US" altLang="zh-TW" dirty="0"/>
              <a:t>16÷2=8 remainder </a:t>
            </a:r>
            <a:r>
              <a:rPr lang="en-US" altLang="zh-TW" b="1" dirty="0"/>
              <a:t>0</a:t>
            </a:r>
            <a:endParaRPr lang="en-US" altLang="zh-TW" dirty="0"/>
          </a:p>
          <a:p>
            <a:pPr lvl="1">
              <a:buFont typeface="+mj-lt"/>
              <a:buAutoNum type="arabicPeriod"/>
            </a:pPr>
            <a:r>
              <a:rPr lang="en-US" altLang="zh-TW" dirty="0"/>
              <a:t>8÷2=4 remainder </a:t>
            </a:r>
            <a:r>
              <a:rPr lang="en-US" altLang="zh-TW" b="1" dirty="0"/>
              <a:t>0</a:t>
            </a:r>
            <a:endParaRPr lang="en-US" altLang="zh-TW" dirty="0"/>
          </a:p>
          <a:p>
            <a:pPr lvl="1">
              <a:buFont typeface="+mj-lt"/>
              <a:buAutoNum type="arabicPeriod"/>
            </a:pPr>
            <a:r>
              <a:rPr lang="en-US" altLang="zh-TW" dirty="0"/>
              <a:t>4÷2=2 remainder </a:t>
            </a:r>
            <a:r>
              <a:rPr lang="en-US" altLang="zh-TW" b="1" dirty="0"/>
              <a:t>0</a:t>
            </a:r>
            <a:endParaRPr lang="en-US" altLang="zh-TW" dirty="0"/>
          </a:p>
          <a:p>
            <a:pPr lvl="1">
              <a:buFont typeface="+mj-lt"/>
              <a:buAutoNum type="arabicPeriod"/>
            </a:pPr>
            <a:r>
              <a:rPr lang="en-US" altLang="zh-TW" dirty="0"/>
              <a:t>2÷2=1 remainder </a:t>
            </a:r>
            <a:r>
              <a:rPr lang="en-US" altLang="zh-TW" b="1" dirty="0"/>
              <a:t>0</a:t>
            </a:r>
            <a:endParaRPr lang="en-US" altLang="zh-TW" dirty="0"/>
          </a:p>
          <a:p>
            <a:pPr lvl="1">
              <a:buFont typeface="+mj-lt"/>
              <a:buAutoNum type="arabicPeriod"/>
            </a:pPr>
            <a:r>
              <a:rPr lang="en-US" altLang="zh-TW" dirty="0"/>
              <a:t>1÷2=0 remainder </a:t>
            </a:r>
            <a:r>
              <a:rPr lang="en-US" altLang="zh-TW" b="1" dirty="0"/>
              <a:t>1</a:t>
            </a:r>
            <a:endParaRPr lang="en-US" altLang="zh-TW" dirty="0"/>
          </a:p>
          <a:p>
            <a:r>
              <a:rPr lang="en-US" altLang="zh-TW" dirty="0"/>
              <a:t>Reading the remainders from bottom to top: </a:t>
            </a:r>
            <a:r>
              <a:rPr lang="en-US" altLang="zh-TW" b="1" dirty="0"/>
              <a:t>100001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32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A3EF-5676-DBBA-5F7C-1ACF9992E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E3305-8047-8F08-0C57-844C6DFC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數字系統間互轉：二進位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十進位</a:t>
            </a:r>
            <a:endParaRPr 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D3876BB-7034-C67C-8382-7D846CA6D4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Step-by-Step Conversion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altLang="zh-TW" dirty="0"/>
              <a:t>Write the binary number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altLang="zh-TW" dirty="0"/>
              <a:t>Assign powers of 2 to each bit</a:t>
            </a:r>
          </a:p>
          <a:p>
            <a:pPr lvl="2"/>
            <a:r>
              <a:rPr lang="en-US" altLang="zh-TW" dirty="0"/>
              <a:t>Starting from the rightmost bit as 2</a:t>
            </a:r>
            <a:r>
              <a:rPr lang="en-US" altLang="zh-TW" baseline="30000" dirty="0"/>
              <a:t>0</a:t>
            </a:r>
            <a:endParaRPr lang="en-US" altLang="zh-TW" dirty="0"/>
          </a:p>
          <a:p>
            <a:pPr marL="777240" lvl="1" indent="-457200">
              <a:buFont typeface="+mj-lt"/>
              <a:buAutoNum type="arabicPeriod"/>
            </a:pPr>
            <a:r>
              <a:rPr lang="en-US" altLang="zh-TW" dirty="0"/>
              <a:t>Calculate the values</a:t>
            </a:r>
          </a:p>
          <a:p>
            <a:pPr marL="777240" lvl="1" indent="-457200">
              <a:buFont typeface="+mj-lt"/>
              <a:buAutoNum type="arabicPeriod"/>
            </a:pPr>
            <a:r>
              <a:rPr lang="en-US" altLang="zh-TW" dirty="0"/>
              <a:t>Add the values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0C7BE5-6D6C-8FF3-D388-D7DAD5A5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390F79-47DF-8E60-FAD3-52278DBC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34</a:t>
            </a:fld>
            <a:endParaRPr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8DF3EE20-5159-ABB1-23EB-6A77AF2810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62760" y="1630933"/>
            <a:ext cx="5390837" cy="388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04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7A9EAE-579F-49D6-AD27-B7E0B26A7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 </a:t>
            </a:r>
            <a:r>
              <a:rPr lang="en-US" altLang="zh-TW" dirty="0"/>
              <a:t>(string)</a:t>
            </a:r>
            <a:r>
              <a:rPr lang="zh-TW" altLang="en-US" dirty="0"/>
              <a:t>：字元串構成的序列資訊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E5EC68-AEDD-4540-BDC2-ACDB6235F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字串型別</a:t>
            </a:r>
            <a:r>
              <a:rPr lang="en-US" altLang="zh-TW" dirty="0"/>
              <a:t>(type)</a:t>
            </a:r>
            <a:r>
              <a:rPr lang="zh-TW" altLang="en-US" dirty="0"/>
              <a:t>的好用之處</a:t>
            </a:r>
            <a:endParaRPr lang="en-US" altLang="zh-TW" dirty="0"/>
          </a:p>
          <a:p>
            <a:pPr lvl="1"/>
            <a:r>
              <a:rPr lang="zh-TW" altLang="en-US" dirty="0"/>
              <a:t>多個字串有彈性地結合</a:t>
            </a:r>
            <a:endParaRPr lang="en-US" altLang="zh-TW" dirty="0"/>
          </a:p>
          <a:p>
            <a:pPr lvl="1"/>
            <a:r>
              <a:rPr lang="zh-TW" altLang="en-US" dirty="0"/>
              <a:t>可以很容易地尋找和大量取代相同的符記 </a:t>
            </a:r>
            <a:r>
              <a:rPr lang="en-US" altLang="zh-TW" dirty="0"/>
              <a:t>(token)</a:t>
            </a:r>
          </a:p>
          <a:p>
            <a:pPr lvl="1"/>
            <a:r>
              <a:rPr lang="zh-TW" altLang="en-US" dirty="0"/>
              <a:t>大小寫很容易互換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8DB6EC-F105-49BB-9C21-8057F045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552BEC-3E23-5E38-7945-113B2C361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6357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0D6FC6-11AD-47D8-A5F0-0051A023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定義字串和創造字串物件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0522B2D0-8ABF-4E64-B261-EB90799182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29961" y="3694388"/>
            <a:ext cx="6211381" cy="2550294"/>
          </a:xfrm>
          <a:prstGeom prst="rect">
            <a:avLst/>
          </a:prstGeom>
        </p:spPr>
      </p:pic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53935B1-AF98-49B7-8BE0-551FADA153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/>
              <a:t>num_one</a:t>
            </a:r>
            <a:r>
              <a:rPr lang="en-US" altLang="zh-TW" dirty="0"/>
              <a:t> = “1”</a:t>
            </a:r>
          </a:p>
          <a:p>
            <a:r>
              <a:rPr lang="en-US" altLang="zh-TW" dirty="0" err="1"/>
              <a:t>Num_two</a:t>
            </a:r>
            <a:r>
              <a:rPr lang="en-US" altLang="zh-TW" dirty="0"/>
              <a:t> = “2”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ED3134-F8AA-4033-A1C3-6D2EB0F4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FBC784-3543-3DEC-8282-37BB1563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04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74397BA4-7755-45FB-8A37-825C20C9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字串內的字元指標 </a:t>
            </a:r>
            <a:r>
              <a:rPr lang="en-US" altLang="zh-TW" dirty="0"/>
              <a:t>(index)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6CAFACF-FB6E-4144-AFF0-017680755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11" y="2935000"/>
            <a:ext cx="10209682" cy="1436277"/>
          </a:xfr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660F2F-45C8-41D7-98C2-9B68683B1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A01C37B-2B81-B2FF-7F65-31CB7C54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9086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14A6C-3DE0-4E37-945B-C7E5C44B4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字串切片</a:t>
            </a:r>
            <a:r>
              <a:rPr lang="en-US" altLang="zh-TW" dirty="0"/>
              <a:t> (slicing)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A864F1F-FA4E-4627-A282-AB289C059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641" y="1733740"/>
            <a:ext cx="7396095" cy="2243900"/>
          </a:xfr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31E129-8EB8-49C4-9E06-5ED70DAD5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90285D-25D6-495B-AD7F-CB6CED3B1720}"/>
              </a:ext>
            </a:extLst>
          </p:cNvPr>
          <p:cNvSpPr/>
          <p:nvPr/>
        </p:nvSpPr>
        <p:spPr>
          <a:xfrm>
            <a:off x="3758741" y="4692293"/>
            <a:ext cx="4550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/>
              <a:t>[start_index:stop_index:step]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0651A1-168B-1999-09C4-163790A3C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7040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093183-09A8-4E0C-BFB9-6AB776627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#6</a:t>
            </a:r>
            <a:r>
              <a:rPr lang="zh-TW" altLang="en-US" dirty="0"/>
              <a:t>：說出下列</a:t>
            </a:r>
            <a:r>
              <a:rPr lang="en-US" altLang="zh-TW" dirty="0"/>
              <a:t>slicing</a:t>
            </a:r>
            <a:r>
              <a:rPr lang="zh-TW" altLang="en-US" dirty="0"/>
              <a:t>結果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7C90ED8-248F-4C0D-87AF-B0B91F104B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74249" y="2286000"/>
            <a:ext cx="2642877" cy="3581400"/>
          </a:xfrm>
          <a:prstGeom prst="rect">
            <a:avLst/>
          </a:prstGeom>
        </p:spPr>
      </p:pic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2E3BAAA2-007A-4F82-8F20-70B4076EDC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DB487C-ACFE-4EED-A9AD-8C43DFFA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A6103C2-B97A-FD65-C6C8-2C6DD51D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6016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CDB4BF-1F6A-4820-A7DC-A89F0CD1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/>
              <a:t>字串物件可用之方法</a:t>
            </a:r>
            <a:br>
              <a:rPr lang="en-US" altLang="zh-TW"/>
            </a:br>
            <a:r>
              <a:rPr lang="en-US" altLang="zh-TW"/>
              <a:t>Methods of String Objects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98BE2-F6DA-4212-A7BF-124ABF7BDE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/>
              <a:t>len</a:t>
            </a:r>
          </a:p>
          <a:p>
            <a:r>
              <a:rPr lang="en-US" altLang="zh-TW"/>
              <a:t>upper</a:t>
            </a:r>
          </a:p>
          <a:p>
            <a:r>
              <a:rPr lang="en-US" altLang="zh-TW"/>
              <a:t>lower</a:t>
            </a:r>
          </a:p>
          <a:p>
            <a:r>
              <a:rPr lang="en-US" altLang="zh-TW"/>
              <a:t>swapcase</a:t>
            </a:r>
          </a:p>
          <a:p>
            <a:r>
              <a:rPr lang="en-US" altLang="zh-TW"/>
              <a:t>capitalize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2693E-0962-46E6-B83E-969047EDA5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/>
              <a:t>find</a:t>
            </a:r>
          </a:p>
          <a:p>
            <a:r>
              <a:rPr lang="en-US" altLang="zh-TW"/>
              <a:t>in</a:t>
            </a:r>
          </a:p>
          <a:p>
            <a:r>
              <a:rPr lang="en-US" altLang="zh-TW"/>
              <a:t>count</a:t>
            </a:r>
          </a:p>
          <a:p>
            <a:r>
              <a:rPr lang="en-US" altLang="zh-TW"/>
              <a:t>replace</a:t>
            </a:r>
          </a:p>
          <a:p>
            <a:r>
              <a:rPr lang="en-US" altLang="zh-TW"/>
              <a:t>split</a:t>
            </a:r>
          </a:p>
          <a:p>
            <a:endParaRPr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A9448B-81EC-46B0-84DF-12C6BCEE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6A8C35F-81B7-D154-EDF2-6D305838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0875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9AD90-5B21-4196-9CE0-F884974B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__</a:t>
            </a:r>
            <a:r>
              <a:rPr lang="en-US" altLang="zh-TW" dirty="0" err="1"/>
              <a:t>len</a:t>
            </a:r>
            <a:r>
              <a:rPr lang="en-US" altLang="zh-TW" dirty="0"/>
              <a:t>__()</a:t>
            </a:r>
            <a:r>
              <a:rPr lang="zh-TW" altLang="en-US" dirty="0"/>
              <a:t>取得字元數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DE7A26-C567-4162-8382-F4D8A97DC7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“corona”.__</a:t>
            </a:r>
            <a:r>
              <a:rPr lang="en-US" altLang="zh-TW" dirty="0" err="1"/>
              <a:t>len</a:t>
            </a:r>
            <a:r>
              <a:rPr lang="en-US" altLang="zh-TW"/>
              <a:t>__()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38336C-D9B5-4A88-9AD7-816D100D25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F5CCC7-6C9A-4BDE-B5AC-14A81E4F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30E4039-DA5E-5926-F4AE-00AABA5A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8458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6851C-4554-4FA1-B3DC-67BB3F21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大小寫轉換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9CCC12-D3E6-4172-8751-99532DA365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upper</a:t>
            </a:r>
          </a:p>
          <a:p>
            <a:endParaRPr lang="en-US" altLang="zh-TW" dirty="0"/>
          </a:p>
          <a:p>
            <a:r>
              <a:rPr lang="en-US" altLang="zh-TW" dirty="0"/>
              <a:t>lower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B3135B-1BF6-4E49-90CD-00672A0CEB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/>
              <a:t>swapcase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capitalize</a:t>
            </a:r>
            <a:endParaRPr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AC50B8-2E3D-4D42-8412-731DA90A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088532-11AB-AB14-4EA0-0D5B1D27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2839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0EA132-DDD9-44F9-B3B9-80F0CE05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進階字串操作：找尋和計數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3FEA9A-4815-44EC-B35D-3AB962EB6E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/>
              <a:t>find</a:t>
            </a:r>
          </a:p>
          <a:p>
            <a:endParaRPr lang="en-US" altLang="zh-TW" dirty="0"/>
          </a:p>
          <a:p>
            <a:r>
              <a:rPr lang="en-US" altLang="zh-TW" dirty="0"/>
              <a:t>in</a:t>
            </a:r>
          </a:p>
          <a:p>
            <a:endParaRPr lang="en-US" altLang="zh-TW" dirty="0"/>
          </a:p>
          <a:p>
            <a:r>
              <a:rPr lang="en-US" altLang="zh-TW" dirty="0"/>
              <a:t>count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DE04897-29EB-4BD9-98EC-1C362CA713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457" y="1848601"/>
            <a:ext cx="6347455" cy="1818169"/>
          </a:xfr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EA9683-FF16-4435-80AA-C95D25F1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52DAEDF-0941-46F6-884A-4554104D4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446" y="4348437"/>
            <a:ext cx="3041714" cy="16462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0BB31B-F61D-3CA4-DCC9-EFAA48FA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00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3315C-8018-46B9-B47F-680DDEA1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進階字串操作：取代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11C594-796F-4672-AEDB-A0C544046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892040" cy="3581401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a = “Raining in the spring time.”	</a:t>
            </a:r>
            <a:endParaRPr lang="zh-TW" altLang="en-US" sz="2800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C3FFC4E9-8A65-45B6-AB1E-2F5AF8C750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37345" y="1329197"/>
            <a:ext cx="2658386" cy="4843003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7D53C5-8DA8-4994-AA2C-C42F3EC3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AA5F09-556D-FE42-E264-3092302B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760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A2C0F7-90F8-4612-98DD-4159860F9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進階字串操作：乘法與加法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FE21EF6-9474-46C6-8547-78AA1CC8A0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92936" y="1684940"/>
            <a:ext cx="3375901" cy="4609565"/>
          </a:xfrm>
          <a:prstGeom prst="rect">
            <a:avLst/>
          </a:prstGeo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04C607-8FD2-4DD6-AE8A-EC2F253AAA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b="35137"/>
          <a:stretch/>
        </p:blipFill>
        <p:spPr>
          <a:xfrm>
            <a:off x="6322941" y="1684940"/>
            <a:ext cx="5089570" cy="4404964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6C8778-708F-4D2D-AE48-C641D854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FF2215-691F-8332-00CA-A56B3B8AC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786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280164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Practice #7</a:t>
            </a:r>
            <a:r>
              <a:rPr lang="zh-TW" altLang="en-US" dirty="0"/>
              <a:t>：關於字串</a:t>
            </a:r>
            <a:r>
              <a:rPr lang="en-US" altLang="zh-TW" dirty="0"/>
              <a:t>(string)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sz="3200" dirty="0"/>
              <a:t>將下列內容存為</a:t>
            </a:r>
            <a:r>
              <a:rPr lang="en-US" altLang="zh-TW" sz="3200" dirty="0"/>
              <a:t>ex06.py</a:t>
            </a:r>
            <a:r>
              <a:rPr lang="zh-TW" altLang="en-US" sz="3200" dirty="0"/>
              <a:t>檔並執行之</a:t>
            </a:r>
            <a:endParaRPr lang="en-US" dirty="0"/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962863"/>
            <a:ext cx="5651790" cy="3219615"/>
          </a:xfrm>
          <a:prstGeom prst="rect">
            <a:avLst/>
          </a:prstGeom>
        </p:spPr>
      </p:pic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46</a:t>
            </a:fld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204470"/>
            <a:ext cx="4191215" cy="127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4137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04CBFA-A1C5-4106-B012-79960A83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錯誤訊息</a:t>
            </a:r>
            <a:r>
              <a:rPr lang="en-US" altLang="zh-TW" dirty="0"/>
              <a:t> (error message)</a:t>
            </a:r>
            <a:endParaRPr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636DF2-15A3-45E5-A41E-ABCC549F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內容版面配置區 7">
            <a:extLst>
              <a:ext uri="{FF2B5EF4-FFF2-40B4-BE49-F238E27FC236}">
                <a16:creationId xmlns:a16="http://schemas.microsoft.com/office/drawing/2014/main" id="{F8125DEA-BFB4-4ADE-A852-D48642003D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69778" y="2041982"/>
            <a:ext cx="3553197" cy="382541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8C6789-9C86-A38A-91D6-AE1822CB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741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使用者輸入：</a:t>
            </a:r>
            <a:r>
              <a:rPr lang="en-US" altLang="zh-TW" dirty="0"/>
              <a:t>input</a:t>
            </a:r>
            <a:endParaRPr 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7521" y="2840639"/>
            <a:ext cx="9229716" cy="1002807"/>
          </a:xfrm>
          <a:prstGeom prst="rect">
            <a:avLst/>
          </a:prstGeom>
        </p:spPr>
      </p:pic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E20593-35D5-4AF9-C0CF-E1D868B5B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93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07496CE0-94DD-41B3-B441-0B247CEB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tuple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"Peter Parker Bruce Wayne Clark Kent"</a:t>
            </a:r>
          </a:p>
          <a:p>
            <a:pPr lvl="1"/>
            <a:r>
              <a:rPr lang="zh-TW" altLang="en-US" dirty="0"/>
              <a:t>字串物件要再區分子單位比較麻煩</a:t>
            </a:r>
            <a:endParaRPr 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創造</a:t>
            </a:r>
            <a:r>
              <a:rPr lang="en-US" altLang="zh-TW" dirty="0"/>
              <a:t>tuple</a:t>
            </a:r>
            <a:r>
              <a:rPr lang="zh-TW" altLang="en-US" dirty="0"/>
              <a:t>物件</a:t>
            </a:r>
            <a:endParaRPr lang="en-US" dirty="0"/>
          </a:p>
          <a:p>
            <a:pPr lvl="1"/>
            <a:r>
              <a:rPr lang="en-US" dirty="0"/>
              <a:t>()</a:t>
            </a:r>
          </a:p>
          <a:p>
            <a:pPr lvl="1"/>
            <a:r>
              <a:rPr lang="en-US" dirty="0"/>
              <a:t>(1, 2, 3)</a:t>
            </a:r>
          </a:p>
          <a:p>
            <a:pPr lvl="1"/>
            <a:r>
              <a:rPr lang="en-US" dirty="0"/>
              <a:t>("a", "b", "</a:t>
            </a:r>
            <a:r>
              <a:rPr lang="en-US" dirty="0" err="1"/>
              <a:t>cde</a:t>
            </a:r>
            <a:r>
              <a:rPr lang="en-US" dirty="0"/>
              <a:t>", "</a:t>
            </a:r>
            <a:r>
              <a:rPr lang="en-US" dirty="0" err="1"/>
              <a:t>fg</a:t>
            </a:r>
            <a:r>
              <a:rPr lang="en-US" dirty="0"/>
              <a:t>", "h")</a:t>
            </a:r>
          </a:p>
          <a:p>
            <a:pPr lvl="1"/>
            <a:r>
              <a:rPr lang="en-US" dirty="0"/>
              <a:t>(1, "2", False)</a:t>
            </a:r>
          </a:p>
          <a:p>
            <a:pPr lvl="1"/>
            <a:r>
              <a:rPr lang="en-US" dirty="0"/>
              <a:t>(5, (6, 7))</a:t>
            </a:r>
          </a:p>
          <a:p>
            <a:pPr lvl="1"/>
            <a:r>
              <a:rPr lang="en-US" dirty="0"/>
              <a:t>(5,)</a:t>
            </a:r>
          </a:p>
          <a:p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0586D83-8B5C-4A1A-85A9-F2E07EAE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385372-4C98-5396-EED4-C506824A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585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Practice #8</a:t>
            </a:r>
            <a:r>
              <a:rPr lang="zh-TW" altLang="en-US" dirty="0"/>
              <a:t>：請驗証下列是否都是有效的</a:t>
            </a:r>
            <a:r>
              <a:rPr lang="en-US" altLang="zh-TW" dirty="0"/>
              <a:t>tuple</a:t>
            </a:r>
            <a:r>
              <a:rPr lang="zh-TW" altLang="en-US" dirty="0"/>
              <a:t>物件</a:t>
            </a:r>
            <a:endParaRPr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("carnival",)</a:t>
            </a:r>
          </a:p>
          <a:p>
            <a:r>
              <a:rPr lang="en-US" dirty="0"/>
              <a:t>("</a:t>
            </a:r>
            <a:r>
              <a:rPr lang="en-US" dirty="0" err="1"/>
              <a:t>ferris</a:t>
            </a:r>
            <a:r>
              <a:rPr lang="en-US" dirty="0"/>
              <a:t> wheel", "rollercoaster")</a:t>
            </a:r>
          </a:p>
          <a:p>
            <a:r>
              <a:rPr lang="en-US" dirty="0"/>
              <a:t>("tickets")</a:t>
            </a:r>
          </a:p>
          <a:p>
            <a:r>
              <a:rPr lang="en-US" dirty="0"/>
              <a:t>((), ())</a:t>
            </a:r>
          </a:p>
          <a:p>
            <a:endParaRPr 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B1CA1D-6F0D-7194-4B4D-B9E5126B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4928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用指標取用</a:t>
            </a:r>
            <a:r>
              <a:rPr lang="en-US" altLang="zh-TW" dirty="0"/>
              <a:t>tuple</a:t>
            </a:r>
            <a:r>
              <a:rPr lang="zh-TW" altLang="en-US" dirty="0"/>
              <a:t>內的資訊</a:t>
            </a:r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78E35F0-6BC4-432A-AEC2-088D343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9CC5A1-04B1-4FE1-B034-0C02475AB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1026" y="1711957"/>
            <a:ext cx="5768445" cy="467562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2817680-D157-55F9-4E4C-280C4BB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05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</a:t>
            </a:r>
            <a:r>
              <a:rPr lang="zh-TW" altLang="en-US" dirty="0"/>
              <a:t>運算</a:t>
            </a:r>
            <a:endParaRPr 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s-ES" dirty="0"/>
          </a:p>
          <a:p>
            <a:r>
              <a:rPr lang="es-ES" dirty="0"/>
              <a:t>len("abc") * ("no",)</a:t>
            </a:r>
          </a:p>
          <a:p>
            <a:r>
              <a:rPr lang="es-ES" dirty="0"/>
              <a:t>2 * ("no", "no", "no")</a:t>
            </a:r>
          </a:p>
          <a:p>
            <a:r>
              <a:rPr lang="es-ES" dirty="0"/>
              <a:t>(0, 0, 0) + (1,)</a:t>
            </a:r>
          </a:p>
          <a:p>
            <a:r>
              <a:rPr lang="es-ES" dirty="0"/>
              <a:t>(1, 1) + (1, 1)</a:t>
            </a:r>
          </a:p>
          <a:p>
            <a:endParaRPr 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(5) * 5</a:t>
            </a:r>
          </a:p>
          <a:p>
            <a:r>
              <a:rPr lang="en-US" dirty="0"/>
              <a:t>(5,) * 5</a:t>
            </a:r>
          </a:p>
          <a:p>
            <a:r>
              <a:rPr lang="en-US" dirty="0"/>
              <a:t>(5, 5) + (5)</a:t>
            </a:r>
          </a:p>
          <a:p>
            <a:r>
              <a:rPr lang="en-US" dirty="0"/>
              <a:t>(5, 5) + (5,)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8C89686-D8DF-BCF3-4134-7EBE618A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64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F09D9-5425-4AF8-9C4F-AE92C543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tuple</a:t>
            </a:r>
            <a:r>
              <a:rPr lang="zh-TW" altLang="en-US" dirty="0"/>
              <a:t>內成員位置互調</a:t>
            </a: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633587"/>
            <a:ext cx="4448175" cy="886226"/>
          </a:xfrm>
          <a:prstGeom prst="rect">
            <a:avLst/>
          </a:prstGeom>
        </p:spPr>
      </p:pic>
      <p:pic>
        <p:nvPicPr>
          <p:cNvPr id="9" name="內容版面配置區 8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3438057"/>
            <a:ext cx="4448175" cy="1277286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7709951-30C7-4AC0-AACA-EB8F503A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0210C8-D0E0-AA3E-60C9-EF670AEC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6122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0D80378C-B8BA-43E3-9BD1-037EBDE9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#9</a:t>
            </a:r>
            <a:endParaRPr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A9E5AB7E-0392-4037-8580-C38B2BB4FD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3508" y="2513816"/>
            <a:ext cx="3947285" cy="1290088"/>
          </a:xfrm>
          <a:prstGeom prst="rect">
            <a:avLst/>
          </a:prstGeom>
        </p:spPr>
      </p:pic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91BD43-5D74-452A-84A2-05DF26739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8B9C4315-317F-466C-8508-48018441B2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04987" y="2286000"/>
            <a:ext cx="3581400" cy="35814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CE7C53-CCF1-D18F-4FB8-B896B5EED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72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7055BE-9B17-4115-8E9F-A648FADE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列表 </a:t>
            </a:r>
            <a:r>
              <a:rPr lang="en-US" altLang="zh-TW" dirty="0"/>
              <a:t>list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3FA41B8-D3C4-4120-9447-97D40201B0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1278" y="2171700"/>
            <a:ext cx="5502007" cy="1401316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47D8A8-0FC2-48A1-B145-00944CDE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F0BC87-5B8C-4756-842C-75C3C3C5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55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7DB0C26-1F48-4D50-9125-6FB54C96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72692"/>
            <a:ext cx="9879275" cy="140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432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71B9FC-DABC-49EF-9475-C83E00B3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取用</a:t>
            </a:r>
            <a:r>
              <a:rPr lang="en-US" altLang="zh-TW" dirty="0"/>
              <a:t>list</a:t>
            </a:r>
            <a:r>
              <a:rPr lang="zh-TW" altLang="en-US" dirty="0"/>
              <a:t>中的某項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F67AA7-C7C6-46AF-A718-7A7EA8B3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883DE4-181B-4B57-9CC0-491EC4D9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56</a:t>
            </a:fld>
            <a:endParaRPr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EC77D16-25A8-4AA1-B746-A769E632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3761"/>
            <a:ext cx="10381517" cy="4434627"/>
          </a:xfrm>
        </p:spPr>
        <p:txBody>
          <a:bodyPr/>
          <a:lstStyle/>
          <a:p>
            <a:r>
              <a:rPr lang="en-US" altLang="zh-TW" dirty="0"/>
              <a:t>thriller[0] </a:t>
            </a:r>
            <a:r>
              <a:rPr lang="zh-TW" altLang="en-US" dirty="0"/>
              <a:t>代表的是第一個字串 </a:t>
            </a:r>
            <a:r>
              <a:rPr lang="en-US" altLang="zh-TW" dirty="0"/>
              <a:t>"Thriller" </a:t>
            </a:r>
            <a:r>
              <a:rPr lang="zh-TW" altLang="en-US" dirty="0"/>
              <a:t>、</a:t>
            </a:r>
          </a:p>
          <a:p>
            <a:r>
              <a:rPr lang="en-US" altLang="zh-TW" dirty="0"/>
              <a:t>thriller[1] </a:t>
            </a:r>
            <a:r>
              <a:rPr lang="zh-TW" altLang="en-US" dirty="0"/>
              <a:t>代表的是第二個字串 </a:t>
            </a:r>
            <a:r>
              <a:rPr lang="en-US" altLang="zh-TW" dirty="0"/>
              <a:t>"Billie Jean" </a:t>
            </a:r>
            <a:r>
              <a:rPr lang="zh-TW" altLang="en-US" dirty="0"/>
              <a:t>，</a:t>
            </a:r>
          </a:p>
          <a:p>
            <a:r>
              <a:rPr lang="en-US" altLang="zh-TW" dirty="0"/>
              <a:t>thriller[2] </a:t>
            </a:r>
            <a:r>
              <a:rPr lang="zh-TW" altLang="en-US" dirty="0"/>
              <a:t>所代表的則是最後一個字串 </a:t>
            </a:r>
            <a:r>
              <a:rPr lang="en-US" altLang="zh-TW" dirty="0"/>
              <a:t>"beat it"</a:t>
            </a:r>
            <a:endParaRPr lang="zh-TW" altLang="en-US" dirty="0"/>
          </a:p>
        </p:txBody>
      </p:sp>
      <p:pic>
        <p:nvPicPr>
          <p:cNvPr id="9" name="內容版面配置區 6">
            <a:extLst>
              <a:ext uri="{FF2B5EF4-FFF2-40B4-BE49-F238E27FC236}">
                <a16:creationId xmlns:a16="http://schemas.microsoft.com/office/drawing/2014/main" id="{ECA5DE58-0EE2-49B5-89AB-9476134A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59" y="1590157"/>
            <a:ext cx="10825437" cy="31797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B34F8F7-7569-444E-BB1F-1323F6434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527" y="4145104"/>
            <a:ext cx="8611346" cy="202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9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530A35-9211-4F1E-94B2-6E9350DB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超出範圍，找不到值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A93630E-9356-4310-80DD-E28F0F484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820" y="2758326"/>
            <a:ext cx="8542760" cy="2636748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F25842-FA67-4C26-92BD-666A3F289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5E5491-6116-4144-A653-B1D84F94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04310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5AFFB5-8404-4DDB-9812-41D9A0D0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取用</a:t>
            </a:r>
            <a:r>
              <a:rPr lang="en-US" altLang="zh-TW" dirty="0"/>
              <a:t>list</a:t>
            </a:r>
            <a:r>
              <a:rPr lang="zh-TW" altLang="en-US" dirty="0"/>
              <a:t>中某些項 </a:t>
            </a:r>
            <a:r>
              <a:rPr lang="en-US" altLang="zh-TW" dirty="0"/>
              <a:t>list slicing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3615855-7ED7-4EA7-8471-27562E735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578" y="3337496"/>
            <a:ext cx="8573243" cy="1478408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5E4088-92C5-49DC-B15F-1E696610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C1CB11-721F-4208-8494-FDD3C0B16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58</a:t>
            </a:fld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B5A7B4-1197-43DA-A0C7-F5AD2DD1A1D1}"/>
              </a:ext>
            </a:extLst>
          </p:cNvPr>
          <p:cNvSpPr/>
          <p:nvPr/>
        </p:nvSpPr>
        <p:spPr>
          <a:xfrm>
            <a:off x="1775520" y="1700014"/>
            <a:ext cx="7875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err="1">
                <a:latin typeface="+mn-ea"/>
              </a:rPr>
              <a:t>my_list</a:t>
            </a:r>
            <a:r>
              <a:rPr lang="en-US" altLang="zh-TW" sz="2400" dirty="0">
                <a:latin typeface="+mn-ea"/>
              </a:rPr>
              <a:t>[start(</a:t>
            </a:r>
            <a:r>
              <a:rPr lang="zh-TW" altLang="en-US" sz="2400" dirty="0">
                <a:latin typeface="+mn-ea"/>
              </a:rPr>
              <a:t>開始的</a:t>
            </a:r>
            <a:r>
              <a:rPr lang="en-US" altLang="zh-TW" sz="2400" dirty="0">
                <a:latin typeface="+mn-ea"/>
              </a:rPr>
              <a:t>index):end(</a:t>
            </a:r>
            <a:r>
              <a:rPr lang="zh-TW" altLang="en-US" sz="2400" dirty="0">
                <a:latin typeface="+mn-ea"/>
              </a:rPr>
              <a:t>結束的</a:t>
            </a:r>
            <a:r>
              <a:rPr lang="en-US" altLang="zh-TW" sz="2400" dirty="0">
                <a:latin typeface="+mn-ea"/>
              </a:rPr>
              <a:t>index):</a:t>
            </a:r>
            <a:r>
              <a:rPr lang="en-US" altLang="zh-TW" sz="2400" dirty="0" err="1">
                <a:latin typeface="+mn-ea"/>
              </a:rPr>
              <a:t>sep</a:t>
            </a:r>
            <a:r>
              <a:rPr lang="en-US" altLang="zh-TW" sz="2400" dirty="0">
                <a:latin typeface="+mn-ea"/>
              </a:rPr>
              <a:t>(</a:t>
            </a:r>
            <a:r>
              <a:rPr lang="zh-TW" altLang="en-US" sz="2400" dirty="0">
                <a:latin typeface="+mn-ea"/>
              </a:rPr>
              <a:t>間隔</a:t>
            </a:r>
            <a:r>
              <a:rPr lang="en-US" altLang="zh-TW" sz="2400" dirty="0">
                <a:latin typeface="+mn-ea"/>
              </a:rPr>
              <a:t>)]</a:t>
            </a:r>
            <a:endParaRPr lang="zh-TW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913698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EA8148-2329-425A-8B50-3603B89A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省略起點或終點值 </a:t>
            </a:r>
            <a:r>
              <a:rPr lang="en-US" altLang="zh-TW" dirty="0">
                <a:sym typeface="Wingdings" panose="05000000000000000000" pitchFamily="2" charset="2"/>
              </a:rPr>
              <a:t> </a:t>
            </a:r>
            <a:r>
              <a:rPr lang="zh-TW" altLang="en-US" dirty="0">
                <a:sym typeface="Wingdings" panose="05000000000000000000" pitchFamily="2" charset="2"/>
              </a:rPr>
              <a:t>取到底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33DBD147-3F91-499E-80EB-C5065547C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392" y="2439824"/>
            <a:ext cx="11775399" cy="1978351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E23F90-BB6B-4B20-8C56-70EBAA9A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354BA2-BEDF-4427-9781-8CB0419E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2580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1A67E-E333-4698-A25E-97BB7013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List vs. Tuple</a:t>
            </a:r>
            <a:endParaRPr lang="zh-TW" altLang="en-US" dirty="0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80D9CDC-D00C-4824-86AA-81114E3FD0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55998" y="1728564"/>
          <a:ext cx="9280004" cy="40690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937368">
                  <a:extLst>
                    <a:ext uri="{9D8B030D-6E8A-4147-A177-3AD203B41FA5}">
                      <a16:colId xmlns:a16="http://schemas.microsoft.com/office/drawing/2014/main" val="1727941806"/>
                    </a:ext>
                  </a:extLst>
                </a:gridCol>
                <a:gridCol w="3327284">
                  <a:extLst>
                    <a:ext uri="{9D8B030D-6E8A-4147-A177-3AD203B41FA5}">
                      <a16:colId xmlns:a16="http://schemas.microsoft.com/office/drawing/2014/main" val="1134727700"/>
                    </a:ext>
                  </a:extLst>
                </a:gridCol>
                <a:gridCol w="3015352">
                  <a:extLst>
                    <a:ext uri="{9D8B030D-6E8A-4147-A177-3AD203B41FA5}">
                      <a16:colId xmlns:a16="http://schemas.microsoft.com/office/drawing/2014/main" val="1481330051"/>
                    </a:ext>
                  </a:extLst>
                </a:gridCol>
              </a:tblGrid>
              <a:tr h="334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Basis for comparison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List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Tuple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19273193"/>
                  </a:ext>
                </a:extLst>
              </a:tr>
              <a:tr h="334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Nature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Mutable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Immutable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58622987"/>
                  </a:ext>
                </a:extLst>
              </a:tr>
              <a:tr h="6697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Suitable for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Insertion and deletion operations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Retrieval of the elements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9762332"/>
                  </a:ext>
                </a:extLst>
              </a:tr>
              <a:tr h="10045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Key for the dictionary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Not possible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Possible, when only immutable elements are stored.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25589787"/>
                  </a:ext>
                </a:extLst>
              </a:tr>
              <a:tr h="334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Memory consumption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More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Less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40791089"/>
                  </a:ext>
                </a:extLst>
              </a:tr>
              <a:tr h="33485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Unexpected change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>
                          <a:effectLst/>
                        </a:rPr>
                        <a:t>Possible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effectLst/>
                        </a:rPr>
                        <a:t>Less likely occur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2522278"/>
                  </a:ext>
                </a:extLst>
              </a:tr>
            </a:tbl>
          </a:graphicData>
        </a:graphic>
      </p:graphicFrame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BD7613-8825-4ACD-A142-A6FF14EF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9BFE7B2-C536-46C4-BE2C-51F7D166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6456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E1EC29-B6F8-486A-ABAF-F59BAA26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可變與不可變物件</a:t>
            </a:r>
            <a:br>
              <a:rPr lang="en-US" altLang="zh-TW" dirty="0"/>
            </a:br>
            <a:r>
              <a:rPr lang="en-US" altLang="zh-TW" dirty="0"/>
              <a:t>Mutable vs. Immutable Objects </a:t>
            </a:r>
            <a:endParaRPr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5A1E66FE-C018-48D7-A151-78DEFF1DA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Mutable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EDC54180-4389-4DD7-83FC-D0E6DA436B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內容可改變</a:t>
            </a:r>
            <a:endParaRPr lang="en-US" altLang="zh-TW" dirty="0"/>
          </a:p>
          <a:p>
            <a:r>
              <a:rPr lang="en-US" altLang="zh-TW" dirty="0"/>
              <a:t>lists and dictionaries</a:t>
            </a:r>
            <a:endParaRPr lang="zh-TW" altLang="en-US" dirty="0"/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8997C27E-80BE-477E-A81C-BCCF31FFF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Immutable</a:t>
            </a:r>
            <a:endParaRPr lang="zh-TW" altLang="en-US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BD716DE3-F6D9-4EDF-A2DD-79FD2083BB7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zh-TW" altLang="en-US" dirty="0"/>
              <a:t>內容不可變</a:t>
            </a:r>
            <a:endParaRPr lang="en-US" altLang="zh-TW" dirty="0"/>
          </a:p>
          <a:p>
            <a:r>
              <a:rPr lang="en-US" altLang="zh-TW" dirty="0"/>
              <a:t>strings, integers, floats, Booleans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5929C19-4406-49ED-BB87-8499585F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B317B6-33BD-4DCD-B83D-3B0A5C2A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8701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958E4C-832D-491A-A75F-55D84301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新增單一</a:t>
            </a:r>
            <a:r>
              <a:rPr lang="en-US" altLang="zh-TW" dirty="0"/>
              <a:t>list</a:t>
            </a:r>
            <a:r>
              <a:rPr lang="zh-TW" altLang="en-US" dirty="0"/>
              <a:t>項目：</a:t>
            </a:r>
            <a:r>
              <a:rPr lang="en-US" altLang="zh-TW" dirty="0"/>
              <a:t>append, insert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AEA8D3-98C7-4879-A060-E5135094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52A969-27E0-4DCA-90C5-2CEFDF77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62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07A77DA-9184-477C-8047-3C5CA5AB9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936" y="2104272"/>
            <a:ext cx="8550381" cy="137171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BDC6DC3-6AF3-4718-9680-89BF72816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21" y="4200983"/>
            <a:ext cx="8603726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6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>
            <a:extLst>
              <a:ext uri="{FF2B5EF4-FFF2-40B4-BE49-F238E27FC236}">
                <a16:creationId xmlns:a16="http://schemas.microsoft.com/office/drawing/2014/main" id="{5AEBDC76-A6A8-428C-B492-06D4B8CA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可變物件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FD9B541-E154-4466-AA89-BF88B13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0138F34-95C9-48D5-BADB-C87C117C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63</a:t>
            </a:fld>
            <a:endParaRPr lang="zh-TW" altLang="en-US"/>
          </a:p>
        </p:txBody>
      </p:sp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B34524D1-9A0A-40FF-AEB5-DDFED56684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id()</a:t>
            </a:r>
            <a:r>
              <a:rPr lang="zh-TW" altLang="en-US" dirty="0"/>
              <a:t>確認看看</a:t>
            </a:r>
          </a:p>
        </p:txBody>
      </p:sp>
      <p:pic>
        <p:nvPicPr>
          <p:cNvPr id="16" name="內容版面配置區 13">
            <a:extLst>
              <a:ext uri="{FF2B5EF4-FFF2-40B4-BE49-F238E27FC236}">
                <a16:creationId xmlns:a16="http://schemas.microsoft.com/office/drawing/2014/main" id="{912C16D0-74ED-418A-A66E-C8CA35CC89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37" y="3481387"/>
            <a:ext cx="4381500" cy="1190625"/>
          </a:xfr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688F800D-2B34-4AC4-9F97-3FB39F1F2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29" y="3054626"/>
            <a:ext cx="3930371" cy="348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716846-81ED-4B43-A743-9BF04FA0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可變物件的好用之處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84219E-AC16-4961-A915-CA6E2F9B40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可以放資料進去以備後用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可以增刪物件內容，不用另創新物件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可以將物件內容重新排序</a:t>
            </a: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D42C36-7E89-435A-9CD9-B2C07465DD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D28CAF-08F9-46E0-BDC6-79431EC7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FCB8B4-9BAF-4045-B390-963B6C67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1839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12DBF-EBE6-44C1-B13A-930C9EE9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新增許多</a:t>
            </a:r>
            <a:r>
              <a:rPr lang="en-US" altLang="zh-TW" dirty="0"/>
              <a:t>list</a:t>
            </a:r>
            <a:r>
              <a:rPr lang="zh-TW" altLang="en-US" dirty="0"/>
              <a:t>項目：</a:t>
            </a:r>
            <a:r>
              <a:rPr lang="en-US" altLang="zh-TW" dirty="0"/>
              <a:t>extend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4F333CD-1F07-41D9-B762-2288B64B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AA25877-8034-48A0-A8A3-359415A4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4D74D84-1EE4-48FE-A725-2BCAD251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1991103"/>
            <a:ext cx="8626588" cy="154699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39F3E90-5D42-4482-A02A-6DB5CB80C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809" y="4111816"/>
            <a:ext cx="8519898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8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ADEB4-FA7B-4E83-8FC6-D6A27933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移除</a:t>
            </a:r>
            <a:r>
              <a:rPr lang="en-US" altLang="zh-TW" dirty="0"/>
              <a:t>list</a:t>
            </a:r>
            <a:r>
              <a:rPr lang="zh-TW" altLang="en-US" dirty="0"/>
              <a:t>項目：</a:t>
            </a:r>
            <a:r>
              <a:rPr lang="en-US" altLang="zh-TW" dirty="0"/>
              <a:t>remove, pop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F593A1-FF83-45FA-9AF3-C0667284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0FF7F5-5467-4033-9044-93413C78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66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5056D56-F45E-4294-81EC-31BB7233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62" y="2148729"/>
            <a:ext cx="8573243" cy="128027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D9A81C5-0985-4FD2-AFCD-FEB20E460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62" y="4046165"/>
            <a:ext cx="8573243" cy="128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6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4536DA-3634-49F4-93AD-F4AF86D1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#10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E8FB7F-7FE9-4B4C-89D7-5635A3459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Create a list containing integers from 1 to 20</a:t>
            </a:r>
          </a:p>
          <a:p>
            <a:r>
              <a:rPr lang="en-US" altLang="zh-TW" dirty="0"/>
              <a:t>Get the even numbers in the above list</a:t>
            </a:r>
          </a:p>
          <a:p>
            <a:r>
              <a:rPr lang="en-US" altLang="zh-TW" dirty="0"/>
              <a:t>Remove the even numbers in the above list</a:t>
            </a:r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1495394-6FE9-4823-9837-5B4CAD03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1EAB45-BA66-4D8B-913D-3BB54761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8326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EF6F0-284B-4EF8-9EC2-516DFB799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字典 </a:t>
            </a:r>
            <a:r>
              <a:rPr lang="en-US" altLang="zh-TW" dirty="0"/>
              <a:t>(Dictionary)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CA64F7-9611-432A-ACBA-E7FF520E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每一個元素都由鍵 </a:t>
            </a:r>
            <a:r>
              <a:rPr lang="en-US" altLang="zh-TW" dirty="0"/>
              <a:t>(key) </a:t>
            </a:r>
            <a:r>
              <a:rPr lang="zh-TW" altLang="en-US" dirty="0"/>
              <a:t>和值 </a:t>
            </a:r>
            <a:r>
              <a:rPr lang="en-US" altLang="zh-TW" dirty="0"/>
              <a:t>(value) </a:t>
            </a:r>
            <a:r>
              <a:rPr lang="zh-TW" altLang="en-US" dirty="0"/>
              <a:t>構成</a:t>
            </a:r>
            <a:endParaRPr lang="en-US" altLang="zh-TW" dirty="0"/>
          </a:p>
          <a:p>
            <a:pPr lvl="1"/>
            <a:r>
              <a:rPr lang="en-US" altLang="zh-TW" dirty="0"/>
              <a:t>key: value 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不同的元素之間會以逗號分隔，所有元素以大括號 </a:t>
            </a:r>
            <a:r>
              <a:rPr lang="en-US" altLang="zh-TW" dirty="0"/>
              <a:t>{}</a:t>
            </a:r>
            <a:r>
              <a:rPr lang="zh-TW" altLang="en-US" dirty="0"/>
              <a:t>圍住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A93B3A-03C7-4AAD-B973-0371F7DB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8DB5BE-1DAB-43CF-82EE-FD102076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68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88EE309-7A92-46D5-A0A2-AC1C5AE35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73" y="5301208"/>
            <a:ext cx="8602455" cy="40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250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999A55-D982-43EF-B6E4-7112069A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字典的用處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4BA6EB-F59F-40F6-AB1A-5B38F676B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933" y="1428750"/>
            <a:ext cx="9601200" cy="358140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dictionary </a:t>
            </a:r>
            <a:r>
              <a:rPr lang="zh-TW" altLang="en-US" dirty="0"/>
              <a:t>是一種較為複雜的資料結構，對於資料的查找很方便。</a:t>
            </a:r>
          </a:p>
          <a:p>
            <a:endParaRPr lang="zh-TW" altLang="en-US" dirty="0"/>
          </a:p>
          <a:p>
            <a:r>
              <a:rPr lang="zh-TW" altLang="en-US" dirty="0"/>
              <a:t>實例：電影資訊</a:t>
            </a:r>
            <a:endParaRPr lang="en-US" altLang="zh-TW" dirty="0"/>
          </a:p>
          <a:p>
            <a:pPr lvl="1"/>
            <a:r>
              <a:rPr lang="zh-TW" altLang="en-US" dirty="0"/>
              <a:t>一部電影會有導演、演員、年份、得到的獎項等等資訊</a:t>
            </a:r>
            <a:endParaRPr lang="en-US" altLang="zh-TW" dirty="0"/>
          </a:p>
          <a:p>
            <a:pPr lvl="1"/>
            <a:r>
              <a:rPr lang="zh-TW" altLang="en-US" dirty="0"/>
              <a:t>如果要把資訊整合在一起、使寫程式時表示起來比較方便查詢時，可使用 </a:t>
            </a:r>
            <a:r>
              <a:rPr lang="en-US" altLang="zh-TW" dirty="0"/>
              <a:t>dictionary </a:t>
            </a:r>
            <a:r>
              <a:rPr lang="zh-TW" altLang="en-US" dirty="0"/>
              <a:t>來儲存與這部電影相關的資訊。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65D68A-70B0-4F53-B71E-90A3E69F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78721D-7A69-4C84-9708-AFCDF2F0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69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54289C3-C51F-4D83-BC41-B80CB84D1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4915486"/>
            <a:ext cx="11121511" cy="15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884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7BE276-C622-41FD-9797-6EB62DE32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查詢字典內容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BE4A14-441D-484B-A823-E2470B15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1E397C-6C93-4D78-AC07-AC686395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70</a:t>
            </a:fld>
            <a:endParaRPr lang="zh-TW" altLang="en-US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5972505F-8977-4100-A84A-2550E10DED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仍使用與其它資料結構相同的</a:t>
            </a:r>
            <a:r>
              <a:rPr lang="en-US" altLang="zh-TW" dirty="0"/>
              <a:t>slicing</a:t>
            </a:r>
            <a:r>
              <a:rPr lang="zh-TW" altLang="en-US" dirty="0"/>
              <a:t>符號</a:t>
            </a:r>
            <a:endParaRPr lang="en-US" altLang="zh-TW" dirty="0"/>
          </a:p>
          <a:p>
            <a:pPr lvl="1"/>
            <a:r>
              <a:rPr lang="en-US" altLang="zh-TW" dirty="0"/>
              <a:t>[ ]</a:t>
            </a:r>
            <a:endParaRPr lang="zh-TW" altLang="en-US" dirty="0"/>
          </a:p>
        </p:txBody>
      </p:sp>
      <p:pic>
        <p:nvPicPr>
          <p:cNvPr id="10" name="內容版面配置區 6">
            <a:extLst>
              <a:ext uri="{FF2B5EF4-FFF2-40B4-BE49-F238E27FC236}">
                <a16:creationId xmlns:a16="http://schemas.microsoft.com/office/drawing/2014/main" id="{0F7F4625-C493-4698-A82B-FBE2C78FA6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33979" y="3741391"/>
            <a:ext cx="4229467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F1148B-96C5-4B89-BE13-2F63D8EF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建立字典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036D418-CBF3-4227-B091-B0BC139B74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字典裡元素的</a:t>
            </a:r>
            <a:r>
              <a:rPr lang="en-US" altLang="zh-TW" dirty="0"/>
              <a:t>"</a:t>
            </a:r>
            <a:r>
              <a:rPr lang="zh-TW" altLang="en-US" dirty="0"/>
              <a:t>值</a:t>
            </a:r>
            <a:r>
              <a:rPr lang="en-US" altLang="zh-TW" dirty="0"/>
              <a:t>"(value)</a:t>
            </a:r>
            <a:r>
              <a:rPr lang="zh-TW" altLang="en-US" dirty="0"/>
              <a:t>可以是任何的資料型態，</a:t>
            </a:r>
            <a:endParaRPr lang="en-US" altLang="zh-TW" dirty="0"/>
          </a:p>
          <a:p>
            <a:pPr lvl="1"/>
            <a:r>
              <a:rPr lang="zh-TW" altLang="en-US" dirty="0"/>
              <a:t>例如</a:t>
            </a:r>
            <a:r>
              <a:rPr lang="en-US" altLang="zh-TW" dirty="0"/>
              <a:t>: </a:t>
            </a:r>
            <a:r>
              <a:rPr lang="zh-TW" altLang="en-US" dirty="0"/>
              <a:t>字串、整數、</a:t>
            </a:r>
            <a:r>
              <a:rPr lang="en-US" altLang="zh-TW" dirty="0"/>
              <a:t>list</a:t>
            </a:r>
            <a:r>
              <a:rPr lang="zh-TW" altLang="en-US" dirty="0"/>
              <a:t>、物件等等。</a:t>
            </a:r>
            <a:endParaRPr lang="en-US" altLang="zh-TW" dirty="0"/>
          </a:p>
          <a:p>
            <a:r>
              <a:rPr lang="zh-TW" altLang="en-US" dirty="0"/>
              <a:t>但 </a:t>
            </a:r>
            <a:r>
              <a:rPr lang="en-US" altLang="zh-TW" dirty="0"/>
              <a:t>key </a:t>
            </a:r>
            <a:r>
              <a:rPr lang="zh-TW" altLang="en-US" dirty="0"/>
              <a:t>必須是唯一且不可變的，也就是在寫程式時不可隨意更動</a:t>
            </a:r>
            <a:endParaRPr lang="en-US" altLang="zh-TW" dirty="0"/>
          </a:p>
          <a:p>
            <a:pPr lvl="1"/>
            <a:r>
              <a:rPr lang="zh-TW" altLang="en-US" dirty="0"/>
              <a:t>如整數、字串、</a:t>
            </a:r>
            <a:r>
              <a:rPr lang="en-US" altLang="zh-TW" dirty="0"/>
              <a:t>tuple </a:t>
            </a:r>
            <a:r>
              <a:rPr lang="zh-TW" altLang="en-US" dirty="0"/>
              <a:t>等。</a:t>
            </a:r>
          </a:p>
        </p:txBody>
      </p:sp>
      <p:sp>
        <p:nvSpPr>
          <p:cNvPr id="14" name="內容版面配置區 13">
            <a:extLst>
              <a:ext uri="{FF2B5EF4-FFF2-40B4-BE49-F238E27FC236}">
                <a16:creationId xmlns:a16="http://schemas.microsoft.com/office/drawing/2014/main" id="{1FC68505-D9D8-47B3-B34D-27BD969DB1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創建字典的方式有兩種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使用大括號 </a:t>
            </a:r>
            <a:r>
              <a:rPr lang="en-US" altLang="zh-TW" dirty="0"/>
              <a:t>{}</a:t>
            </a:r>
          </a:p>
          <a:p>
            <a:pPr lvl="1"/>
            <a:r>
              <a:rPr lang="zh-TW" altLang="en-US" dirty="0"/>
              <a:t>使用內建函數 </a:t>
            </a:r>
            <a:r>
              <a:rPr lang="en-US" altLang="zh-TW" dirty="0" err="1"/>
              <a:t>dict</a:t>
            </a:r>
            <a:r>
              <a:rPr lang="en-US" altLang="zh-TW" dirty="0"/>
              <a:t>()</a:t>
            </a:r>
          </a:p>
          <a:p>
            <a:endParaRPr lang="en-US" altLang="zh-TW" dirty="0"/>
          </a:p>
          <a:p>
            <a:r>
              <a:rPr lang="en-US" altLang="zh-TW" dirty="0"/>
              <a:t>dict_1 = {} #</a:t>
            </a:r>
            <a:r>
              <a:rPr lang="zh-TW" altLang="en-US" dirty="0"/>
              <a:t>使用大刮號</a:t>
            </a:r>
            <a:r>
              <a:rPr lang="en-US" altLang="zh-TW" dirty="0"/>
              <a:t>{}</a:t>
            </a:r>
            <a:r>
              <a:rPr lang="zh-TW" altLang="en-US" dirty="0"/>
              <a:t>創建字典</a:t>
            </a:r>
            <a:endParaRPr lang="en-US" altLang="zh-TW" dirty="0"/>
          </a:p>
          <a:p>
            <a:r>
              <a:rPr lang="en-US" altLang="zh-TW" dirty="0"/>
              <a:t>dict_2 = </a:t>
            </a:r>
            <a:r>
              <a:rPr lang="en-US" altLang="zh-TW" dirty="0" err="1"/>
              <a:t>dict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6CCDC6-0C12-4451-BAD8-7581707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07826A-6392-4AF4-A08B-E26F9247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74386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標題 12">
            <a:extLst>
              <a:ext uri="{FF2B5EF4-FFF2-40B4-BE49-F238E27FC236}">
                <a16:creationId xmlns:a16="http://schemas.microsoft.com/office/drawing/2014/main" id="{FB44045F-D522-4F78-9D3C-4B821E70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建立有初始內容的字典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5757CE5C-71C3-4FC9-80B5-9179E5529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1664" y="2852936"/>
            <a:ext cx="5613378" cy="2348226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FC0CEB-43F7-48D5-BBEF-D5E221AE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A1DF934-C242-4A69-BAF0-E797D34D1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5538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07A47A-D58E-4D07-83C6-2C756487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取用字典內容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51E72CE-BEC1-4538-AE2D-E99CA51503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423592" y="1988840"/>
            <a:ext cx="7954447" cy="1707038"/>
          </a:xfrm>
          <a:prstGeom prst="rect">
            <a:avLst/>
          </a:prstGeo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05D35F9-03C0-4A62-B38C-6558DFEC04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595222" y="4365104"/>
            <a:ext cx="7942003" cy="1654241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88491-B714-49F3-84C2-BD8AE13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6504FE-CEC8-4EFD-B626-9E1616DA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88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DFA4A5-501C-4EBC-83C6-75F5179BB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#11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C47C85-F56C-4759-9580-A0C7B9D57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將一個學生的基本資料建立成字典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將資料內容從字典中取出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5BB4E7-3CB1-44D2-A994-A36693FEB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6F0686-C765-4D9D-835F-4C6893CD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265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9013DD-BC89-44C4-992C-59114CE5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避免錯誤訊息的取用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44EC33B-4CD0-4EB7-97E3-88E18A6A84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77228" y="1999526"/>
            <a:ext cx="7708767" cy="1357466"/>
          </a:xfrm>
          <a:prstGeom prst="rect">
            <a:avLst/>
          </a:prstGeo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DE25AF8-9443-46B7-910B-F5FE60B89B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131925" y="3943351"/>
            <a:ext cx="7662430" cy="1485900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60ECDB-830A-445C-96EE-DE2BFBF1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9EBCD0-CC92-4DD0-AA42-025EF842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2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9DB0EC-CE5D-46A8-9D08-D40C1793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更新字典內容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71AEF0D-1EBD-4834-A4F4-FB4687CC4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416" y="2924944"/>
            <a:ext cx="11251370" cy="1311135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E28D40-BC39-4A21-BD3C-0AFC8FFF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CB10EE-B1F1-4577-83F9-3822739C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8742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61B9-A163-4F57-9CB1-E754ED18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更新多個項目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B317D3-175A-44EB-9492-CB9DB754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EF2C5F-B4B6-4176-81D9-F6FBE118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77</a:t>
            </a:fld>
            <a:endParaRPr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54E6C325-BF7A-493D-B4D2-8ED6DB089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559" y="1881551"/>
            <a:ext cx="8198455" cy="385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96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9F9FBF-BDA5-44F2-A131-85E977AC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刪除資料</a:t>
            </a:r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DCEEFA4F-C839-4159-9CD5-D9E57149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4784" y="1448393"/>
            <a:ext cx="4443984" cy="823912"/>
          </a:xfrm>
        </p:spPr>
        <p:txBody>
          <a:bodyPr/>
          <a:lstStyle/>
          <a:p>
            <a:r>
              <a:rPr lang="en-US" altLang="zh-TW" dirty="0"/>
              <a:t>del</a:t>
            </a:r>
            <a:endParaRPr lang="zh-TW" altLang="en-US" dirty="0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C9C346B4-0E9A-49E7-BAF2-E365358444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27209" y="2462040"/>
            <a:ext cx="4605457" cy="3600400"/>
          </a:xfrm>
          <a:prstGeom prst="rect">
            <a:avLst/>
          </a:prstGeom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777716AE-B9FC-443E-9776-9E13B3BC0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8198" y="1448393"/>
            <a:ext cx="4443984" cy="823912"/>
          </a:xfrm>
        </p:spPr>
        <p:txBody>
          <a:bodyPr/>
          <a:lstStyle/>
          <a:p>
            <a:r>
              <a:rPr lang="en-US" altLang="zh-TW" dirty="0"/>
              <a:t>pop</a:t>
            </a:r>
            <a:endParaRPr lang="zh-TW" altLang="en-US" dirty="0"/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20497450-CC88-4707-AE63-6E841EEF83A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2024" y="2911429"/>
            <a:ext cx="5630118" cy="1546646"/>
          </a:xfrm>
          <a:prstGeom prst="rect">
            <a:avLst/>
          </a:prstGeom>
        </p:spPr>
      </p:pic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85EDE2-74F4-4859-A03E-96BE61AF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C0F029-98ED-4287-904C-6E6C72EE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75643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>
            <a:extLst>
              <a:ext uri="{FF2B5EF4-FFF2-40B4-BE49-F238E27FC236}">
                <a16:creationId xmlns:a16="http://schemas.microsoft.com/office/drawing/2014/main" id="{53C0A0DE-AF14-47D4-8D7F-E2C9558A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印出所有</a:t>
            </a:r>
            <a:r>
              <a:rPr lang="en-US" altLang="zh-TW" dirty="0"/>
              <a:t>key</a:t>
            </a:r>
            <a:r>
              <a:rPr lang="zh-TW" altLang="en-US" dirty="0"/>
              <a:t>或</a:t>
            </a:r>
            <a:r>
              <a:rPr lang="en-US" altLang="zh-TW" dirty="0"/>
              <a:t>value</a:t>
            </a:r>
            <a:endParaRPr lang="zh-TW" altLang="en-US" dirty="0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4740C8CC-5D75-4271-9D79-CD7C1B5083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4625" y="3143313"/>
            <a:ext cx="4448175" cy="1866774"/>
          </a:xfrm>
          <a:prstGeom prst="rect">
            <a:avLst/>
          </a:prstGeom>
        </p:spPr>
      </p:pic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8EC1335-C7AF-447D-9DF7-A5E3F307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249531-88C9-4E18-8782-2FF5D1C3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79</a:t>
            </a:fld>
            <a:endParaRPr lang="zh-TW" altLang="en-US"/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037D2276-F518-4226-B971-F2E8668F6E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11012" y="3284984"/>
            <a:ext cx="5413613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8638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BD0380-6F6D-4564-90C5-AD6C5C63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印出所有元素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6F2872BC-ADBD-4025-8471-B35079EFD0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71600" y="3046898"/>
            <a:ext cx="4448175" cy="2059604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8DD152B-3EE5-4607-AF01-B420D8E151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39C334-572B-4148-ABDA-FF55BE4ED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D899473-67C8-438E-B8EE-15B97DC4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865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649A1-05D4-446B-941E-3D73817A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檢查是否有某</a:t>
            </a:r>
            <a:r>
              <a:rPr lang="en-US" altLang="zh-TW" dirty="0"/>
              <a:t>key</a:t>
            </a:r>
            <a:endParaRPr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82B6A700-A4CF-492C-9D27-140CC1BDDC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73693" y="3116098"/>
            <a:ext cx="5101827" cy="1393021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2031D3-1460-48E1-AB8D-85E55E3FA0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6BED19-EC7C-4D58-8EDC-205718B7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F17E135-FE98-4340-955F-ADA073F7B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5367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7655D1-5533-495E-9FA9-7AB3607D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檢查是否有某</a:t>
            </a:r>
            <a:r>
              <a:rPr lang="en-US" altLang="zh-TW" dirty="0"/>
              <a:t>value</a:t>
            </a:r>
            <a:endParaRPr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99440B9-1D41-4965-9B83-886FF7EA69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7687" y="3376842"/>
            <a:ext cx="5040357" cy="1060269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D22BD83-A2E5-457B-A65F-43FF9F9D14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B14E799-F591-4270-8782-70B9B3F5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FD1F51-BB3A-486C-ACD6-EB26D02D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31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63EB40-236E-45EA-AAE4-4F40FB0E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比較兩字典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18477521-6DBF-46DE-ABF9-A60AA7685C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84727" y="2286000"/>
            <a:ext cx="4221920" cy="3581400"/>
          </a:xfrm>
          <a:prstGeom prst="rect">
            <a:avLst/>
          </a:prstGeo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814FB71C-7307-4A0B-A183-BF4787C96C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2712737"/>
            <a:ext cx="4448175" cy="2727925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D9C0A5-9115-448F-9135-AC7B4EEE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A81C5C-4286-4C74-8BF9-A9910108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50700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40E00-392A-4431-A767-B3F2A023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產生或列印字典中的鍵值對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505B3E27-1B3C-473D-B1E6-A362CF0687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03816" y="3246048"/>
            <a:ext cx="4183743" cy="1661304"/>
          </a:xfrm>
          <a:prstGeom prst="rect">
            <a:avLst/>
          </a:prstGeo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73AD880-4FC6-45C7-A9C6-F789A506D2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3389192"/>
            <a:ext cx="4448175" cy="1375015"/>
          </a:xfrm>
          <a:prstGeom prst="rect">
            <a:avLst/>
          </a:prstGeom>
        </p:spPr>
      </p:pic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3064DB-4E78-4DE8-8820-BCF8914F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590AA-5A03-4D49-95D4-07C21726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88EFF-DBB2-4622-9977-4541E57FF71D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7540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17D46-8929-4121-A6B2-13D5D501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Practice #12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3BB8A9-C689-4FF6-9BDA-DF2D95699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6521" y="1484295"/>
            <a:ext cx="5371215" cy="4654766"/>
          </a:xfrm>
        </p:spPr>
        <p:txBody>
          <a:bodyPr/>
          <a:lstStyle/>
          <a:p>
            <a:r>
              <a:rPr lang="zh-TW" altLang="en-US" dirty="0"/>
              <a:t>請以一個字典儲存典型的通訊錄內容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BED21E-61AB-4310-B853-BF12F1DAC5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1730DF-8BF9-4701-9905-58D3B9071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EF338C-3576-4DD5-A4A4-EEB3D253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8875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027A96-AE45-4538-9D04-E87348F4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在自己的電腦上跑</a:t>
            </a:r>
            <a:r>
              <a:rPr lang="en-US" altLang="zh-TW" dirty="0"/>
              <a:t>python</a:t>
            </a:r>
            <a:r>
              <a:rPr lang="zh-TW" altLang="en-US" dirty="0"/>
              <a:t>需要安裝的程式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612179-A7EE-49AE-9964-ACD857A5C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974" y="1476480"/>
            <a:ext cx="4447786" cy="4167387"/>
          </a:xfrm>
        </p:spPr>
        <p:txBody>
          <a:bodyPr>
            <a:normAutofit/>
          </a:bodyPr>
          <a:lstStyle/>
          <a:p>
            <a:r>
              <a:rPr lang="en-US" altLang="zh-TW" dirty="0"/>
              <a:t>Windows Terminal</a:t>
            </a:r>
          </a:p>
          <a:p>
            <a:pPr lvl="1"/>
            <a:r>
              <a:rPr lang="zh-TW" altLang="en-US" dirty="0"/>
              <a:t>支援各種</a:t>
            </a:r>
            <a:r>
              <a:rPr lang="en-US" altLang="zh-TW" dirty="0"/>
              <a:t>shell</a:t>
            </a:r>
            <a:r>
              <a:rPr lang="zh-TW" altLang="en-US" dirty="0"/>
              <a:t>的</a:t>
            </a:r>
            <a:r>
              <a:rPr lang="en-US" altLang="zh-TW" dirty="0"/>
              <a:t>windows</a:t>
            </a:r>
            <a:r>
              <a:rPr lang="zh-TW" altLang="en-US" dirty="0"/>
              <a:t>應用程 式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PowerShell</a:t>
            </a:r>
          </a:p>
          <a:p>
            <a:pPr lvl="1"/>
            <a:r>
              <a:rPr lang="zh-TW" altLang="en-US" dirty="0"/>
              <a:t>與</a:t>
            </a:r>
            <a:r>
              <a:rPr lang="en-US" altLang="zh-TW" dirty="0"/>
              <a:t>windows</a:t>
            </a:r>
            <a:r>
              <a:rPr lang="zh-TW" altLang="en-US" dirty="0"/>
              <a:t>作業系統溝通的文字介面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243EF3F-5B72-408D-A87F-83D1EDDB40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VS Code</a:t>
            </a:r>
          </a:p>
          <a:p>
            <a:pPr lvl="1"/>
            <a:r>
              <a:rPr lang="zh-TW" altLang="en-US" dirty="0"/>
              <a:t>編輯程式碼用的文字處理程式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Anaconda</a:t>
            </a:r>
          </a:p>
          <a:p>
            <a:pPr lvl="1"/>
            <a:r>
              <a:rPr lang="zh-TW" altLang="en-US" dirty="0"/>
              <a:t>套裝的</a:t>
            </a:r>
            <a:r>
              <a:rPr lang="en-US" altLang="zh-TW" dirty="0"/>
              <a:t>Python</a:t>
            </a:r>
            <a:r>
              <a:rPr lang="zh-TW" altLang="en-US" dirty="0"/>
              <a:t>環境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352F1D-E9B6-48BD-B258-0ABA7ECD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431ED4-3492-407D-A6D9-88EB519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03487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823CD5A0-F04C-4FB4-B34E-FABE571A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Anaconda Shell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4D814FDB-7BF8-4DEE-8FCD-8114F85B4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6924" y="1828801"/>
            <a:ext cx="4447786" cy="403860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A </a:t>
            </a:r>
            <a:r>
              <a:rPr lang="en-US" altLang="zh-TW" dirty="0">
                <a:hlinkClick r:id="rId2"/>
              </a:rPr>
              <a:t>shell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user interface for access to an operating system’s services. </a:t>
            </a:r>
          </a:p>
          <a:p>
            <a:pPr lvl="1"/>
            <a:r>
              <a:rPr lang="en-US" altLang="zh-TW" dirty="0"/>
              <a:t>Most often the user interacts with the shell using a command-line interface (</a:t>
            </a:r>
            <a:r>
              <a:rPr lang="en-US" altLang="zh-TW" dirty="0">
                <a:hlinkClick r:id="rId3"/>
              </a:rPr>
              <a:t>CLI</a:t>
            </a:r>
            <a:r>
              <a:rPr lang="en-US" altLang="zh-TW" dirty="0"/>
              <a:t>)</a:t>
            </a:r>
          </a:p>
          <a:p>
            <a:r>
              <a:rPr lang="en-US" altLang="zh-TW" dirty="0">
                <a:hlinkClick r:id="rId4" tooltip="https://en.wikipedia.org/wiki/Terminal_emulator &#10;"/>
              </a:rPr>
              <a:t>terminal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a program that opens a graphical window and lets you interact with the shell.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5381F7-1DC6-461A-B901-AEBACE20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BAC18F-9D00-4900-9DEE-5330A0D7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87</a:t>
            </a:fld>
            <a:endParaRPr lang="zh-TW" altLang="en-US"/>
          </a:p>
        </p:txBody>
      </p:sp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2480443E-FA83-CD96-C061-302C9CB33C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5675803" y="2212272"/>
            <a:ext cx="6079244" cy="2785792"/>
          </a:xfrm>
        </p:spPr>
      </p:pic>
    </p:spTree>
    <p:extLst>
      <p:ext uri="{BB962C8B-B14F-4D97-AF65-F5344CB8AC3E}">
        <p14:creationId xmlns:p14="http://schemas.microsoft.com/office/powerpoint/2010/main" val="141936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>
            <a:extLst>
              <a:ext uri="{FF2B5EF4-FFF2-40B4-BE49-F238E27FC236}">
                <a16:creationId xmlns:a16="http://schemas.microsoft.com/office/drawing/2014/main" id="{9BC52E65-5D14-1240-D76A-79DAF721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Windows Terminal: </a:t>
            </a:r>
            <a:r>
              <a:rPr lang="en-US" altLang="zh-TW" b="0" dirty="0"/>
              <a:t>A Prettier Terminal</a:t>
            </a:r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0812476-B710-4552-9B0E-B978A68F5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B14524-8F3F-44D0-B756-30A55367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88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BF2F8B4-2856-E905-407B-886478E15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1" y="2024436"/>
            <a:ext cx="5662423" cy="407855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6D4AB04-3CF2-9478-1D47-20110478E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149" y="3528387"/>
            <a:ext cx="5108228" cy="10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3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D3E34-C0F1-4F21-9B29-E6C0BE067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30693"/>
            <a:ext cx="9601200" cy="1485900"/>
          </a:xfrm>
        </p:spPr>
        <p:txBody>
          <a:bodyPr/>
          <a:lstStyle/>
          <a:p>
            <a:r>
              <a:rPr lang="en-US" altLang="zh-TW" dirty="0"/>
              <a:t>Initiate a Shell in Windows Terminal </a:t>
            </a:r>
            <a:endParaRPr lang="zh-TW" altLang="en-US" b="0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3E7A9F4-6935-4847-9035-F9DCFD43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E4E146-2BCF-4222-AA45-C316AC9A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89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5580A5E-215A-3E1C-60D9-9AC543A3D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781" y="1151871"/>
            <a:ext cx="6106908" cy="503892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54D6141-6583-A557-7996-69A8D0E6DA67}"/>
              </a:ext>
            </a:extLst>
          </p:cNvPr>
          <p:cNvSpPr/>
          <p:nvPr/>
        </p:nvSpPr>
        <p:spPr>
          <a:xfrm>
            <a:off x="3846286" y="3407229"/>
            <a:ext cx="3490685" cy="293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4D73CD-7C11-4D89-9FE8-51407A6C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 err="1"/>
              <a:t>ipython</a:t>
            </a:r>
            <a:r>
              <a:rPr lang="zh-TW" altLang="en-US" dirty="0"/>
              <a:t>和</a:t>
            </a:r>
            <a:r>
              <a:rPr lang="en-US" altLang="zh-TW" dirty="0"/>
              <a:t>Sublime Text</a:t>
            </a:r>
            <a:r>
              <a:rPr lang="zh-TW" altLang="en-US" dirty="0"/>
              <a:t>練習寫程式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CF44A8-D5A3-4F45-B862-667D256A7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B9B0D-9175-4116-853A-4E10C00A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90</a:t>
            </a:fld>
            <a:endParaRPr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4C2C8DCF-F61E-0FF7-D4B5-2DAF33C668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9931" y="2195148"/>
            <a:ext cx="5477539" cy="2007736"/>
          </a:xfrm>
        </p:spPr>
      </p:pic>
      <p:pic>
        <p:nvPicPr>
          <p:cNvPr id="14" name="內容版面配置區 13">
            <a:extLst>
              <a:ext uri="{FF2B5EF4-FFF2-40B4-BE49-F238E27FC236}">
                <a16:creationId xmlns:a16="http://schemas.microsoft.com/office/drawing/2014/main" id="{B0C8AF30-D456-D492-E410-4AF8412855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8874" y="1917319"/>
            <a:ext cx="4911081" cy="2948295"/>
          </a:xfrm>
        </p:spPr>
      </p:pic>
    </p:spTree>
    <p:extLst>
      <p:ext uri="{BB962C8B-B14F-4D97-AF65-F5344CB8AC3E}">
        <p14:creationId xmlns:p14="http://schemas.microsoft.com/office/powerpoint/2010/main" val="27241252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E5B7E0-DEE1-E0D9-D44C-5BDC0514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Practice #1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80AEA7-6B0D-F9F5-3A37-98C8732542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Initiate a terminal</a:t>
            </a:r>
          </a:p>
          <a:p>
            <a:r>
              <a:rPr lang="en-US" altLang="zh-TW" dirty="0"/>
              <a:t>Create the following directory:</a:t>
            </a:r>
          </a:p>
          <a:p>
            <a:pPr lvl="1"/>
            <a:r>
              <a:rPr lang="en-US" altLang="zh-TW" b="1" dirty="0"/>
              <a:t>C:\python_course\week2</a:t>
            </a:r>
          </a:p>
          <a:p>
            <a:endParaRPr lang="en-US" altLang="zh-TW" dirty="0"/>
          </a:p>
          <a:p>
            <a:r>
              <a:rPr lang="en-US" altLang="zh-TW" dirty="0"/>
              <a:t>Change working directory to where you just created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Launch </a:t>
            </a:r>
            <a:r>
              <a:rPr lang="en-US" altLang="zh-TW" b="1" dirty="0" err="1"/>
              <a:t>ipython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en-US" altLang="zh-TW" dirty="0"/>
              <a:t>Type </a:t>
            </a:r>
            <a:r>
              <a:rPr lang="en-US" altLang="zh-TW" b="1" dirty="0" err="1"/>
              <a:t>pwd</a:t>
            </a:r>
            <a:endParaRPr lang="en-US" altLang="zh-TW" b="1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48AED6-2B4A-FAC9-9C4A-61728D45C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5CF3F-5766-9F94-42FC-BCDEF08E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91</a:t>
            </a:fld>
            <a:endParaRPr 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7464399B-EB14-3504-34AD-D07D7B6420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85828" y="1842556"/>
            <a:ext cx="5907751" cy="3249561"/>
          </a:xfrm>
        </p:spPr>
      </p:pic>
    </p:spTree>
    <p:extLst>
      <p:ext uri="{BB962C8B-B14F-4D97-AF65-F5344CB8AC3E}">
        <p14:creationId xmlns:p14="http://schemas.microsoft.com/office/powerpoint/2010/main" val="313634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Practice #2</a:t>
            </a:r>
            <a:endParaRPr 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/>
              <a:t>sublime</a:t>
            </a:r>
            <a:r>
              <a:rPr lang="zh-TW" altLang="en-US" dirty="0"/>
              <a:t>中輸入右方程式碼，存為</a:t>
            </a:r>
            <a:r>
              <a:rPr lang="en-US" altLang="zh-TW" dirty="0"/>
              <a:t>ex01.py</a:t>
            </a:r>
            <a:r>
              <a:rPr lang="zh-TW" altLang="en-US" dirty="0"/>
              <a:t>檔，然後在</a:t>
            </a:r>
            <a:r>
              <a:rPr lang="en-US" altLang="zh-TW" dirty="0" err="1"/>
              <a:t>ipython</a:t>
            </a:r>
            <a:r>
              <a:rPr lang="zh-TW" altLang="en-US" dirty="0"/>
              <a:t>中（與</a:t>
            </a:r>
            <a:r>
              <a:rPr lang="en-US" altLang="zh-TW" dirty="0"/>
              <a:t>ex01.py</a:t>
            </a:r>
            <a:r>
              <a:rPr lang="zh-TW" altLang="en-US" dirty="0"/>
              <a:t>同一個目錄），輸入</a:t>
            </a:r>
            <a:endParaRPr lang="en-US" altLang="zh-TW" dirty="0"/>
          </a:p>
          <a:p>
            <a:pPr lvl="1"/>
            <a:endParaRPr lang="en-US" dirty="0"/>
          </a:p>
          <a:p>
            <a:pPr lvl="1"/>
            <a:r>
              <a:rPr lang="en-US" b="1" dirty="0"/>
              <a:t>%run ex01.py</a:t>
            </a: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-2" r="18251" b="56669"/>
          <a:stretch/>
        </p:blipFill>
        <p:spPr>
          <a:xfrm>
            <a:off x="5760372" y="2513007"/>
            <a:ext cx="6328527" cy="1337322"/>
          </a:xfrm>
          <a:prstGeom prst="rect">
            <a:avLst/>
          </a:prstGeom>
        </p:spPr>
      </p:pic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Computers, Programming, &amp; Big Data. 2026 Spring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51BFD-B6F2-45D9-8499-05F55995A735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5609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3.0.5724"/>
  <p:tag name="SLIDO_PRESENTATION_ID" val="3503345f-5125-4760-823f-2e8e2a60e9a1"/>
  <p:tag name="SLIDO_EVENT_UUID" val="9f01878d-775c-475b-a82f-25ec57480eb1"/>
  <p:tag name="SLIDO_EVENT_SECTION_UUID" val="fc18856c-4aaa-4964-b06c-794514368f9e"/>
</p:tagLst>
</file>

<file path=ppt/theme/theme1.xml><?xml version="1.0" encoding="utf-8"?>
<a:theme xmlns:a="http://schemas.openxmlformats.org/drawingml/2006/main" name="Swell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7"/>
      </a:lt2>
      <a:accent1>
        <a:srgbClr val="7DAD88"/>
      </a:accent1>
      <a:accent2>
        <a:srgbClr val="6FAC96"/>
      </a:accent2>
      <a:accent3>
        <a:srgbClr val="7DA9AC"/>
      </a:accent3>
      <a:accent4>
        <a:srgbClr val="7B9EBE"/>
      </a:accent4>
      <a:accent5>
        <a:srgbClr val="9399CA"/>
      </a:accent5>
      <a:accent6>
        <a:srgbClr val="8F7BBE"/>
      </a:accent6>
      <a:hlink>
        <a:srgbClr val="AE699F"/>
      </a:hlink>
      <a:folHlink>
        <a:srgbClr val="7F7F7F"/>
      </a:folHlink>
    </a:clrScheme>
    <a:fontScheme name="自訂 6">
      <a:majorFont>
        <a:latin typeface="微軟正黑體"/>
        <a:ea typeface="微軟正黑體"/>
        <a:cs typeface=""/>
      </a:majorFont>
      <a:minorFont>
        <a:latin typeface="微軟正黑體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B60585-45DD-4756-8BFA-050389CF340D}">
  <we:reference id="wa200004052" version="1.0.0.2" store="zh-TW" storeType="OMEX"/>
  <we:alternateReferences>
    <we:reference id="WA200004052" version="1.0.0.2" store="WA200004052" storeType="OMEX"/>
  </we:alternateReferences>
  <we:properties>
    <we:property name="holatex.main" value="{&quot;pictures&quot;:[{&quot;name&quot;:&quot;LaTex&quot;,&quot;code&quot;:&quot;\\documentclass{article}\n\\usepackage{amsmath}\n\\begin{document}\n\n\n\\begin{aligned}\n&amp; \\mathrm{H}_0: \\mu = 30 \\\\\n&amp; \\mathrm{H}_1: \\mu \\neq 30\n\\end{aligned}\n\n\n\\end{document}\n&quot;}]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6430</TotalTime>
  <Words>3341</Words>
  <Application>Microsoft Office PowerPoint</Application>
  <PresentationFormat>寬螢幕</PresentationFormat>
  <Paragraphs>683</Paragraphs>
  <Slides>92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92</vt:i4>
      </vt:variant>
    </vt:vector>
  </HeadingPairs>
  <TitlesOfParts>
    <vt:vector size="100" baseType="lpstr">
      <vt:lpstr>微軟正黑體</vt:lpstr>
      <vt:lpstr>新細明體</vt:lpstr>
      <vt:lpstr>Aptos</vt:lpstr>
      <vt:lpstr>Arial</vt:lpstr>
      <vt:lpstr>Calibri</vt:lpstr>
      <vt:lpstr>Neue Haas Grotesk Text Pro</vt:lpstr>
      <vt:lpstr>Wingdings</vt:lpstr>
      <vt:lpstr>SwellVTI</vt:lpstr>
      <vt:lpstr>Variables, Scripting, Control Flow, &amp; Functions</vt:lpstr>
      <vt:lpstr>PowerPoint 簡報</vt:lpstr>
      <vt:lpstr>資料型別和變數</vt:lpstr>
      <vt:lpstr>PowerPoint 簡報</vt:lpstr>
      <vt:lpstr>資料值 (Values): 一切量化工具的基礎 </vt:lpstr>
      <vt:lpstr>物件：Python裡的每個「東西」</vt:lpstr>
      <vt:lpstr>變數：以等號將右邊值指派(assign)給左邊名稱</vt:lpstr>
      <vt:lpstr>變數命名與Python保留字 (reserved words)</vt:lpstr>
      <vt:lpstr>PowerPoint 簡報</vt:lpstr>
      <vt:lpstr>最佳化程式碼可讀性</vt:lpstr>
      <vt:lpstr>Practice #3</vt:lpstr>
      <vt:lpstr>運算</vt:lpstr>
      <vt:lpstr>敘述 vs. 運算式 Statements vs. Expressions</vt:lpstr>
      <vt:lpstr>運算元、運算子和運算式 Operator, Operands, and Expression</vt:lpstr>
      <vt:lpstr>運算元、運算子和運算式 Operator, Operands, and Expression</vt:lpstr>
      <vt:lpstr>運算順序 （Precedence）</vt:lpstr>
      <vt:lpstr>運算序中的怪咖</vt:lpstr>
      <vt:lpstr>Practice #4</vt:lpstr>
      <vt:lpstr>型別轉換 Type conversion (Typecasting)</vt:lpstr>
      <vt:lpstr>Implicit Typecasting</vt:lpstr>
      <vt:lpstr>Implicit Typecasting</vt:lpstr>
      <vt:lpstr>Practice #5：下列運算結果型別為何？</vt:lpstr>
      <vt:lpstr>About Project #1…</vt:lpstr>
      <vt:lpstr>Pavlovia</vt:lpstr>
      <vt:lpstr>Example: Corsi Block</vt:lpstr>
      <vt:lpstr>PowerPoint 簡報</vt:lpstr>
      <vt:lpstr>期中計畫要求</vt:lpstr>
      <vt:lpstr>Sources of Experimental Tasks</vt:lpstr>
      <vt:lpstr>Tools for Programming Experiments in Psychology and Neuroscience</vt:lpstr>
      <vt:lpstr>PowerPoint 簡報</vt:lpstr>
      <vt:lpstr>資料型態</vt:lpstr>
      <vt:lpstr>數字系統 numerical systems</vt:lpstr>
      <vt:lpstr>數字系統間互轉：十進位  二進位</vt:lpstr>
      <vt:lpstr>數字系統間互轉：二進位  十進位</vt:lpstr>
      <vt:lpstr>字串 (string)：字元串構成的序列資訊</vt:lpstr>
      <vt:lpstr>定義字串和創造字串物件</vt:lpstr>
      <vt:lpstr>字串內的字元指標 (index)</vt:lpstr>
      <vt:lpstr>字串切片 (slicing)</vt:lpstr>
      <vt:lpstr>Practice #6：說出下列slicing結果</vt:lpstr>
      <vt:lpstr>字串物件可用之方法 Methods of String Objects</vt:lpstr>
      <vt:lpstr>用__len__()取得字元數</vt:lpstr>
      <vt:lpstr>大小寫轉換</vt:lpstr>
      <vt:lpstr>進階字串操作：找尋和計數</vt:lpstr>
      <vt:lpstr>進階字串操作：取代</vt:lpstr>
      <vt:lpstr>進階字串操作：乘法與加法</vt:lpstr>
      <vt:lpstr>Practice #7：關於字串(string)  將下列內容存為ex06.py檔並執行之</vt:lpstr>
      <vt:lpstr>錯誤訊息 (error message)</vt:lpstr>
      <vt:lpstr>使用者輸入：input</vt:lpstr>
      <vt:lpstr>tuple</vt:lpstr>
      <vt:lpstr>Practice #8：請驗証下列是否都是有效的tuple物件</vt:lpstr>
      <vt:lpstr>用指標取用tuple內的資訊</vt:lpstr>
      <vt:lpstr>tuple運算</vt:lpstr>
      <vt:lpstr>tuple內成員位置互調</vt:lpstr>
      <vt:lpstr>Practice #9</vt:lpstr>
      <vt:lpstr>列表 list</vt:lpstr>
      <vt:lpstr>取用list中的某項</vt:lpstr>
      <vt:lpstr>超出範圍，找不到值</vt:lpstr>
      <vt:lpstr>取用list中某些項 list slicing</vt:lpstr>
      <vt:lpstr>省略起點或終點值  取到底</vt:lpstr>
      <vt:lpstr>List vs. Tuple</vt:lpstr>
      <vt:lpstr>可變與不可變物件 Mutable vs. Immutable Objects </vt:lpstr>
      <vt:lpstr>新增單一list項目：append, insert</vt:lpstr>
      <vt:lpstr>可變物件</vt:lpstr>
      <vt:lpstr>可變物件的好用之處</vt:lpstr>
      <vt:lpstr>新增許多list項目：extend</vt:lpstr>
      <vt:lpstr>移除list項目：remove, pop</vt:lpstr>
      <vt:lpstr>Practice #10</vt:lpstr>
      <vt:lpstr>字典 (Dictionary)</vt:lpstr>
      <vt:lpstr>字典的用處</vt:lpstr>
      <vt:lpstr>查詢字典內容</vt:lpstr>
      <vt:lpstr>建立字典</vt:lpstr>
      <vt:lpstr>建立有初始內容的字典</vt:lpstr>
      <vt:lpstr>取用字典內容</vt:lpstr>
      <vt:lpstr>Practice #11</vt:lpstr>
      <vt:lpstr>避免錯誤訊息的取用</vt:lpstr>
      <vt:lpstr>更新字典內容</vt:lpstr>
      <vt:lpstr>更新多個項目</vt:lpstr>
      <vt:lpstr>刪除資料</vt:lpstr>
      <vt:lpstr>印出所有key或value</vt:lpstr>
      <vt:lpstr>印出所有元素</vt:lpstr>
      <vt:lpstr>檢查是否有某key</vt:lpstr>
      <vt:lpstr>檢查是否有某value</vt:lpstr>
      <vt:lpstr>比較兩字典</vt:lpstr>
      <vt:lpstr>產生或列印字典中的鍵值對</vt:lpstr>
      <vt:lpstr>Practice #12</vt:lpstr>
      <vt:lpstr>在自己的電腦上跑python需要安裝的程式</vt:lpstr>
      <vt:lpstr>Anaconda Shell</vt:lpstr>
      <vt:lpstr>Windows Terminal: A Prettier Terminal</vt:lpstr>
      <vt:lpstr>Initiate a Shell in Windows Terminal </vt:lpstr>
      <vt:lpstr>使用ipython和Sublime Text練習寫程式</vt:lpstr>
      <vt:lpstr>Practice #1</vt:lpstr>
      <vt:lpstr>Practice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張智宏  (audachang)</dc:creator>
  <cp:lastModifiedBy>Erik Chang</cp:lastModifiedBy>
  <cp:revision>199</cp:revision>
  <cp:lastPrinted>2024-12-04T14:10:57Z</cp:lastPrinted>
  <dcterms:created xsi:type="dcterms:W3CDTF">2024-10-23T10:48:05Z</dcterms:created>
  <dcterms:modified xsi:type="dcterms:W3CDTF">2026-03-04T16:07:20Z</dcterms:modified>
</cp:coreProperties>
</file>