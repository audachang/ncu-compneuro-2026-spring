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5"/>
  </p:notesMasterIdLst>
  <p:sldIdLst>
    <p:sldId id="356" r:id="rId2"/>
    <p:sldId id="396" r:id="rId3"/>
    <p:sldId id="323" r:id="rId4"/>
    <p:sldId id="327" r:id="rId5"/>
    <p:sldId id="388" r:id="rId6"/>
    <p:sldId id="389" r:id="rId7"/>
    <p:sldId id="390" r:id="rId8"/>
    <p:sldId id="297" r:id="rId9"/>
    <p:sldId id="329" r:id="rId10"/>
    <p:sldId id="391" r:id="rId11"/>
    <p:sldId id="330" r:id="rId12"/>
    <p:sldId id="324" r:id="rId13"/>
    <p:sldId id="294" r:id="rId14"/>
    <p:sldId id="293" r:id="rId15"/>
    <p:sldId id="298" r:id="rId16"/>
    <p:sldId id="332" r:id="rId17"/>
    <p:sldId id="299" r:id="rId18"/>
    <p:sldId id="300" r:id="rId19"/>
    <p:sldId id="333" r:id="rId20"/>
    <p:sldId id="334" r:id="rId21"/>
    <p:sldId id="336" r:id="rId22"/>
    <p:sldId id="337" r:id="rId23"/>
    <p:sldId id="339" r:id="rId24"/>
    <p:sldId id="340" r:id="rId25"/>
    <p:sldId id="338" r:id="rId26"/>
    <p:sldId id="392" r:id="rId27"/>
    <p:sldId id="367" r:id="rId28"/>
    <p:sldId id="393" r:id="rId29"/>
    <p:sldId id="369" r:id="rId30"/>
    <p:sldId id="394" r:id="rId31"/>
    <p:sldId id="325" r:id="rId32"/>
    <p:sldId id="315" r:id="rId33"/>
    <p:sldId id="397" r:id="rId34"/>
    <p:sldId id="345" r:id="rId35"/>
    <p:sldId id="398" r:id="rId36"/>
    <p:sldId id="362" r:id="rId37"/>
    <p:sldId id="347" r:id="rId38"/>
    <p:sldId id="348" r:id="rId39"/>
    <p:sldId id="349" r:id="rId40"/>
    <p:sldId id="363" r:id="rId41"/>
    <p:sldId id="316" r:id="rId42"/>
    <p:sldId id="399" r:id="rId43"/>
    <p:sldId id="317" r:id="rId44"/>
    <p:sldId id="318" r:id="rId45"/>
    <p:sldId id="319" r:id="rId46"/>
    <p:sldId id="301" r:id="rId47"/>
    <p:sldId id="350" r:id="rId48"/>
    <p:sldId id="353" r:id="rId49"/>
    <p:sldId id="355" r:id="rId50"/>
    <p:sldId id="400" r:id="rId51"/>
    <p:sldId id="302" r:id="rId52"/>
    <p:sldId id="326" r:id="rId53"/>
    <p:sldId id="401" r:id="rId54"/>
  </p:sldIdLst>
  <p:sldSz cx="12192000" cy="6858000"/>
  <p:notesSz cx="6858000" cy="9144000"/>
  <p:custDataLst>
    <p:tags r:id="rId5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3963" autoAdjust="0"/>
  </p:normalViewPr>
  <p:slideViewPr>
    <p:cSldViewPr snapToGrid="0">
      <p:cViewPr varScale="1">
        <p:scale>
          <a:sx n="90" d="100"/>
          <a:sy n="90" d="100"/>
        </p:scale>
        <p:origin x="8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197A6-BE36-4D6D-BBE6-9633BE34F47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74F81-CD54-4030-AC9C-0ED56CF0AA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78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39700" y="860425"/>
            <a:ext cx="7632700" cy="42941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260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39700" y="860425"/>
            <a:ext cx="7632700" cy="42941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382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39700" y="860425"/>
            <a:ext cx="7632700" cy="42941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338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39700" y="860425"/>
            <a:ext cx="7632700" cy="42941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4163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39700" y="860425"/>
            <a:ext cx="7632700" cy="42941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914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39700" y="860425"/>
            <a:ext cx="7632700" cy="42941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8143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39700" y="860425"/>
            <a:ext cx="7632700" cy="42941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416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39700" y="860425"/>
            <a:ext cx="7632700" cy="42941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626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39700" y="860425"/>
            <a:ext cx="7632700" cy="42941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1814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39700" y="860425"/>
            <a:ext cx="7632700" cy="42941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184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952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56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2070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2609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03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9148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6859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F3A-03C4-4B1C-8AE5-8FD8BC8EDFEC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6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4" y="347181"/>
            <a:ext cx="8886884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1" y="1590157"/>
            <a:ext cx="10381517" cy="443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5BFA6-A909-4E15-BD17-37683E4F3322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5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33676-1B6B-4BBE-8D4C-954E38BB0491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4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2" y="181239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521" y="1484295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1652" y="1476480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7526-C717-4892-B54A-A9E2325524B8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7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B1B73-38BC-436D-8EE6-E273345841B6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0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1" y="606946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17CB-8512-4BB3-8685-CAA32E7FBC3C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6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0070-0EA1-4A0D-8F4A-D7975CE73EDC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8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61D9-77D5-4763-AC3C-234694E90E17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8C68-2AD3-4F03-96E0-FA5130A87C35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5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180E-6827-4A87-80C3-07C58CD3A140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2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69576-551E-420E-B928-DD4922C9618D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5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329A6EE-4D16-488F-9F14-27146B16CAB9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0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天空中的彩色圖案">
            <a:extLst>
              <a:ext uri="{FF2B5EF4-FFF2-40B4-BE49-F238E27FC236}">
                <a16:creationId xmlns:a16="http://schemas.microsoft.com/office/drawing/2014/main" id="{ED98725C-038E-6A06-4C58-01CA646C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38" b="1019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74E6BD4-9370-439F-94BB-34169C126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6913" y="4156364"/>
            <a:ext cx="9216167" cy="1982697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3200" dirty="0"/>
              <a:t>Flow Control</a:t>
            </a:r>
            <a:br>
              <a:rPr lang="en-US" altLang="zh-TW" sz="3200" dirty="0"/>
            </a:br>
            <a:r>
              <a:rPr lang="en-US" altLang="zh-TW" sz="3200" dirty="0"/>
              <a:t>Data I/O</a:t>
            </a:r>
            <a:endParaRPr lang="zh-TW" altLang="en-US" sz="3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3D1A53-2BC1-6F24-5CC4-46EA5C26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3159" y="2756862"/>
            <a:ext cx="3129921" cy="1010882"/>
          </a:xfrm>
        </p:spPr>
        <p:txBody>
          <a:bodyPr anchor="b">
            <a:normAutofit fontScale="85000" lnSpcReduction="20000"/>
          </a:bodyPr>
          <a:lstStyle/>
          <a:p>
            <a:pPr algn="ctr"/>
            <a:r>
              <a:rPr lang="en-US" altLang="zh-TW" dirty="0"/>
              <a:t>NS5116</a:t>
            </a:r>
          </a:p>
          <a:p>
            <a:r>
              <a:rPr lang="zh-TW" altLang="zh-TW" b="1" dirty="0"/>
              <a:t>電腦硬體與程式語言在行為科學實驗與大數據分析之應用</a:t>
            </a:r>
            <a:endParaRPr lang="zh-TW" altLang="zh-TW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C6E18B-DBDF-ADE3-AE6C-175FCBE7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59D671-9BE8-890D-315E-3958C17E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59FDAF-84C2-BC99-6F5C-BF3AD618D8DA}"/>
              </a:ext>
            </a:extLst>
          </p:cNvPr>
          <p:cNvSpPr txBox="1"/>
          <p:nvPr/>
        </p:nvSpPr>
        <p:spPr>
          <a:xfrm>
            <a:off x="429935" y="5677396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March 6</a:t>
            </a:r>
            <a:r>
              <a:rPr lang="en-US" altLang="zh-TW" baseline="30000" dirty="0"/>
              <a:t>th</a:t>
            </a:r>
            <a:r>
              <a:rPr lang="en-US" altLang="zh-TW" dirty="0"/>
              <a:t>, 2025</a:t>
            </a:r>
          </a:p>
          <a:p>
            <a:r>
              <a:rPr lang="zh-TW" altLang="en-US" dirty="0"/>
              <a:t>講師：張智宏</a:t>
            </a:r>
            <a:endParaRPr lang="en-US" altLang="zh-TW" dirty="0"/>
          </a:p>
          <a:p>
            <a:r>
              <a:rPr lang="zh-TW" altLang="en-US" dirty="0"/>
              <a:t>教室</a:t>
            </a:r>
            <a:r>
              <a:rPr lang="en-US" altLang="zh-TW" dirty="0"/>
              <a:t>: S5-Ideabrain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092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3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15">
            <a:extLst>
              <a:ext uri="{FF2B5EF4-FFF2-40B4-BE49-F238E27FC236}">
                <a16:creationId xmlns:a16="http://schemas.microsoft.com/office/drawing/2014/main" id="{3768F94E-2BF1-56A5-87AC-0C4270793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9" descr="音量指示器">
            <a:extLst>
              <a:ext uri="{FF2B5EF4-FFF2-40B4-BE49-F238E27FC236}">
                <a16:creationId xmlns:a16="http://schemas.microsoft.com/office/drawing/2014/main" id="{D693359A-A361-657E-45E8-92F0FE55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34" b="8919"/>
          <a:stretch/>
        </p:blipFill>
        <p:spPr>
          <a:xfrm>
            <a:off x="20" y="1"/>
            <a:ext cx="12191979" cy="6857999"/>
          </a:xfrm>
          <a:prstGeom prst="rect">
            <a:avLst/>
          </a:prstGeom>
        </p:spPr>
      </p:pic>
      <p:sp>
        <p:nvSpPr>
          <p:cNvPr id="23" name="Freeform: Shape 17">
            <a:extLst>
              <a:ext uri="{FF2B5EF4-FFF2-40B4-BE49-F238E27FC236}">
                <a16:creationId xmlns:a16="http://schemas.microsoft.com/office/drawing/2014/main" id="{393D8CD4-7FBE-9118-0CEB-9C1A2FA6A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20219" y="-65315"/>
            <a:ext cx="7557315" cy="3771957"/>
          </a:xfrm>
          <a:custGeom>
            <a:avLst/>
            <a:gdLst>
              <a:gd name="connsiteX0" fmla="*/ 52567 w 7557315"/>
              <a:gd name="connsiteY0" fmla="*/ 3771957 h 3771957"/>
              <a:gd name="connsiteX1" fmla="*/ 7557315 w 7557315"/>
              <a:gd name="connsiteY1" fmla="*/ 3640961 h 3771957"/>
              <a:gd name="connsiteX2" fmla="*/ 3406126 w 7557315"/>
              <a:gd name="connsiteY2" fmla="*/ 499129 h 3771957"/>
              <a:gd name="connsiteX3" fmla="*/ 3350264 w 7557315"/>
              <a:gd name="connsiteY3" fmla="*/ 459014 h 3771957"/>
              <a:gd name="connsiteX4" fmla="*/ 1923366 w 7557315"/>
              <a:gd name="connsiteY4" fmla="*/ 763 h 3771957"/>
              <a:gd name="connsiteX5" fmla="*/ 1768756 w 7557315"/>
              <a:gd name="connsiteY5" fmla="*/ 1549 h 3771957"/>
              <a:gd name="connsiteX6" fmla="*/ 144811 w 7557315"/>
              <a:gd name="connsiteY6" fmla="*/ 625253 h 3771957"/>
              <a:gd name="connsiteX7" fmla="*/ 0 w 7557315"/>
              <a:gd name="connsiteY7" fmla="*/ 760395 h 3771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57315" h="3771957">
                <a:moveTo>
                  <a:pt x="52567" y="3771957"/>
                </a:moveTo>
                <a:lnTo>
                  <a:pt x="7557315" y="3640961"/>
                </a:lnTo>
                <a:lnTo>
                  <a:pt x="3406126" y="499129"/>
                </a:lnTo>
                <a:lnTo>
                  <a:pt x="3350264" y="459014"/>
                </a:lnTo>
                <a:cubicBezTo>
                  <a:pt x="2914482" y="162529"/>
                  <a:pt x="2418440" y="12600"/>
                  <a:pt x="1923366" y="763"/>
                </a:cubicBezTo>
                <a:cubicBezTo>
                  <a:pt x="1871795" y="-470"/>
                  <a:pt x="1820236" y="-206"/>
                  <a:pt x="1768756" y="1549"/>
                </a:cubicBezTo>
                <a:cubicBezTo>
                  <a:pt x="1183172" y="21502"/>
                  <a:pt x="607903" y="234096"/>
                  <a:pt x="144811" y="625253"/>
                </a:cubicBezTo>
                <a:lnTo>
                  <a:pt x="0" y="760395"/>
                </a:lnTo>
                <a:close/>
              </a:path>
            </a:pathLst>
          </a:custGeom>
          <a:gradFill>
            <a:gsLst>
              <a:gs pos="2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71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09FCC1CC-65D9-7081-4E8C-F3949CD8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065" y="498764"/>
            <a:ext cx="3726596" cy="149629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3200"/>
              <a:t>Flow Control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5861BF5B-FB0D-4A40-A341-43D9C5530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8944" y="2108579"/>
            <a:ext cx="3623838" cy="13204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dirty="0"/>
              <a:t>Loops</a:t>
            </a:r>
          </a:p>
          <a:p>
            <a:r>
              <a:rPr lang="en-US" altLang="zh-TW" dirty="0"/>
              <a:t>Conditionals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990A74-FB6E-D71D-6BE2-B1002A96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zh-TW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Computers, Programming, &amp; Big Data. 2025 Spring</a:t>
            </a:r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5072C4-A65E-B62D-8C4F-2CAFB86B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A33CB2A-1702-4C1D-9CC4-8D472D39F19E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0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條件判斷</a:t>
            </a: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Conditionals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060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B23DBA-435A-4E56-AFEA-CFFE71FDE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74A5-443B-44BB-9D22-BB60C34A8C14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25DDFE-A9AA-432D-BC8E-D3D30C42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8704B0-040C-46F1-ADA5-5CDAC667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1700D23-EF76-44C3-AFC4-44B18FA5137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44624"/>
            <a:ext cx="5742224" cy="6453386"/>
          </a:xfrm>
        </p:spPr>
      </p:pic>
    </p:spTree>
    <p:extLst>
      <p:ext uri="{BB962C8B-B14F-4D97-AF65-F5344CB8AC3E}">
        <p14:creationId xmlns:p14="http://schemas.microsoft.com/office/powerpoint/2010/main" val="164203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0650" y="502916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Conditional Execution</a:t>
            </a:r>
            <a:br>
              <a:rPr lang="en-US" altLang="zh-TW" dirty="0"/>
            </a:br>
            <a:r>
              <a:rPr lang="zh-TW" altLang="en-US" dirty="0"/>
              <a:t>條件化的執行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A545B-8433-41E5-8644-6416CCF04230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674" y="3789041"/>
            <a:ext cx="452437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0B6BEA1-928B-4191-A78A-044DCB5D9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820" y="2345061"/>
            <a:ext cx="5291357" cy="72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4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33379" y="220773"/>
            <a:ext cx="9601200" cy="1485900"/>
          </a:xfrm>
        </p:spPr>
        <p:txBody>
          <a:bodyPr/>
          <a:lstStyle/>
          <a:p>
            <a:r>
              <a:rPr lang="en-US" altLang="zh-TW" dirty="0"/>
              <a:t>Alternative Execution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E4B41-CFDA-43A8-A2CE-070416B2CB45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78"/>
          <a:stretch/>
        </p:blipFill>
        <p:spPr bwMode="auto">
          <a:xfrm>
            <a:off x="5087889" y="1913569"/>
            <a:ext cx="1728192" cy="169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右大括弧 7"/>
          <p:cNvSpPr/>
          <p:nvPr/>
        </p:nvSpPr>
        <p:spPr>
          <a:xfrm>
            <a:off x="7995785" y="3933056"/>
            <a:ext cx="504056" cy="1570484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8760296" y="4456688"/>
            <a:ext cx="1593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branches</a:t>
            </a:r>
            <a:endParaRPr lang="zh-TW" altLang="en-US" sz="28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A6F9DA6-4C42-483C-987D-6EA01FB93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879" y="3988936"/>
            <a:ext cx="4534019" cy="145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8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Chained Conditionals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2003-ADC3-454A-A162-F1172EC73277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96" y="1929706"/>
            <a:ext cx="2304256" cy="1513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7D6BB47-C487-4EE4-9BD3-80D070787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350" y="3718270"/>
            <a:ext cx="6569700" cy="220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6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Practice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寫一程式區分一個輸入的數字為</a:t>
            </a:r>
            <a:r>
              <a:rPr lang="en-US" altLang="zh-TW" dirty="0"/>
              <a:t>2</a:t>
            </a:r>
            <a:r>
              <a:rPr lang="zh-TW" altLang="en-US" dirty="0"/>
              <a:t>的倍數</a:t>
            </a:r>
            <a:r>
              <a:rPr lang="en-US" altLang="zh-TW" dirty="0"/>
              <a:t>(</a:t>
            </a:r>
            <a:r>
              <a:rPr lang="zh-TW" altLang="en-US" dirty="0"/>
              <a:t>不含</a:t>
            </a:r>
            <a:r>
              <a:rPr lang="en-US" altLang="zh-TW" dirty="0"/>
              <a:t>3</a:t>
            </a:r>
            <a:r>
              <a:rPr lang="zh-TW" altLang="en-US" dirty="0"/>
              <a:t>的倍數</a:t>
            </a:r>
            <a:r>
              <a:rPr lang="en-US" altLang="zh-TW" dirty="0"/>
              <a:t>)</a:t>
            </a:r>
            <a:r>
              <a:rPr lang="zh-TW" altLang="en-US" dirty="0"/>
              <a:t>、</a:t>
            </a:r>
            <a:r>
              <a:rPr lang="en-US" altLang="zh-TW" dirty="0"/>
              <a:t>3</a:t>
            </a:r>
            <a:r>
              <a:rPr lang="zh-TW" altLang="en-US" dirty="0"/>
              <a:t>的倍數</a:t>
            </a:r>
            <a:r>
              <a:rPr lang="en-US" altLang="zh-TW" dirty="0"/>
              <a:t>(</a:t>
            </a:r>
            <a:r>
              <a:rPr lang="zh-TW" altLang="en-US" dirty="0"/>
              <a:t>不含</a:t>
            </a:r>
            <a:r>
              <a:rPr lang="en-US" altLang="zh-TW" dirty="0"/>
              <a:t>2</a:t>
            </a:r>
            <a:r>
              <a:rPr lang="zh-TW" altLang="en-US" dirty="0"/>
              <a:t>的倍數</a:t>
            </a:r>
            <a:r>
              <a:rPr lang="en-US" altLang="zh-TW" dirty="0"/>
              <a:t>)</a:t>
            </a:r>
            <a:r>
              <a:rPr lang="zh-TW" altLang="en-US" dirty="0"/>
              <a:t>、或是</a:t>
            </a:r>
            <a:r>
              <a:rPr lang="en-US" altLang="zh-TW" dirty="0"/>
              <a:t>2</a:t>
            </a:r>
            <a:r>
              <a:rPr lang="zh-TW" altLang="en-US" dirty="0"/>
              <a:t>與</a:t>
            </a:r>
            <a:r>
              <a:rPr lang="en-US" altLang="zh-TW" dirty="0"/>
              <a:t>3</a:t>
            </a:r>
            <a:r>
              <a:rPr lang="zh-TW" altLang="en-US" dirty="0"/>
              <a:t>的公倍數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2E17-D526-439C-A5C1-005124AF394D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9072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4A1AD4-5A8B-4A0E-8B8B-6E763F4D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96CF8-AC93-48D9-AFB1-5DA5D49B9ED7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AF571C-18D1-4665-85DC-EFC270DC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F8CF72-D19A-4148-BF0F-264DA0FC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F8E5EED-14E2-494C-B5E5-72A5833F73E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154" y="0"/>
            <a:ext cx="10296525" cy="6545262"/>
          </a:xfrm>
        </p:spPr>
      </p:pic>
    </p:spTree>
    <p:extLst>
      <p:ext uri="{BB962C8B-B14F-4D97-AF65-F5344CB8AC3E}">
        <p14:creationId xmlns:p14="http://schemas.microsoft.com/office/powerpoint/2010/main" val="401011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巢狀條件判斷</a:t>
            </a:r>
            <a:br>
              <a:rPr lang="en-US" altLang="zh-TW" dirty="0"/>
            </a:br>
            <a:r>
              <a:rPr lang="en-US" altLang="zh-TW" dirty="0"/>
              <a:t>Nested Conditionals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BE0D-E587-4B05-8F52-932D71B9E6ED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8031A58-4401-4977-AFC2-AF4EB7A59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738" y="2444988"/>
            <a:ext cx="7081342" cy="289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2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38ADCD-4617-4F55-BF22-5BEB7950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161508-9095-4529-B5E1-51A36106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A47C-2212-4CFE-8642-0B9E211FF5CE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5E5390A-94BB-43C7-8149-A123369B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CB6597-1225-4F08-98B2-62AD5A6F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6590841-1C23-490D-9CF0-B2B3052DE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125" y="76200"/>
            <a:ext cx="561975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迴圈</a:t>
            </a:r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Iteration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001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while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EA66-82E8-441F-9CF0-1440EA3F84C3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272" y="2132857"/>
            <a:ext cx="9906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552" y="1700808"/>
            <a:ext cx="4673840" cy="26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3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無窮迴圈</a:t>
            </a:r>
            <a:br>
              <a:rPr lang="en-US" altLang="zh-TW" dirty="0"/>
            </a:br>
            <a:r>
              <a:rPr lang="en-US" altLang="zh-TW" dirty="0"/>
              <a:t>Endless Loop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637D5-8120-4847-89E5-039629FB507C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2204864"/>
            <a:ext cx="8892480" cy="1805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4490501"/>
            <a:ext cx="5448300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391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en-US" altLang="zh-TW" dirty="0"/>
              <a:t>for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BF27-6339-40FF-A52F-5DFF4638F884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9" y="2379077"/>
            <a:ext cx="4392488" cy="227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9" y="1772817"/>
            <a:ext cx="2714625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783632" y="285293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                           )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2798845" y="429775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                           )</a:t>
            </a:r>
          </a:p>
        </p:txBody>
      </p:sp>
    </p:spTree>
    <p:extLst>
      <p:ext uri="{BB962C8B-B14F-4D97-AF65-F5344CB8AC3E}">
        <p14:creationId xmlns:p14="http://schemas.microsoft.com/office/powerpoint/2010/main" val="406931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for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699-25A9-45DE-9252-0861529E08BB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264" y="1428750"/>
            <a:ext cx="792088" cy="463517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624" y="2852936"/>
            <a:ext cx="3753043" cy="108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7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Practice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利用迴圈，在螢幕上印出九九乘法表。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19C6B-95F2-4D88-B052-30AFEFA46B5B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6B94DE9-B7C8-48D3-976A-B17BAF48E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670" y="3931459"/>
            <a:ext cx="3753043" cy="1085906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A6AD9B2-6BFA-4DB3-9882-6ED30915E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283" y="3429000"/>
            <a:ext cx="4392488" cy="227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11C75F6-AEB5-4C12-858C-5765FEE41E83}"/>
              </a:ext>
            </a:extLst>
          </p:cNvPr>
          <p:cNvSpPr txBox="1"/>
          <p:nvPr/>
        </p:nvSpPr>
        <p:spPr>
          <a:xfrm>
            <a:off x="7789386" y="3902859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                           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DC8F670-8924-40A4-9662-CDF3B0583BC6}"/>
              </a:ext>
            </a:extLst>
          </p:cNvPr>
          <p:cNvSpPr txBox="1"/>
          <p:nvPr/>
        </p:nvSpPr>
        <p:spPr>
          <a:xfrm>
            <a:off x="7804599" y="5347679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                             )</a:t>
            </a:r>
          </a:p>
        </p:txBody>
      </p:sp>
    </p:spTree>
    <p:extLst>
      <p:ext uri="{BB962C8B-B14F-4D97-AF65-F5344CB8AC3E}">
        <p14:creationId xmlns:p14="http://schemas.microsoft.com/office/powerpoint/2010/main" val="578040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7A36-E744-4330-AC10-9870CBB7F030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75520" y="2708920"/>
            <a:ext cx="8038787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53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 &amp; break</a:t>
            </a:r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50917" y="3111450"/>
            <a:ext cx="3689540" cy="1930499"/>
          </a:xfrm>
          <a:prstGeom prst="rect">
            <a:avLst/>
          </a:prstGeom>
        </p:spPr>
      </p:pic>
      <p:pic>
        <p:nvPicPr>
          <p:cNvPr id="10" name="內容版面配置區 9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19783" y="2708204"/>
            <a:ext cx="4057859" cy="2736991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99FDA-74EB-4D62-82FC-B7A791C72226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958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運用迴圈和條件陳述，改寫你的二進位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/>
              <a:t>十進位轉換過程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9BD2D-3EF1-4E5F-9823-4C2533BBADE0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543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039B89-BCD2-4FDE-ABD0-03B6025A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迴圈語法 </a:t>
            </a:r>
            <a:r>
              <a:rPr lang="en-US" altLang="zh-TW" dirty="0"/>
              <a:t>(loop syntax)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22B7979-AFAA-4922-A1A9-453B72F49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765" y="2636912"/>
            <a:ext cx="9453496" cy="1277020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8570B0-2EA8-439E-B948-C321E9C42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C41C-F57A-448C-B1DA-2F208A86EBC9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D858DD-532F-43B3-9239-C4D0C96E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987EAA-A482-49EB-9083-F5BEB732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1655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5E2E9D63-9112-4E60-AA4E-4B421AA0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解開迴圈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BE0822-E5EE-44A5-A59A-8C883385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670C-5C1C-4FBA-AEAD-8E0F54C4DF8B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CEEDB6-EFE1-4372-A8D2-9CB49AD44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AFDE7C-E509-4ADA-9965-0EDCA06C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FC871FB-0B5F-43B4-9630-01EEF8766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699" y="1588719"/>
            <a:ext cx="6698560" cy="116596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DE1E333-B946-4F03-A12F-CC68EDFA6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713" y="3074619"/>
            <a:ext cx="6850974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9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E85C8C-D2C8-41AB-843A-29BE2CAD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迴圈練習</a:t>
            </a:r>
            <a:r>
              <a:rPr lang="en-US" altLang="zh-TW" dirty="0"/>
              <a:t>#1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70C59A-8C0F-44F1-9D6F-757329C2C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讓使用者提供五個名字 ，名字之間以空格隔開。程式要為每個名字獨立印出一行</a:t>
            </a:r>
            <a:endParaRPr lang="en-US" altLang="zh-TW" dirty="0"/>
          </a:p>
          <a:p>
            <a:pPr lvl="1"/>
            <a:r>
              <a:rPr lang="en-US" altLang="zh-TW" dirty="0"/>
              <a:t>Hi &lt;</a:t>
            </a:r>
            <a:r>
              <a:rPr lang="zh-TW" altLang="en-US" dirty="0"/>
              <a:t>名字</a:t>
            </a:r>
            <a:r>
              <a:rPr lang="en-US" altLang="zh-TW" dirty="0"/>
              <a:t>&gt;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分別用兩種不同使用</a:t>
            </a:r>
            <a:r>
              <a:rPr lang="en-US" altLang="zh-TW" dirty="0"/>
              <a:t>for</a:t>
            </a:r>
            <a:r>
              <a:rPr lang="zh-TW" altLang="en-US" dirty="0"/>
              <a:t>迴圈方式達成上述要求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96B7E3-F4E6-4C25-BC65-0CC8A2ED1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0EB55-7ACD-4B2A-9565-30965BE15381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B58E8A-8277-4DE0-9500-02E9D816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7750F4-9E4A-49AD-82E4-6A923455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9436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D26EFEC6-E0F8-497F-B012-EFD09728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迴圈練習</a:t>
            </a:r>
            <a:r>
              <a:rPr lang="en-US" altLang="zh-TW" dirty="0"/>
              <a:t>#2</a:t>
            </a:r>
            <a:r>
              <a:rPr lang="zh-TW" altLang="en-US" dirty="0"/>
              <a:t>：印出下列圖形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17E6BC-2F71-455D-AF7C-CB5DA8F6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D4B-9991-4AF0-842D-98660B139B95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2E00E9-6627-47BC-BF95-7E836FFD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5D2410-519F-4D65-A618-1C5876F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6386B9D-6F4A-4AD7-9535-0D9A5180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418" y="2420888"/>
            <a:ext cx="3593629" cy="348182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CA88547-252C-4EC6-9E86-2DC503F7ABD9}"/>
              </a:ext>
            </a:extLst>
          </p:cNvPr>
          <p:cNvSpPr/>
          <p:nvPr/>
        </p:nvSpPr>
        <p:spPr>
          <a:xfrm>
            <a:off x="7248128" y="2924944"/>
            <a:ext cx="4361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提示</a:t>
            </a:r>
            <a:r>
              <a:rPr lang="en-US" altLang="zh-TW" dirty="0"/>
              <a:t>#1</a:t>
            </a:r>
            <a:r>
              <a:rPr lang="zh-TW" altLang="en-US" dirty="0"/>
              <a:t>：最下排有</a:t>
            </a:r>
            <a:r>
              <a:rPr lang="en-US" altLang="zh-TW" dirty="0"/>
              <a:t>21</a:t>
            </a:r>
            <a:r>
              <a:rPr lang="zh-TW" altLang="en-US" dirty="0"/>
              <a:t>個</a:t>
            </a:r>
            <a:r>
              <a:rPr lang="en-US" altLang="zh-TW" dirty="0"/>
              <a:t>*</a:t>
            </a:r>
          </a:p>
          <a:p>
            <a:r>
              <a:rPr lang="zh-TW" altLang="en-US" dirty="0"/>
              <a:t>提示</a:t>
            </a:r>
            <a:r>
              <a:rPr lang="en-US" altLang="zh-TW" dirty="0"/>
              <a:t>#2</a:t>
            </a:r>
            <a:r>
              <a:rPr lang="zh-TW" altLang="en-US" dirty="0"/>
              <a:t>：看看</a:t>
            </a:r>
            <a:r>
              <a:rPr lang="en-US" altLang="zh-TW" dirty="0"/>
              <a:t>&lt;str&gt;</a:t>
            </a:r>
            <a:r>
              <a:rPr lang="zh-TW" altLang="en-US" dirty="0"/>
              <a:t>的</a:t>
            </a:r>
            <a:r>
              <a:rPr lang="en-US" altLang="zh-TW" dirty="0"/>
              <a:t>center</a:t>
            </a:r>
            <a:r>
              <a:rPr lang="zh-TW" altLang="en-US" dirty="0"/>
              <a:t>方法有何作用</a:t>
            </a:r>
          </a:p>
        </p:txBody>
      </p:sp>
    </p:spTree>
    <p:extLst>
      <p:ext uri="{BB962C8B-B14F-4D97-AF65-F5344CB8AC3E}">
        <p14:creationId xmlns:p14="http://schemas.microsoft.com/office/powerpoint/2010/main" val="41919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B166F-9C1D-4229-8F07-C4AA909F3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-225195"/>
            <a:ext cx="9601200" cy="1485900"/>
          </a:xfrm>
        </p:spPr>
        <p:txBody>
          <a:bodyPr/>
          <a:lstStyle/>
          <a:p>
            <a:r>
              <a:rPr lang="zh-TW" altLang="en-US" dirty="0"/>
              <a:t>兩種</a:t>
            </a:r>
            <a:r>
              <a:rPr lang="en-US" altLang="zh-TW" dirty="0"/>
              <a:t>for</a:t>
            </a:r>
            <a:r>
              <a:rPr lang="zh-TW" altLang="en-US" dirty="0"/>
              <a:t>迴圈，一樣結果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A0A653CB-8674-4B10-8D42-10D1A1D33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6"/>
          <a:stretch/>
        </p:blipFill>
        <p:spPr>
          <a:xfrm>
            <a:off x="2156521" y="1772816"/>
            <a:ext cx="8031358" cy="4680570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5E4BC0-A308-4800-AB6A-39865623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364F-796F-49A1-BE8F-5A4B64963C5A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DDE648-A5EA-4C25-B58C-59157CDA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9102A3-E4DD-4FC8-B96F-F9B25D5E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621709" y="1293613"/>
            <a:ext cx="2471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Over the contents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7000905" y="1269474"/>
            <a:ext cx="226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Over the indices</a:t>
            </a:r>
          </a:p>
        </p:txBody>
      </p:sp>
    </p:spTree>
    <p:extLst>
      <p:ext uri="{BB962C8B-B14F-4D97-AF65-F5344CB8AC3E}">
        <p14:creationId xmlns:p14="http://schemas.microsoft.com/office/powerpoint/2010/main" val="1289639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基本檔案讀寫</a:t>
            </a:r>
            <a:endParaRPr 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B10B-C8F2-452C-97D4-F8A78DF5979D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2022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29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將文字檔內容</a:t>
            </a:r>
            <a:r>
              <a:rPr lang="zh-TW" altLang="en-US" sz="6000" dirty="0"/>
              <a:t>讀入</a:t>
            </a:r>
            <a:r>
              <a:rPr lang="en-US" altLang="zh-TW" dirty="0"/>
              <a:t>python</a:t>
            </a:r>
            <a:r>
              <a:rPr lang="zh-TW" altLang="en-US" dirty="0"/>
              <a:t>環境</a:t>
            </a:r>
            <a:endParaRPr 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92936" y="1700807"/>
            <a:ext cx="2302864" cy="4494587"/>
          </a:xfrm>
          <a:prstGeom prst="rect">
            <a:avLst/>
          </a:prstGeom>
        </p:spPr>
      </p:pic>
      <p:pic>
        <p:nvPicPr>
          <p:cNvPr id="10" name="內容版面配置區 9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91944" y="2636912"/>
            <a:ext cx="5952861" cy="1224136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6E19-B8DA-4156-89F1-EBAB6F275A02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2022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392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將文字檔內容</a:t>
            </a:r>
            <a:r>
              <a:rPr lang="zh-TW" altLang="en-US" sz="6000" dirty="0"/>
              <a:t>寫入</a:t>
            </a:r>
            <a:r>
              <a:rPr lang="en-US" altLang="zh-TW" dirty="0"/>
              <a:t>python</a:t>
            </a:r>
            <a:r>
              <a:rPr lang="zh-TW" altLang="en-US" dirty="0"/>
              <a:t>環境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ACE9-B2B9-4EDE-BF2B-9AF17FD6F069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2022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試看看不執行</a:t>
            </a:r>
            <a:r>
              <a:rPr lang="en-US" altLang="zh-TW" dirty="0"/>
              <a:t>fid11.close()</a:t>
            </a:r>
          </a:p>
          <a:p>
            <a:pPr lvl="1"/>
            <a:r>
              <a:rPr lang="zh-TW" altLang="en-US" dirty="0"/>
              <a:t>開啟</a:t>
            </a:r>
            <a:r>
              <a:rPr lang="en-US" altLang="zh-TW" dirty="0"/>
              <a:t>test.txt</a:t>
            </a:r>
            <a:r>
              <a:rPr lang="zh-TW" altLang="en-US" dirty="0"/>
              <a:t>，看到什麼？</a:t>
            </a:r>
            <a:endParaRPr lang="en-US" altLang="zh-TW" dirty="0"/>
          </a:p>
          <a:p>
            <a:pPr lvl="1"/>
            <a:r>
              <a:rPr lang="zh-TW" altLang="en-US" dirty="0"/>
              <a:t>刪除</a:t>
            </a:r>
            <a:r>
              <a:rPr lang="en-US" altLang="zh-TW" dirty="0"/>
              <a:t>test.txt</a:t>
            </a:r>
            <a:r>
              <a:rPr lang="zh-TW" altLang="en-US" dirty="0"/>
              <a:t>，會怎樣？</a:t>
            </a:r>
            <a:endParaRPr lang="en-US" altLang="zh-TW" dirty="0"/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fid11.close()</a:t>
            </a:r>
            <a:r>
              <a:rPr lang="zh-TW" altLang="en-US" dirty="0"/>
              <a:t>，對</a:t>
            </a:r>
            <a:r>
              <a:rPr lang="en-US" altLang="zh-TW" dirty="0"/>
              <a:t>test.txt</a:t>
            </a:r>
            <a:r>
              <a:rPr lang="zh-TW" altLang="en-US" dirty="0"/>
              <a:t>內容有什麼影響？</a:t>
            </a:r>
            <a:endParaRPr lang="en-US" altLang="zh-TW" dirty="0"/>
          </a:p>
          <a:p>
            <a:pPr lvl="1"/>
            <a:r>
              <a:rPr lang="zh-TW" altLang="en-US" dirty="0"/>
              <a:t>現在可以刪了嗎？</a:t>
            </a:r>
            <a:endParaRPr lang="en-US" dirty="0"/>
          </a:p>
        </p:txBody>
      </p:sp>
      <p:pic>
        <p:nvPicPr>
          <p:cNvPr id="12" name="內容版面配置區 1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66864" y="3460718"/>
            <a:ext cx="2857647" cy="123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9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一次只寫一部份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30332" y="3117800"/>
            <a:ext cx="3130711" cy="1917799"/>
          </a:xfrm>
          <a:prstGeom prst="rect">
            <a:avLst/>
          </a:prstGeom>
        </p:spPr>
      </p:pic>
      <p:pic>
        <p:nvPicPr>
          <p:cNvPr id="9" name="內容版面配置區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19889" y="3117800"/>
            <a:ext cx="2857647" cy="1917799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643C2-2B01-44B5-B717-C5C751B10969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2022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247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en-US" altLang="zh-TW" dirty="0"/>
              <a:t>with</a:t>
            </a:r>
            <a:r>
              <a:rPr lang="zh-TW" altLang="en-US" dirty="0"/>
              <a:t>自動關閉檔案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375" y="2737661"/>
            <a:ext cx="7925207" cy="1574881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E8B2-5B23-4000-AB61-E0EEBC906E28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2022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714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函數</a:t>
            </a:r>
            <a:endParaRPr lang="zh-TW" altLang="en-US" dirty="0"/>
          </a:p>
        </p:txBody>
      </p:sp>
      <p:sp>
        <p:nvSpPr>
          <p:cNvPr id="8" name="副標題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Functions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BADF8E-B11A-47AB-8383-D7A59C15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3715-BCD9-439B-8BC3-457C6B8DEB5B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A26FB3-CD20-40B1-A211-5EC4FAED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229739-A82F-467E-89AE-10C9E5C39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704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 </a:t>
            </a:r>
            <a:r>
              <a:rPr lang="en-US" altLang="zh-TW" dirty="0"/>
              <a:t>Functions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CFC8-94DF-4CCA-B85F-C248407DB231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32</a:t>
            </a:fld>
            <a:endParaRPr lang="zh-TW" altLang="en-US"/>
          </a:p>
        </p:txBody>
      </p:sp>
      <p:grpSp>
        <p:nvGrpSpPr>
          <p:cNvPr id="13" name="群組 12"/>
          <p:cNvGrpSpPr/>
          <p:nvPr/>
        </p:nvGrpSpPr>
        <p:grpSpPr>
          <a:xfrm>
            <a:off x="2838688" y="1527205"/>
            <a:ext cx="6761840" cy="2070021"/>
            <a:chOff x="844047" y="2242239"/>
            <a:chExt cx="6761840" cy="2070021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2924944"/>
              <a:ext cx="6418263" cy="7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文字方塊 5"/>
            <p:cNvSpPr txBox="1"/>
            <p:nvPr/>
          </p:nvSpPr>
          <p:spPr>
            <a:xfrm>
              <a:off x="844047" y="2242239"/>
              <a:ext cx="12570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>
                  <a:solidFill>
                    <a:srgbClr val="FF0000"/>
                  </a:solidFill>
                </a:rPr>
                <a:t>header</a:t>
              </a:r>
              <a:endParaRPr lang="zh-TW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844047" y="3789040"/>
              <a:ext cx="9412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>
                  <a:solidFill>
                    <a:srgbClr val="FF0000"/>
                  </a:solidFill>
                </a:rPr>
                <a:t>Body</a:t>
              </a:r>
              <a:endParaRPr lang="zh-TW" altLang="en-US" sz="28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直線單箭頭接點 8"/>
            <p:cNvCxnSpPr>
              <a:endCxn id="8" idx="3"/>
            </p:cNvCxnSpPr>
            <p:nvPr/>
          </p:nvCxnSpPr>
          <p:spPr>
            <a:xfrm flipH="1">
              <a:off x="1785330" y="3658369"/>
              <a:ext cx="986470" cy="392281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 flipH="1" flipV="1">
              <a:off x="2081886" y="2564904"/>
              <a:ext cx="1121962" cy="20055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983" y="4653137"/>
            <a:ext cx="3067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534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1876E707-0A10-49E3-BD77-1FD1B1DB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程式碼的結構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C33F269F-AD7A-4E9A-B966-0041D790E9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到目前為止，我們練習寫的程式都在解決單一的簡單問題。</a:t>
            </a:r>
            <a:endParaRPr lang="en-US" altLang="zh-TW" dirty="0"/>
          </a:p>
          <a:p>
            <a:pPr lvl="1"/>
            <a:r>
              <a:rPr lang="zh-TW" altLang="en-US" dirty="0"/>
              <a:t>使用者輸入</a:t>
            </a:r>
            <a:endParaRPr lang="en-US" altLang="zh-TW" dirty="0"/>
          </a:p>
          <a:p>
            <a:pPr lvl="1"/>
            <a:r>
              <a:rPr lang="zh-TW" altLang="en-US" dirty="0"/>
              <a:t>處理訊息</a:t>
            </a:r>
            <a:endParaRPr lang="en-US" altLang="zh-TW" dirty="0"/>
          </a:p>
          <a:p>
            <a:pPr lvl="1"/>
            <a:r>
              <a:rPr lang="zh-TW" altLang="en-US" dirty="0"/>
              <a:t>印出結果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8AA49FD0-D421-4B92-9A29-ECF397619B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當問題變複雜，對切割出來的每個小問題，我們可以視其為一個個的黑箱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對每個黑箱，概念上我們只問三件事</a:t>
            </a:r>
            <a:endParaRPr lang="en-US" altLang="zh-TW" dirty="0"/>
          </a:p>
          <a:p>
            <a:pPr lvl="1"/>
            <a:r>
              <a:rPr lang="zh-TW" altLang="en-US" dirty="0"/>
              <a:t>它需要吃進什麼資訊？</a:t>
            </a:r>
            <a:endParaRPr lang="en-US" altLang="zh-TW" dirty="0"/>
          </a:p>
          <a:p>
            <a:pPr lvl="1"/>
            <a:r>
              <a:rPr lang="zh-TW" altLang="en-US" dirty="0"/>
              <a:t>它對資訊做何處理？</a:t>
            </a:r>
            <a:endParaRPr lang="en-US" altLang="zh-TW" dirty="0"/>
          </a:p>
          <a:p>
            <a:pPr lvl="1"/>
            <a:r>
              <a:rPr lang="zh-TW" altLang="en-US" dirty="0"/>
              <a:t>它需要丟出什麼結果？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86FC61D-3F84-47BD-871A-2736EBD52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91AB-44A6-4086-8513-917297D28963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C22EE42-FF0E-4C72-AA26-F241879C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24DF8C-E205-4607-87B8-334EC373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04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5FFB71-E3DD-4AB7-992D-4E4BA352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函式：切割作業與抽象化的工具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444AF8AF-5A58-4121-BCA6-364E99317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192" y="2060848"/>
            <a:ext cx="8966400" cy="3384376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45D341-7784-4B5F-BC18-B83C717FD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794A-DE37-45D3-93D1-979E1154DBF2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A055C8C-768D-4AF1-A650-37AB306E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1C4044-24FD-473A-A64B-5BD1BA04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53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你使用過的函式</a:t>
            </a:r>
            <a:endParaRPr 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9656" y="2564904"/>
            <a:ext cx="5880402" cy="2521080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AD32-FC37-402C-9EEA-DE4FAF9C2A69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331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515B8E-BB2D-4AEF-8B16-4A7ED313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6FB8974-7733-4AAD-A489-9987A7CD9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496" y="2348880"/>
            <a:ext cx="9759079" cy="1944216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A9A93F-EBC6-43BC-B820-B87C2163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6726-C318-485B-B3B9-8AE63E483DA3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FD259F-8031-416E-9677-81AAB3478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F3A890-3902-480D-8D2B-BB6A95C3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49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D48D10-0D15-4191-89EF-DF7B9215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3223CA-A4BE-420D-807D-E3F313F5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9D24-ED05-46C5-876D-79819C3F6568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094D58-60BD-4AF4-A2A4-58D28FC3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FC1EC1-4413-47BC-89DC-E309B8A27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37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151" y="2711616"/>
            <a:ext cx="4015263" cy="93340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706" y="1778208"/>
            <a:ext cx="4514782" cy="74482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784" y="4167362"/>
            <a:ext cx="4938458" cy="5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0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D5BEB9-4445-4CDE-8094-8CD0F17F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輸出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17F2BA-27D5-4AF1-B29C-5EF927B5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1861-83B3-4104-9CD8-69815E6BC369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9818A3-C0F3-4B2A-8C5B-E70D972C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196D1B-7C95-4477-80A8-6042C5483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38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2171700"/>
            <a:ext cx="7992886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0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呼叫</a:t>
            </a:r>
            <a:r>
              <a:rPr lang="en-US" altLang="zh-TW" dirty="0"/>
              <a:t> (</a:t>
            </a:r>
            <a:r>
              <a:rPr lang="zh-TW" altLang="en-US" dirty="0"/>
              <a:t>使用</a:t>
            </a:r>
            <a:r>
              <a:rPr lang="en-US" altLang="zh-TW" dirty="0"/>
              <a:t>) </a:t>
            </a:r>
            <a:r>
              <a:rPr lang="zh-TW" altLang="en-US" dirty="0"/>
              <a:t>函式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7448" y="2757686"/>
            <a:ext cx="5027546" cy="2255490"/>
          </a:xfrm>
          <a:prstGeom prst="rect">
            <a:avLst/>
          </a:prstGeom>
        </p:spPr>
      </p:pic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定義</a:t>
            </a:r>
            <a:r>
              <a:rPr lang="en-US" dirty="0"/>
              <a:t> </a:t>
            </a:r>
            <a:r>
              <a:rPr lang="en-US" dirty="0" err="1"/>
              <a:t>word_length</a:t>
            </a:r>
            <a:r>
              <a:rPr lang="zh-TW" altLang="en-US" dirty="0"/>
              <a:t>函式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每行用不同的引數呼叫函式，將回傳值裝入不同變數。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每行印出函式回傳值。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AE48-B863-4225-A9A4-00D8CBA73E42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04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18E04D70-9AD0-41B2-9A8C-18B025F7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檢視函數使用時的電腦內部表徵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A2E394D-E417-40E8-8447-A06F933A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FFF2-8B94-417E-A370-016C9DE3212A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EAB1B0-B09E-49AF-B988-6B143F1B0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ADE5FA-06AC-486F-83E6-6D620C2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40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52D3B0-9916-4872-8FF9-012F1D3B376A}"/>
              </a:ext>
            </a:extLst>
          </p:cNvPr>
          <p:cNvSpPr/>
          <p:nvPr/>
        </p:nvSpPr>
        <p:spPr>
          <a:xfrm>
            <a:off x="6036692" y="5954395"/>
            <a:ext cx="5147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https://pythontutor.com/visualize.html#mode=edit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51BD28E-0114-470D-B764-D24958BD1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904" y="1605367"/>
            <a:ext cx="7348591" cy="433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2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函數說明文字</a:t>
            </a:r>
            <a:br>
              <a:rPr lang="en-US" altLang="zh-TW" dirty="0"/>
            </a:br>
            <a:r>
              <a:rPr lang="en-US" altLang="zh-TW" dirty="0" err="1"/>
              <a:t>Docstring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4F1D-A33F-43DC-B4E0-BA70D6596400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41</a:t>
            </a:fld>
            <a:endParaRPr lang="zh-TW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5" y="2492897"/>
            <a:ext cx="4811641" cy="1197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7608169" y="168853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err="1">
                <a:solidFill>
                  <a:srgbClr val="FF0000"/>
                </a:solidFill>
              </a:rPr>
              <a:t>Docstring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8" name="直線單箭頭接點 7"/>
          <p:cNvCxnSpPr>
            <a:endCxn id="7" idx="2"/>
          </p:cNvCxnSpPr>
          <p:nvPr/>
        </p:nvCxnSpPr>
        <p:spPr>
          <a:xfrm flipV="1">
            <a:off x="8227091" y="2211756"/>
            <a:ext cx="191557" cy="625712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20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EC28D-606A-4B22-8E3A-DDE45887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188640"/>
            <a:ext cx="4705350" cy="1485900"/>
          </a:xfrm>
        </p:spPr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docstring</a:t>
            </a:r>
            <a:r>
              <a:rPr lang="zh-TW" altLang="en-US" dirty="0"/>
              <a:t>中描述函式用法與功能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0C2241-462F-4B14-88DF-37F7DF82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5485-E3AD-4C23-8136-1872430F3740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1471966-210D-416A-B8FC-35FD4B5C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F1FAF1-4AA3-4E21-A924-3F7BEF6C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42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630CCFD-DEDE-4774-B8C3-EEB532C99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23" y="404664"/>
            <a:ext cx="5628211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8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函數的使用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5C171-FC25-4F6A-BE62-9A2026275429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43</a:t>
            </a:fld>
            <a:endParaRPr lang="zh-TW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4" y="2060848"/>
            <a:ext cx="4917596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537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63379" y="188640"/>
            <a:ext cx="9601200" cy="1485900"/>
          </a:xfrm>
        </p:spPr>
        <p:txBody>
          <a:bodyPr/>
          <a:lstStyle/>
          <a:p>
            <a:r>
              <a:rPr lang="zh-TW" altLang="en-US" dirty="0"/>
              <a:t>反覆呼叫函數</a:t>
            </a:r>
            <a:br>
              <a:rPr lang="en-US" altLang="zh-TW" dirty="0"/>
            </a:br>
            <a:r>
              <a:rPr lang="en-US" altLang="zh-TW" dirty="0"/>
              <a:t>Repeated Call of Functions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7D18-266D-4355-A49D-E5442C4D8CF4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44</a:t>
            </a:fld>
            <a:endParaRPr lang="zh-TW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1914407"/>
            <a:ext cx="4457104" cy="3819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4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71464" y="228825"/>
            <a:ext cx="9601200" cy="1485900"/>
          </a:xfrm>
        </p:spPr>
        <p:txBody>
          <a:bodyPr/>
          <a:lstStyle/>
          <a:p>
            <a:r>
              <a:rPr lang="zh-TW" altLang="en-US" dirty="0"/>
              <a:t>妥善地組織程式碼</a:t>
            </a:r>
            <a:br>
              <a:rPr lang="en-US" altLang="zh-TW" dirty="0"/>
            </a:br>
            <a:r>
              <a:rPr lang="en-US" altLang="zh-TW" dirty="0"/>
              <a:t>Organize it better in a script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1D8C-4C21-4A2A-BCE7-5B3A6DAAA7B4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45</a:t>
            </a:fld>
            <a:endParaRPr lang="zh-TW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6" y="1844825"/>
            <a:ext cx="3667090" cy="4348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4776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回傳資料的函數</a:t>
            </a:r>
            <a:br>
              <a:rPr lang="en-US" altLang="zh-TW" dirty="0"/>
            </a:br>
            <a:r>
              <a:rPr lang="en-US" altLang="zh-TW" dirty="0"/>
              <a:t>Fruitful Functions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389-02CB-4E00-9AAD-D15149A085CD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124" y="2924945"/>
            <a:ext cx="62579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931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回傳多個值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38252" y="3394040"/>
            <a:ext cx="3314870" cy="1365320"/>
          </a:xfrm>
          <a:prstGeom prst="rect">
            <a:avLst/>
          </a:prstGeom>
        </p:spPr>
      </p:pic>
      <p:pic>
        <p:nvPicPr>
          <p:cNvPr id="9" name="內容版面配置區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13538" y="2787583"/>
            <a:ext cx="2870348" cy="2578233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FA1E-4CD3-461E-87AD-737ECC69235E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202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回傳物件或</a:t>
            </a:r>
            <a:r>
              <a:rPr lang="en-US" altLang="zh-TW" dirty="0"/>
              <a:t>None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81029" y="2917765"/>
            <a:ext cx="4229317" cy="2317869"/>
          </a:xfrm>
          <a:prstGeom prst="rect">
            <a:avLst/>
          </a:prstGeom>
        </p:spPr>
      </p:pic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i="1" dirty="0"/>
              <a:t>T</a:t>
            </a:r>
            <a:r>
              <a:rPr lang="en-US" b="1" dirty="0"/>
              <a:t>akes in a string with kid name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Doesn’t explicitly return anything, so Python returns None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Takes in a string with kid name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Returns a string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Prints “Dora” to the console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Doesn’t print anything to the console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Prints Frank, then None, to the console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Prints Gus to the console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15561-1187-4257-BF80-C868F04C4513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29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回傳物件或</a:t>
            </a:r>
            <a:r>
              <a:rPr lang="en-US" altLang="zh-TW" dirty="0"/>
              <a:t>None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81029" y="2917765"/>
            <a:ext cx="4229317" cy="2317869"/>
          </a:xfrm>
          <a:prstGeom prst="rect">
            <a:avLst/>
          </a:prstGeom>
        </p:spPr>
      </p:pic>
      <p:pic>
        <p:nvPicPr>
          <p:cNvPr id="3" name="內容版面配置區 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1988840"/>
            <a:ext cx="4410206" cy="4104456"/>
          </a:xfr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6EA3-AF7D-4D2B-99E2-2E130E096A19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281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練習：函式回傳值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2610300"/>
            <a:ext cx="4448175" cy="2932799"/>
          </a:xfrm>
          <a:prstGeom prst="rect">
            <a:avLst/>
          </a:prstGeom>
        </p:spPr>
      </p:pic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25402" y="2285999"/>
            <a:ext cx="5115213" cy="358140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sentence = </a:t>
            </a:r>
            <a:r>
              <a:rPr lang="en-US" dirty="0" err="1"/>
              <a:t>make_sentence</a:t>
            </a:r>
            <a:r>
              <a:rPr lang="en-US" dirty="0"/>
              <a:t>(who, thing)</a:t>
            </a:r>
          </a:p>
          <a:p>
            <a:r>
              <a:rPr lang="en-US" dirty="0"/>
              <a:t>print(</a:t>
            </a:r>
            <a:r>
              <a:rPr lang="en-US" dirty="0" err="1"/>
              <a:t>make_sentence</a:t>
            </a:r>
            <a:r>
              <a:rPr lang="en-US" dirty="0"/>
              <a:t>(who, what))</a:t>
            </a:r>
          </a:p>
          <a:p>
            <a:r>
              <a:rPr lang="en-US" dirty="0" err="1"/>
              <a:t>your_story</a:t>
            </a:r>
            <a:r>
              <a:rPr lang="en-US" dirty="0"/>
              <a:t> = </a:t>
            </a:r>
            <a:r>
              <a:rPr lang="en-US" dirty="0" err="1"/>
              <a:t>show_story</a:t>
            </a:r>
            <a:r>
              <a:rPr lang="en-US" dirty="0"/>
              <a:t>(who, what, number, thing)</a:t>
            </a:r>
          </a:p>
          <a:p>
            <a:r>
              <a:rPr lang="en-US" dirty="0" err="1"/>
              <a:t>my_story</a:t>
            </a:r>
            <a:r>
              <a:rPr lang="en-US" dirty="0"/>
              <a:t> = </a:t>
            </a:r>
            <a:r>
              <a:rPr lang="en-US" dirty="0" err="1"/>
              <a:t>show_story</a:t>
            </a:r>
            <a:r>
              <a:rPr lang="en-US" dirty="0"/>
              <a:t>(sentence, what, number, thing)</a:t>
            </a:r>
          </a:p>
          <a:p>
            <a:r>
              <a:rPr lang="en-US" dirty="0"/>
              <a:t>print(</a:t>
            </a:r>
            <a:r>
              <a:rPr lang="en-US" dirty="0" err="1"/>
              <a:t>your_story</a:t>
            </a:r>
            <a:r>
              <a:rPr lang="en-US" dirty="0"/>
              <a:t>)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2E5F-78D7-4A05-9CC3-2FF2118E4217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74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變數的可視域</a:t>
            </a:r>
            <a:br>
              <a:rPr lang="en-US" altLang="zh-TW" dirty="0"/>
            </a:br>
            <a:r>
              <a:rPr lang="en-US" altLang="zh-TW" dirty="0"/>
              <a:t>Scopes of Variables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F94A-FB23-4C9B-9269-13C9B47A400F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51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8445050" y="1656096"/>
            <a:ext cx="2055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Stack diagram</a:t>
            </a:r>
            <a:endParaRPr lang="zh-TW" altLang="en-US" sz="24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171700"/>
            <a:ext cx="4210266" cy="397530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940" y="2203621"/>
            <a:ext cx="5899453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9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使用函數的好處</a:t>
            </a:r>
            <a:br>
              <a:rPr lang="en-US" altLang="zh-TW" dirty="0"/>
            </a:br>
            <a:r>
              <a:rPr lang="en-US" altLang="zh-TW" dirty="0"/>
              <a:t>Advantages of Having Functions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提高可讀性 </a:t>
            </a:r>
            <a:r>
              <a:rPr lang="en-US" altLang="zh-TW" dirty="0"/>
              <a:t>Readability</a:t>
            </a:r>
          </a:p>
          <a:p>
            <a:pPr lvl="1"/>
            <a:r>
              <a:rPr lang="zh-TW" altLang="en-US" dirty="0"/>
              <a:t>將重複的程式碼區塊化放在一起，給予名稱，增加可讀性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提高可修改性 </a:t>
            </a:r>
            <a:r>
              <a:rPr lang="en-US" altLang="zh-TW" dirty="0"/>
              <a:t>Modifiability</a:t>
            </a:r>
          </a:p>
          <a:p>
            <a:pPr lvl="1"/>
            <a:r>
              <a:rPr lang="zh-TW" altLang="en-US" dirty="0"/>
              <a:t>修改與函數相關功能時，只要改函數，不需要遍尋整個程式檔</a:t>
            </a:r>
            <a:endParaRPr lang="en-US" altLang="zh-TW" dirty="0"/>
          </a:p>
          <a:p>
            <a:pPr lvl="1"/>
            <a:r>
              <a:rPr lang="zh-TW" altLang="en-US" dirty="0"/>
              <a:t>縮短程式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F0D78-1083-4084-A642-DFE1760E7A92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512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0027A5-478C-4242-8E0B-EE4BAE11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用函式作業模組化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DDE34-637F-4CB6-99D7-A50246003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將一個龐大的作業切割為數個小作業 （</a:t>
            </a:r>
            <a:r>
              <a:rPr lang="en-US" altLang="zh-TW" dirty="0"/>
              <a:t>tasks</a:t>
            </a:r>
            <a:r>
              <a:rPr lang="zh-TW" altLang="en-US" dirty="0"/>
              <a:t>）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把執行細節重新包裝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安排作業間的關係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C3F31D-8F24-4BF5-9E7E-9AD5F49C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4BEA-85D6-4CEF-B72D-E1BC87105F9D}" type="datetime1">
              <a:rPr lang="en-US" altLang="zh-TW" smtClean="0"/>
              <a:t>3/5/2026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484DAA-B6EF-434C-9BD2-20D5A4D6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2023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F2803F-E32F-4177-9280-EB8C8F36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16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3.0.5724"/>
  <p:tag name="SLIDO_PRESENTATION_ID" val="3503345f-5125-4760-823f-2e8e2a60e9a1"/>
  <p:tag name="SLIDO_EVENT_UUID" val="9f01878d-775c-475b-a82f-25ec57480eb1"/>
  <p:tag name="SLIDO_EVENT_SECTION_UUID" val="fc18856c-4aaa-4964-b06c-794514368f9e"/>
</p:tagLst>
</file>

<file path=ppt/theme/theme1.xml><?xml version="1.0" encoding="utf-8"?>
<a:theme xmlns:a="http://schemas.openxmlformats.org/drawingml/2006/main" name="Swell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2E7"/>
      </a:lt2>
      <a:accent1>
        <a:srgbClr val="7DAD88"/>
      </a:accent1>
      <a:accent2>
        <a:srgbClr val="6FAC96"/>
      </a:accent2>
      <a:accent3>
        <a:srgbClr val="7DA9AC"/>
      </a:accent3>
      <a:accent4>
        <a:srgbClr val="7B9EBE"/>
      </a:accent4>
      <a:accent5>
        <a:srgbClr val="9399CA"/>
      </a:accent5>
      <a:accent6>
        <a:srgbClr val="8F7BBE"/>
      </a:accent6>
      <a:hlink>
        <a:srgbClr val="AE699F"/>
      </a:hlink>
      <a:folHlink>
        <a:srgbClr val="7F7F7F"/>
      </a:folHlink>
    </a:clrScheme>
    <a:fontScheme name="自訂 6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1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B60585-45DD-4756-8BFA-050389CF340D}">
  <we:reference id="wa200004052" version="1.0.0.2" store="zh-TW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documentclass{article}\n\\usepackage{amsmath}\n\\begin{document}\n\n\n\\begin{aligned}\n&amp; \\mathrm{H}_0: \\mu = 30 \\\\\n&amp; \\mathrm{H}_1: \\mu \\neq 30\n\\end{aligned}\n\n\n\\end{document}\n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6402</TotalTime>
  <Words>1266</Words>
  <Application>Microsoft Office PowerPoint</Application>
  <PresentationFormat>寬螢幕</PresentationFormat>
  <Paragraphs>294</Paragraphs>
  <Slides>53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59" baseType="lpstr">
      <vt:lpstr>微軟正黑體</vt:lpstr>
      <vt:lpstr>Aptos</vt:lpstr>
      <vt:lpstr>Arial</vt:lpstr>
      <vt:lpstr>Neue Haas Grotesk Text Pro</vt:lpstr>
      <vt:lpstr>Wingdings</vt:lpstr>
      <vt:lpstr>SwellVTI</vt:lpstr>
      <vt:lpstr>Flow Control Data I/O</vt:lpstr>
      <vt:lpstr>Flow Control</vt:lpstr>
      <vt:lpstr>條件判斷</vt:lpstr>
      <vt:lpstr>PowerPoint 簡報</vt:lpstr>
      <vt:lpstr>Conditional Execution 條件化的執行 </vt:lpstr>
      <vt:lpstr>Alternative Execution</vt:lpstr>
      <vt:lpstr>Chained Conditionals</vt:lpstr>
      <vt:lpstr>Practice</vt:lpstr>
      <vt:lpstr>PowerPoint 簡報</vt:lpstr>
      <vt:lpstr>巢狀條件判斷 Nested Conditionals</vt:lpstr>
      <vt:lpstr>PowerPoint 簡報</vt:lpstr>
      <vt:lpstr>迴圈</vt:lpstr>
      <vt:lpstr>while</vt:lpstr>
      <vt:lpstr>無窮迴圈 Endless Loop</vt:lpstr>
      <vt:lpstr>for</vt:lpstr>
      <vt:lpstr>Nested for</vt:lpstr>
      <vt:lpstr>Practice</vt:lpstr>
      <vt:lpstr>PowerPoint 簡報</vt:lpstr>
      <vt:lpstr>continue &amp; break</vt:lpstr>
      <vt:lpstr>Practice</vt:lpstr>
      <vt:lpstr>迴圈語法 (loop syntax)</vt:lpstr>
      <vt:lpstr>解開迴圈</vt:lpstr>
      <vt:lpstr>迴圈練習#1</vt:lpstr>
      <vt:lpstr>迴圈練習#2：印出下列圖形 </vt:lpstr>
      <vt:lpstr>兩種for迴圈，一樣結果</vt:lpstr>
      <vt:lpstr>基本檔案讀寫</vt:lpstr>
      <vt:lpstr>將文字檔內容讀入python環境</vt:lpstr>
      <vt:lpstr>將文字檔內容寫入python環境</vt:lpstr>
      <vt:lpstr>一次只寫一部份</vt:lpstr>
      <vt:lpstr>用with自動關閉檔案</vt:lpstr>
      <vt:lpstr>函數</vt:lpstr>
      <vt:lpstr>函數 Functions</vt:lpstr>
      <vt:lpstr>程式碼的結構</vt:lpstr>
      <vt:lpstr>函式：切割作業與抽象化的工具</vt:lpstr>
      <vt:lpstr>你使用過的函式</vt:lpstr>
      <vt:lpstr>練習</vt:lpstr>
      <vt:lpstr>運算</vt:lpstr>
      <vt:lpstr>輸出</vt:lpstr>
      <vt:lpstr>呼叫 (使用) 函式</vt:lpstr>
      <vt:lpstr>檢視函數使用時的電腦內部表徵</vt:lpstr>
      <vt:lpstr>函數說明文字 Docstring</vt:lpstr>
      <vt:lpstr>在docstring中描述函式用法與功能</vt:lpstr>
      <vt:lpstr>函數的使用</vt:lpstr>
      <vt:lpstr>反覆呼叫函數 Repeated Call of Functions</vt:lpstr>
      <vt:lpstr>妥善地組織程式碼 Organize it better in a script</vt:lpstr>
      <vt:lpstr>回傳資料的函數 Fruitful Functions</vt:lpstr>
      <vt:lpstr>回傳多個值</vt:lpstr>
      <vt:lpstr>回傳物件或None</vt:lpstr>
      <vt:lpstr>回傳物件或None</vt:lpstr>
      <vt:lpstr>練習：函式回傳值</vt:lpstr>
      <vt:lpstr>變數的可視域 Scopes of Variables</vt:lpstr>
      <vt:lpstr>使用函數的好處 Advantages of Having Functions</vt:lpstr>
      <vt:lpstr>用函式作業模組化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張智宏  (audachang)</dc:creator>
  <cp:lastModifiedBy>Erik Chang</cp:lastModifiedBy>
  <cp:revision>205</cp:revision>
  <cp:lastPrinted>2026-03-04T16:10:02Z</cp:lastPrinted>
  <dcterms:created xsi:type="dcterms:W3CDTF">2024-10-23T10:48:05Z</dcterms:created>
  <dcterms:modified xsi:type="dcterms:W3CDTF">2026-03-04T16:10:22Z</dcterms:modified>
</cp:coreProperties>
</file>