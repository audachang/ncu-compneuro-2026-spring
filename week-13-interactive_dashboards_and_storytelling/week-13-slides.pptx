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8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32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2286000"/>
            <a:ext cx="164592" cy="23774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WEEK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97480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>
                <a:solidFill>
                  <a:srgbClr val="1A1A2E"/>
                </a:solidFill>
                <a:latin typeface="Microsoft JhengHei"/>
              </a:rPr>
              <a:t>互動式儀表板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2044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0D9B9B"/>
                </a:solidFill>
                <a:latin typeface="Microsoft JhengHei"/>
              </a:rPr>
              <a:t>與資料敘事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4348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5F6B83"/>
                </a:solidFill>
                <a:latin typeface="Microsoft JhengHei"/>
              </a:rPr>
              <a:t>用兩個真實大型資料集走完整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4864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B83"/>
                </a:solidFill>
                <a:latin typeface="Calibri"/>
              </a:rPr>
              <a:t>NS5116 · Programming &amp; AI Applications in Behavioral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521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F6B83"/>
                </a:solidFill>
                <a:latin typeface="Calibri"/>
              </a:rPr>
              <a:t>ACL@NCU  ·  Spring 2026  ·  2026-05-21  ·  張智宏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本週動機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好的儀表板不是把所有圖塞進一頁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一張好的圖應該回答一個明確的問題</a:t>
            </a: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讀者既要能自由探索，也要被引導看到結論</a:t>
            </a: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互動性 (可 hover、可放大、可 filter) 是網頁圖表的關鍵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931920"/>
            <a:ext cx="5212080" cy="18288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3931920"/>
            <a:ext cx="54864" cy="182880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411480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D34F4F"/>
                </a:solidFill>
                <a:latin typeface="Microsoft JhengHei"/>
              </a:rPr>
              <a:t>✗  雜亂的圖表牆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70916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icrosoft JhengHei"/>
              </a:rPr>
              <a:t>所有變數都塞一張圖；沒有先後順序；讀者迷路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3931920"/>
            <a:ext cx="5212080" cy="18288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55080" y="3931920"/>
            <a:ext cx="54864" cy="18288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411480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2E8B57"/>
                </a:solidFill>
                <a:latin typeface="Microsoft JhengHei"/>
              </a:rPr>
              <a:t>✓  有順序的儀表板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70916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icrosoft JhengHei"/>
              </a:rPr>
              <a:t>從整體到細節；一張圖一個結論；annotation 引導視線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13 — Interactive Dashboards &amp; Data Storytelling  ·  ACL@NCU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今天的兩個資料集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差別只在「資料怎麼取得」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F6B83"/>
                </a:solidFill>
                <a:latin typeface="Microsoft JhengHei"/>
              </a:rPr>
              <a:t>Week 12 學的「載入→清理→描述→分析」流程，今天兩份真實資料各跑一遍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68880"/>
            <a:ext cx="5212080" cy="3200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468880"/>
            <a:ext cx="91440" cy="32004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69748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D9B9B"/>
                </a:solidFill>
                <a:latin typeface="Microsoft JhengHei"/>
              </a:rPr>
              <a:t>資料 A · PsyArXiv 心理學論文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375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B83"/>
                </a:solidFill>
                <a:latin typeface="Consolas"/>
              </a:rPr>
              <a:t>OSF API · 即時 REST 介面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8620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Microsoft JhengHei"/>
              </a:rPr>
              <a:t>約 1,000 篇最新心理學 preprint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5262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F6B83"/>
                </a:solidFill>
                <a:latin typeface="Microsoft JhengHei"/>
              </a:rPr>
              <a:t>重點技巧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9204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D9B9B"/>
                </a:solidFill>
                <a:latin typeface="Microsoft JhengHei"/>
              </a:rPr>
              <a:t>技巧：分頁抓取 + 把 JSON 攤平成表格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468880"/>
            <a:ext cx="5212080" cy="3200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2468880"/>
            <a:ext cx="91440" cy="3200400"/>
          </a:xfrm>
          <a:prstGeom prst="rect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269748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97116"/>
                </a:solidFill>
                <a:latin typeface="Microsoft JhengHei"/>
              </a:rPr>
              <a:t>資料 B · 教育部高教統計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3375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B83"/>
                </a:solidFill>
                <a:latin typeface="Consolas"/>
              </a:rPr>
              <a:t>stats.moe.gov.tw · 公開 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88620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Microsoft JhengHei"/>
              </a:rPr>
              <a:t>105–113 學年度共約 7,200 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5262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F6B83"/>
                </a:solidFill>
                <a:latin typeface="Microsoft JhengHei"/>
              </a:rPr>
              <a:t>重點技巧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89204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97116"/>
                </a:solidFill>
                <a:latin typeface="Microsoft JhengHei"/>
              </a:rPr>
              <a:t>技巧：跨年度合併 + 中文欄位清理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897880"/>
            <a:ext cx="10515600" cy="41148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" y="5897880"/>
            <a:ext cx="91440" cy="41148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88720" y="6080760"/>
            <a:ext cx="9966960" cy="45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4325C"/>
                </a:solidFill>
                <a:latin typeface="Microsoft JhengHei"/>
              </a:rPr>
              <a:t>資料載進來之後，清理、分析、畫圖的程式碼幾乎一模一樣。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13 — Interactive Dashboards &amp; Data Storytelling  ·  ACL@NCU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今天的學習目標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下課後你會⋯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0D9B9B"/>
                </a:solidFill>
                <a:latin typeface="Calibri"/>
              </a:rPr>
              <a:t>▸  </a:t>
            </a:r>
            <a:r>
              <a:rPr sz="1900">
                <a:solidFill>
                  <a:srgbClr val="1A1A2E"/>
                </a:solidFill>
                <a:latin typeface="Microsoft JhengHei"/>
              </a:rPr>
              <a:t>從網路 API 用「分頁」方式抓取上千筆資料</a:t>
            </a:r>
          </a:p>
          <a:p>
            <a:pPr algn="l">
              <a:lnSpc>
                <a:spcPct val="125000"/>
              </a:lnSpc>
              <a:spcBef>
                <a:spcPts val="855"/>
              </a:spcBef>
            </a:pPr>
            <a:r>
              <a:rPr sz="1900" b="1">
                <a:solidFill>
                  <a:srgbClr val="0D9B9B"/>
                </a:solidFill>
                <a:latin typeface="Calibri"/>
              </a:rPr>
              <a:t>▸  </a:t>
            </a:r>
            <a:r>
              <a:rPr sz="1900">
                <a:solidFill>
                  <a:srgbClr val="1A1A2E"/>
                </a:solidFill>
                <a:latin typeface="Microsoft JhengHei"/>
              </a:rPr>
              <a:t>把巢狀的 JSON 攤平成一張表格 (DataFrame)</a:t>
            </a:r>
          </a:p>
          <a:p>
            <a:pPr algn="l">
              <a:lnSpc>
                <a:spcPct val="125000"/>
              </a:lnSpc>
              <a:spcBef>
                <a:spcPts val="855"/>
              </a:spcBef>
            </a:pPr>
            <a:r>
              <a:rPr sz="1900" b="1">
                <a:solidFill>
                  <a:srgbClr val="0D9B9B"/>
                </a:solidFill>
                <a:latin typeface="Calibri"/>
              </a:rPr>
              <a:t>▸  </a:t>
            </a:r>
            <a:r>
              <a:rPr sz="1900">
                <a:solidFill>
                  <a:srgbClr val="1A1A2E"/>
                </a:solidFill>
                <a:latin typeface="Microsoft JhengHei"/>
              </a:rPr>
              <a:t>用 pd.concat 合併多年度的 CSV，處理欄位不一致</a:t>
            </a:r>
          </a:p>
          <a:p>
            <a:pPr algn="l">
              <a:lnSpc>
                <a:spcPct val="125000"/>
              </a:lnSpc>
              <a:spcBef>
                <a:spcPts val="855"/>
              </a:spcBef>
            </a:pPr>
            <a:r>
              <a:rPr sz="1900" b="1">
                <a:solidFill>
                  <a:srgbClr val="0D9B9B"/>
                </a:solidFill>
                <a:latin typeface="Calibri"/>
              </a:rPr>
              <a:t>▸  </a:t>
            </a:r>
            <a:r>
              <a:rPr sz="1900">
                <a:solidFill>
                  <a:srgbClr val="1A1A2E"/>
                </a:solidFill>
                <a:latin typeface="Microsoft JhengHei"/>
              </a:rPr>
              <a:t>用 Plotly 畫互動式的長條圖、折線圖、散布圖</a:t>
            </a:r>
          </a:p>
          <a:p>
            <a:pPr algn="l">
              <a:lnSpc>
                <a:spcPct val="125000"/>
              </a:lnSpc>
              <a:spcBef>
                <a:spcPts val="855"/>
              </a:spcBef>
            </a:pPr>
            <a:r>
              <a:rPr sz="1900" b="1">
                <a:solidFill>
                  <a:srgbClr val="0D9B9B"/>
                </a:solidFill>
                <a:latin typeface="Calibri"/>
              </a:rPr>
              <a:t>▸  </a:t>
            </a:r>
            <a:r>
              <a:rPr sz="1900">
                <a:solidFill>
                  <a:srgbClr val="1A1A2E"/>
                </a:solidFill>
                <a:latin typeface="Microsoft JhengHei"/>
              </a:rPr>
              <a:t>把圖表嵌入 Streamlit 網頁</a:t>
            </a:r>
          </a:p>
          <a:p>
            <a:pPr algn="l">
              <a:lnSpc>
                <a:spcPct val="125000"/>
              </a:lnSpc>
              <a:spcBef>
                <a:spcPts val="855"/>
              </a:spcBef>
            </a:pPr>
            <a:r>
              <a:rPr sz="1900" b="1">
                <a:solidFill>
                  <a:srgbClr val="0D9B9B"/>
                </a:solidFill>
                <a:latin typeface="Calibri"/>
              </a:rPr>
              <a:t>▸  </a:t>
            </a:r>
            <a:r>
              <a:rPr sz="1900">
                <a:solidFill>
                  <a:srgbClr val="1A1A2E"/>
                </a:solidFill>
                <a:latin typeface="Microsoft JhengHei"/>
              </a:rPr>
              <a:t>用 annotation 與圖表說明，告訴讀者「為什麼這張圖重要」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13 — Interactive Dashboards &amp; Data Storytelling  ·  ACL@NCU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今天的開發環境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在 Windows 怎麼跑今天的 demo？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D9B9B"/>
                </a:solidFill>
                <a:latin typeface="Microsoft JhengHei"/>
              </a:rPr>
              <a:t>方式 1 — PowerShell 一次跑完整支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5394960" cy="21945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182880" bIns="164592" rtlCol="0" anchor="ctr"/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8B9DB8"/>
                </a:solidFill>
                <a:latin typeface="Consolas"/>
              </a:rPr>
              <a:t># 切到 code 資料夾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PS&gt; cd .\week-13-...\code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8B9DB8"/>
                </a:solidFill>
                <a:latin typeface="Consolas"/>
              </a:rPr>
              <a:t># 跑整支腳本，看完整結果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PS&gt; python .\osf_psyarxiv_pipeline.py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PS&gt; python .\moe_higher_ed_pipeline.py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D9B9B"/>
                </a:solidFill>
                <a:latin typeface="Microsoft JhengHei"/>
              </a:rPr>
              <a:t>方式 2 — VS Code 一格一格跑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539496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D9B9B"/>
                </a:solidFill>
                <a:latin typeface="Calibri"/>
              </a:rPr>
              <a:t>▸  </a:t>
            </a:r>
            <a:r>
              <a:rPr sz="1400">
                <a:solidFill>
                  <a:srgbClr val="1A1A2E"/>
                </a:solidFill>
                <a:latin typeface="Microsoft JhengHei"/>
              </a:rPr>
              <a:t>打開 .ipynb 檔（同個資料夾）</a:t>
            </a:r>
          </a:p>
          <a:p>
            <a:pPr algn="l">
              <a:lnSpc>
                <a:spcPct val="125000"/>
              </a:lnSpc>
              <a:spcBef>
                <a:spcPts val="630"/>
              </a:spcBef>
            </a:pPr>
            <a:r>
              <a:rPr sz="1400" b="1">
                <a:solidFill>
                  <a:srgbClr val="0D9B9B"/>
                </a:solidFill>
                <a:latin typeface="Calibri"/>
              </a:rPr>
              <a:t>▸  </a:t>
            </a:r>
            <a:r>
              <a:rPr sz="1400">
                <a:solidFill>
                  <a:srgbClr val="1A1A2E"/>
                </a:solidFill>
                <a:latin typeface="Microsoft JhengHei"/>
              </a:rPr>
              <a:t>右上角選 Python 直譯器 (Python 3.10+)</a:t>
            </a:r>
          </a:p>
          <a:p>
            <a:pPr algn="l">
              <a:lnSpc>
                <a:spcPct val="125000"/>
              </a:lnSpc>
              <a:spcBef>
                <a:spcPts val="630"/>
              </a:spcBef>
            </a:pPr>
            <a:r>
              <a:rPr sz="1400" b="1">
                <a:solidFill>
                  <a:srgbClr val="0D9B9B"/>
                </a:solidFill>
                <a:latin typeface="Calibri"/>
              </a:rPr>
              <a:t>▸  </a:t>
            </a:r>
            <a:r>
              <a:rPr sz="1400">
                <a:solidFill>
                  <a:srgbClr val="1A1A2E"/>
                </a:solidFill>
                <a:latin typeface="Microsoft JhengHei"/>
              </a:rPr>
              <a:t>Shift+Enter 一格一格跑，看每段輸出</a:t>
            </a:r>
          </a:p>
          <a:p>
            <a:pPr algn="l">
              <a:lnSpc>
                <a:spcPct val="125000"/>
              </a:lnSpc>
              <a:spcBef>
                <a:spcPts val="630"/>
              </a:spcBef>
            </a:pPr>
            <a:r>
              <a:rPr sz="1400" b="1">
                <a:solidFill>
                  <a:srgbClr val="0D9B9B"/>
                </a:solidFill>
                <a:latin typeface="Calibri"/>
              </a:rPr>
              <a:t>▸  </a:t>
            </a:r>
            <a:r>
              <a:rPr sz="1400">
                <a:solidFill>
                  <a:srgbClr val="1A1A2E"/>
                </a:solidFill>
                <a:latin typeface="Microsoft JhengHei"/>
              </a:rPr>
              <a:t>適合上課跟著老師一步一步走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D9B9B"/>
                </a:solidFill>
                <a:latin typeface="Microsoft JhengHei"/>
              </a:rPr>
              <a:t>方式 3 — IPython 互動式 (REPL)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074920"/>
            <a:ext cx="1051560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182880" bIns="164592" rtlCol="0" anchor="ctr"/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PS&gt; ipython                       # 啟動 IPython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In [1]: import pandas as pd       # 一邊輸入一邊看結果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In [2]: df = pd.read_csv("moe_higher_ed.csv")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In [3]: df.head()                 # 立即看表格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13 — Interactive Dashboards &amp; Data Storytelling  ·  ACL@NCU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認識 PLOTLY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為什麼這週要學 Plotly？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Matplotlib 我們已經會用了 — 但它畫的是 *靜態* 圖（給論文 PDF 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Plotly 畫的是「會動的圖」：滑鼠移過去看數值、可放大、按 legend 篩選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283464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要做什麼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Matplotlib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Plotly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2E"/>
                          </a:solidFill>
                          <a:latin typeface="Microsoft JhengHei"/>
                        </a:rPr>
                        <a:t>論文 figure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推薦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PDF 流程不友善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2E"/>
                          </a:solidFill>
                          <a:latin typeface="Microsoft JhengHei"/>
                        </a:rPr>
                        <a:t>資料探索 (邊看邊調)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沒有 hover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移過去就有數值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2E"/>
                          </a:solidFill>
                          <a:latin typeface="Microsoft JhengHei"/>
                        </a:rPr>
                        <a:t>放到 Streamlit 網頁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只能存圖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直接互動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2E"/>
                          </a:solidFill>
                          <a:latin typeface="Microsoft JhengHei"/>
                        </a:rPr>
                        <a:t>Jupyter / VS Code notebook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可以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可以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22960" y="5212080"/>
            <a:ext cx="10515600" cy="64008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5212080"/>
            <a:ext cx="91440" cy="64008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5394960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4325C"/>
                </a:solidFill>
                <a:latin typeface="Microsoft JhengHei"/>
              </a:rPr>
              <a:t>Plotly 不取代 Matplotlib。論文還是 Matplotlib，網頁儀表板用 Plotly。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13 — Interactive Dashboards &amp; Data Storytelling  ·  ACL@NCU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PLOTLY EXPRESS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Plotly Express：一行函式畫一張圖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6766560" cy="3200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182880" bIns="164592" rtlCol="0" anchor="ctr"/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import plotly.express as px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import streamlit as st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8B9DB8"/>
                </a:solidFill>
                <a:latin typeface="Consolas"/>
              </a:rPr>
              <a:t># 一個 px.bar 呼叫 = 一張完整 bar chart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fig = px.bar(df, x="city", y="n_students",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         color="sector", barmode="group")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8B9DB8"/>
                </a:solidFill>
                <a:latin typeface="Consolas"/>
              </a:rPr>
              <a:t># 把這個 figure 物件直接交給 streamlit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st.plotly_chart(fig, use_container_width=True)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18288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D9B9B"/>
                </a:solidFill>
                <a:latin typeface="Microsoft JhengHei"/>
              </a:rPr>
              <a:t>今天會用到的三個函式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331720"/>
            <a:ext cx="41148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onsolas"/>
              </a:rPr>
              <a:t>px.bar()    類別比較</a:t>
            </a:r>
          </a:p>
          <a:p>
            <a:pPr algn="l">
              <a:lnSpc>
                <a:spcPct val="125000"/>
              </a:lnSpc>
              <a:spcBef>
                <a:spcPts val="675"/>
              </a:spcBef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onsolas"/>
              </a:rPr>
              <a:t>px.line()   時間趨勢</a:t>
            </a:r>
          </a:p>
          <a:p>
            <a:pPr algn="l">
              <a:lnSpc>
                <a:spcPct val="125000"/>
              </a:lnSpc>
              <a:spcBef>
                <a:spcPts val="675"/>
              </a:spcBef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onsolas"/>
              </a:rPr>
              <a:t>px.scatter() 兩變數關係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9319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D9B9B"/>
                </a:solidFill>
                <a:latin typeface="Microsoft JhengHei"/>
              </a:rPr>
              <a:t>嵌進 Streamlit 的要點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4434840"/>
            <a:ext cx="4114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D9B9B"/>
                </a:solidFill>
                <a:latin typeface="Calibri"/>
              </a:rPr>
              <a:t>▸  </a:t>
            </a:r>
            <a:r>
              <a:rPr sz="1400">
                <a:solidFill>
                  <a:srgbClr val="1A1A2E"/>
                </a:solidFill>
                <a:latin typeface="Microsoft JhengHei"/>
              </a:rPr>
              <a:t>不用先呼叫 .show()</a:t>
            </a:r>
          </a:p>
          <a:p>
            <a:pPr algn="l">
              <a:lnSpc>
                <a:spcPct val="125000"/>
              </a:lnSpc>
              <a:spcBef>
                <a:spcPts val="630"/>
              </a:spcBef>
            </a:pPr>
            <a:r>
              <a:rPr sz="1400" b="1">
                <a:solidFill>
                  <a:srgbClr val="0D9B9B"/>
                </a:solidFill>
                <a:latin typeface="Calibri"/>
              </a:rPr>
              <a:t>▸  </a:t>
            </a:r>
            <a:r>
              <a:rPr sz="1400">
                <a:solidFill>
                  <a:srgbClr val="1A1A2E"/>
                </a:solidFill>
                <a:latin typeface="Microsoft JhengHei"/>
              </a:rPr>
              <a:t>use_container_width=True 讓圖隨欄寬縮放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5852160"/>
            <a:ext cx="73152" cy="4572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" y="594360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D9B9B"/>
                </a:solidFill>
                <a:latin typeface="Calibri"/>
              </a:rPr>
              <a:t>▶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59436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在 IPython 試一下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5943600"/>
            <a:ext cx="44805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325C"/>
                </a:solidFill>
                <a:latin typeface="Consolas"/>
              </a:rPr>
              <a:t>import plotly.express as px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13 — Interactive Dashboards &amp; Data Storytelling  ·  ACL@NCU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資料 A · PSYARXIV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心理學界最近在討論什麼？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4325C"/>
                </a:solidFill>
                <a:latin typeface="Microsoft JhengHei"/>
              </a:rPr>
              <a:t>PsyArXiv — 心理學界主要的論文預印本網站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F6B83"/>
                </a:solidFill>
                <a:latin typeface="Microsoft JhengHei"/>
              </a:rPr>
              <a:t>Preprint (預印本) = 還沒正式審查的論文，但作者把它公開讓大家看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由 COS (開放科學中心) 維運，每天有數十篇新論文上傳</a:t>
            </a:r>
          </a:p>
          <a:p>
            <a:pPr algn="l">
              <a:lnSpc>
                <a:spcPct val="125000"/>
              </a:lnSpc>
              <a:spcBef>
                <a:spcPts val="675"/>
              </a:spcBef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用 REST API 取得 — 等於「網址 = 問題，回傳 JSON = 答案」</a:t>
            </a:r>
          </a:p>
          <a:p>
            <a:pPr algn="l">
              <a:lnSpc>
                <a:spcPct val="125000"/>
              </a:lnSpc>
              <a:spcBef>
                <a:spcPts val="675"/>
              </a:spcBef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每篇都有標題、tags (作者自填關鍵字)、subjects (主題分類)、日期</a:t>
            </a:r>
          </a:p>
          <a:p>
            <a:pPr algn="l">
              <a:lnSpc>
                <a:spcPct val="125000"/>
              </a:lnSpc>
              <a:spcBef>
                <a:spcPts val="675"/>
              </a:spcBef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正好用來練：API 抓取、分頁、把 JSON 攤平成表格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572000"/>
            <a:ext cx="10515600" cy="132588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4572000"/>
            <a:ext cx="54864" cy="132588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D9B9B"/>
                </a:solidFill>
                <a:latin typeface="Microsoft JhengHei"/>
              </a:rPr>
              <a:t>拿到一筆 preprint 大概長這樣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029200"/>
            <a:ext cx="100584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onsolas"/>
              </a:rPr>
              <a:t>title          : "Future self-continuity &amp; intergenerational concern"
date_published : 2026-05-13
primary_subject: Cognitive Neuroscience
n_tags         : 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5852160"/>
            <a:ext cx="73152" cy="45720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594360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8A12A"/>
                </a:solidFill>
                <a:latin typeface="Calibri"/>
              </a:rPr>
              <a:t>▶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59436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VS Code 打開 .ipynb 跟著做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5943600"/>
            <a:ext cx="44805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325C"/>
                </a:solidFill>
                <a:latin typeface="Consolas"/>
              </a:rPr>
              <a:t>code/osf_psyarxiv_pipeline.ipynb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13 — Interactive Dashboards &amp; Data Storytelling  ·  ACL@NCU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資料 A · 分頁 (PAGINATION)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為什麼不能只抓第一頁就好？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「分頁」(pagination) — 想像成 Google 搜尋每頁只給你 10 個結果，要看更多得按下一頁。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51560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OSF API 一次最多回 100 筆 — 抓 1,000 筆要做 10 次呼叫</a:t>
            </a:r>
          </a:p>
          <a:p>
            <a:pPr algn="l">
              <a:lnSpc>
                <a:spcPct val="125000"/>
              </a:lnSpc>
              <a:spcBef>
                <a:spcPts val="675"/>
              </a:spcBef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for 迴圈跑 page=1,2,...,10，把每次的結果累積起來</a:t>
            </a:r>
          </a:p>
          <a:p>
            <a:pPr algn="l">
              <a:lnSpc>
                <a:spcPct val="125000"/>
              </a:lnSpc>
              <a:spcBef>
                <a:spcPts val="675"/>
              </a:spcBef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每次呼叫之間 time.sleep(0.3) — 對 server 禮貌，避免被封鎖</a:t>
            </a:r>
          </a:p>
          <a:p>
            <a:pPr algn="l">
              <a:lnSpc>
                <a:spcPct val="125000"/>
              </a:lnSpc>
              <a:spcBef>
                <a:spcPts val="675"/>
              </a:spcBef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r.raise_for_status() — 如果伺服器回錯誤，立刻停下來，不要繼續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297680"/>
            <a:ext cx="10515600" cy="15087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182880" bIns="164592" rtlCol="0" anchor="ctr"/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for page in range(1, n_pages + 1):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params = {"page": page, "page[size]": 100,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          "sort": "-date_published"}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r = requests.get(OSF_ENDPOINT, params=params, timeout=30)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r.raise_for_status()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all_items.extend(r.json().get("data", []))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time.sleep(0.3)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5852160"/>
            <a:ext cx="73152" cy="45720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594360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8A12A"/>
                </a:solidFill>
                <a:latin typeface="Calibri"/>
              </a:rPr>
              <a:t>▶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59436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在 .ipynb 第 3 格看 pagination 跑動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59" y="5943600"/>
            <a:ext cx="44805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325C"/>
                </a:solidFill>
                <a:latin typeface="Consolas"/>
              </a:rPr>
              <a:t>fetch_psyarxiv(n_pages=10)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13 — Interactive Dashboards &amp; Data Storytelling  ·  ACL@NCU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資料 A · 把 JSON 變成表格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巢狀 JSON → 一列一篇 preprint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JSON 是巢狀的 — 像 Russian doll 套娃娃。要分析就得攤平成「一列代表一筆」。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D34F4F"/>
                </a:solidFill>
                <a:latin typeface="Microsoft JhengHei"/>
              </a:rPr>
              <a:t>原始巢狀 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5212080" cy="30175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182880" bIns="164592" rtlCol="0" anchor="ctr"/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"attributes": {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"title": "...",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"date_published": "2026-05-13",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"tags": ["longitudinal", ...],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"subjects": [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  [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    {"text": "Social Sciences"},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    {"text": "Cog. Neuroscience"}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  ]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]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}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3317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E8B57"/>
                </a:solidFill>
                <a:latin typeface="Microsoft JhengHei"/>
              </a:rPr>
              <a:t>整理過的 DataFrame (一列一篇)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55080" y="2743200"/>
          <a:ext cx="52120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title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date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subject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tags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Microsoft JhengHei"/>
                        </a:rPr>
                        <a:t>Future self-continuity 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Microsoft JhengHei"/>
                        </a:rPr>
                        <a:t>2026-05-13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Microsoft JhengHei"/>
                        </a:rPr>
                        <a:t>Cog. Neurosci.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Microsoft JhengHei"/>
                        </a:rPr>
                        <a:t>Mind-wandering and ...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Microsoft JhengHei"/>
                        </a:rPr>
                        <a:t>2026-05-12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Microsoft JhengHei"/>
                        </a:rPr>
                        <a:t>Cog. Psy.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Microsoft JhengHei"/>
                        </a:rPr>
                        <a:t>Meta-analytic methods 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Microsoft JhengHei"/>
                        </a:rPr>
                        <a:t>2026-05-12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Microsoft JhengHei"/>
                        </a:rPr>
                        <a:t>Meta-science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Microsoft JhengHe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355080" y="5212080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F6B83"/>
                </a:solidFill>
                <a:latin typeface="Microsoft JhengHei"/>
              </a:rPr>
              <a:t>重點：subjects 是分類路徑，我們只留最具體那一層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13 — Interactive Dashboards &amp; Data Storytelling  ·  ACL@NCU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資料 A · 清理資料的紀律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每個動作都要說得出代價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Week 12 學的紀律：清理資料時，每個動作對應一個觀察，並交代代價。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377440"/>
          <a:ext cx="106070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觀察到什麼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做了什麼動作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動作的代價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date_published 是字串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用 pd.to_datetime 轉成時間型別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無法解析者變 NaT（plot 會略過）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有些 title 是空字串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篩掉 len(title)==0 的列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失去 &lt;1% 資料，避免污染統計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primary_subject 有缺值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fillna('Unspecified')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可能掩蓋編碼問題，但保留 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5029200"/>
            <a:ext cx="91440" cy="73152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212080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4325C"/>
                </a:solidFill>
                <a:latin typeface="Microsoft JhengHei"/>
              </a:rPr>
              <a:t>清理函式寫成獨立的 clean(df) — 沒有副作用，可以單獨測試。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5852160"/>
            <a:ext cx="73152" cy="45720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" y="594360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8A12A"/>
                </a:solidFill>
                <a:latin typeface="Calibri"/>
              </a:rPr>
              <a:t>▶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59436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在 .ipynb 第 5 格看清理過程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5943600"/>
            <a:ext cx="44805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325C"/>
                </a:solidFill>
                <a:latin typeface="Consolas"/>
              </a:rPr>
              <a:t>code/osf_psyarxiv_pipeline.ipynb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13 — Interactive Dashboards &amp; Data Storytelling  ·  ACL@NCU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資料 A · 圖 1 · 長條圖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最近一千篇，最熱門的主題是哪些？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59436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用水平 bar (orientation='h') — subject 名稱很長，放 y 軸不會擠</a:t>
            </a:r>
          </a:p>
          <a:p>
            <a:pPr algn="l">
              <a:lnSpc>
                <a:spcPct val="125000"/>
              </a:lnSpc>
              <a:spcBef>
                <a:spcPts val="675"/>
              </a:spcBef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color='n' 把數字本身對應到顏色，一眼看出高低</a:t>
            </a:r>
          </a:p>
          <a:p>
            <a:pPr algn="l">
              <a:lnSpc>
                <a:spcPct val="125000"/>
              </a:lnSpc>
              <a:spcBef>
                <a:spcPts val="675"/>
              </a:spcBef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categoryorder='total ascending' 自動由大到小排序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657600"/>
            <a:ext cx="5852160" cy="20116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182880" bIns="164592" rtlCol="0" anchor="ctr"/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fig = px.bar(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counts, x="n", y="subject",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orientation="h",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color="n",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color_continuous_scale="Blues",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title="Top 15 PsyArXiv subjects",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1783080"/>
            <a:ext cx="4389120" cy="40233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40880" y="1783080"/>
            <a:ext cx="54864" cy="402336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0" y="192024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9B9B"/>
                </a:solidFill>
                <a:latin typeface="Microsoft JhengHei"/>
              </a:rPr>
              <a:t>預覽 · 前 8 大 subject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3317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Microsoft JhengHei"/>
              </a:rPr>
              <a:t>Social &amp; Behavioral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98280" y="2404872"/>
            <a:ext cx="2194560" cy="201168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338560" y="233172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7432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Microsoft JhengHei"/>
              </a:rPr>
              <a:t>Psychiatry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2816352"/>
            <a:ext cx="2099144" cy="201168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243144" y="274320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1546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Microsoft JhengHei"/>
              </a:rPr>
              <a:t>Meta-science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3227832"/>
            <a:ext cx="1717481" cy="201168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61481" y="315468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5661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Microsoft JhengHei"/>
              </a:rPr>
              <a:t>Cognitive Neurosci.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3639312"/>
            <a:ext cx="1335819" cy="201168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79819" y="356616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9776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Microsoft JhengHei"/>
              </a:rPr>
              <a:t>Clinical Psychology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4050792"/>
            <a:ext cx="1335819" cy="201168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79819" y="397764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3891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Microsoft JhengHei"/>
              </a:rPr>
              <a:t>Cognitive Psy.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98280" y="4462272"/>
            <a:ext cx="1240403" cy="201168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84403" y="438912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8006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Microsoft JhengHei"/>
              </a:rPr>
              <a:t>Developmental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98280" y="4873752"/>
            <a:ext cx="1144987" cy="201168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288987" y="480060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52120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Microsoft JhengHei"/>
              </a:rPr>
              <a:t>Neuroscience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98280" y="5285232"/>
            <a:ext cx="1049572" cy="201168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193572" y="521208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13 — Interactive Dashboards &amp; Data Storytelling  ·  ACL@NCU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資料 A · 圖 2 · 折線 + 標注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發表數量是不是有月份差異？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59436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markers=True 同時畫點與線</a:t>
            </a:r>
          </a:p>
          <a:p>
            <a:pPr algn="l">
              <a:lnSpc>
                <a:spcPct val="125000"/>
              </a:lnSpc>
              <a:spcBef>
                <a:spcPts val="675"/>
              </a:spcBef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hovermode='x unified' — 滑鼠移過去，同一月份所有數字一起顯示</a:t>
            </a:r>
          </a:p>
          <a:p>
            <a:pPr algn="l">
              <a:lnSpc>
                <a:spcPct val="125000"/>
              </a:lnSpc>
              <a:spcBef>
                <a:spcPts val="675"/>
              </a:spcBef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add_annotation — 在最高點畫箭頭並加文字解釋為什麼這點重要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703320"/>
            <a:ext cx="5852160" cy="2057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182880" bIns="164592" rtlCol="0" anchor="ctr"/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monthly = (df.groupby("year_month").size()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         .reset_index(name="n_preprints"))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fig = px.line(monthly, x="year_month",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          y="n_preprints", markers=True)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peak = monthly.loc[monthly.n_preprints.idxmax()]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fig.add_annotation(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x=peak.year_month, y=peak.n_preprints,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text="Peak ...", arrowhead=2)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1783080"/>
            <a:ext cx="4389120" cy="40233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40880" y="1783080"/>
            <a:ext cx="54864" cy="402336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0" y="192024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9B9B"/>
                </a:solidFill>
                <a:latin typeface="Microsoft JhengHei"/>
              </a:rPr>
              <a:t>預覽 · 每月發表數量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0" y="5532120"/>
            <a:ext cx="3840480" cy="0"/>
          </a:xfrm>
          <a:prstGeom prst="line">
            <a:avLst/>
          </a:prstGeom>
          <a:ln w="9525">
            <a:solidFill>
              <a:srgbClr val="5F6B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25400">
            <a:solidFill>
              <a:srgbClr val="0D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25400">
            <a:solidFill>
              <a:srgbClr val="0D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0D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25400">
            <a:solidFill>
              <a:srgbClr val="0D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0D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283196" y="4411980"/>
            <a:ext cx="64008" cy="64008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051292" y="3790188"/>
            <a:ext cx="64008" cy="64008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819388" y="2702052"/>
            <a:ext cx="64008" cy="64008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587484" y="3479292"/>
            <a:ext cx="64008" cy="64008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355580" y="3168396"/>
            <a:ext cx="64008" cy="64008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123676" y="3634740"/>
            <a:ext cx="64008" cy="64008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0" y="23774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34F4F"/>
                </a:solidFill>
                <a:latin typeface="Calibri"/>
              </a:rPr>
              <a:t>◀ peak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13 — Interactive Dashboards &amp; Data Storytelling  ·  ACL@NCU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資料 A · 圖 3 · 散布圖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標題越長的論文，是不是 tag 也越多？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594360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散布圖 (scatter) 是探索資料時最常用的圖 — 看出 outlier 與群聚</a:t>
            </a:r>
          </a:p>
          <a:p>
            <a:pPr algn="l">
              <a:lnSpc>
                <a:spcPct val="125000"/>
              </a:lnSpc>
              <a:spcBef>
                <a:spcPts val="675"/>
              </a:spcBef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hover_name='title' 滑鼠移過去就看到具體論文標題</a:t>
            </a:r>
          </a:p>
          <a:p>
            <a:pPr algn="l">
              <a:lnSpc>
                <a:spcPct val="125000"/>
              </a:lnSpc>
              <a:spcBef>
                <a:spcPts val="675"/>
              </a:spcBef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opacity=0.6 半透明 — 點堆疊時可以看出密度</a:t>
            </a:r>
          </a:p>
          <a:p>
            <a:pPr algn="l">
              <a:lnSpc>
                <a:spcPct val="125000"/>
              </a:lnSpc>
              <a:spcBef>
                <a:spcPts val="675"/>
              </a:spcBef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subject 太多時 showlegend=False，避免 legend 擋畫面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23360"/>
            <a:ext cx="5852160" cy="17830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182880" bIns="164592" rtlCol="0" anchor="ctr"/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fig = px.scatter(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df, x="n_tags", y="title_len",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color="primary_subject",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hover_name="title",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opacity=0.6,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fig.update_layout(showlegend=False)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1783080"/>
            <a:ext cx="4389120" cy="40233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40880" y="1783080"/>
            <a:ext cx="54864" cy="402336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0" y="192024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9B9B"/>
                </a:solidFill>
                <a:latin typeface="Microsoft JhengHei"/>
              </a:rPr>
              <a:t>預覽 · title 長度 vs. tag 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98080" y="5257800"/>
            <a:ext cx="3474720" cy="0"/>
          </a:xfrm>
          <a:prstGeom prst="line">
            <a:avLst/>
          </a:prstGeom>
          <a:ln w="9525">
            <a:solidFill>
              <a:srgbClr val="5F6B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498080" y="2514600"/>
            <a:ext cx="0" cy="2743200"/>
          </a:xfrm>
          <a:prstGeom prst="line">
            <a:avLst/>
          </a:prstGeom>
          <a:ln w="9525">
            <a:solidFill>
              <a:srgbClr val="5F6B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180624" y="3220250"/>
            <a:ext cx="64008" cy="64008"/>
          </a:xfrm>
          <a:prstGeom prst="ellipse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536879" y="3264010"/>
            <a:ext cx="64008" cy="64008"/>
          </a:xfrm>
          <a:prstGeom prst="ellipse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495755" y="4485528"/>
            <a:ext cx="64008" cy="64008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095814" y="4407902"/>
            <a:ext cx="64008" cy="64008"/>
          </a:xfrm>
          <a:prstGeom prst="ellipse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562080" y="4673496"/>
            <a:ext cx="64008" cy="64008"/>
          </a:xfrm>
          <a:prstGeom prst="ellipse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886985" y="2543229"/>
            <a:ext cx="64008" cy="64008"/>
          </a:xfrm>
          <a:prstGeom prst="ellipse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687320" y="2974923"/>
            <a:ext cx="64008" cy="64008"/>
          </a:xfrm>
          <a:prstGeom prst="ellipse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202986" y="3085275"/>
            <a:ext cx="64008" cy="64008"/>
          </a:xfrm>
          <a:prstGeom prst="ellipse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076114" y="4286594"/>
            <a:ext cx="64008" cy="64008"/>
          </a:xfrm>
          <a:prstGeom prst="ellipse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937873" y="3062234"/>
            <a:ext cx="64008" cy="64008"/>
          </a:xfrm>
          <a:prstGeom prst="ellipse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819789" y="3253564"/>
            <a:ext cx="64008" cy="6400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487168" y="3289209"/>
            <a:ext cx="64008" cy="64008"/>
          </a:xfrm>
          <a:prstGeom prst="ellipse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176739" y="2965711"/>
            <a:ext cx="64008" cy="64008"/>
          </a:xfrm>
          <a:prstGeom prst="ellipse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682763" y="3526272"/>
            <a:ext cx="64008" cy="64008"/>
          </a:xfrm>
          <a:prstGeom prst="ellipse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776330" y="3120907"/>
            <a:ext cx="64008" cy="64008"/>
          </a:xfrm>
          <a:prstGeom prst="ellipse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934295" y="4440655"/>
            <a:ext cx="64008" cy="64008"/>
          </a:xfrm>
          <a:prstGeom prst="ellipse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492282" y="3980193"/>
            <a:ext cx="64008" cy="64008"/>
          </a:xfrm>
          <a:prstGeom prst="ellipse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364789" y="3916860"/>
            <a:ext cx="64008" cy="64008"/>
          </a:xfrm>
          <a:prstGeom prst="ellipse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261367" y="3536305"/>
            <a:ext cx="64008" cy="64008"/>
          </a:xfrm>
          <a:prstGeom prst="ellipse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108998" y="4464568"/>
            <a:ext cx="64008" cy="64008"/>
          </a:xfrm>
          <a:prstGeom prst="ellipse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807234" y="3829196"/>
            <a:ext cx="64008" cy="6400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603737" y="3143689"/>
            <a:ext cx="64008" cy="64008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076390" y="3661849"/>
            <a:ext cx="64008" cy="6400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488693" y="4568709"/>
            <a:ext cx="64008" cy="6400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854794" y="4301746"/>
            <a:ext cx="64008" cy="64008"/>
          </a:xfrm>
          <a:prstGeom prst="ellipse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011235" y="2843608"/>
            <a:ext cx="64008" cy="64008"/>
          </a:xfrm>
          <a:prstGeom prst="ellipse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056679" y="3285498"/>
            <a:ext cx="64008" cy="64008"/>
          </a:xfrm>
          <a:prstGeom prst="ellipse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115026" y="3665953"/>
            <a:ext cx="64008" cy="64008"/>
          </a:xfrm>
          <a:prstGeom prst="ellipse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588387" y="3182504"/>
            <a:ext cx="64008" cy="64008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502538" y="3123744"/>
            <a:ext cx="64008" cy="64008"/>
          </a:xfrm>
          <a:prstGeom prst="ellipse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950181" y="4469264"/>
            <a:ext cx="64008" cy="64008"/>
          </a:xfrm>
          <a:prstGeom prst="ellipse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757045" y="4374438"/>
            <a:ext cx="64008" cy="64008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737718" y="3429369"/>
            <a:ext cx="64008" cy="64008"/>
          </a:xfrm>
          <a:prstGeom prst="ellipse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698740" y="2589789"/>
            <a:ext cx="64008" cy="64008"/>
          </a:xfrm>
          <a:prstGeom prst="ellipse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9511123" y="3592591"/>
            <a:ext cx="64008" cy="64008"/>
          </a:xfrm>
          <a:prstGeom prst="ellipse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0886607" y="4688895"/>
            <a:ext cx="64008" cy="64008"/>
          </a:xfrm>
          <a:prstGeom prst="ellipse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0520054" y="3500503"/>
            <a:ext cx="64008" cy="64008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0646563" y="3603616"/>
            <a:ext cx="64008" cy="64008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7518680" y="4075199"/>
            <a:ext cx="64008" cy="6400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9198117" y="3577701"/>
            <a:ext cx="64008" cy="6400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8070816" y="4427258"/>
            <a:ext cx="64008" cy="64008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558432" y="3154252"/>
            <a:ext cx="64008" cy="64008"/>
          </a:xfrm>
          <a:prstGeom prst="ellipse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9862885" y="4282122"/>
            <a:ext cx="64008" cy="64008"/>
          </a:xfrm>
          <a:prstGeom prst="ellipse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8179196" y="3446099"/>
            <a:ext cx="64008" cy="64008"/>
          </a:xfrm>
          <a:prstGeom prst="ellipse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9995464" y="3436484"/>
            <a:ext cx="64008" cy="6400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8013565" y="4032976"/>
            <a:ext cx="64008" cy="64008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8363915" y="3753656"/>
            <a:ext cx="64008" cy="64008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9938638" y="3418324"/>
            <a:ext cx="64008" cy="64008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9541839" y="4150775"/>
            <a:ext cx="64008" cy="6400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8916627" y="3525312"/>
            <a:ext cx="64008" cy="64008"/>
          </a:xfrm>
          <a:prstGeom prst="ellipse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7630447" y="3589043"/>
            <a:ext cx="64008" cy="64008"/>
          </a:xfrm>
          <a:prstGeom prst="ellipse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7854519" y="4928708"/>
            <a:ext cx="64008" cy="64008"/>
          </a:xfrm>
          <a:prstGeom prst="ellipse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0191808" y="4395315"/>
            <a:ext cx="64008" cy="64008"/>
          </a:xfrm>
          <a:prstGeom prst="ellipse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9356481" y="4192513"/>
            <a:ext cx="64008" cy="64008"/>
          </a:xfrm>
          <a:prstGeom prst="ellipse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7799604" y="4006354"/>
            <a:ext cx="64008" cy="6400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9290632" y="3457258"/>
            <a:ext cx="64008" cy="6400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7590578" y="3572204"/>
            <a:ext cx="64008" cy="64008"/>
          </a:xfrm>
          <a:prstGeom prst="ellipse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0763954" y="4941888"/>
            <a:ext cx="64008" cy="64008"/>
          </a:xfrm>
          <a:prstGeom prst="ellipse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10465044" y="3547369"/>
            <a:ext cx="64008" cy="64008"/>
          </a:xfrm>
          <a:prstGeom prst="ellipse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10502550" y="2754513"/>
            <a:ext cx="64008" cy="64008"/>
          </a:xfrm>
          <a:prstGeom prst="ellipse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7699121" y="2673842"/>
            <a:ext cx="64008" cy="64008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8455160" y="2957888"/>
            <a:ext cx="64008" cy="64008"/>
          </a:xfrm>
          <a:prstGeom prst="ellipse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7597956" y="4339640"/>
            <a:ext cx="64008" cy="64008"/>
          </a:xfrm>
          <a:prstGeom prst="ellipse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9055050" y="2698470"/>
            <a:ext cx="64008" cy="6400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7987689" y="3923687"/>
            <a:ext cx="64008" cy="64008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10255008" y="2747919"/>
            <a:ext cx="64008" cy="64008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9393551" y="2650848"/>
            <a:ext cx="64008" cy="64008"/>
          </a:xfrm>
          <a:prstGeom prst="ellipse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9103978" y="4169272"/>
            <a:ext cx="64008" cy="64008"/>
          </a:xfrm>
          <a:prstGeom prst="ellipse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8302726" y="4804508"/>
            <a:ext cx="64008" cy="64008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10619758" y="4546536"/>
            <a:ext cx="64008" cy="64008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7743722" y="3149912"/>
            <a:ext cx="64008" cy="64008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0893564" y="2941765"/>
            <a:ext cx="64008" cy="6400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7888530" y="2572555"/>
            <a:ext cx="64008" cy="64008"/>
          </a:xfrm>
          <a:prstGeom prst="ellipse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10566317" y="4974983"/>
            <a:ext cx="64008" cy="64008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8336649" y="2536505"/>
            <a:ext cx="64008" cy="6400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8605099" y="4596133"/>
            <a:ext cx="64008" cy="64008"/>
          </a:xfrm>
          <a:prstGeom prst="ellipse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8810193" y="5150190"/>
            <a:ext cx="64008" cy="64008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9099004" y="4232573"/>
            <a:ext cx="64008" cy="64008"/>
          </a:xfrm>
          <a:prstGeom prst="ellipse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10641963" y="4312882"/>
            <a:ext cx="64008" cy="64008"/>
          </a:xfrm>
          <a:prstGeom prst="ellipse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8693289" y="2542656"/>
            <a:ext cx="64008" cy="6400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7498080" y="5303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F6B83"/>
                </a:solidFill>
                <a:latin typeface="Calibri"/>
              </a:rPr>
              <a:t>n_tags →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52360" y="24688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F6B83"/>
                </a:solidFill>
                <a:latin typeface="Calibri"/>
              </a:rPr>
              <a:t>title_len ↑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13 — Interactive Dashboards &amp; Data Storytelling  ·  ACL@NCU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資料 B · 教育部高教統計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少子化怎麼反映在高教資料？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0D9B9B"/>
                </a:solidFill>
                <a:latin typeface="Calibri"/>
              </a:rPr>
              <a:t>▸  </a:t>
            </a:r>
            <a:r>
              <a:rPr sz="1600">
                <a:solidFill>
                  <a:srgbClr val="1A1A2E"/>
                </a:solidFill>
                <a:latin typeface="Microsoft JhengHei"/>
              </a:rPr>
              <a:t>教育部統計處每年都會公開「大專校院校別學生數」CSV</a:t>
            </a:r>
          </a:p>
          <a:p>
            <a:pPr algn="l">
              <a:lnSpc>
                <a:spcPct val="125000"/>
              </a:lnSpc>
              <a:spcBef>
                <a:spcPts val="720"/>
              </a:spcBef>
            </a:pPr>
            <a:r>
              <a:rPr sz="1600" b="1">
                <a:solidFill>
                  <a:srgbClr val="0D9B9B"/>
                </a:solidFill>
                <a:latin typeface="Calibri"/>
              </a:rPr>
              <a:t>▸  </a:t>
            </a:r>
            <a:r>
              <a:rPr sz="1600">
                <a:solidFill>
                  <a:srgbClr val="1A1A2E"/>
                </a:solidFill>
                <a:latin typeface="Microsoft JhengHei"/>
              </a:rPr>
              <a:t>本週合併 105–113 學年度 9 年的資料 → 約 7,200 列</a:t>
            </a:r>
          </a:p>
          <a:p>
            <a:pPr algn="l">
              <a:lnSpc>
                <a:spcPct val="125000"/>
              </a:lnSpc>
              <a:spcBef>
                <a:spcPts val="720"/>
              </a:spcBef>
            </a:pPr>
            <a:r>
              <a:rPr sz="1600" b="1">
                <a:solidFill>
                  <a:srgbClr val="0D9B9B"/>
                </a:solidFill>
                <a:latin typeface="Calibri"/>
              </a:rPr>
              <a:t>▸  </a:t>
            </a:r>
            <a:r>
              <a:rPr sz="1600">
                <a:solidFill>
                  <a:srgbClr val="1A1A2E"/>
                </a:solidFill>
                <a:latin typeface="Microsoft JhengHei"/>
              </a:rPr>
              <a:t>169 所大專、21 個縣市 — 涵蓋全國</a:t>
            </a:r>
          </a:p>
          <a:p>
            <a:pPr algn="l">
              <a:lnSpc>
                <a:spcPct val="125000"/>
              </a:lnSpc>
              <a:spcBef>
                <a:spcPts val="720"/>
              </a:spcBef>
            </a:pPr>
            <a:r>
              <a:rPr sz="1600" b="1">
                <a:solidFill>
                  <a:srgbClr val="0D9B9B"/>
                </a:solidFill>
                <a:latin typeface="Calibri"/>
              </a:rPr>
              <a:t>▸  </a:t>
            </a:r>
            <a:r>
              <a:rPr sz="1600">
                <a:solidFill>
                  <a:srgbClr val="1A1A2E"/>
                </a:solidFill>
                <a:latin typeface="Microsoft JhengHei"/>
              </a:rPr>
              <a:t>可同時練：跨年度合併、中文欄位清理、用規則 (rule-based) 推導分類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023360"/>
            <a:ext cx="3474720" cy="17373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4023360"/>
            <a:ext cx="91440" cy="173736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425196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D34F4F"/>
                </a:solidFill>
                <a:latin typeface="Calibri"/>
              </a:rPr>
              <a:t>18.0%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07492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總學生數 9 年累計跌幅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4023360"/>
            <a:ext cx="3474720" cy="17373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4023360"/>
            <a:ext cx="91440" cy="173736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425196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E8A12A"/>
                </a:solidFill>
                <a:latin typeface="Calibri"/>
              </a:rPr>
              <a:t>-23.5 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507492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9 年累計減少人數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4023360"/>
            <a:ext cx="3474720" cy="17373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4023360"/>
            <a:ext cx="91440" cy="1737360"/>
          </a:xfrm>
          <a:prstGeom prst="rect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425196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97116"/>
                </a:solidFill>
                <a:latin typeface="Calibri"/>
              </a:rPr>
              <a:t>-29%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507492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私立部門 9 年跌幅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5852160"/>
            <a:ext cx="73152" cy="45720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" y="594360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8A12A"/>
                </a:solidFill>
                <a:latin typeface="Calibri"/>
              </a:rPr>
              <a:t>▶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59436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VS Code 打開 .ipynb 跟著做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59" y="5943600"/>
            <a:ext cx="44805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325C"/>
                </a:solidFill>
                <a:latin typeface="Consolas"/>
              </a:rPr>
              <a:t>code/moe_higher_ed_pipeline.ipynb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13 — Interactive Dashboards &amp; Data Storytelling  ·  ACL@NCU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16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資料 B · 跨年度合併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不同年度的欄位不一樣怎麼辦？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Schema (資料表結構) = 「這張表有哪些欄位」。教育部的 schema 多年來有變動。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105–106 學年度：23 欄，沒有「總計」、「縣市」、「體系別」</a:t>
            </a:r>
          </a:p>
          <a:p>
            <a:pPr algn="l">
              <a:lnSpc>
                <a:spcPct val="125000"/>
              </a:lnSpc>
              <a:spcBef>
                <a:spcPts val="675"/>
              </a:spcBef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107 學年度起：26 欄，加入「縣市名稱」、「體系別」</a:t>
            </a:r>
          </a:p>
          <a:p>
            <a:pPr algn="l">
              <a:lnSpc>
                <a:spcPct val="125000"/>
              </a:lnSpc>
              <a:spcBef>
                <a:spcPts val="675"/>
              </a:spcBef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113 學年度：28 欄，新增「華語先修生男/女」</a:t>
            </a:r>
          </a:p>
          <a:p>
            <a:pPr algn="l">
              <a:lnSpc>
                <a:spcPct val="125000"/>
              </a:lnSpc>
              <a:spcBef>
                <a:spcPts val="675"/>
              </a:spcBef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pd.concat(ignore_index=True, sort=False) — 缺欄位自動補成 NaN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206240"/>
            <a:ext cx="1051560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182880" bIns="164592" rtlCol="0" anchor="ctr"/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def fetch_all(years=range(105, 114)):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parts = [fetch_year(y) for y in years]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return pd.concat(parts, ignore_index=True, sort=False)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8B9DB8"/>
                </a:solidFill>
                <a:latin typeface="Consolas"/>
              </a:rPr>
              <a:t># 缺值 (NaN) 不一定是真的缺 — 也可能是「那年沒這個欄位」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760720"/>
            <a:ext cx="1051560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5760720"/>
            <a:ext cx="91440" cy="50292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5943600"/>
            <a:ext cx="996696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4325C"/>
                </a:solidFill>
                <a:latin typeface="Microsoft JhengHei"/>
              </a:rPr>
              <a:t>拿到合併好的表格，第一件事永遠是 df.isna().mean() — 看缺值在哪。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13 — Interactive Dashboards &amp; Data Storytelling  ·  ACL@NCU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17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資料 B · 中文欄位清理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真實資料常常藏著隱形規則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175089"/>
              </p:ext>
            </p:extLst>
          </p:nvPr>
        </p:nvGraphicFramePr>
        <p:xfrm>
          <a:off x="777240" y="1874519"/>
          <a:ext cx="1060704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Microsoft JhengHei"/>
                        </a:rPr>
                        <a:t>觀察</a:t>
                      </a:r>
                    </a:p>
                  </a:txBody>
                  <a:tcPr anchor="ctr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Microsoft JhengHei"/>
                        </a:rPr>
                        <a:t>操作</a:t>
                      </a:r>
                    </a:p>
                  </a:txBody>
                  <a:tcPr anchor="ctr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 err="1">
                          <a:solidFill>
                            <a:srgbClr val="FFFFFF"/>
                          </a:solidFill>
                          <a:latin typeface="Microsoft JhengHei"/>
                        </a:rPr>
                        <a:t>結果</a:t>
                      </a:r>
                      <a:endParaRPr sz="2400" b="1" dirty="0">
                        <a:solidFill>
                          <a:srgbClr val="FFFFFF"/>
                        </a:solidFill>
                        <a:latin typeface="Microsoft JhengHei"/>
                      </a:endParaRPr>
                    </a:p>
                  </a:txBody>
                  <a:tcPr anchor="ctr">
                    <a:solidFill>
                      <a:srgbClr val="143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1A2E"/>
                          </a:solidFill>
                          <a:latin typeface="Microsoft JhengHei"/>
                        </a:rPr>
                        <a:t>「縣市名稱」=「30 臺北市」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1A2E"/>
                          </a:solidFill>
                          <a:latin typeface="Microsoft JhengHei"/>
                        </a:rPr>
                        <a:t>用 regex 拆出純名稱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A1A2E"/>
                          </a:solidFill>
                          <a:latin typeface="Microsoft JhengHei"/>
                        </a:rPr>
                        <a:t>→ </a:t>
                      </a:r>
                      <a:r>
                        <a:rPr sz="1800" dirty="0" err="1">
                          <a:solidFill>
                            <a:srgbClr val="1A1A2E"/>
                          </a:solidFill>
                          <a:latin typeface="Microsoft JhengHei"/>
                        </a:rPr>
                        <a:t>city_name</a:t>
                      </a:r>
                      <a:endParaRPr sz="1800" dirty="0">
                        <a:solidFill>
                          <a:srgbClr val="1A1A2E"/>
                        </a:solidFill>
                        <a:latin typeface="Microsoft Jheng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1A2E"/>
                          </a:solidFill>
                          <a:latin typeface="Microsoft JhengHei"/>
                        </a:rPr>
                        <a:t>「體系別」=「1 一般」/「2 技職」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1A2E"/>
                          </a:solidFill>
                          <a:latin typeface="Microsoft JhengHei"/>
                        </a:rPr>
                        <a:t>用 str.replace 去掉前面數字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1A2E"/>
                          </a:solidFill>
                          <a:latin typeface="Microsoft JhengHei"/>
                        </a:rPr>
                        <a:t>→ system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1A2E"/>
                          </a:solidFill>
                          <a:latin typeface="Microsoft JhengHei"/>
                        </a:rPr>
                        <a:t>「總計」型別變成 object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1A2E"/>
                          </a:solidFill>
                          <a:latin typeface="Microsoft JhengHei"/>
                        </a:rPr>
                        <a:t>to_numeric + 千分號處理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A1A2E"/>
                          </a:solidFill>
                          <a:latin typeface="Microsoft JhengHei"/>
                        </a:rPr>
                        <a:t>→ </a:t>
                      </a:r>
                      <a:r>
                        <a:rPr sz="1800" dirty="0" err="1">
                          <a:solidFill>
                            <a:srgbClr val="1A1A2E"/>
                          </a:solidFill>
                          <a:latin typeface="Microsoft JhengHei"/>
                        </a:rPr>
                        <a:t>NaN</a:t>
                      </a:r>
                      <a:r>
                        <a:rPr sz="1800" dirty="0">
                          <a:solidFill>
                            <a:srgbClr val="1A1A2E"/>
                          </a:solidFill>
                          <a:latin typeface="Microsoft JhengHei"/>
                        </a:rPr>
                        <a:t> </a:t>
                      </a:r>
                      <a:r>
                        <a:rPr sz="1800" dirty="0" err="1">
                          <a:solidFill>
                            <a:srgbClr val="1A1A2E"/>
                          </a:solidFill>
                          <a:latin typeface="Microsoft JhengHei"/>
                        </a:rPr>
                        <a:t>化髒值</a:t>
                      </a:r>
                      <a:endParaRPr sz="1800" dirty="0">
                        <a:solidFill>
                          <a:srgbClr val="1A1A2E"/>
                        </a:solidFill>
                        <a:latin typeface="Microsoft Jheng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1A2E"/>
                          </a:solidFill>
                          <a:latin typeface="Microsoft JhengHei"/>
                        </a:rPr>
                        <a:t>公私立沒有專屬欄位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1A2E"/>
                          </a:solidFill>
                          <a:latin typeface="Microsoft JhengHei"/>
                        </a:rPr>
                        <a:t>看「國立/市立」開頭推導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A1A2E"/>
                          </a:solidFill>
                          <a:latin typeface="Microsoft JhengHei"/>
                        </a:rPr>
                        <a:t>→ sector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21208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D34F4F"/>
                </a:solidFill>
                <a:latin typeface="Microsoft JhengHei"/>
              </a:rPr>
              <a:t>⚠ 用規則推導 (rule-based) 一定要人工抽查 — 「國防大學」、「警察大學」需要特殊規則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5852160"/>
            <a:ext cx="73152" cy="45720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594360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8A12A"/>
                </a:solidFill>
                <a:latin typeface="Calibri"/>
              </a:rPr>
              <a:t>▶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59436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在 .ipynb 第 5 格看清理過程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59" y="5943600"/>
            <a:ext cx="44805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325C"/>
                </a:solidFill>
                <a:latin typeface="Consolas"/>
              </a:rPr>
              <a:t>code/moe_higher_ed_pipeline.ipynb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13 — Interactive Dashboards &amp; Data Storytelling  ·  ACL@NCU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18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資料 B · 圖 1 · 總量趨勢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整體真的在下降嗎？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59436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政策報告的第一張圖：先回答「整體是不是真的在下降」</a:t>
            </a:r>
          </a:p>
          <a:p>
            <a:pPr algn="l">
              <a:lnSpc>
                <a:spcPct val="125000"/>
              </a:lnSpc>
              <a:spcBef>
                <a:spcPts val="675"/>
              </a:spcBef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用 add_annotation 標出 105 學年度起點 — 提醒讀者這是少子化轉折點</a:t>
            </a:r>
          </a:p>
          <a:p>
            <a:pPr algn="l">
              <a:lnSpc>
                <a:spcPct val="125000"/>
              </a:lnSpc>
              <a:spcBef>
                <a:spcPts val="675"/>
              </a:spcBef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Annotation 是告訴讀者「為什麼這點重要」，不只是標數值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749039"/>
            <a:ext cx="5852160" cy="21031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182880" bIns="164592" rtlCol="0" anchor="ctr"/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agg = df.groupby("學年度")["總計"].sum().reset_index()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fig = px.line(agg, x="學年度", y="總計",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          markers=True)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fig.add_annotation(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x=agg.iloc[0]["學年度"],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y=agg.iloc[0]["總計"],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text="少子化骨牌效應起點",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showarrow=True, arrowhead=2,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1783080"/>
            <a:ext cx="4389120" cy="40233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40880" y="1783080"/>
            <a:ext cx="54864" cy="4023360"/>
          </a:xfrm>
          <a:prstGeom prst="rect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0" y="192024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97116"/>
                </a:solidFill>
                <a:latin typeface="Microsoft JhengHei"/>
              </a:rPr>
              <a:t>預覽 · 總學生數 105–113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0" y="5257800"/>
            <a:ext cx="3840480" cy="0"/>
          </a:xfrm>
          <a:prstGeom prst="line">
            <a:avLst/>
          </a:prstGeom>
          <a:ln w="9525">
            <a:solidFill>
              <a:srgbClr val="5F6B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F971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F971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F971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F971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F971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F971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F971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F971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283196" y="2756916"/>
            <a:ext cx="64008" cy="64008"/>
          </a:xfrm>
          <a:prstGeom prst="ellipse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763256" y="3083765"/>
            <a:ext cx="64008" cy="64008"/>
          </a:xfrm>
          <a:prstGeom prst="ellipse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243316" y="3354583"/>
            <a:ext cx="64008" cy="64008"/>
          </a:xfrm>
          <a:prstGeom prst="ellipse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723376" y="3653417"/>
            <a:ext cx="64008" cy="64008"/>
          </a:xfrm>
          <a:prstGeom prst="ellipse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203436" y="3746802"/>
            <a:ext cx="64008" cy="64008"/>
          </a:xfrm>
          <a:prstGeom prst="ellipse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683496" y="3905558"/>
            <a:ext cx="64008" cy="64008"/>
          </a:xfrm>
          <a:prstGeom prst="ellipse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163556" y="4335131"/>
            <a:ext cx="64008" cy="64008"/>
          </a:xfrm>
          <a:prstGeom prst="ellipse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643616" y="4755366"/>
            <a:ext cx="64008" cy="64008"/>
          </a:xfrm>
          <a:prstGeom prst="ellipse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1123676" y="4951476"/>
            <a:ext cx="64008" cy="64008"/>
          </a:xfrm>
          <a:prstGeom prst="ellipse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79" y="22860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34F4F"/>
                </a:solidFill>
                <a:latin typeface="Calibri"/>
              </a:rPr>
              <a:t>起點 1.31M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4120" y="50749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34F4F"/>
                </a:solidFill>
                <a:latin typeface="Calibri"/>
              </a:rPr>
              <a:t>終點 1.07M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5413248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F6B83"/>
                </a:solidFill>
                <a:latin typeface="Calibri"/>
              </a:rPr>
              <a:t>105   106   107   108   109   110   111   112   113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557784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F97116"/>
                </a:solidFill>
                <a:latin typeface="Microsoft JhengHei"/>
              </a:rPr>
              <a:t>9 年累計 −18%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13 — Interactive Dashboards &amp; Data Storytelling  ·  ACL@NCU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19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資料 B · 圖 2 · 公立 vs. 私立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下降集中在公立還是私立？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59436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用 stacked bar — 一根長條同時呈現兩個 sector 的數量與總和</a:t>
            </a:r>
          </a:p>
          <a:p>
            <a:pPr algn="l">
              <a:lnSpc>
                <a:spcPct val="125000"/>
              </a:lnSpc>
              <a:spcBef>
                <a:spcPts val="675"/>
              </a:spcBef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結論：私立 9 年減 25.6 萬，公立反而微增 2.1 萬</a:t>
            </a:r>
          </a:p>
          <a:p>
            <a:pPr algn="l">
              <a:lnSpc>
                <a:spcPct val="125000"/>
              </a:lnSpc>
              <a:spcBef>
                <a:spcPts val="675"/>
              </a:spcBef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Caption 應該寫結論（「私立首當其衝」），不要描述圖表類型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657600"/>
            <a:ext cx="5852160" cy="21031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182880" bIns="164592" rtlCol="0" anchor="ctr"/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agg = (df.groupby(["學年度", "sector"])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     ["總計"].sum().reset_index())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fig = px.bar(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agg, x="學年度", y="總計",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color="sector", barmode="stack",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color_discrete_map={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    "公立": "#1d4ed8",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    "私立": "#f97316"},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1783080"/>
            <a:ext cx="4389120" cy="40233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40880" y="1783080"/>
            <a:ext cx="54864" cy="4023360"/>
          </a:xfrm>
          <a:prstGeom prst="rect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0" y="192024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97116"/>
                </a:solidFill>
                <a:latin typeface="Microsoft JhengHei"/>
              </a:rPr>
              <a:t>預覽 · 公立 (藍) / 私立 (橘)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47204" y="2377440"/>
            <a:ext cx="365760" cy="2149084"/>
          </a:xfrm>
          <a:prstGeom prst="rect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47204" y="4526524"/>
            <a:ext cx="365760" cy="1051315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90688" y="2463012"/>
            <a:ext cx="365760" cy="2061067"/>
          </a:xfrm>
          <a:prstGeom prst="rect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90688" y="4524079"/>
            <a:ext cx="365760" cy="105376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34172" y="2533914"/>
            <a:ext cx="365760" cy="1992609"/>
          </a:xfrm>
          <a:prstGeom prst="rect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34172" y="4526524"/>
            <a:ext cx="365760" cy="1051315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77656" y="2612152"/>
            <a:ext cx="365760" cy="1911927"/>
          </a:xfrm>
          <a:prstGeom prst="rect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677656" y="4524079"/>
            <a:ext cx="365760" cy="105376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21140" y="2636601"/>
            <a:ext cx="365760" cy="1867918"/>
          </a:xfrm>
          <a:prstGeom prst="rect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21140" y="4504520"/>
            <a:ext cx="365760" cy="1073319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564624" y="2678165"/>
            <a:ext cx="365760" cy="1811685"/>
          </a:xfrm>
          <a:prstGeom prst="rect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564624" y="4489850"/>
            <a:ext cx="365760" cy="1087989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008108" y="2790631"/>
            <a:ext cx="365760" cy="1689439"/>
          </a:xfrm>
          <a:prstGeom prst="rect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008108" y="4480071"/>
            <a:ext cx="365760" cy="1097768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451592" y="2903097"/>
            <a:ext cx="365760" cy="1572083"/>
          </a:xfrm>
          <a:prstGeom prst="rect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451592" y="4475181"/>
            <a:ext cx="365760" cy="1102658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895076" y="2951996"/>
            <a:ext cx="365760" cy="1523185"/>
          </a:xfrm>
          <a:prstGeom prst="rect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895076" y="4475181"/>
            <a:ext cx="365760" cy="1102658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55764" y="56235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F6B83"/>
                </a:solidFill>
                <a:latin typeface="Calibri"/>
              </a:rPr>
              <a:t>105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9248" y="56235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F6B83"/>
                </a:solidFill>
                <a:latin typeface="Calibri"/>
              </a:rPr>
              <a:t>106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42732" y="56235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F6B83"/>
                </a:solidFill>
                <a:latin typeface="Calibri"/>
              </a:rPr>
              <a:t>107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86216" y="56235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F6B83"/>
                </a:solidFill>
                <a:latin typeface="Calibri"/>
              </a:rPr>
              <a:t>108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29700" y="56235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F6B83"/>
                </a:solidFill>
                <a:latin typeface="Calibri"/>
              </a:rPr>
              <a:t>109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73184" y="56235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F6B83"/>
                </a:solidFill>
                <a:latin typeface="Calibri"/>
              </a:rPr>
              <a:t>110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16668" y="56235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F6B83"/>
                </a:solidFill>
                <a:latin typeface="Calibri"/>
              </a:rPr>
              <a:t>111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60152" y="56235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F6B83"/>
                </a:solidFill>
                <a:latin typeface="Calibri"/>
              </a:rPr>
              <a:t>112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03636" y="56235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F6B83"/>
                </a:solidFill>
                <a:latin typeface="Calibri"/>
              </a:rPr>
              <a:t>113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13 — Interactive Dashboards &amp; Data Storytelling  ·  ACL@NCU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20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4 · 資料敘事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讓圖表會說故事的五個原則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006283"/>
              </p:ext>
            </p:extLst>
          </p:nvPr>
        </p:nvGraphicFramePr>
        <p:xfrm>
          <a:off x="777240" y="1828800"/>
          <a:ext cx="106070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2400" b="1" dirty="0" err="1">
                          <a:solidFill>
                            <a:srgbClr val="FFFFFF"/>
                          </a:solidFill>
                          <a:latin typeface="Microsoft JhengHei"/>
                        </a:rPr>
                        <a:t>原則</a:t>
                      </a:r>
                      <a:endParaRPr sz="2400" b="1" dirty="0">
                        <a:solidFill>
                          <a:srgbClr val="FFFFFF"/>
                        </a:solidFill>
                        <a:latin typeface="Microsoft JhengHei"/>
                      </a:endParaRPr>
                    </a:p>
                  </a:txBody>
                  <a:tcPr anchor="ctr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Microsoft JhengHei"/>
                        </a:rPr>
                        <a:t>意思</a:t>
                      </a:r>
                    </a:p>
                  </a:txBody>
                  <a:tcPr anchor="ctr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 err="1">
                          <a:solidFill>
                            <a:srgbClr val="FFFFFF"/>
                          </a:solidFill>
                          <a:latin typeface="Microsoft JhengHei"/>
                        </a:rPr>
                        <a:t>本週對應例子</a:t>
                      </a:r>
                      <a:endParaRPr sz="2400" b="1" dirty="0">
                        <a:solidFill>
                          <a:srgbClr val="FFFFFF"/>
                        </a:solidFill>
                        <a:latin typeface="Microsoft JhengHei"/>
                      </a:endParaRPr>
                    </a:p>
                  </a:txBody>
                  <a:tcPr anchor="ctr">
                    <a:solidFill>
                      <a:srgbClr val="143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A1A2E"/>
                          </a:solidFill>
                          <a:latin typeface="Microsoft JhengHei"/>
                        </a:rPr>
                        <a:t>一張圖只回答一個問題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A1A2E"/>
                          </a:solidFill>
                          <a:latin typeface="Microsoft JhengHei"/>
                        </a:rPr>
                        <a:t>別把太多訊息塞進同一張圖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A1A2E"/>
                          </a:solidFill>
                          <a:latin typeface="Microsoft JhengHei"/>
                        </a:rPr>
                        <a:t>Top subjects bar 只回答「哪個主題最多」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A1A2E"/>
                          </a:solidFill>
                          <a:latin typeface="Microsoft JhengHei"/>
                        </a:rPr>
                        <a:t>先看大局，再看細節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A1A2E"/>
                          </a:solidFill>
                          <a:latin typeface="Microsoft JhengHei"/>
                        </a:rPr>
                        <a:t>從整體開始，再拆分類別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A1A2E"/>
                          </a:solidFill>
                          <a:latin typeface="Microsoft JhengHei"/>
                        </a:rPr>
                        <a:t>MOE: 先總量下降，再拆公私立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A1A2E"/>
                          </a:solidFill>
                          <a:latin typeface="Microsoft JhengHei"/>
                        </a:rPr>
                        <a:t>把重點標出來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A1A2E"/>
                          </a:solidFill>
                          <a:latin typeface="Microsoft JhengHei"/>
                        </a:rPr>
                        <a:t>用 annotation + 文字解釋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A1A2E"/>
                          </a:solidFill>
                          <a:latin typeface="Microsoft JhengHei"/>
                        </a:rPr>
                        <a:t>「少子化骨牌效應起點」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A1A2E"/>
                          </a:solidFill>
                          <a:latin typeface="Microsoft JhengHei"/>
                        </a:rPr>
                        <a:t>呈現不確定性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A1A2E"/>
                          </a:solidFill>
                          <a:latin typeface="Microsoft JhengHei"/>
                        </a:rPr>
                        <a:t>點密度、誤差棒都是訊號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A1A2E"/>
                          </a:solidFill>
                          <a:latin typeface="Microsoft JhengHei"/>
                        </a:rPr>
                        <a:t>scatter 用 opacity=0.6 暗示密度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A1A2E"/>
                          </a:solidFill>
                          <a:latin typeface="Microsoft JhengHei"/>
                        </a:rPr>
                        <a:t>複雜的圖要有理由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A1A2E"/>
                          </a:solidFill>
                          <a:latin typeface="Microsoft JhengHei"/>
                        </a:rPr>
                        <a:t>能用 bar 就不用 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A1A2E"/>
                          </a:solidFill>
                          <a:latin typeface="Microsoft JhengHei"/>
                        </a:rPr>
                        <a:t>城市排名用</a:t>
                      </a:r>
                      <a:r>
                        <a:rPr sz="2000" dirty="0">
                          <a:solidFill>
                            <a:srgbClr val="1A1A2E"/>
                          </a:solidFill>
                          <a:latin typeface="Microsoft JhengHei"/>
                        </a:rPr>
                        <a:t> bar 比 choropleth </a:t>
                      </a:r>
                      <a:r>
                        <a:rPr sz="2000" dirty="0" err="1">
                          <a:solidFill>
                            <a:srgbClr val="1A1A2E"/>
                          </a:solidFill>
                          <a:latin typeface="Microsoft JhengHei"/>
                        </a:rPr>
                        <a:t>更清楚</a:t>
                      </a:r>
                      <a:endParaRPr sz="2000" dirty="0">
                        <a:solidFill>
                          <a:srgbClr val="1A1A2E"/>
                        </a:solidFill>
                        <a:latin typeface="Microsoft Jheng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13 — Interactive Dashboards &amp; Data Storytelling  ·  ACL@NCU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21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COMMON PITFALLS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互動圖表常見錯誤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D34F4F"/>
                </a:solidFill>
                <a:latin typeface="Calibri"/>
              </a:rPr>
              <a:t>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74519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  <a:latin typeface="Microsoft JhengHei"/>
              </a:rPr>
              <a:t>抓 API 只拿第一頁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874519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誤以為 PsyArXiv 只有 100 篇心理學論文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D34F4F"/>
                </a:solidFill>
                <a:latin typeface="Calibri"/>
              </a:rPr>
              <a:t>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5176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  <a:latin typeface="Microsoft JhengHei"/>
              </a:rPr>
              <a:t>concat 後不檢查欄位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65176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某些欄位全 NaN 卻沒人發現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D34F4F"/>
                </a:solidFill>
                <a:latin typeface="Calibri"/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4290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  <a:latin typeface="Microsoft JhengHei"/>
              </a:rPr>
              <a:t>to_numeric 不加 errors='coerce'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42900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一個髒字串就讓整支 script 炸掉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D34F4F"/>
                </a:solidFill>
                <a:latin typeface="Calibri"/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0624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  <a:latin typeface="Microsoft JhengHei"/>
              </a:rPr>
              <a:t>塞 200 種 subject 進 legend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420624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圖完全沒有訊息量；應該 showlegend=False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83479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D34F4F"/>
                </a:solidFill>
                <a:latin typeface="Calibri"/>
              </a:rP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983479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  <a:latin typeface="Microsoft JhengHei"/>
              </a:rPr>
              <a:t>Annotation 只寫值不寫意義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983479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「Peak: 87」遠不如「Peak — conference deadline」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13 — Interactive Dashboards &amp; Data Storytelling  ·  ACL@NCU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22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HOMEWORK · 下週上課前繳交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把兩個資料集整合進你的儀表板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新增 PsyArXiv 頁面：fetch_psyarxiv() + clean()，至少 2 張 Plotly 圖</a:t>
            </a:r>
          </a:p>
          <a:p>
            <a:pPr algn="l">
              <a:lnSpc>
                <a:spcPct val="125000"/>
              </a:lnSpc>
              <a:spcBef>
                <a:spcPts val="675"/>
              </a:spcBef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新增 MOE 頁面：fetch_all() + clean()，至少 2 張 Plotly 圖</a:t>
            </a:r>
          </a:p>
          <a:p>
            <a:pPr algn="l">
              <a:lnSpc>
                <a:spcPct val="125000"/>
              </a:lnSpc>
              <a:spcBef>
                <a:spcPts val="675"/>
              </a:spcBef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至少一張圖要含 annotation；每張圖下方寫 1–2 句 takeaway</a:t>
            </a:r>
          </a:p>
          <a:p>
            <a:pPr algn="l">
              <a:lnSpc>
                <a:spcPct val="125000"/>
              </a:lnSpc>
              <a:spcBef>
                <a:spcPts val="675"/>
              </a:spcBef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每個資料集至少一個 widget（slider / selectbox / multiselect）</a:t>
            </a:r>
          </a:p>
          <a:p>
            <a:pPr algn="l">
              <a:lnSpc>
                <a:spcPct val="125000"/>
              </a:lnSpc>
              <a:spcBef>
                <a:spcPts val="675"/>
              </a:spcBef>
            </a:pPr>
            <a:r>
              <a:rPr sz="1500" b="1">
                <a:solidFill>
                  <a:srgbClr val="0D9B9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Microsoft JhengHei"/>
              </a:rPr>
              <a:t>Docstring 寫一段：哪個清理決定你刻意與範例不同？理由？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438912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評分項目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比重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Pipeline 完整 (load → clean → describe → plot)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Plotly 圖數量與多樣性 (≥ 4 張，含 annotation)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25%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資料敘事 — caption + annotation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清理決定的反思（與範例不同 + 理由）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15%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Streamlit 互動 (widget + 排版)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13 — Interactive Dashboards &amp; Data Storytelling  ·  ACL@NCU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23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D9B9B"/>
                </a:solidFill>
                <a:latin typeface="Calibri"/>
              </a:rP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1430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Microsoft JhengHei"/>
              </a:rPr>
              <a:t>資料可信，圖表才有說服力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200400"/>
            <a:ext cx="3520440" cy="2286000"/>
          </a:xfrm>
          <a:prstGeom prst="rect">
            <a:avLst/>
          </a:prstGeom>
          <a:solidFill>
            <a:srgbClr val="1F406F"/>
          </a:solidFill>
          <a:ln w="12700">
            <a:solidFill>
              <a:srgbClr val="0D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3429000"/>
            <a:ext cx="3063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06908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icrosoft JhengHei"/>
              </a:rPr>
              <a:t>讓資料可信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61772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D9B9B"/>
                </a:solidFill>
                <a:latin typeface="Consolas"/>
              </a:rPr>
              <a:t>load → clean → describe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07992" y="3200400"/>
            <a:ext cx="3520440" cy="2286000"/>
          </a:xfrm>
          <a:prstGeom prst="rect">
            <a:avLst/>
          </a:prstGeom>
          <a:solidFill>
            <a:srgbClr val="1F406F"/>
          </a:solidFill>
          <a:ln w="12700">
            <a:solidFill>
              <a:srgbClr val="0D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3429000"/>
            <a:ext cx="3063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Interactivity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406908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icrosoft JhengHei"/>
              </a:rPr>
              <a:t>讓資料可探索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461772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D9B9B"/>
                </a:solidFill>
                <a:latin typeface="Consolas"/>
              </a:rPr>
              <a:t>Plotly + Streamlit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93024" y="3200400"/>
            <a:ext cx="3520440" cy="2286000"/>
          </a:xfrm>
          <a:prstGeom prst="rect">
            <a:avLst/>
          </a:prstGeom>
          <a:solidFill>
            <a:srgbClr val="1F406F"/>
          </a:solidFill>
          <a:ln w="12700">
            <a:solidFill>
              <a:srgbClr val="0D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21624" y="3429000"/>
            <a:ext cx="3063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Storytelling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1624" y="406908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icrosoft JhengHei"/>
              </a:rPr>
              <a:t>讓分析有方向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461772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D9B9B"/>
                </a:solidFill>
                <a:latin typeface="Consolas"/>
              </a:rPr>
              <a:t>一張圖 / 一個問題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0D9B9B"/>
                </a:solidFill>
                <a:latin typeface="Microsoft JhengHei"/>
              </a:rPr>
              <a:t>儀表板的目標不是展示所有資料，而是幫使用者做判斷。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0D9B9B"/>
                </a:solidFill>
                <a:latin typeface="Calibri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2541</Words>
  <Application>Microsoft Office PowerPoint</Application>
  <PresentationFormat>寬螢幕</PresentationFormat>
  <Paragraphs>445</Paragraphs>
  <Slides>23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8" baseType="lpstr">
      <vt:lpstr>Microsoft JhengHei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audachang</dc:creator>
  <cp:keywords/>
  <dc:description>generated using python-pptx</dc:description>
  <cp:lastModifiedBy>Erik Chang</cp:lastModifiedBy>
  <cp:revision>4</cp:revision>
  <dcterms:created xsi:type="dcterms:W3CDTF">2013-01-27T09:14:16Z</dcterms:created>
  <dcterms:modified xsi:type="dcterms:W3CDTF">2026-05-13T10:57:49Z</dcterms:modified>
  <cp:category/>
</cp:coreProperties>
</file>