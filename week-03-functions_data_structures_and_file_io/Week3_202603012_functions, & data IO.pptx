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1"/>
  </p:notesMasterIdLst>
  <p:sldIdLst>
    <p:sldId id="356" r:id="rId2"/>
    <p:sldId id="392" r:id="rId3"/>
    <p:sldId id="367" r:id="rId4"/>
    <p:sldId id="393" r:id="rId5"/>
    <p:sldId id="369" r:id="rId6"/>
    <p:sldId id="394" r:id="rId7"/>
    <p:sldId id="325" r:id="rId8"/>
    <p:sldId id="315" r:id="rId9"/>
    <p:sldId id="397" r:id="rId10"/>
    <p:sldId id="345" r:id="rId11"/>
    <p:sldId id="398" r:id="rId12"/>
    <p:sldId id="362" r:id="rId13"/>
    <p:sldId id="347" r:id="rId14"/>
    <p:sldId id="348" r:id="rId15"/>
    <p:sldId id="349" r:id="rId16"/>
    <p:sldId id="363" r:id="rId17"/>
    <p:sldId id="316" r:id="rId18"/>
    <p:sldId id="399" r:id="rId19"/>
    <p:sldId id="317" r:id="rId20"/>
    <p:sldId id="318" r:id="rId21"/>
    <p:sldId id="319" r:id="rId22"/>
    <p:sldId id="301" r:id="rId23"/>
    <p:sldId id="350" r:id="rId24"/>
    <p:sldId id="353" r:id="rId25"/>
    <p:sldId id="355" r:id="rId26"/>
    <p:sldId id="400" r:id="rId27"/>
    <p:sldId id="302" r:id="rId28"/>
    <p:sldId id="326" r:id="rId29"/>
    <p:sldId id="401" r:id="rId30"/>
  </p:sldIdLst>
  <p:sldSz cx="12192000" cy="6858000"/>
  <p:notesSz cx="6858000" cy="9144000"/>
  <p:custDataLst>
    <p:tags r:id="rId3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6" autoAdjust="0"/>
    <p:restoredTop sz="93963" autoAdjust="0"/>
  </p:normalViewPr>
  <p:slideViewPr>
    <p:cSldViewPr snapToGrid="0">
      <p:cViewPr varScale="1">
        <p:scale>
          <a:sx n="84" d="100"/>
          <a:sy n="84" d="100"/>
        </p:scale>
        <p:origin x="449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1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F197A6-BE36-4D6D-BBE6-9633BE34F474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C74F81-CD54-4030-AC9C-0ED56CF0AA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878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9952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5561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20704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2609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003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914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E38AAD-C976-449A-9F9C-85708E2961C3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6859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96401" y="3378954"/>
            <a:ext cx="6394567" cy="3479046"/>
          </a:xfrm>
          <a:custGeom>
            <a:avLst/>
            <a:gdLst>
              <a:gd name="connsiteX0" fmla="*/ 5171297 w 6394567"/>
              <a:gd name="connsiteY0" fmla="*/ 284 h 3479046"/>
              <a:gd name="connsiteX1" fmla="*/ 6394290 w 6394567"/>
              <a:gd name="connsiteY1" fmla="*/ 430072 h 3479046"/>
              <a:gd name="connsiteX2" fmla="*/ 6394567 w 6394567"/>
              <a:gd name="connsiteY2" fmla="*/ 430316 h 3479046"/>
              <a:gd name="connsiteX3" fmla="*/ 6394567 w 6394567"/>
              <a:gd name="connsiteY3" fmla="*/ 3479046 h 3479046"/>
              <a:gd name="connsiteX4" fmla="*/ 0 w 6394567"/>
              <a:gd name="connsiteY4" fmla="*/ 3479046 h 3479046"/>
              <a:gd name="connsiteX5" fmla="*/ 3916974 w 6394567"/>
              <a:gd name="connsiteY5" fmla="*/ 405504 h 3479046"/>
              <a:gd name="connsiteX6" fmla="*/ 3959456 w 6394567"/>
              <a:gd name="connsiteY6" fmla="*/ 373857 h 3479046"/>
              <a:gd name="connsiteX7" fmla="*/ 5052215 w 6394567"/>
              <a:gd name="connsiteY7" fmla="*/ 1756 h 3479046"/>
              <a:gd name="connsiteX8" fmla="*/ 5171297 w 6394567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2C74-82F4-2A29-889B-EF23CEE6A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1122363"/>
            <a:ext cx="6211185" cy="230524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ACADD6-278F-604C-8A38-BBBAFC675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2" y="3549048"/>
            <a:ext cx="5029198" cy="1956278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3946B-3F5A-C916-B62B-8D5938EA8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79F3A-03C4-4B1C-8AE5-8FD8BC8EDFEC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539F-2DB8-FCDA-C884-9C3CD29B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A7B3-5D3B-D493-8F6F-1FEBB8576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6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94" y="347181"/>
            <a:ext cx="8886884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41" y="1590157"/>
            <a:ext cx="10381517" cy="44346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15260-1C0B-A965-3114-D7C40D18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5BFA6-A909-4E15-BD17-37683E4F3322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F4D1-0334-3F24-69B4-06C7BD74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A76D-3B8B-429D-9B32-54D6A6297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5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9C414-4A2F-78AF-ED60-6130D4C563B3}"/>
              </a:ext>
            </a:extLst>
          </p:cNvPr>
          <p:cNvSpPr/>
          <p:nvPr/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2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410AE4-7FC7-589E-B6D3-0DA7B5FC5CE3}"/>
              </a:ext>
            </a:extLst>
          </p:cNvPr>
          <p:cNvSpPr/>
          <p:nvPr/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3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81CBD-08D9-3C9A-7620-24F2D640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9738"/>
            <a:ext cx="6455434" cy="29812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5AE2B-1716-CEEC-73F8-E81F59192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4759252"/>
            <a:ext cx="5397260" cy="95574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052-6EE8-979F-04FB-1B8DF81F2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33676-1B6B-4BBE-8D4C-954E38BB0491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86285-161A-6869-27C2-0A159C234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ED64F-5DAB-238D-C34A-1DCCB122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1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484D0-7460-7B08-F1EE-96EABE4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522" y="181239"/>
            <a:ext cx="10092477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B7F9-8ECB-7079-A11E-51D3903E2B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6521" y="1484295"/>
            <a:ext cx="5177899" cy="465476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97161-CAF5-CA48-D814-7ACD43AB9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21652" y="1476480"/>
            <a:ext cx="5177899" cy="465476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BD680-4E7A-5155-3CAE-6BD44EE8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37526-C717-4892-B54A-A9E2325524B8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A152D-EFF2-B3AA-3F25-14E11367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D6032-FD7A-BFFD-9BE5-48EDBEFBD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76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7F4D-4855-340E-03F3-4860885EC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63283"/>
            <a:ext cx="10096500" cy="91600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EB472-7426-C288-B5F6-0A1232DCED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1" y="1879287"/>
            <a:ext cx="4739628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4F9C-B6FA-97C3-F618-0CF956CB5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1" y="2505075"/>
            <a:ext cx="4739628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5665C-7910-AFA2-350F-42C06ED5AF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330" y="1879287"/>
            <a:ext cx="4762970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71352E-1DE0-F0CD-6F81-1D8FF59C2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330" y="2505075"/>
            <a:ext cx="4762970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8F7E4-7D9E-4736-3269-4F0C4699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B1B73-38BC-436D-8EE6-E273345841B6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386CF-9A84-8D2A-BC47-C951DD99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80844D-FE1F-49E7-3BBD-527FB72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04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691C-93A5-1364-00A9-A470C289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431" y="606946"/>
            <a:ext cx="8886884" cy="104307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E055BD-4154-B9D1-0B5B-B1E3A06B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717CB-8512-4BB3-8685-CAA32E7FBC3C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A9E4A-03D1-7A8B-233D-014A324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CEFC4-D276-DF45-F395-F5BD2EA7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463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2C0AD-76F4-FCE4-2717-0A9AA435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30070-0EA1-4A0D-8F4A-D7975CE73EDC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3BB66-3F41-7F1D-5108-B3F679A88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A6DA0-07AE-4BE4-B82F-7936D0E3E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982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BFB75-C953-0BD0-4E2E-717767426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0626"/>
            <a:ext cx="3705225" cy="12867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1AA52-60F3-40F2-673B-5848F425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75426"/>
            <a:ext cx="5980112" cy="47683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167E8-C561-5A72-AED3-442F66DDE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BFED3-7CB3-1B8B-9504-13A121CAD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61D9-77D5-4763-AC3C-234694E90E17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456C9-19A0-4441-B1AF-B7AFBF642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898EA-84CC-411C-0012-D31495369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05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1E10-1458-2553-05B4-313F7E26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82128"/>
            <a:ext cx="3705225" cy="1275272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0F677-F177-6DED-1920-685B9D9FF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43000"/>
            <a:ext cx="5980112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D1CB1-2109-480E-8904-4077C94D6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6576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0DB38-7CB9-2140-BC21-6D2E7DD0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8C68-2AD3-4F03-96E0-FA5130A87C35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448AD-3B1D-4B5E-CAB9-BB5FD2CD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EF53D-CF5A-87A2-E973-3B8CCDEB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50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50D2E-0561-F284-F89A-AAE3CD09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10239338" cy="9536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57C4C-16EC-2477-6332-830F5301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9848" y="2139696"/>
            <a:ext cx="10239338" cy="367768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940D3-6996-1C08-F1AF-87C35465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E180E-6827-4A87-80C3-07C58CD3A140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76C3-588F-B636-8CE0-AA2CBFBCE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F8A9-EB1E-B344-A4B8-B58D063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28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F3A28-33E4-2796-AE7A-1234569F5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4950" y="1081177"/>
            <a:ext cx="2508849" cy="4633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185FC-2BBB-E997-A5CD-F2C6CF6B7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6800" y="1081177"/>
            <a:ext cx="7505700" cy="4633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14B3C-96CD-071C-C2AD-2C7E04F8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69576-551E-420E-B928-DD4922C9618D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2B04-F5E0-C5A3-C77D-6AE9A9E91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55BC2-C712-C4A4-50EC-E10D88344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53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F4A25-A386-9574-775C-E5E5F9FC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8886884" cy="953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7885F-2B7B-74DB-9996-E0ACEBC9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2139696"/>
            <a:ext cx="8883836" cy="367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4F519-BA47-2B81-CC1C-7E1F119EC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7379" y="4629744"/>
            <a:ext cx="2653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329A6EE-4D16-488F-9F14-27146B16CAB9}" type="datetime1">
              <a:rPr lang="en-US" altLang="zh-TW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52D7B-C352-1630-4C3D-7D5983C04D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10602" y="6318446"/>
            <a:ext cx="27431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04F0-DF9B-480B-CC46-BAE7A81FB7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318446"/>
            <a:ext cx="6156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206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2" r:id="rId2"/>
    <p:sldLayoutId id="2147483681" r:id="rId3"/>
    <p:sldLayoutId id="2147483680" r:id="rId4"/>
    <p:sldLayoutId id="2147483679" r:id="rId5"/>
    <p:sldLayoutId id="2147483678" r:id="rId6"/>
    <p:sldLayoutId id="2147483677" r:id="rId7"/>
    <p:sldLayoutId id="2147483676" r:id="rId8"/>
    <p:sldLayoutId id="2147483675" r:id="rId9"/>
    <p:sldLayoutId id="2147483674" r:id="rId10"/>
    <p:sldLayoutId id="2147483673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3" descr="天空中的彩色圖案">
            <a:extLst>
              <a:ext uri="{FF2B5EF4-FFF2-40B4-BE49-F238E27FC236}">
                <a16:creationId xmlns:a16="http://schemas.microsoft.com/office/drawing/2014/main" id="{ED98725C-038E-6A06-4C58-01CA646CCD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38" b="10193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74E6BD4-9370-439F-94BB-34169C126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6913" y="4156364"/>
            <a:ext cx="9216167" cy="1982697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3200" dirty="0"/>
              <a:t>Data I/O</a:t>
            </a:r>
            <a:br>
              <a:rPr lang="en-US" altLang="zh-TW" sz="3200" dirty="0"/>
            </a:br>
            <a:r>
              <a:rPr lang="en-US" altLang="zh-TW" sz="3200" dirty="0"/>
              <a:t>Functions</a:t>
            </a:r>
            <a:endParaRPr lang="zh-TW" altLang="en-US" sz="32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F3D1A53-2BC1-6F24-5CC4-46EA5C265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3159" y="2756862"/>
            <a:ext cx="3129921" cy="1010882"/>
          </a:xfrm>
        </p:spPr>
        <p:txBody>
          <a:bodyPr anchor="b">
            <a:normAutofit fontScale="85000" lnSpcReduction="20000"/>
          </a:bodyPr>
          <a:lstStyle/>
          <a:p>
            <a:pPr algn="ctr"/>
            <a:r>
              <a:rPr lang="en-US" altLang="zh-TW" dirty="0"/>
              <a:t>NS5116</a:t>
            </a:r>
          </a:p>
          <a:p>
            <a:r>
              <a:rPr lang="zh-TW" altLang="zh-TW" b="1" dirty="0"/>
              <a:t>電腦硬體與程式語言在行為科學實驗與大數據分析之應用</a:t>
            </a:r>
            <a:endParaRPr lang="zh-TW" altLang="zh-TW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CC6E18B-DBDF-ADE3-AE6C-175FCBE7B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 dirty="0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559D671-9BE8-890D-315E-3958C17E5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C59FDAF-84C2-BC99-6F5C-BF3AD618D8DA}"/>
              </a:ext>
            </a:extLst>
          </p:cNvPr>
          <p:cNvSpPr txBox="1"/>
          <p:nvPr/>
        </p:nvSpPr>
        <p:spPr>
          <a:xfrm>
            <a:off x="429935" y="5677396"/>
            <a:ext cx="60946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March 12, 2026</a:t>
            </a:r>
          </a:p>
          <a:p>
            <a:r>
              <a:rPr lang="zh-TW" altLang="en-US" dirty="0"/>
              <a:t>講師：張智宏</a:t>
            </a:r>
            <a:endParaRPr lang="en-US" altLang="zh-TW" dirty="0"/>
          </a:p>
          <a:p>
            <a:r>
              <a:rPr lang="zh-TW" altLang="en-US" dirty="0"/>
              <a:t>教室</a:t>
            </a:r>
            <a:r>
              <a:rPr lang="en-US" altLang="zh-TW" dirty="0"/>
              <a:t>: S5-Ideabrain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0923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基本檔案讀寫</a:t>
            </a:r>
            <a:endParaRPr lang="en-US" dirty="0"/>
          </a:p>
        </p:txBody>
      </p:sp>
      <p:sp>
        <p:nvSpPr>
          <p:cNvPr id="8" name="文字版面配置區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DB10B-C8F2-452C-97D4-F8A78DF5979D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2022 Spring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1296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將文字檔內容</a:t>
            </a:r>
            <a:r>
              <a:rPr lang="zh-TW" altLang="en-US" sz="6000" dirty="0"/>
              <a:t>讀入</a:t>
            </a:r>
            <a:r>
              <a:rPr lang="en-US" altLang="zh-TW" dirty="0"/>
              <a:t>python</a:t>
            </a:r>
            <a:r>
              <a:rPr lang="zh-TW" altLang="en-US" dirty="0"/>
              <a:t>環境</a:t>
            </a:r>
            <a:endParaRPr lang="en-US" dirty="0"/>
          </a:p>
        </p:txBody>
      </p:sp>
      <p:pic>
        <p:nvPicPr>
          <p:cNvPr id="9" name="內容版面配置區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92936" y="1700807"/>
            <a:ext cx="2302864" cy="4494587"/>
          </a:xfrm>
          <a:prstGeom prst="rect">
            <a:avLst/>
          </a:prstGeom>
        </p:spPr>
      </p:pic>
      <p:pic>
        <p:nvPicPr>
          <p:cNvPr id="10" name="內容版面配置區 9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591944" y="2636912"/>
            <a:ext cx="5952861" cy="1224136"/>
          </a:xfrm>
          <a:prstGeom prst="rect">
            <a:avLst/>
          </a:prstGeom>
        </p:spPr>
      </p:pic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86E19-B8DA-4156-89F1-EBAB6F275A02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2022 Spring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3392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將文字檔內容</a:t>
            </a:r>
            <a:r>
              <a:rPr lang="zh-TW" altLang="en-US" sz="6000" dirty="0"/>
              <a:t>寫入</a:t>
            </a:r>
            <a:r>
              <a:rPr lang="en-US" altLang="zh-TW" dirty="0"/>
              <a:t>python</a:t>
            </a:r>
            <a:r>
              <a:rPr lang="zh-TW" altLang="en-US" dirty="0"/>
              <a:t>環境</a:t>
            </a:r>
            <a:endParaRPr 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8ACE9-B2B9-4EDE-BF2B-9AF17FD6F069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2022 Spring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試看看不執行</a:t>
            </a:r>
            <a:r>
              <a:rPr lang="en-US" altLang="zh-TW" dirty="0"/>
              <a:t>fid11.close()</a:t>
            </a:r>
          </a:p>
          <a:p>
            <a:pPr lvl="1"/>
            <a:r>
              <a:rPr lang="zh-TW" altLang="en-US" dirty="0"/>
              <a:t>開啟</a:t>
            </a:r>
            <a:r>
              <a:rPr lang="en-US" altLang="zh-TW" dirty="0"/>
              <a:t>test.txt</a:t>
            </a:r>
            <a:r>
              <a:rPr lang="zh-TW" altLang="en-US" dirty="0"/>
              <a:t>，看到什麼？</a:t>
            </a:r>
            <a:endParaRPr lang="en-US" altLang="zh-TW" dirty="0"/>
          </a:p>
          <a:p>
            <a:pPr lvl="1"/>
            <a:r>
              <a:rPr lang="zh-TW" altLang="en-US" dirty="0"/>
              <a:t>刪除</a:t>
            </a:r>
            <a:r>
              <a:rPr lang="en-US" altLang="zh-TW" dirty="0"/>
              <a:t>test.txt</a:t>
            </a:r>
            <a:r>
              <a:rPr lang="zh-TW" altLang="en-US" dirty="0"/>
              <a:t>，會怎樣？</a:t>
            </a:r>
            <a:endParaRPr lang="en-US" altLang="zh-TW" dirty="0"/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fid11.close()</a:t>
            </a:r>
            <a:r>
              <a:rPr lang="zh-TW" altLang="en-US" dirty="0"/>
              <a:t>，對</a:t>
            </a:r>
            <a:r>
              <a:rPr lang="en-US" altLang="zh-TW" dirty="0"/>
              <a:t>test.txt</a:t>
            </a:r>
            <a:r>
              <a:rPr lang="zh-TW" altLang="en-US" dirty="0"/>
              <a:t>內容有什麼影響？</a:t>
            </a:r>
            <a:endParaRPr lang="en-US" altLang="zh-TW" dirty="0"/>
          </a:p>
          <a:p>
            <a:pPr lvl="1"/>
            <a:r>
              <a:rPr lang="zh-TW" altLang="en-US" dirty="0"/>
              <a:t>現在可以刪了嗎？</a:t>
            </a:r>
            <a:endParaRPr lang="en-US" dirty="0"/>
          </a:p>
        </p:txBody>
      </p:sp>
      <p:pic>
        <p:nvPicPr>
          <p:cNvPr id="12" name="內容版面配置區 11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166864" y="3460718"/>
            <a:ext cx="2857647" cy="123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95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一次只寫一部份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030332" y="3117800"/>
            <a:ext cx="3130711" cy="1917799"/>
          </a:xfrm>
          <a:prstGeom prst="rect">
            <a:avLst/>
          </a:prstGeom>
        </p:spPr>
      </p:pic>
      <p:pic>
        <p:nvPicPr>
          <p:cNvPr id="9" name="內容版面配置區 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19889" y="3117800"/>
            <a:ext cx="2857647" cy="1917799"/>
          </a:xfrm>
          <a:prstGeom prst="rect">
            <a:avLst/>
          </a:prstGeom>
        </p:spPr>
      </p:pic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B643C2-2B01-44B5-B717-C5C751B10969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2022 Spring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2477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用</a:t>
            </a:r>
            <a:r>
              <a:rPr lang="en-US" altLang="zh-TW" dirty="0"/>
              <a:t>with</a:t>
            </a:r>
            <a:r>
              <a:rPr lang="zh-TW" altLang="en-US" dirty="0"/>
              <a:t>自動關閉檔案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1375" y="2737661"/>
            <a:ext cx="7925207" cy="1574881"/>
          </a:xfrm>
          <a:prstGeom prst="rect">
            <a:avLst/>
          </a:prstGeom>
        </p:spPr>
      </p:pic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E8B2-5B23-4000-AB61-E0EEBC906E28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2022 Spring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714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函數</a:t>
            </a:r>
            <a:endParaRPr lang="zh-TW" altLang="en-US" dirty="0"/>
          </a:p>
        </p:txBody>
      </p:sp>
      <p:sp>
        <p:nvSpPr>
          <p:cNvPr id="8" name="副標題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Functions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EBADF8E-B11A-47AB-8383-D7A59C151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A3715-BCD9-439B-8BC3-457C6B8DEB5B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6A26FB3-CD20-40B1-A211-5EC4FAED6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4229739-A82F-467E-89AE-10C9E5C39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7044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函數 </a:t>
            </a:r>
            <a:r>
              <a:rPr lang="en-US" altLang="zh-TW" dirty="0"/>
              <a:t>Functions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4CFC8-94DF-4CCA-B85F-C248407DB231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8</a:t>
            </a:fld>
            <a:endParaRPr lang="zh-TW" altLang="en-US"/>
          </a:p>
        </p:txBody>
      </p:sp>
      <p:grpSp>
        <p:nvGrpSpPr>
          <p:cNvPr id="13" name="群組 12"/>
          <p:cNvGrpSpPr/>
          <p:nvPr/>
        </p:nvGrpSpPr>
        <p:grpSpPr>
          <a:xfrm>
            <a:off x="2838688" y="1527205"/>
            <a:ext cx="6761840" cy="2070021"/>
            <a:chOff x="844047" y="2242239"/>
            <a:chExt cx="6761840" cy="2070021"/>
          </a:xfrm>
        </p:grpSpPr>
        <p:pic>
          <p:nvPicPr>
            <p:cNvPr id="1126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7624" y="2924944"/>
              <a:ext cx="6418263" cy="733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文字方塊 5"/>
            <p:cNvSpPr txBox="1"/>
            <p:nvPr/>
          </p:nvSpPr>
          <p:spPr>
            <a:xfrm>
              <a:off x="844047" y="2242239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800" b="1" dirty="0">
                  <a:solidFill>
                    <a:srgbClr val="FF0000"/>
                  </a:solidFill>
                </a:rPr>
                <a:t>header</a:t>
              </a:r>
              <a:endParaRPr lang="zh-TW" altLang="en-US" sz="28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文字方塊 7"/>
            <p:cNvSpPr txBox="1"/>
            <p:nvPr/>
          </p:nvSpPr>
          <p:spPr>
            <a:xfrm>
              <a:off x="844047" y="3789040"/>
              <a:ext cx="9412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800" b="1" dirty="0">
                  <a:solidFill>
                    <a:srgbClr val="FF0000"/>
                  </a:solidFill>
                </a:rPr>
                <a:t>Body</a:t>
              </a:r>
              <a:endParaRPr lang="zh-TW" altLang="en-US" sz="28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9" name="直線單箭頭接點 8"/>
            <p:cNvCxnSpPr>
              <a:endCxn id="8" idx="3"/>
            </p:cNvCxnSpPr>
            <p:nvPr/>
          </p:nvCxnSpPr>
          <p:spPr>
            <a:xfrm flipH="1">
              <a:off x="1785330" y="3658369"/>
              <a:ext cx="986470" cy="392281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/>
            <p:nvPr/>
          </p:nvCxnSpPr>
          <p:spPr>
            <a:xfrm flipH="1" flipV="1">
              <a:off x="2081886" y="2564904"/>
              <a:ext cx="1121962" cy="200555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983" y="4653137"/>
            <a:ext cx="3067050" cy="809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05343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876E707-0A10-49E3-BD77-1FD1B1DBE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程式碼的結構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C33F269F-AD7A-4E9A-B966-0041D790E9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到目前為止，我們練習寫的程式都在解決單一的簡單問題。</a:t>
            </a:r>
            <a:endParaRPr lang="en-US" altLang="zh-TW" dirty="0"/>
          </a:p>
          <a:p>
            <a:pPr lvl="1"/>
            <a:r>
              <a:rPr lang="zh-TW" altLang="en-US" dirty="0"/>
              <a:t>使用者輸入</a:t>
            </a:r>
            <a:endParaRPr lang="en-US" altLang="zh-TW" dirty="0"/>
          </a:p>
          <a:p>
            <a:pPr lvl="1"/>
            <a:r>
              <a:rPr lang="zh-TW" altLang="en-US" dirty="0"/>
              <a:t>處理訊息</a:t>
            </a:r>
            <a:endParaRPr lang="en-US" altLang="zh-TW" dirty="0"/>
          </a:p>
          <a:p>
            <a:pPr lvl="1"/>
            <a:r>
              <a:rPr lang="zh-TW" altLang="en-US" dirty="0"/>
              <a:t>印出結果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8AA49FD0-D421-4B92-9A29-ECF397619B9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當問題變複雜，對切割出來的每個小問題，我們可以視其為一個個的黑箱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對每個黑箱，概念上我們只問三件事</a:t>
            </a:r>
            <a:endParaRPr lang="en-US" altLang="zh-TW" dirty="0"/>
          </a:p>
          <a:p>
            <a:pPr lvl="1"/>
            <a:r>
              <a:rPr lang="zh-TW" altLang="en-US" dirty="0"/>
              <a:t>它需要吃進什麼資訊？</a:t>
            </a:r>
            <a:endParaRPr lang="en-US" altLang="zh-TW" dirty="0"/>
          </a:p>
          <a:p>
            <a:pPr lvl="1"/>
            <a:r>
              <a:rPr lang="zh-TW" altLang="en-US" dirty="0"/>
              <a:t>它對資訊做何處理？</a:t>
            </a:r>
            <a:endParaRPr lang="en-US" altLang="zh-TW" dirty="0"/>
          </a:p>
          <a:p>
            <a:pPr lvl="1"/>
            <a:r>
              <a:rPr lang="zh-TW" altLang="en-US" dirty="0"/>
              <a:t>它需要丟出什麼結果？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86FC61D-3F84-47BD-871A-2736EBD52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91AB-44A6-4086-8513-917297D28963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C22EE42-FF0E-4C72-AA26-F241879CC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B24DF8C-E205-4607-87B8-334EC373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045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FFB71-E3DD-4AB7-992D-4E4BA3527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函式：切割作業與抽象化的工具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444AF8AF-5A58-4121-BCA6-364E99317E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7192" y="2060848"/>
            <a:ext cx="8966400" cy="3384376"/>
          </a:xfrm>
          <a:prstGeom prst="rect">
            <a:avLst/>
          </a:prstGeo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D45D341-7784-4B5F-BC18-B83C717FD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794A-DE37-45D3-93D1-979E1154DBF2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A055C8C-768D-4AF1-A650-37AB306E1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1C4044-24FD-473A-A64B-5BD1BA04F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5535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你使用過的函式</a:t>
            </a:r>
            <a:endParaRPr lang="en-US" dirty="0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99656" y="2564904"/>
            <a:ext cx="5880402" cy="2521080"/>
          </a:xfrm>
          <a:prstGeom prst="rect">
            <a:avLst/>
          </a:prstGeom>
        </p:spPr>
      </p:pic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7AD32-FC37-402C-9EEA-DE4FAF9C2A69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314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515B8E-BB2D-4AEF-8B16-4A7ED313B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練習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6FB8974-7733-4AAD-A489-9987A7CD94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9496" y="2348880"/>
            <a:ext cx="9759079" cy="1944216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A9A93F-EBC6-43BC-B820-B87C21637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E6726-C318-485B-B3B9-8AE63E483DA3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8FD259F-8031-416E-9677-81AAB3478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7F3A890-3902-480D-8D2B-BB6A95C37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0495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D48D10-0D15-4191-89EF-DF7B9215E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運算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83223CA-A4BE-420D-807D-E3F313F58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D9D24-ED05-46C5-876D-79819C3F6568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094D58-60BD-4AF4-A2A4-58D28FC33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FC1EC1-4413-47BC-89DC-E309B8A2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151" y="2711616"/>
            <a:ext cx="4015263" cy="933408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3706" y="1778208"/>
            <a:ext cx="4514782" cy="744824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784" y="4167362"/>
            <a:ext cx="4938458" cy="5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80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D5BEB9-4445-4CDE-8094-8CD0F17F9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輸出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17F2BA-27D5-4AF1-B29C-5EF927B57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1861-83B3-4104-9CD8-69815E6BC369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69818A3-C0F3-4B2A-8C5B-E70D972CD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196D1B-7C95-4477-80A8-6042C54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504" y="2171700"/>
            <a:ext cx="7992886" cy="144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409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呼叫</a:t>
            </a:r>
            <a:r>
              <a:rPr lang="en-US" altLang="zh-TW" dirty="0"/>
              <a:t> (</a:t>
            </a:r>
            <a:r>
              <a:rPr lang="zh-TW" altLang="en-US" dirty="0"/>
              <a:t>使用</a:t>
            </a:r>
            <a:r>
              <a:rPr lang="en-US" altLang="zh-TW" dirty="0"/>
              <a:t>) </a:t>
            </a:r>
            <a:r>
              <a:rPr lang="zh-TW" altLang="en-US" dirty="0"/>
              <a:t>函式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27448" y="2757686"/>
            <a:ext cx="5027546" cy="2255490"/>
          </a:xfrm>
          <a:prstGeom prst="rect">
            <a:avLst/>
          </a:prstGeom>
        </p:spPr>
      </p:pic>
      <p:sp>
        <p:nvSpPr>
          <p:cNvPr id="7" name="內容版面配置區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zh-TW" altLang="en-US" dirty="0"/>
              <a:t>定義</a:t>
            </a:r>
            <a:r>
              <a:rPr lang="en-US" dirty="0"/>
              <a:t> </a:t>
            </a:r>
            <a:r>
              <a:rPr lang="en-US" dirty="0" err="1"/>
              <a:t>word_length</a:t>
            </a:r>
            <a:r>
              <a:rPr lang="zh-TW" altLang="en-US" dirty="0"/>
              <a:t>函式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altLang="zh-TW" dirty="0"/>
          </a:p>
          <a:p>
            <a:pPr marL="457200" indent="-457200">
              <a:buFont typeface="+mj-lt"/>
              <a:buAutoNum type="arabicPeriod"/>
            </a:pPr>
            <a:r>
              <a:rPr lang="zh-TW" altLang="en-US" dirty="0"/>
              <a:t>每行用不同的引數呼叫函式，將回傳值裝入不同變數。</a:t>
            </a:r>
            <a:endParaRPr lang="en-US" altLang="zh-TW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zh-TW" altLang="en-US" dirty="0"/>
              <a:t>每行印出函式回傳值。</a:t>
            </a:r>
            <a:endParaRPr 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1AE48-B863-4225-A9A4-00D8CBA73E42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404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>
            <a:extLst>
              <a:ext uri="{FF2B5EF4-FFF2-40B4-BE49-F238E27FC236}">
                <a16:creationId xmlns:a16="http://schemas.microsoft.com/office/drawing/2014/main" id="{18E04D70-9AD0-41B2-9A8C-18B025F79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檢視函數使用時的電腦內部表徵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A2E394D-E417-40E8-8447-A06F933A4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FFF2-8B94-417E-A370-016C9DE3212A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DEAB1B0-B09E-49AF-B988-6B143F1B0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8ADE5FA-06AC-486F-83E6-6D620C2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52D3B0-9916-4872-8FF9-012F1D3B376A}"/>
              </a:ext>
            </a:extLst>
          </p:cNvPr>
          <p:cNvSpPr/>
          <p:nvPr/>
        </p:nvSpPr>
        <p:spPr>
          <a:xfrm>
            <a:off x="6036692" y="5954395"/>
            <a:ext cx="51478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dirty="0"/>
              <a:t>https://pythontutor.com/visualize.html#mode=edit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51BD28E-0114-470D-B764-D24958BD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904" y="1605367"/>
            <a:ext cx="7348591" cy="433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25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函數說明文字</a:t>
            </a:r>
            <a:br>
              <a:rPr lang="en-US" altLang="zh-TW" dirty="0"/>
            </a:br>
            <a:r>
              <a:rPr lang="en-US" altLang="zh-TW" dirty="0" err="1"/>
              <a:t>Docstring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44F1D-A33F-43DC-B4E0-BA70D6596400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745" y="2492897"/>
            <a:ext cx="4811641" cy="11970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文字方塊 6"/>
          <p:cNvSpPr txBox="1"/>
          <p:nvPr/>
        </p:nvSpPr>
        <p:spPr>
          <a:xfrm>
            <a:off x="7608169" y="168853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 err="1">
                <a:solidFill>
                  <a:srgbClr val="FF0000"/>
                </a:solidFill>
              </a:rPr>
              <a:t>Docstring</a:t>
            </a:r>
            <a:endParaRPr lang="zh-TW" altLang="en-US" sz="2800" b="1" dirty="0">
              <a:solidFill>
                <a:srgbClr val="FF0000"/>
              </a:solidFill>
            </a:endParaRPr>
          </a:p>
        </p:txBody>
      </p:sp>
      <p:cxnSp>
        <p:nvCxnSpPr>
          <p:cNvPr id="8" name="直線單箭頭接點 7"/>
          <p:cNvCxnSpPr>
            <a:endCxn id="7" idx="2"/>
          </p:cNvCxnSpPr>
          <p:nvPr/>
        </p:nvCxnSpPr>
        <p:spPr>
          <a:xfrm flipV="1">
            <a:off x="8227091" y="2211756"/>
            <a:ext cx="191557" cy="625712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1204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4EC28D-606A-4B22-8E3A-DDE45887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0650" y="188640"/>
            <a:ext cx="4705350" cy="1485900"/>
          </a:xfrm>
        </p:spPr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/>
              <a:t>docstring</a:t>
            </a:r>
            <a:r>
              <a:rPr lang="zh-TW" altLang="en-US" dirty="0"/>
              <a:t>中描述函式用法與功能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0C2241-462F-4B14-88DF-37F7DF829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75485-E3AD-4C23-8136-1872430F3740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1471966-210D-416A-B8FC-35FD4B5C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0F1FAF1-4AA3-4E21-A924-3F7BEF6C2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630CCFD-DEDE-4774-B8C3-EEB532C99C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023" y="404664"/>
            <a:ext cx="5628211" cy="576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82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函數的使用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5C171-FC25-4F6A-BE62-9A2026275429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1744" y="2060848"/>
            <a:ext cx="4917596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5375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63379" y="188640"/>
            <a:ext cx="9601200" cy="1485900"/>
          </a:xfrm>
        </p:spPr>
        <p:txBody>
          <a:bodyPr/>
          <a:lstStyle/>
          <a:p>
            <a:r>
              <a:rPr lang="zh-TW" altLang="en-US" dirty="0"/>
              <a:t>反覆呼叫函數</a:t>
            </a:r>
            <a:br>
              <a:rPr lang="en-US" altLang="zh-TW" dirty="0"/>
            </a:br>
            <a:r>
              <a:rPr lang="en-US" altLang="zh-TW" dirty="0"/>
              <a:t>Repeated Call of Functions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F7D18-266D-4355-A49D-E5442C4D8CF4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3752" y="1914407"/>
            <a:ext cx="4457104" cy="3819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94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71464" y="228825"/>
            <a:ext cx="9601200" cy="1485900"/>
          </a:xfrm>
        </p:spPr>
        <p:txBody>
          <a:bodyPr/>
          <a:lstStyle/>
          <a:p>
            <a:r>
              <a:rPr lang="zh-TW" altLang="en-US" dirty="0"/>
              <a:t>妥善地組織程式碼</a:t>
            </a:r>
            <a:br>
              <a:rPr lang="en-US" altLang="zh-TW" dirty="0"/>
            </a:br>
            <a:r>
              <a:rPr lang="en-US" altLang="zh-TW" dirty="0"/>
              <a:t>Organize it better in a script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41D8C-4C21-4A2A-BCE7-5B3A6DAAA7B4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21</a:t>
            </a:fld>
            <a:endParaRPr lang="zh-TW" altLang="en-US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776" y="1844825"/>
            <a:ext cx="3667090" cy="4348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44776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回傳資料的函數</a:t>
            </a:r>
            <a:br>
              <a:rPr lang="en-US" altLang="zh-TW" dirty="0"/>
            </a:br>
            <a:r>
              <a:rPr lang="en-US" altLang="zh-TW" dirty="0"/>
              <a:t>Fruitful Functions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D389-02CB-4E00-9AAD-D15149A085CD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22</a:t>
            </a:fld>
            <a:endParaRPr lang="zh-TW" altLang="en-US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2124" y="2924945"/>
            <a:ext cx="6257925" cy="733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99317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回傳多個值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38252" y="3394040"/>
            <a:ext cx="3314870" cy="1365320"/>
          </a:xfrm>
          <a:prstGeom prst="rect">
            <a:avLst/>
          </a:prstGeom>
        </p:spPr>
      </p:pic>
      <p:pic>
        <p:nvPicPr>
          <p:cNvPr id="9" name="內容版面配置區 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13538" y="2787583"/>
            <a:ext cx="2870348" cy="2578233"/>
          </a:xfrm>
          <a:prstGeom prst="rect">
            <a:avLst/>
          </a:prstGeom>
        </p:spPr>
      </p:pic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35FA1E-4CD3-461E-87AD-737ECC69235E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202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回傳物件或</a:t>
            </a:r>
            <a:r>
              <a:rPr lang="en-US" altLang="zh-TW" dirty="0"/>
              <a:t>None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81029" y="2917765"/>
            <a:ext cx="4229317" cy="2317869"/>
          </a:xfrm>
          <a:prstGeom prst="rect">
            <a:avLst/>
          </a:prstGeo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i="1" dirty="0"/>
              <a:t>T</a:t>
            </a:r>
            <a:r>
              <a:rPr lang="en-US" b="1" dirty="0"/>
              <a:t>akes in a string with kid name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Doesn’t explicitly return anything, so Python returns None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Takes in a string with kid name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Returns a string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Prints “Dora” to the console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Doesn’t print anything to the console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Prints Frank, then None, to the console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Prints Gus to the console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15561-1187-4257-BF80-C868F04C4513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295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回傳物件或</a:t>
            </a:r>
            <a:r>
              <a:rPr lang="en-US" altLang="zh-TW" dirty="0"/>
              <a:t>None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81029" y="2917765"/>
            <a:ext cx="4229317" cy="2317869"/>
          </a:xfrm>
          <a:prstGeom prst="rect">
            <a:avLst/>
          </a:prstGeom>
        </p:spPr>
      </p:pic>
      <p:pic>
        <p:nvPicPr>
          <p:cNvPr id="3" name="內容版面配置區 2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1988840"/>
            <a:ext cx="4410206" cy="4104456"/>
          </a:xfrm>
        </p:spPr>
      </p:pic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A6EA3-AF7D-4D2B-99E2-2E130E096A19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2817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練習：函式回傳值</a:t>
            </a:r>
            <a:endParaRPr lang="en-US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610300"/>
            <a:ext cx="4448175" cy="2932799"/>
          </a:xfrm>
          <a:prstGeom prst="rect">
            <a:avLst/>
          </a:prstGeo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525402" y="2285999"/>
            <a:ext cx="5115213" cy="358140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sentence = </a:t>
            </a:r>
            <a:r>
              <a:rPr lang="en-US" dirty="0" err="1"/>
              <a:t>make_sentence</a:t>
            </a:r>
            <a:r>
              <a:rPr lang="en-US" dirty="0"/>
              <a:t>(who, thing)</a:t>
            </a:r>
          </a:p>
          <a:p>
            <a:r>
              <a:rPr lang="en-US" dirty="0"/>
              <a:t>print(</a:t>
            </a:r>
            <a:r>
              <a:rPr lang="en-US" dirty="0" err="1"/>
              <a:t>make_sentence</a:t>
            </a:r>
            <a:r>
              <a:rPr lang="en-US" dirty="0"/>
              <a:t>(who, what))</a:t>
            </a:r>
          </a:p>
          <a:p>
            <a:r>
              <a:rPr lang="en-US" dirty="0" err="1"/>
              <a:t>your_story</a:t>
            </a:r>
            <a:r>
              <a:rPr lang="en-US" dirty="0"/>
              <a:t> = </a:t>
            </a:r>
            <a:r>
              <a:rPr lang="en-US" dirty="0" err="1"/>
              <a:t>show_story</a:t>
            </a:r>
            <a:r>
              <a:rPr lang="en-US" dirty="0"/>
              <a:t>(who, what, number, thing)</a:t>
            </a:r>
          </a:p>
          <a:p>
            <a:r>
              <a:rPr lang="en-US" dirty="0" err="1"/>
              <a:t>my_story</a:t>
            </a:r>
            <a:r>
              <a:rPr lang="en-US" dirty="0"/>
              <a:t> = </a:t>
            </a:r>
            <a:r>
              <a:rPr lang="en-US" dirty="0" err="1"/>
              <a:t>show_story</a:t>
            </a:r>
            <a:r>
              <a:rPr lang="en-US" dirty="0"/>
              <a:t>(sentence, what, number, thing)</a:t>
            </a:r>
          </a:p>
          <a:p>
            <a:r>
              <a:rPr lang="en-US" dirty="0"/>
              <a:t>print(</a:t>
            </a:r>
            <a:r>
              <a:rPr lang="en-US" dirty="0" err="1"/>
              <a:t>your_story</a:t>
            </a:r>
            <a:r>
              <a:rPr lang="en-US" dirty="0"/>
              <a:t>)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32E5F-78D7-4A05-9CC3-2FF2118E4217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7743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變數的可視域</a:t>
            </a:r>
            <a:br>
              <a:rPr lang="en-US" altLang="zh-TW" dirty="0"/>
            </a:br>
            <a:r>
              <a:rPr lang="en-US" altLang="zh-TW" dirty="0"/>
              <a:t>Scopes of Variables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F94A-FB23-4C9B-9269-13C9B47A400F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27</a:t>
            </a:fld>
            <a:endParaRPr lang="zh-TW" altLang="en-US"/>
          </a:p>
        </p:txBody>
      </p:sp>
      <p:sp>
        <p:nvSpPr>
          <p:cNvPr id="6" name="文字方塊 5"/>
          <p:cNvSpPr txBox="1"/>
          <p:nvPr/>
        </p:nvSpPr>
        <p:spPr>
          <a:xfrm>
            <a:off x="8445050" y="1656096"/>
            <a:ext cx="2055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Stack diagram</a:t>
            </a:r>
            <a:endParaRPr lang="zh-TW" altLang="en-US" sz="2400" dirty="0"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504" y="2171700"/>
            <a:ext cx="4210266" cy="3975304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5940" y="2203621"/>
            <a:ext cx="5899453" cy="370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99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使用函數的好處</a:t>
            </a:r>
            <a:br>
              <a:rPr lang="en-US" altLang="zh-TW" dirty="0"/>
            </a:br>
            <a:r>
              <a:rPr lang="en-US" altLang="zh-TW" dirty="0"/>
              <a:t>Advantages of Having Functions</a:t>
            </a:r>
            <a:endParaRPr lang="zh-TW" altLang="en-US" dirty="0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提高可讀性 </a:t>
            </a:r>
            <a:r>
              <a:rPr lang="en-US" altLang="zh-TW" dirty="0"/>
              <a:t>Readability</a:t>
            </a:r>
          </a:p>
          <a:p>
            <a:pPr lvl="1"/>
            <a:r>
              <a:rPr lang="zh-TW" altLang="en-US" dirty="0"/>
              <a:t>將重複的程式碼區塊化放在一起，給予名稱，增加可讀性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提高可修改性 </a:t>
            </a:r>
            <a:r>
              <a:rPr lang="en-US" altLang="zh-TW" dirty="0"/>
              <a:t>Modifiability</a:t>
            </a:r>
          </a:p>
          <a:p>
            <a:pPr lvl="1"/>
            <a:r>
              <a:rPr lang="zh-TW" altLang="en-US" dirty="0"/>
              <a:t>修改與函數相關功能時，只要改函數，不需要遍尋整個程式檔</a:t>
            </a:r>
            <a:endParaRPr lang="en-US" altLang="zh-TW" dirty="0"/>
          </a:p>
          <a:p>
            <a:pPr lvl="1"/>
            <a:r>
              <a:rPr lang="zh-TW" altLang="en-US" dirty="0"/>
              <a:t>縮短程式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F0D78-1083-4084-A642-DFE1760E7A92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5120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0027A5-478C-4242-8E0B-EE4BAE116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用函式作業模組化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DDE34-637F-4CB6-99D7-A50246003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將一個龐大的作業切割為數個小作業 （</a:t>
            </a:r>
            <a:r>
              <a:rPr lang="en-US" altLang="zh-TW" dirty="0"/>
              <a:t>tasks</a:t>
            </a:r>
            <a:r>
              <a:rPr lang="zh-TW" altLang="en-US" dirty="0"/>
              <a:t>）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把執行細節重新包裝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安排作業間的關係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C3F31D-8F24-4BF5-9E7E-9AD5F49C2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84BEA-85D6-4CEF-B72D-E1BC87105F9D}" type="datetime1">
              <a:rPr lang="en-US" altLang="zh-TW" smtClean="0"/>
              <a:t>3/10/2026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484DAA-B6EF-434C-9BD2-20D5A4D6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Programming &amp; Big Data, 2023 Spring</a:t>
            </a: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7F2803F-E32F-4177-9280-EB8C8F36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88EFF-DBB2-4622-9977-4541E57FF71D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4169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3.0.5724"/>
  <p:tag name="SLIDO_PRESENTATION_ID" val="3503345f-5125-4760-823f-2e8e2a60e9a1"/>
  <p:tag name="SLIDO_EVENT_UUID" val="9f01878d-775c-475b-a82f-25ec57480eb1"/>
  <p:tag name="SLIDO_EVENT_SECTION_UUID" val="fc18856c-4aaa-4964-b06c-794514368f9e"/>
</p:tagLst>
</file>

<file path=ppt/theme/theme1.xml><?xml version="1.0" encoding="utf-8"?>
<a:theme xmlns:a="http://schemas.openxmlformats.org/drawingml/2006/main" name="SwellVTI">
  <a:themeElements>
    <a:clrScheme name="AnalogousFromLightSeedRightStep">
      <a:dk1>
        <a:srgbClr val="000000"/>
      </a:dk1>
      <a:lt1>
        <a:srgbClr val="FFFFFF"/>
      </a:lt1>
      <a:dk2>
        <a:srgbClr val="243341"/>
      </a:dk2>
      <a:lt2>
        <a:srgbClr val="E8E2E7"/>
      </a:lt2>
      <a:accent1>
        <a:srgbClr val="7DAD88"/>
      </a:accent1>
      <a:accent2>
        <a:srgbClr val="6FAC96"/>
      </a:accent2>
      <a:accent3>
        <a:srgbClr val="7DA9AC"/>
      </a:accent3>
      <a:accent4>
        <a:srgbClr val="7B9EBE"/>
      </a:accent4>
      <a:accent5>
        <a:srgbClr val="9399CA"/>
      </a:accent5>
      <a:accent6>
        <a:srgbClr val="8F7BBE"/>
      </a:accent6>
      <a:hlink>
        <a:srgbClr val="AE699F"/>
      </a:hlink>
      <a:folHlink>
        <a:srgbClr val="7F7F7F"/>
      </a:folHlink>
    </a:clrScheme>
    <a:fontScheme name="自訂 6">
      <a:majorFont>
        <a:latin typeface="微軟正黑體"/>
        <a:ea typeface="微軟正黑體"/>
        <a:cs typeface=""/>
      </a:majorFont>
      <a:minorFont>
        <a:latin typeface="微軟正黑體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ellVTI" id="{8361A04D-931A-43DC-973B-1B0B1DD5DECC}" vid="{6DDB23E8-D18E-4BDA-98D6-324466149EB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1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FB60585-45DD-4756-8BFA-050389CF340D}">
  <we:reference id="wa200004052" version="1.0.0.2" store="zh-TW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documentclass{article}\n\\usepackage{amsmath}\n\\begin{document}\n\n\n\\begin{aligned}\n&amp; \\mathrm{H}_0: \\mu = 30 \\\\\n&amp; \\mathrm{H}_1: \\mu \\neq 30\n\\end{aligned}\n\n\n\\end{document}\n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6406</TotalTime>
  <Words>833</Words>
  <Application>Microsoft Office PowerPoint</Application>
  <PresentationFormat>寬螢幕</PresentationFormat>
  <Paragraphs>178</Paragraphs>
  <Slides>29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4" baseType="lpstr">
      <vt:lpstr>微軟正黑體</vt:lpstr>
      <vt:lpstr>Aptos</vt:lpstr>
      <vt:lpstr>Arial</vt:lpstr>
      <vt:lpstr>Neue Haas Grotesk Text Pro</vt:lpstr>
      <vt:lpstr>SwellVTI</vt:lpstr>
      <vt:lpstr>Data I/O Functions</vt:lpstr>
      <vt:lpstr>基本檔案讀寫</vt:lpstr>
      <vt:lpstr>將文字檔內容讀入python環境</vt:lpstr>
      <vt:lpstr>將文字檔內容寫入python環境</vt:lpstr>
      <vt:lpstr>一次只寫一部份</vt:lpstr>
      <vt:lpstr>用with自動關閉檔案</vt:lpstr>
      <vt:lpstr>函數</vt:lpstr>
      <vt:lpstr>函數 Functions</vt:lpstr>
      <vt:lpstr>程式碼的結構</vt:lpstr>
      <vt:lpstr>函式：切割作業與抽象化的工具</vt:lpstr>
      <vt:lpstr>你使用過的函式</vt:lpstr>
      <vt:lpstr>練習</vt:lpstr>
      <vt:lpstr>運算</vt:lpstr>
      <vt:lpstr>輸出</vt:lpstr>
      <vt:lpstr>呼叫 (使用) 函式</vt:lpstr>
      <vt:lpstr>檢視函數使用時的電腦內部表徵</vt:lpstr>
      <vt:lpstr>函數說明文字 Docstring</vt:lpstr>
      <vt:lpstr>在docstring中描述函式用法與功能</vt:lpstr>
      <vt:lpstr>函數的使用</vt:lpstr>
      <vt:lpstr>反覆呼叫函數 Repeated Call of Functions</vt:lpstr>
      <vt:lpstr>妥善地組織程式碼 Organize it better in a script</vt:lpstr>
      <vt:lpstr>回傳資料的函數 Fruitful Functions</vt:lpstr>
      <vt:lpstr>回傳多個值</vt:lpstr>
      <vt:lpstr>回傳物件或None</vt:lpstr>
      <vt:lpstr>回傳物件或None</vt:lpstr>
      <vt:lpstr>練習：函式回傳值</vt:lpstr>
      <vt:lpstr>變數的可視域 Scopes of Variables</vt:lpstr>
      <vt:lpstr>使用函數的好處 Advantages of Having Functions</vt:lpstr>
      <vt:lpstr>用函式作業模組化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張智宏  (audachang)</dc:creator>
  <cp:lastModifiedBy>Erik Chang</cp:lastModifiedBy>
  <cp:revision>206</cp:revision>
  <cp:lastPrinted>2026-03-04T16:10:02Z</cp:lastPrinted>
  <dcterms:created xsi:type="dcterms:W3CDTF">2024-10-23T10:48:05Z</dcterms:created>
  <dcterms:modified xsi:type="dcterms:W3CDTF">2026-03-10T19:27:00Z</dcterms:modified>
</cp:coreProperties>
</file>