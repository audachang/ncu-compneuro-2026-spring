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356" r:id="rId2"/>
    <p:sldId id="325" r:id="rId3"/>
    <p:sldId id="315" r:id="rId4"/>
    <p:sldId id="397" r:id="rId5"/>
    <p:sldId id="345" r:id="rId6"/>
    <p:sldId id="398" r:id="rId7"/>
    <p:sldId id="362" r:id="rId8"/>
    <p:sldId id="347" r:id="rId9"/>
    <p:sldId id="348" r:id="rId10"/>
    <p:sldId id="349" r:id="rId11"/>
    <p:sldId id="363" r:id="rId12"/>
    <p:sldId id="316" r:id="rId13"/>
    <p:sldId id="399" r:id="rId14"/>
    <p:sldId id="317" r:id="rId15"/>
    <p:sldId id="318" r:id="rId16"/>
    <p:sldId id="319" r:id="rId17"/>
    <p:sldId id="301" r:id="rId18"/>
    <p:sldId id="350" r:id="rId19"/>
    <p:sldId id="353" r:id="rId20"/>
    <p:sldId id="355" r:id="rId21"/>
    <p:sldId id="400" r:id="rId22"/>
    <p:sldId id="302" r:id="rId23"/>
    <p:sldId id="326" r:id="rId24"/>
    <p:sldId id="401" r:id="rId25"/>
    <p:sldId id="392" r:id="rId26"/>
    <p:sldId id="367" r:id="rId27"/>
    <p:sldId id="393" r:id="rId28"/>
    <p:sldId id="369" r:id="rId29"/>
    <p:sldId id="394" r:id="rId30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3963" autoAdjust="0"/>
  </p:normalViewPr>
  <p:slideViewPr>
    <p:cSldViewPr snapToGrid="0">
      <p:cViewPr varScale="1">
        <p:scale>
          <a:sx n="84" d="100"/>
          <a:sy n="84" d="100"/>
        </p:scale>
        <p:origin x="449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2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197A6-BE36-4D6D-BBE6-9633BE34F47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74F81-CD54-4030-AC9C-0ED56CF0AA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78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95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56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2070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2609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03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914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859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F3A-03C4-4B1C-8AE5-8FD8BC8EDFEC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6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4" y="347181"/>
            <a:ext cx="8886884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1" y="1590157"/>
            <a:ext cx="10381517" cy="443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BFA6-A909-4E15-BD17-37683E4F3322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5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33676-1B6B-4BBE-8D4C-954E38BB0491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4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2" y="181239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1652" y="1476480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7526-C717-4892-B54A-A9E2325524B8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7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B1B73-38BC-436D-8EE6-E273345841B6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606946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17CB-8512-4BB3-8685-CAA32E7FBC3C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0070-0EA1-4A0D-8F4A-D7975CE73EDC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8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61D9-77D5-4763-AC3C-234694E90E17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8C68-2AD3-4F03-96E0-FA5130A87C35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5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180E-6827-4A87-80C3-07C58CD3A140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2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9576-551E-420E-B928-DD4922C9618D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5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329A6EE-4D16-488F-9F14-27146B16CAB9}" type="datetime1">
              <a:rPr lang="en-US" altLang="zh-TW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天空中的彩色圖案">
            <a:extLst>
              <a:ext uri="{FF2B5EF4-FFF2-40B4-BE49-F238E27FC236}">
                <a16:creationId xmlns:a16="http://schemas.microsoft.com/office/drawing/2014/main" id="{ED98725C-038E-6A06-4C58-01CA646C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38" b="1019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74E6BD4-9370-439F-94BB-34169C126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913" y="4156364"/>
            <a:ext cx="9216167" cy="1982697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3200" dirty="0"/>
              <a:t>Data I/O</a:t>
            </a:r>
            <a:br>
              <a:rPr lang="en-US" altLang="zh-TW" sz="3200" dirty="0"/>
            </a:br>
            <a:r>
              <a:rPr lang="en-US" altLang="zh-TW" sz="3200" dirty="0"/>
              <a:t>Functions</a:t>
            </a:r>
            <a:endParaRPr lang="zh-TW" altLang="en-US" sz="3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3D1A53-2BC1-6F24-5CC4-46EA5C26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3159" y="2756862"/>
            <a:ext cx="3129921" cy="1010882"/>
          </a:xfrm>
        </p:spPr>
        <p:txBody>
          <a:bodyPr anchor="b">
            <a:normAutofit fontScale="85000" lnSpcReduction="20000"/>
          </a:bodyPr>
          <a:lstStyle/>
          <a:p>
            <a:pPr algn="ctr"/>
            <a:r>
              <a:rPr lang="en-US" altLang="zh-TW" dirty="0"/>
              <a:t>NS5116</a:t>
            </a:r>
          </a:p>
          <a:p>
            <a:r>
              <a:rPr lang="zh-TW" altLang="zh-TW" b="1" dirty="0"/>
              <a:t>電腦硬體與程式語言在行為科學實驗與大數據分析之應用</a:t>
            </a:r>
            <a:endParaRPr lang="zh-TW" altLang="zh-TW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C6E18B-DBDF-ADE3-AE6C-175FCBE7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59D671-9BE8-890D-315E-3958C17E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59FDAF-84C2-BC99-6F5C-BF3AD618D8DA}"/>
              </a:ext>
            </a:extLst>
          </p:cNvPr>
          <p:cNvSpPr txBox="1"/>
          <p:nvPr/>
        </p:nvSpPr>
        <p:spPr>
          <a:xfrm>
            <a:off x="429935" y="5677396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March 12, 2026</a:t>
            </a:r>
          </a:p>
          <a:p>
            <a:r>
              <a:rPr lang="zh-TW" altLang="en-US" dirty="0"/>
              <a:t>講師：張智宏</a:t>
            </a:r>
            <a:endParaRPr lang="en-US" altLang="zh-TW" dirty="0"/>
          </a:p>
          <a:p>
            <a:r>
              <a:rPr lang="zh-TW" altLang="en-US" dirty="0"/>
              <a:t>教室</a:t>
            </a:r>
            <a:r>
              <a:rPr lang="en-US" altLang="zh-TW" dirty="0"/>
              <a:t>: S5-Ideabrain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092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函數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Functions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BADF8E-B11A-47AB-8383-D7A59C15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3715-BCD9-439B-8BC3-457C6B8DEB5B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A26FB3-CD20-40B1-A211-5EC4FAED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229739-A82F-467E-89AE-10C9E5C3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704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 </a:t>
            </a:r>
            <a:r>
              <a:rPr lang="en-US" altLang="zh-TW" dirty="0"/>
              <a:t>Functions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CFC8-94DF-4CCA-B85F-C248407DB231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</a:t>
            </a:fld>
            <a:endParaRPr lang="zh-TW" altLang="en-US"/>
          </a:p>
        </p:txBody>
      </p:sp>
      <p:grpSp>
        <p:nvGrpSpPr>
          <p:cNvPr id="13" name="群組 12"/>
          <p:cNvGrpSpPr/>
          <p:nvPr/>
        </p:nvGrpSpPr>
        <p:grpSpPr>
          <a:xfrm>
            <a:off x="2838688" y="1527205"/>
            <a:ext cx="6761840" cy="2070021"/>
            <a:chOff x="844047" y="2242239"/>
            <a:chExt cx="6761840" cy="2070021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2924944"/>
              <a:ext cx="6418263" cy="7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文字方塊 5"/>
            <p:cNvSpPr txBox="1"/>
            <p:nvPr/>
          </p:nvSpPr>
          <p:spPr>
            <a:xfrm>
              <a:off x="844047" y="2242239"/>
              <a:ext cx="12570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>
                  <a:solidFill>
                    <a:srgbClr val="FF0000"/>
                  </a:solidFill>
                </a:rPr>
                <a:t>header</a:t>
              </a:r>
              <a:endParaRPr lang="zh-TW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844047" y="3789040"/>
              <a:ext cx="9412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>
                  <a:solidFill>
                    <a:srgbClr val="FF0000"/>
                  </a:solidFill>
                </a:rPr>
                <a:t>Body</a:t>
              </a:r>
              <a:endParaRPr lang="zh-TW" altLang="en-US" sz="28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直線單箭頭接點 8"/>
            <p:cNvCxnSpPr>
              <a:endCxn id="8" idx="3"/>
            </p:cNvCxnSpPr>
            <p:nvPr/>
          </p:nvCxnSpPr>
          <p:spPr>
            <a:xfrm flipH="1">
              <a:off x="1785330" y="3658369"/>
              <a:ext cx="986470" cy="392281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 flipH="1" flipV="1">
              <a:off x="2081886" y="2564904"/>
              <a:ext cx="1121962" cy="20055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983" y="4653137"/>
            <a:ext cx="3067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534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1876E707-0A10-49E3-BD77-1FD1B1DB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程式碼的結構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C33F269F-AD7A-4E9A-B966-0041D790E9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到目前為止，我們練習寫的程式都在解決單一的簡單問題。</a:t>
            </a:r>
            <a:endParaRPr lang="en-US" altLang="zh-TW" dirty="0"/>
          </a:p>
          <a:p>
            <a:pPr lvl="1"/>
            <a:r>
              <a:rPr lang="zh-TW" altLang="en-US" dirty="0"/>
              <a:t>使用者輸入</a:t>
            </a:r>
            <a:endParaRPr lang="en-US" altLang="zh-TW" dirty="0"/>
          </a:p>
          <a:p>
            <a:pPr lvl="1"/>
            <a:r>
              <a:rPr lang="zh-TW" altLang="en-US" dirty="0"/>
              <a:t>處理訊息</a:t>
            </a:r>
            <a:endParaRPr lang="en-US" altLang="zh-TW" dirty="0"/>
          </a:p>
          <a:p>
            <a:pPr lvl="1"/>
            <a:r>
              <a:rPr lang="zh-TW" altLang="en-US" dirty="0"/>
              <a:t>印出結果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8AA49FD0-D421-4B92-9A29-ECF397619B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當問題變複雜，對切割出來的每個小問題，我們可以視其為一個個的黑箱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對每個黑箱，概念上我們只問三件事</a:t>
            </a:r>
            <a:endParaRPr lang="en-US" altLang="zh-TW" dirty="0"/>
          </a:p>
          <a:p>
            <a:pPr lvl="1"/>
            <a:r>
              <a:rPr lang="zh-TW" altLang="en-US" dirty="0"/>
              <a:t>它需要吃進什麼資訊？</a:t>
            </a:r>
            <a:endParaRPr lang="en-US" altLang="zh-TW" dirty="0"/>
          </a:p>
          <a:p>
            <a:pPr lvl="1"/>
            <a:r>
              <a:rPr lang="zh-TW" altLang="en-US" dirty="0"/>
              <a:t>它對資訊做何處理？</a:t>
            </a:r>
            <a:endParaRPr lang="en-US" altLang="zh-TW" dirty="0"/>
          </a:p>
          <a:p>
            <a:pPr lvl="1"/>
            <a:r>
              <a:rPr lang="zh-TW" altLang="en-US" dirty="0"/>
              <a:t>它需要丟出什麼結果？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86FC61D-3F84-47BD-871A-2736EBD52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91AB-44A6-4086-8513-917297D28963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C22EE42-FF0E-4C72-AA26-F241879C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24DF8C-E205-4607-87B8-334EC373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04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FFB71-E3DD-4AB7-992D-4E4BA352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函式：切割作業與抽象化的工具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444AF8AF-5A58-4121-BCA6-364E99317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192" y="2060848"/>
            <a:ext cx="8966400" cy="3384376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45D341-7784-4B5F-BC18-B83C717FD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794A-DE37-45D3-93D1-979E1154DBF2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A055C8C-768D-4AF1-A650-37AB306E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1C4044-24FD-473A-A64B-5BD1BA04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53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你使用過的函式</a:t>
            </a:r>
            <a:endParaRPr 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9656" y="2564904"/>
            <a:ext cx="5880402" cy="2521080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AD32-FC37-402C-9EEA-DE4FAF9C2A69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331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515B8E-BB2D-4AEF-8B16-4A7ED313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6FB8974-7733-4AAD-A489-9987A7CD9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496" y="2348880"/>
            <a:ext cx="9759079" cy="1944216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A9A93F-EBC6-43BC-B820-B87C2163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6726-C318-485B-B3B9-8AE63E483DA3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FD259F-8031-416E-9677-81AAB347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F3A890-3902-480D-8D2B-BB6A95C3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49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D48D10-0D15-4191-89EF-DF7B9215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3223CA-A4BE-420D-807D-E3F313F5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9D24-ED05-46C5-876D-79819C3F6568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094D58-60BD-4AF4-A2A4-58D28FC3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FC1EC1-4413-47BC-89DC-E309B8A27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151" y="2711616"/>
            <a:ext cx="4015263" cy="93340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706" y="1778208"/>
            <a:ext cx="4514782" cy="74482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784" y="4167362"/>
            <a:ext cx="4938458" cy="5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0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5BEB9-4445-4CDE-8094-8CD0F17F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輸出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17F2BA-27D5-4AF1-B29C-5EF927B5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1861-83B3-4104-9CD8-69815E6BC369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9818A3-C0F3-4B2A-8C5B-E70D972C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196D1B-7C95-4477-80A8-6042C5483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2171700"/>
            <a:ext cx="7992886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0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呼叫</a:t>
            </a:r>
            <a:r>
              <a:rPr lang="en-US" altLang="zh-TW" dirty="0"/>
              <a:t> (</a:t>
            </a:r>
            <a:r>
              <a:rPr lang="zh-TW" altLang="en-US" dirty="0"/>
              <a:t>使用</a:t>
            </a:r>
            <a:r>
              <a:rPr lang="en-US" altLang="zh-TW" dirty="0"/>
              <a:t>) </a:t>
            </a:r>
            <a:r>
              <a:rPr lang="zh-TW" altLang="en-US" dirty="0"/>
              <a:t>函式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7448" y="2757686"/>
            <a:ext cx="5027546" cy="2255490"/>
          </a:xfrm>
          <a:prstGeom prst="rect">
            <a:avLst/>
          </a:prstGeom>
        </p:spPr>
      </p:pic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定義</a:t>
            </a:r>
            <a:r>
              <a:rPr lang="en-US" dirty="0"/>
              <a:t> </a:t>
            </a:r>
            <a:r>
              <a:rPr lang="en-US" dirty="0" err="1"/>
              <a:t>word_length</a:t>
            </a:r>
            <a:r>
              <a:rPr lang="zh-TW" altLang="en-US" dirty="0"/>
              <a:t>函式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每行用不同的引數呼叫函式，將回傳值裝入不同變數。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每行印出函式回傳值。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AE48-B863-4225-A9A4-00D8CBA73E42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04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18E04D70-9AD0-41B2-9A8C-18B025F7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檢視函數使用時的電腦內部表徵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2E394D-E417-40E8-8447-A06F933A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FFF2-8B94-417E-A370-016C9DE3212A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EAB1B0-B09E-49AF-B988-6B143F1B0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ADE5FA-06AC-486F-83E6-6D620C2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52D3B0-9916-4872-8FF9-012F1D3B376A}"/>
              </a:ext>
            </a:extLst>
          </p:cNvPr>
          <p:cNvSpPr/>
          <p:nvPr/>
        </p:nvSpPr>
        <p:spPr>
          <a:xfrm>
            <a:off x="6036692" y="5954395"/>
            <a:ext cx="5147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https://pythontutor.com/visualize.html#mode=edit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51BD28E-0114-470D-B764-D24958BD1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904" y="1605367"/>
            <a:ext cx="7348591" cy="433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函數說明文字</a:t>
            </a:r>
            <a:br>
              <a:rPr lang="en-US" altLang="zh-TW" dirty="0"/>
            </a:br>
            <a:r>
              <a:rPr lang="en-US" altLang="zh-TW" dirty="0" err="1"/>
              <a:t>Docstring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4F1D-A33F-43DC-B4E0-BA70D6596400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5" y="2492897"/>
            <a:ext cx="4811641" cy="1197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7608169" y="168853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err="1">
                <a:solidFill>
                  <a:srgbClr val="FF0000"/>
                </a:solidFill>
              </a:rPr>
              <a:t>Docstring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8" name="直線單箭頭接點 7"/>
          <p:cNvCxnSpPr>
            <a:endCxn id="7" idx="2"/>
          </p:cNvCxnSpPr>
          <p:nvPr/>
        </p:nvCxnSpPr>
        <p:spPr>
          <a:xfrm flipV="1">
            <a:off x="8227091" y="2211756"/>
            <a:ext cx="191557" cy="625712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20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EC28D-606A-4B22-8E3A-DDE45887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188640"/>
            <a:ext cx="4705350" cy="1485900"/>
          </a:xfrm>
        </p:spPr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docstring</a:t>
            </a:r>
            <a:r>
              <a:rPr lang="zh-TW" altLang="en-US" dirty="0"/>
              <a:t>中描述函式用法與功能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0C2241-462F-4B14-88DF-37F7DF82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5485-E3AD-4C23-8136-1872430F3740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1471966-210D-416A-B8FC-35FD4B5C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F1FAF1-4AA3-4E21-A924-3F7BEF6C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630CCFD-DEDE-4774-B8C3-EEB532C99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3" y="404664"/>
            <a:ext cx="5628211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8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函數的使用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5C171-FC25-4F6A-BE62-9A2026275429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2060848"/>
            <a:ext cx="4917596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37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63379" y="188640"/>
            <a:ext cx="9601200" cy="1485900"/>
          </a:xfrm>
        </p:spPr>
        <p:txBody>
          <a:bodyPr/>
          <a:lstStyle/>
          <a:p>
            <a:r>
              <a:rPr lang="zh-TW" altLang="en-US" dirty="0"/>
              <a:t>反覆呼叫函數</a:t>
            </a:r>
            <a:br>
              <a:rPr lang="en-US" altLang="zh-TW" dirty="0"/>
            </a:br>
            <a:r>
              <a:rPr lang="en-US" altLang="zh-TW" dirty="0"/>
              <a:t>Repeated Call of Functions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7D18-266D-4355-A49D-E5442C4D8CF4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1914407"/>
            <a:ext cx="4457104" cy="3819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4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71464" y="228825"/>
            <a:ext cx="9601200" cy="1485900"/>
          </a:xfrm>
        </p:spPr>
        <p:txBody>
          <a:bodyPr/>
          <a:lstStyle/>
          <a:p>
            <a:r>
              <a:rPr lang="zh-TW" altLang="en-US" dirty="0"/>
              <a:t>妥善地組織程式碼</a:t>
            </a:r>
            <a:br>
              <a:rPr lang="en-US" altLang="zh-TW" dirty="0"/>
            </a:br>
            <a:r>
              <a:rPr lang="en-US" altLang="zh-TW" dirty="0"/>
              <a:t>Organize it better in a script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1D8C-4C21-4A2A-BCE7-5B3A6DAAA7B4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6" y="1844825"/>
            <a:ext cx="3667090" cy="4348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4776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回傳資料的函數</a:t>
            </a:r>
            <a:br>
              <a:rPr lang="en-US" altLang="zh-TW" dirty="0"/>
            </a:br>
            <a:r>
              <a:rPr lang="en-US" altLang="zh-TW" dirty="0"/>
              <a:t>Fruitful Functions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389-02CB-4E00-9AAD-D15149A085CD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124" y="2924945"/>
            <a:ext cx="62579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931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回傳多個值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38252" y="3394040"/>
            <a:ext cx="3314870" cy="1365320"/>
          </a:xfrm>
          <a:prstGeom prst="rect">
            <a:avLst/>
          </a:prstGeom>
        </p:spPr>
      </p:pic>
      <p:pic>
        <p:nvPicPr>
          <p:cNvPr id="9" name="內容版面配置區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13538" y="2787583"/>
            <a:ext cx="2870348" cy="2578233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FA1E-4CD3-461E-87AD-737ECC69235E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202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回傳物件或</a:t>
            </a:r>
            <a:r>
              <a:rPr lang="en-US" altLang="zh-TW" dirty="0"/>
              <a:t>None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1029" y="2917765"/>
            <a:ext cx="4229317" cy="2317869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i="1" dirty="0"/>
              <a:t>T</a:t>
            </a:r>
            <a:r>
              <a:rPr lang="en-US" b="1" dirty="0"/>
              <a:t>akes in a string with kid name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Doesn’t explicitly return anything, so Python returns None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Takes in a string with kid name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Returns a string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Prints “Dora” to the console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Doesn’t print anything to the console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Prints Frank, then None, to the console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Prints Gus to the console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15561-1187-4257-BF80-C868F04C4513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29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回傳物件或</a:t>
            </a:r>
            <a:r>
              <a:rPr lang="en-US" altLang="zh-TW" dirty="0"/>
              <a:t>None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1029" y="2917765"/>
            <a:ext cx="4229317" cy="2317869"/>
          </a:xfrm>
          <a:prstGeom prst="rect">
            <a:avLst/>
          </a:prstGeom>
        </p:spPr>
      </p:pic>
      <p:pic>
        <p:nvPicPr>
          <p:cNvPr id="3" name="內容版面配置區 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1988840"/>
            <a:ext cx="4410206" cy="4104456"/>
          </a:xfr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6EA3-AF7D-4D2B-99E2-2E130E096A19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81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練習：函式回傳值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2610300"/>
            <a:ext cx="4448175" cy="2932799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25402" y="2285999"/>
            <a:ext cx="5115213" cy="358140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sentence = </a:t>
            </a:r>
            <a:r>
              <a:rPr lang="en-US" dirty="0" err="1"/>
              <a:t>make_sentence</a:t>
            </a:r>
            <a:r>
              <a:rPr lang="en-US" dirty="0"/>
              <a:t>(who, thing)</a:t>
            </a:r>
          </a:p>
          <a:p>
            <a:r>
              <a:rPr lang="en-US" dirty="0"/>
              <a:t>print(</a:t>
            </a:r>
            <a:r>
              <a:rPr lang="en-US" dirty="0" err="1"/>
              <a:t>make_sentence</a:t>
            </a:r>
            <a:r>
              <a:rPr lang="en-US" dirty="0"/>
              <a:t>(who, what))</a:t>
            </a:r>
          </a:p>
          <a:p>
            <a:r>
              <a:rPr lang="en-US" dirty="0" err="1"/>
              <a:t>your_story</a:t>
            </a:r>
            <a:r>
              <a:rPr lang="en-US" dirty="0"/>
              <a:t> = </a:t>
            </a:r>
            <a:r>
              <a:rPr lang="en-US" dirty="0" err="1"/>
              <a:t>show_story</a:t>
            </a:r>
            <a:r>
              <a:rPr lang="en-US" dirty="0"/>
              <a:t>(who, what, number, thing)</a:t>
            </a:r>
          </a:p>
          <a:p>
            <a:r>
              <a:rPr lang="en-US" dirty="0" err="1"/>
              <a:t>my_story</a:t>
            </a:r>
            <a:r>
              <a:rPr lang="en-US" dirty="0"/>
              <a:t> = </a:t>
            </a:r>
            <a:r>
              <a:rPr lang="en-US" dirty="0" err="1"/>
              <a:t>show_story</a:t>
            </a:r>
            <a:r>
              <a:rPr lang="en-US" dirty="0"/>
              <a:t>(sentence, what, number, thing)</a:t>
            </a:r>
          </a:p>
          <a:p>
            <a:r>
              <a:rPr lang="en-US" dirty="0"/>
              <a:t>print(</a:t>
            </a:r>
            <a:r>
              <a:rPr lang="en-US" dirty="0" err="1"/>
              <a:t>your_story</a:t>
            </a:r>
            <a:r>
              <a:rPr lang="en-US" dirty="0"/>
              <a:t>)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2E5F-78D7-4A05-9CC3-2FF2118E4217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74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變數的可視域</a:t>
            </a:r>
            <a:br>
              <a:rPr lang="en-US" altLang="zh-TW" dirty="0"/>
            </a:br>
            <a:r>
              <a:rPr lang="en-US" altLang="zh-TW" dirty="0"/>
              <a:t>Scopes of Variables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F94A-FB23-4C9B-9269-13C9B47A400F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8445050" y="1656096"/>
            <a:ext cx="2055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Stack diagram</a:t>
            </a:r>
            <a:endParaRPr lang="zh-TW" altLang="en-US" sz="24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171700"/>
            <a:ext cx="4210266" cy="397530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940" y="2203621"/>
            <a:ext cx="5899453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9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使用函數的好處</a:t>
            </a:r>
            <a:br>
              <a:rPr lang="en-US" altLang="zh-TW" dirty="0"/>
            </a:br>
            <a:r>
              <a:rPr lang="en-US" altLang="zh-TW" dirty="0"/>
              <a:t>Advantages of Having Functions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提高可讀性 </a:t>
            </a:r>
            <a:r>
              <a:rPr lang="en-US" altLang="zh-TW" dirty="0"/>
              <a:t>Readability</a:t>
            </a:r>
          </a:p>
          <a:p>
            <a:pPr lvl="1"/>
            <a:r>
              <a:rPr lang="zh-TW" altLang="en-US" dirty="0"/>
              <a:t>將重複的程式碼區塊化放在一起，給予名稱，增加可讀性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提高可修改性 </a:t>
            </a:r>
            <a:r>
              <a:rPr lang="en-US" altLang="zh-TW" dirty="0"/>
              <a:t>Modifiability</a:t>
            </a:r>
          </a:p>
          <a:p>
            <a:pPr lvl="1"/>
            <a:r>
              <a:rPr lang="zh-TW" altLang="en-US" dirty="0"/>
              <a:t>修改與函數相關功能時，只要改函數，不需要遍尋整個程式檔</a:t>
            </a:r>
            <a:endParaRPr lang="en-US" altLang="zh-TW" dirty="0"/>
          </a:p>
          <a:p>
            <a:pPr lvl="1"/>
            <a:r>
              <a:rPr lang="zh-TW" altLang="en-US" dirty="0"/>
              <a:t>縮短程式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F0D78-1083-4084-A642-DFE1760E7A92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12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0027A5-478C-4242-8E0B-EE4BAE11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用函式作業模組化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DDE34-637F-4CB6-99D7-A50246003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將一個龐大的作業切割為數個小作業 （</a:t>
            </a:r>
            <a:r>
              <a:rPr lang="en-US" altLang="zh-TW" dirty="0"/>
              <a:t>tasks</a:t>
            </a:r>
            <a:r>
              <a:rPr lang="zh-TW" altLang="en-US" dirty="0"/>
              <a:t>）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把執行細節重新包裝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安排作業間的關係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C3F31D-8F24-4BF5-9E7E-9AD5F49C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4BEA-85D6-4CEF-B72D-E1BC87105F9D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484DAA-B6EF-434C-9BD2-20D5A4D6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F2803F-E32F-4177-9280-EB8C8F36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16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基本檔案讀寫</a:t>
            </a:r>
            <a:endParaRPr 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B10B-C8F2-452C-97D4-F8A78DF5979D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468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將文字檔內容</a:t>
            </a:r>
            <a:r>
              <a:rPr lang="zh-TW" altLang="en-US" sz="6000" dirty="0"/>
              <a:t>讀入</a:t>
            </a:r>
            <a:r>
              <a:rPr lang="en-US" altLang="zh-TW" dirty="0"/>
              <a:t>python</a:t>
            </a:r>
            <a:r>
              <a:rPr lang="zh-TW" altLang="en-US" dirty="0"/>
              <a:t>環境</a:t>
            </a:r>
            <a:endParaRPr 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92936" y="1700807"/>
            <a:ext cx="2302864" cy="4494587"/>
          </a:xfrm>
          <a:prstGeom prst="rect">
            <a:avLst/>
          </a:prstGeom>
        </p:spPr>
      </p:pic>
      <p:pic>
        <p:nvPicPr>
          <p:cNvPr id="10" name="內容版面配置區 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91944" y="2636912"/>
            <a:ext cx="5952861" cy="1224136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6E19-B8DA-4156-89F1-EBAB6F275A02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97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將文字檔內容</a:t>
            </a:r>
            <a:r>
              <a:rPr lang="zh-TW" altLang="en-US" sz="6000" dirty="0"/>
              <a:t>寫入</a:t>
            </a:r>
            <a:r>
              <a:rPr lang="en-US" altLang="zh-TW" dirty="0"/>
              <a:t>python</a:t>
            </a:r>
            <a:r>
              <a:rPr lang="zh-TW" altLang="en-US" dirty="0"/>
              <a:t>環境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ACE9-B2B9-4EDE-BF2B-9AF17FD6F069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試看看不執行</a:t>
            </a:r>
            <a:r>
              <a:rPr lang="en-US" altLang="zh-TW" dirty="0"/>
              <a:t>fid11.close()</a:t>
            </a:r>
          </a:p>
          <a:p>
            <a:pPr lvl="1"/>
            <a:r>
              <a:rPr lang="zh-TW" altLang="en-US" dirty="0"/>
              <a:t>開啟</a:t>
            </a:r>
            <a:r>
              <a:rPr lang="en-US" altLang="zh-TW" dirty="0"/>
              <a:t>test.txt</a:t>
            </a:r>
            <a:r>
              <a:rPr lang="zh-TW" altLang="en-US" dirty="0"/>
              <a:t>，看到什麼？</a:t>
            </a:r>
            <a:endParaRPr lang="en-US" altLang="zh-TW" dirty="0"/>
          </a:p>
          <a:p>
            <a:pPr lvl="1"/>
            <a:r>
              <a:rPr lang="zh-TW" altLang="en-US" dirty="0"/>
              <a:t>刪除</a:t>
            </a:r>
            <a:r>
              <a:rPr lang="en-US" altLang="zh-TW" dirty="0"/>
              <a:t>test.txt</a:t>
            </a:r>
            <a:r>
              <a:rPr lang="zh-TW" altLang="en-US" dirty="0"/>
              <a:t>，會怎樣？</a:t>
            </a:r>
            <a:endParaRPr lang="en-US" altLang="zh-TW" dirty="0"/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fid11.close()</a:t>
            </a:r>
            <a:r>
              <a:rPr lang="zh-TW" altLang="en-US" dirty="0"/>
              <a:t>，對</a:t>
            </a:r>
            <a:r>
              <a:rPr lang="en-US" altLang="zh-TW" dirty="0"/>
              <a:t>test.txt</a:t>
            </a:r>
            <a:r>
              <a:rPr lang="zh-TW" altLang="en-US" dirty="0"/>
              <a:t>內容有什麼影響？</a:t>
            </a:r>
            <a:endParaRPr lang="en-US" altLang="zh-TW" dirty="0"/>
          </a:p>
          <a:p>
            <a:pPr lvl="1"/>
            <a:r>
              <a:rPr lang="zh-TW" altLang="en-US" dirty="0"/>
              <a:t>現在可以刪了嗎？</a:t>
            </a:r>
            <a:endParaRPr lang="en-US" dirty="0"/>
          </a:p>
        </p:txBody>
      </p:sp>
      <p:pic>
        <p:nvPicPr>
          <p:cNvPr id="12" name="內容版面配置區 1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66864" y="3460718"/>
            <a:ext cx="2857647" cy="123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6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一次只寫一部份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30332" y="3117800"/>
            <a:ext cx="3130711" cy="1917799"/>
          </a:xfrm>
          <a:prstGeom prst="rect">
            <a:avLst/>
          </a:prstGeom>
        </p:spPr>
      </p:pic>
      <p:pic>
        <p:nvPicPr>
          <p:cNvPr id="9" name="內容版面配置區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19889" y="3117800"/>
            <a:ext cx="2857647" cy="1917799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643C2-2B01-44B5-B717-C5C751B10969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28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en-US" altLang="zh-TW" dirty="0"/>
              <a:t>with</a:t>
            </a:r>
            <a:r>
              <a:rPr lang="zh-TW" altLang="en-US" dirty="0"/>
              <a:t>自動關閉檔案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375" y="2737661"/>
            <a:ext cx="7925207" cy="1574881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E8B2-5B23-4000-AB61-E0EEBC906E28}" type="datetime1">
              <a:rPr lang="en-US" altLang="zh-TW" smtClean="0"/>
              <a:t>3/11/2026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33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3.0.5724"/>
  <p:tag name="SLIDO_PRESENTATION_ID" val="3503345f-5125-4760-823f-2e8e2a60e9a1"/>
  <p:tag name="SLIDO_EVENT_UUID" val="9f01878d-775c-475b-a82f-25ec57480eb1"/>
  <p:tag name="SLIDO_EVENT_SECTION_UUID" val="fc18856c-4aaa-4964-b06c-794514368f9e"/>
</p:tagLst>
</file>

<file path=ppt/theme/theme1.xml><?xml version="1.0" encoding="utf-8"?>
<a:theme xmlns:a="http://schemas.openxmlformats.org/drawingml/2006/main" name="Swell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7"/>
      </a:lt2>
      <a:accent1>
        <a:srgbClr val="7DAD88"/>
      </a:accent1>
      <a:accent2>
        <a:srgbClr val="6FAC96"/>
      </a:accent2>
      <a:accent3>
        <a:srgbClr val="7DA9AC"/>
      </a:accent3>
      <a:accent4>
        <a:srgbClr val="7B9EBE"/>
      </a:accent4>
      <a:accent5>
        <a:srgbClr val="9399CA"/>
      </a:accent5>
      <a:accent6>
        <a:srgbClr val="8F7BBE"/>
      </a:accent6>
      <a:hlink>
        <a:srgbClr val="AE699F"/>
      </a:hlink>
      <a:folHlink>
        <a:srgbClr val="7F7F7F"/>
      </a:folHlink>
    </a:clrScheme>
    <a:fontScheme name="自訂 6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B60585-45DD-4756-8BFA-050389CF340D}">
  <we:reference id="wa200004052" version="1.0.0.2" store="zh-TW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documentclass{article}\n\\usepackage{amsmath}\n\\begin{document}\n\n\n\\begin{aligned}\n&amp; \\mathrm{H}_0: \\mu = 30 \\\\\n&amp; \\mathrm{H}_1: \\mu \\neq 30\n\\end{aligned}\n\n\n\\end{document}\n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6406</TotalTime>
  <Words>833</Words>
  <Application>Microsoft Office PowerPoint</Application>
  <PresentationFormat>寬螢幕</PresentationFormat>
  <Paragraphs>178</Paragraphs>
  <Slides>29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4" baseType="lpstr">
      <vt:lpstr>微軟正黑體</vt:lpstr>
      <vt:lpstr>Aptos</vt:lpstr>
      <vt:lpstr>Arial</vt:lpstr>
      <vt:lpstr>Neue Haas Grotesk Text Pro</vt:lpstr>
      <vt:lpstr>SwellVTI</vt:lpstr>
      <vt:lpstr>Data I/O Functions</vt:lpstr>
      <vt:lpstr>函數</vt:lpstr>
      <vt:lpstr>函數 Functions</vt:lpstr>
      <vt:lpstr>程式碼的結構</vt:lpstr>
      <vt:lpstr>函式：切割作業與抽象化的工具</vt:lpstr>
      <vt:lpstr>你使用過的函式</vt:lpstr>
      <vt:lpstr>練習</vt:lpstr>
      <vt:lpstr>運算</vt:lpstr>
      <vt:lpstr>輸出</vt:lpstr>
      <vt:lpstr>呼叫 (使用) 函式</vt:lpstr>
      <vt:lpstr>檢視函數使用時的電腦內部表徵</vt:lpstr>
      <vt:lpstr>函數說明文字 Docstring</vt:lpstr>
      <vt:lpstr>在docstring中描述函式用法與功能</vt:lpstr>
      <vt:lpstr>函數的使用</vt:lpstr>
      <vt:lpstr>反覆呼叫函數 Repeated Call of Functions</vt:lpstr>
      <vt:lpstr>妥善地組織程式碼 Organize it better in a script</vt:lpstr>
      <vt:lpstr>回傳資料的函數 Fruitful Functions</vt:lpstr>
      <vt:lpstr>回傳多個值</vt:lpstr>
      <vt:lpstr>回傳物件或None</vt:lpstr>
      <vt:lpstr>回傳物件或None</vt:lpstr>
      <vt:lpstr>練習：函式回傳值</vt:lpstr>
      <vt:lpstr>變數的可視域 Scopes of Variables</vt:lpstr>
      <vt:lpstr>使用函數的好處 Advantages of Having Functions</vt:lpstr>
      <vt:lpstr>用函式作業模組化</vt:lpstr>
      <vt:lpstr>基本檔案讀寫</vt:lpstr>
      <vt:lpstr>將文字檔內容讀入python環境</vt:lpstr>
      <vt:lpstr>將文字檔內容寫入python環境</vt:lpstr>
      <vt:lpstr>一次只寫一部份</vt:lpstr>
      <vt:lpstr>用with自動關閉檔案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張智宏  (audachang)</dc:creator>
  <cp:lastModifiedBy>Erik Chang</cp:lastModifiedBy>
  <cp:revision>207</cp:revision>
  <cp:lastPrinted>2026-03-04T16:10:02Z</cp:lastPrinted>
  <dcterms:created xsi:type="dcterms:W3CDTF">2024-10-23T10:48:05Z</dcterms:created>
  <dcterms:modified xsi:type="dcterms:W3CDTF">2026-03-11T17:04:15Z</dcterms:modified>
</cp:coreProperties>
</file>