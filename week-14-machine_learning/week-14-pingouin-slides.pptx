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1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91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本週把 ML 主題暫停一格，回到統計推論。學生在 Week 7 學了 NumPy、Week 12 學了 pandas、Week 13 學了 Plotly、Week 11–12 學了 Streamlit。今天把這些全串起來，做出 publication-ready 的統計分析。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強調對研究生的痛點：論文 reviewer 會要求 effect size。pingouin 把這些都打包進一個 DataFrame，省下整理表格的時間。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100 分鐘課程 + 5 個 hands-on practice。前 4 個是純 Python，第 5 個整合到 Streamlit。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提醒學生 pingouin 0.6 之後欄位用 underscore (p_val, cohen_d, CI95)。舊版是 hyphen (p-val, cohen-d, CI95%)。如果他們 import 時遇到 KeyError，先用 pip show pingouin 確認版本。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重點：DataFrame 是 publication 的單位，不是 namedtuple。學生在 Week 12-13 已學過 pandas/Streamlit，能無痛接上。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BF10 &gt; 10 = strong evidence for H1 (alternative)。若 BF10 &lt; 1/10，反而支持 H0 (null) — 這是頻率派 t-test 做不到的。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最常見的錯誤：within-subject 設計用了 paired=False，失去 within-subject 的 statistical power。另一個錯誤：one-sample 時誤把 baseline 變成等長 array。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normality 違反不等於不能跑 parametric — t-test 在 n &gt; 30 時對 normality 違反相對 robust。但 reviewer 會問，所以最好附上檢驗結果。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Lakens (2013) 是經典 reference — effect size reporting 已是論文標配。Hedges' g 是 small-sample bias-corrected 版本，n &lt; 50 時建議用 g 而非 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APA 7th 的 reporting standard — 必須包含 test statistic, df, p, effect size, CI。pingouin 把這些都一次給你。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為什麼 partial η² 重要：它是 between-factor variance 占總 variance 的比例，比 R² 更能呈現單一因子的解釋力。慣例：0.01 small, 0.06 medium, 0.14 large。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Sphericity = 各 condition 兩兩差的 variance 相等。Mauchly test 顯著 → 違反 sphericity → 用 GG 校正。pingouin 把 ε 直接放進輸出表格，不用另外算。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Bonferroni 是 conservative 的校正；如果 family-wise comparison 很多，可改用 FDR (padjust='fdr_bh') 較不保守。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預期：F 顯著、young-old 差最大、young-middle 與 middle-old 都顯著。讓學生看 Tukey HSD 自動完成 family-wise 多重比較校正。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Partial correlation 在發展心理學、認知老化研究中超常用 —幾乎所有跨年齡層的相關研究都要控制 age 作為 covariate。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若控制某 covariate 後 r 大幅下降，代表原本的相關有一部分是 spurious。若 r 基本不變，代表該 covariate 不是混淆變項。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強調可重現性 / 開放科學 — 把分析變成可分享的 URL，符合 preregistration &amp; open analysis 的精神。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參考 05_streamlit_stats_app.py。學生只需照範例改 condition 名稱、新增 tab 就能改成自己的研究。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重點：pingouin 的 DataFrame 直接餵給 st.dataframe，再用 to_csv().encode() 餵給 st.download_button。100 行可以做出一個完整 app。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讓學生實際感受 Streamlit 的「改一行就更新」開發體驗。存檔後瀏覽器自動 rerun，不用重啟 server。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Streamlit Cloud 免費版 1GB RAM，跑這種統計 dashboard 完全夠用。Build 約 2-3 分鐘 (要裝 pingouin)，之後就能秒開。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每個錯誤都對應講義 §Recap &amp; Common Pitfalls 區塊。建議學生把這頁印出來貼在電腦旁邊。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Homework 設計成 final project 的暖身 — 同樣的 pipeline 學生可以替換成自己的研究資料。鼓勵學生把 dashboard URL 放進履歷或 GitHub README。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Lakens (2013) 是必讀；pingouin 官網的 examples gallery 也是很好的入門。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292608" cy="292608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0D9B9B"/>
                </a:solidFill>
                <a:latin typeface="Calibri"/>
                <a:ea typeface="Microsoft JhengHei"/>
              </a:rPr>
              <a:t>Week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</a:rPr>
              <a:t>用 Pingouin 做行為實驗統計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CADCFC"/>
                </a:solidFill>
                <a:latin typeface="Calibri"/>
                <a:ea typeface="Microsoft JhengHei"/>
              </a:rPr>
              <a:t>Behavioral Statistics with Pingouin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Microsoft JhengHei"/>
                <a:ea typeface="Microsoft JhengHei"/>
              </a:rPr>
              <a:t>從 t-test 到 Streamlit dashboard 的完整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  <a:ea typeface="Microsoft JhengHei"/>
              </a:rPr>
              <a:t>NS5116 · 2026 Spring · ACL@NCU · 張智宏 Erik Chang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§1  WHY PINGOUIN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scipy.stats 給你「結果」，pingouin 給你「報告」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6692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scipy.stats.ttest_rel() 只回傳 (t, p) namedtuple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論文要求：effect size, df, 95% CI, Bayes Factor, power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自己從 scipy 組起來 ≈ 寫 20 行 boilerplate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pg.ttest() 一行就有 8 欄位的 DataFrame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691640"/>
          <a:ext cx="4754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scipy.stats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pingouin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輸出型別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namedtuple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DataFrame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欄位數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2–3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7–8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Effect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自己算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內建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Bayes Factor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無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內建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API 一致性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散亂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統一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今天你會學會什麼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828800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0195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Microsoft JhengHei"/>
                <a:ea typeface="Microsoft JhengHei"/>
              </a:rPr>
              <a:t>安裝 pingouin 並理解 API 哲學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606040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7919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Microsoft JhengHei"/>
                <a:ea typeface="Microsoft JhengHei"/>
              </a:rPr>
              <a:t>t-test 家族 + effect size + Bayes Factor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383280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45643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Microsoft JhengHei"/>
                <a:ea typeface="Microsoft JhengHei"/>
              </a:rPr>
              <a:t>One-way / Repeated-measures / Mixed ANOVA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4160520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23367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Microsoft JhengHei"/>
                <a:ea typeface="Microsoft JhengHei"/>
              </a:rPr>
              <a:t>Correlation 與 partial correlation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937760"/>
            <a:ext cx="502920" cy="50292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01091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Microsoft JhengHei"/>
                <a:ea typeface="Microsoft JhengHei"/>
              </a:rPr>
              <a:t>Streamlit 部署互動式統計報告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§1  INSTALL &amp; FIRST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一行安裝，一行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0704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l"/>
            <a:r>
              <a:rPr sz="1600">
                <a:solidFill>
                  <a:srgbClr val="ECEFF4"/>
                </a:solidFill>
                <a:latin typeface="Consolas"/>
              </a:rPr>
              <a:t>pip install pingouin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64008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import pingouin as pg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A8C0FF"/>
                </a:solidFill>
                <a:latin typeface="Consolas"/>
              </a:rPr>
              <a:t># paired t-test — Stroop within-subject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result = pg.ttest(congruent, incongruent, paired=True)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print(result)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514600"/>
            <a:ext cx="4114800" cy="2194560"/>
          </a:xfrm>
          <a:prstGeom prst="roundRect">
            <a:avLst/>
          </a:prstGeom>
          <a:solidFill>
            <a:srgbClr val="ECF7F6"/>
          </a:solidFill>
          <a:ln w="12700">
            <a:solidFill>
              <a:srgbClr val="0D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  <a:ea typeface="Microsoft JhengHei"/>
              </a:rPr>
              <a:t>輸出欄位 (pingouin ≥ 0.6):
T  ·  dof  ·  p_val  ·  CI95  ·
cohen_d  ·  BF10  ·  power  ·  alternative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§1  API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One test = One DataFrame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9436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所有 function 回傳統一格式：pd.DataFrame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可直接 to_latex() / to_csv() / st.dataframe()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欄位命名與論文用語一致 (cohen_d, CI95)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與 pandas / statsmodels 生態系完美銜接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103120"/>
            <a:ext cx="3200400" cy="777240"/>
          </a:xfrm>
          <a:prstGeom prst="round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221284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Microsoft JhengHei"/>
              </a:rPr>
              <a:t>pingouin
DataFrame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200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  <a:ea typeface="Microsoft JhengHei"/>
              </a:rPr>
              <a:t>→ LaTeX (paper)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74903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  <a:ea typeface="Microsoft JhengHei"/>
              </a:rPr>
              <a:t>→ CSV (download)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297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  <a:ea typeface="Microsoft JhengHei"/>
              </a:rPr>
              <a:t>→ Streamlit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846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  <a:ea typeface="Microsoft JhengHei"/>
              </a:rPr>
              <a:t>→ Markdown (report)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HANDS-ON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比較 scipy 與 pingouin 輸出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1371600" cy="411480"/>
          </a:xfrm>
          <a:prstGeom prst="roundRect">
            <a:avLst/>
          </a:prstGeom>
          <a:solidFill>
            <a:srgbClr val="E8A12A"/>
          </a:solidFill>
          <a:ln w="12700">
            <a:solidFill>
              <a:srgbClr val="E8A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Microsoft JhengHei"/>
              </a:rPr>
              <a:t>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任務：對 young vs. old RT 跑 independent t-test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印出 Cohen's d (cohen_d) 與 Bayes Factor (BF10)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解讀：BF10 &gt; 10 代表什麼？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03320"/>
            <a:ext cx="1060704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import numpy as np, pingouin as pg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np.random.seed(0)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young = np.random.normal(400, 50, 25)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old   = np.random.normal(480, 70, 25)</a:t>
            </a:r>
          </a:p>
          <a:p>
            <a:pPr algn="l"/>
            <a:r>
              <a:rPr sz="1400">
                <a:solidFill>
                  <a:srgbClr val="A8C0FF"/>
                </a:solidFill>
                <a:latin typeface="Consolas"/>
              </a:rPr>
              <a:t># 你的程式碼從這裡開始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§2  T-TEST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Paired / Independent / One-sample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Test 類型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適用情境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API 語法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Paired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同一受試者多次測量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pg.ttest(a, b, paired=True)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Independent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兩組不同受試者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pg.ttest(a, b, paired=False)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One-sample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與固定值比較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pg.ttest(a, popmean)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434840"/>
            <a:ext cx="10607040" cy="1417320"/>
          </a:xfrm>
          <a:prstGeom prst="roundRect">
            <a:avLst/>
          </a:prstGeom>
          <a:solidFill>
            <a:srgbClr val="ECF7F6"/>
          </a:solidFill>
          <a:ln w="12700">
            <a:solidFill>
              <a:srgbClr val="0D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  <a:ea typeface="Microsoft JhengHei"/>
              </a:rPr>
              <a:t>決策原則：先問「同一個 subject 嗎？」
  Yes → paired=True
  No  → paired=False (independent)
  與固定值比 → 第二個 argument 給 scalar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§2  NON-PARAMETRIC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當 normality 假設違反時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pg.normality() 先檢查 — Shapiro-Wilk test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Wilcoxon signed-rank：pg.wilcoxon() (paired)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Mann-Whitney U：pg.mwu() (independent)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何時用：RT 嚴重 skewed、小樣本、Likert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26280"/>
            <a:ext cx="1060704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43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  <a:ea typeface="Microsoft JhengHei"/>
              </a:rPr>
              <a:t>📌 老人受試者的 RT 常見 right-skew distribution
📌 兒童的 accuracy data 不適合用 parametric test
📌 跑 pg.normality() 看 normal 欄位是 True / 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§2  EFFECT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p &lt; .05 不夠 — 為什麼要報 effect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6400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p-value 受 sample size 影響很大 (n 大就容易顯著)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Cohen's d 反映實際差異大小，獨立於 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慣例：0.2 small, 0.5 medium, 0.8 large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pingouin 自動回報；也可用 pg.compute_effsize()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828800"/>
            <a:ext cx="1828800" cy="1828800"/>
          </a:xfrm>
          <a:prstGeom prst="roundRect">
            <a:avLst/>
          </a:prstGeom>
          <a:solidFill>
            <a:srgbClr val="FEF1F1"/>
          </a:solidFill>
          <a:ln w="12700">
            <a:solidFill>
              <a:srgbClr val="D3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  <a:ea typeface="Microsoft JhengHei"/>
              </a:rPr>
              <a:t>情境 A
n = 1000
p = 0.01 ✓
d = 0.10  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828800"/>
            <a:ext cx="1828800" cy="1828800"/>
          </a:xfrm>
          <a:prstGeom prst="roundRect">
            <a:avLst/>
          </a:prstGeom>
          <a:solidFill>
            <a:srgbClr val="ECF7F6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  <a:ea typeface="Microsoft JhengHei"/>
              </a:rPr>
              <a:t>情境 B
n = 30
p = 0.04 ✓
d = 0.85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3840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F6B83"/>
                </a:solidFill>
                <a:latin typeface="Microsoft JhengHei"/>
                <a:ea typeface="Microsoft JhengHei"/>
              </a:rPr>
              <a:t>同樣 p &lt; .05，但 effect size 天差地遠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HANDS-ON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完整的 Stroop effect 報告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1371600" cy="411480"/>
          </a:xfrm>
          <a:prstGeom prst="roundRect">
            <a:avLst/>
          </a:prstGeom>
          <a:solidFill>
            <a:srgbClr val="E8A12A"/>
          </a:solidFill>
          <a:ln w="12700">
            <a:solidFill>
              <a:srgbClr val="E8A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Microsoft JhengHei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任務：產出 paired-t 與 Wilcoxon 的合併表格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用 pd.concat([t_res, w_res], keys=...) 串接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寫一句 APA-style 結果報告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20440"/>
            <a:ext cx="106070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  <a:ea typeface="Microsoft JhengHei"/>
              </a:rPr>
              <a:t>APA 範例：
Paired-samples t-test revealed a significant Stroop effect, t(27) = -4.21, p &lt; .001, Cohen's d = 0.77, 95% CI [-94, -33].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§3  ANOVA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One-way ANOVA — 3 個 condition 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多次 t-test → inflated Type I error (alpha 累積)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pg.anova(data=df, dv='rt', between='load')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輸出：F, DF1, DF2, p_unc, np2 (partial η²)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顯著後務必做 post-hoc 釐清哪兩組有差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26280"/>
            <a:ext cx="1060704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43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  <a:ea typeface="Microsoft JhengHei"/>
              </a:rPr>
              <a:t>情境：N-back working memory load (1-back, 2-back, 3-back)
問題：load 對 RT 的整體效應是否顯著？
若 F 顯著 (p &lt; .05)，再跑 pairwise tests 看哪兩個 load 不同。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§3  REPEATED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rm-ANOVA — 同一受試者多次測量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4864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pg.rm_anova(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    data=df, dv='rt',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    within='load', subject='subject',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    detailed=True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必傳 subject= 參數 (告訴 pg 哪些 row 是同一人)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資料須為 long format (用 df.melt() 轉)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自動回報 Greenhouse-Geisser ε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若 ε &lt; 0.75 → 引用 GG 校正版本 p-value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617720"/>
            <a:ext cx="10607040" cy="777240"/>
          </a:xfrm>
          <a:prstGeom prst="roundRect">
            <a:avLst/>
          </a:prstGeom>
          <a:solidFill>
            <a:srgbClr val="FEF1F1"/>
          </a:solidFill>
          <a:ln w="12700">
            <a:solidFill>
              <a:srgbClr val="D3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  <a:ea typeface="Microsoft JhengHei"/>
              </a:rPr>
              <a:t>⚠️ Sphericity 違反是 within-subject design 最容易踩的雷。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§3  POST-HOC &amp; MIXED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哪兩組有差？兩個 factor 怎麼跑？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pg.pairwise_tests(padjust='bonf') — pairwise + Bonferroni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pg.pairwise_tukey() — 經典 Tukey HSD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pg.mixed_anova(within=, between=, subject=) — 2 × 2 factorial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重點欄位：F, p_unc, np2, p_corr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26280"/>
            <a:ext cx="1060704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43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  <a:ea typeface="Microsoft JhengHei"/>
              </a:rPr>
              <a:t>經典設計：age (between, young/old) × condition (within, cong/incong)
→ Mixed ANOVA 同時檢驗 main effect 與 interaction
→ Interaction 顯著 → 做 simple effects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HANDS-ON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三組老化研究 — ANOVA + Post-hoc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1371600" cy="411480"/>
          </a:xfrm>
          <a:prstGeom prst="roundRect">
            <a:avLst/>
          </a:prstGeom>
          <a:solidFill>
            <a:srgbClr val="E8A12A"/>
          </a:solidFill>
          <a:ln w="12700">
            <a:solidFill>
              <a:srgbClr val="E8A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Microsoft JhengHei"/>
              </a:rPr>
              <a:t>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模擬 young / middle / old 三組，各 n=20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跑 one-way ANOVA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加做 pg.pairwise_tukey()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指出哪兩組顯著不同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03320"/>
            <a:ext cx="1060704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rows = []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for grp, mu in [('young', 420), ('middle', 480), ('old', 560)]: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for _ in range(20):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    rows.append({'group': grp, 'rt': np.random.normal(mu, 70)})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df = pd.DataFrame(rows)</a:t>
            </a:r>
          </a:p>
          <a:p>
            <a:pPr algn="l"/>
            <a:r>
              <a:rPr sz="1300">
                <a:solidFill>
                  <a:srgbClr val="A8C0FF"/>
                </a:solidFill>
                <a:latin typeface="Consolas"/>
              </a:rPr>
              <a:t># 你的程式碼從這裡開始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§4 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Pearson、Spearman、Partial correlation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API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pg.corr(x, y, method='pearson')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兩變項，含 CI 與 BF10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pg.corr(x, y, method='spearman')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Rank-based，robust to outliers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pg.partial_corr(data, x, y, covar=)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控制 covariate 後的相關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df.rcorr(padjust='fdr_bh', stars=True)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2E"/>
                          </a:solidFill>
                          <a:latin typeface="Calibri"/>
                          <a:ea typeface="Microsoft JhengHei"/>
                        </a:rPr>
                        <a:t>Correlation matrix + FDR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617720"/>
            <a:ext cx="1060704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43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  <a:ea typeface="Microsoft JhengHei"/>
              </a:rPr>
              <a:t>應用：individual differences 研究 — working memory (WM) 與 fluid intelligence (Gf) 的關係，控制 age / education 等 covariates。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HANDS-ON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WM-Gf 控制不同 covariates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1371600" cy="411480"/>
          </a:xfrm>
          <a:prstGeom prst="roundRect">
            <a:avLst/>
          </a:prstGeom>
          <a:solidFill>
            <a:srgbClr val="E8A12A"/>
          </a:solidFill>
          <a:ln w="12700">
            <a:solidFill>
              <a:srgbClr val="E8A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Microsoft JhengHei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任務：分別控制 (a) age, (b) edu, (c) 兩者一起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比較 partial r 在三種設定下的變化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解讀：哪個變項對 WM-Gf 關係影響最大？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840480"/>
            <a:ext cx="106070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pg.partial_corr(data=df, x='wm', y='gf', covar='age')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pg.partial_corr(data=df, x='wm', y='gf', covar='edu')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pg.partial_corr(data=df, x='wm', y='gf', covar=['age', 'edu'])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§5  STREAMLIT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分析跑完了 — 然後呢？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Notebook 只能自己看，PI / collaborator 無法即時探索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Streamlit：把 DataFrame 直接渲染、加 sidebar filter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pingouin 回傳 DataFrame ⇒ 直接 st.dataframe()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部署到 Streamlit Cloud：分享 URL 給合作者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709160"/>
            <a:ext cx="2743200" cy="1188720"/>
          </a:xfrm>
          <a:prstGeom prst="round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Microsoft JhengHei"/>
              </a:rPr>
              <a:t>Jupyter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Microsoft JhengHei"/>
              </a:rPr>
              <a:t>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4709160"/>
            <a:ext cx="2743200" cy="1188720"/>
          </a:xfrm>
          <a:prstGeom prst="round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Microsoft JhengHei"/>
              </a:rPr>
              <a:t>pingouin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Microsoft JhengHei"/>
              </a:rPr>
              <a:t>DataFrame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4709160"/>
            <a:ext cx="2743200" cy="1188720"/>
          </a:xfrm>
          <a:prstGeom prst="round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Microsoft JhengHei"/>
              </a:rPr>
              <a:t>Streamlit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Microsoft JhengHei"/>
              </a:rPr>
              <a:t>App + URL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11880" y="5166360"/>
            <a:ext cx="1051560" cy="274320"/>
          </a:xfrm>
          <a:prstGeom prst="rightArrow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7543800" y="5166360"/>
            <a:ext cx="1051560" cy="274320"/>
          </a:xfrm>
          <a:prstGeom prst="rightArrow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§5  DASHBOARD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四個區塊一個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Sidebar：資料上傳、RT 過濾 slider、accuracy filter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主畫面 metrics：n subjects, n trials, n conditions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Plotly box plot：condition × group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D9B9B"/>
                </a:solidFill>
                <a:latin typeface="Calibri"/>
              </a:rPr>
              <a:t>•  </a:t>
            </a:r>
            <a:r>
              <a:rPr sz="1600">
                <a:solidFill>
                  <a:srgbClr val="1A1A2E"/>
                </a:solidFill>
                <a:latin typeface="Calibri"/>
                <a:ea typeface="Microsoft JhengHei"/>
              </a:rPr>
              <a:t>st.tabs(['t-test', 'ANOVA', 'Correlation']) 切換分析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709160"/>
            <a:ext cx="2286000" cy="1371600"/>
          </a:xfrm>
          <a:prstGeom prst="rect">
            <a:avLst/>
          </a:prstGeom>
          <a:solidFill>
            <a:srgbClr val="F7F8FA"/>
          </a:solidFill>
          <a:ln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93776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B83"/>
                </a:solidFill>
                <a:latin typeface="Calibri"/>
                <a:ea typeface="Microsoft JhengHei"/>
              </a:rPr>
              <a:t>sidebar
(filters)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4709160"/>
            <a:ext cx="82296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493776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F6B83"/>
                </a:solidFill>
                <a:latin typeface="Calibri"/>
                <a:ea typeface="Microsoft JhengHei"/>
              </a:rPr>
              <a:t>metrics  |  plotly chart  |  tabs (t-test · ANOVA · corr)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§5  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 err="1">
                <a:solidFill>
                  <a:srgbClr val="1A1A2E"/>
                </a:solidFill>
                <a:latin typeface="Microsoft JhengHei"/>
                <a:ea typeface="Microsoft JhengHei"/>
              </a:rPr>
              <a:t>串接整個</a:t>
            </a:r>
            <a:r>
              <a:rPr sz="3000" b="1" i="0" dirty="0">
                <a:solidFill>
                  <a:srgbClr val="1A1A2E"/>
                </a:solidFill>
                <a:latin typeface="Microsoft JhengHei"/>
                <a:ea typeface="Microsoft JhengHei"/>
              </a:rPr>
              <a:t>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4434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import pingouin as pg, plotly.express as px, streamlit as st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@st.cache_data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def simulate_data(n_subj=30, seed=42): ...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with st.sidebar: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uploaded = st.file_uploader('upload CSV', type=['csv'])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rt_lower = st.slider('RT lower', 100, 400, 200)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tab1, tab2, tab3 = st.tabs(['t-test', 'ANOVA', 'Correlation'])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with tab2: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aov = pg.mixed_anova(data=subj_mean, dv='rt',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                      within='condition', between='group',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                      subject='subject')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st.dataframe(aov.round(4))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st.download_button('下載 CSV', aov.to_csv().encode(),</a:t>
            </a:r>
          </a:p>
          <a:p>
            <a:pPr algn="l"/>
            <a:r>
              <a:rPr sz="1300">
                <a:solidFill>
                  <a:srgbClr val="ECEFF4"/>
                </a:solidFill>
                <a:latin typeface="Consolas"/>
              </a:rPr>
              <a:t>                       file_name='anova.csv')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HANDS-ON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加入 Non-parametric tab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1371600" cy="411480"/>
          </a:xfrm>
          <a:prstGeom prst="roundRect">
            <a:avLst/>
          </a:prstGeom>
          <a:solidFill>
            <a:srgbClr val="E8A12A"/>
          </a:solidFill>
          <a:ln w="12700">
            <a:solidFill>
              <a:srgbClr val="E8A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Microsoft JhengHei"/>
              </a:rPr>
              <a:t>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在現有 05_streamlit_stats_app.py 加第四個 tab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跑 Wilcoxon signed-rank test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0D9B9B"/>
                </a:solidFill>
                <a:latin typeface="Calibri"/>
              </a:rPr>
              <a:t>•  </a:t>
            </a:r>
            <a:r>
              <a:rPr sz="1700">
                <a:solidFill>
                  <a:srgbClr val="1A1A2E"/>
                </a:solidFill>
                <a:latin typeface="Calibri"/>
                <a:ea typeface="Microsoft JhengHei"/>
              </a:rPr>
              <a:t>改 st.tabs([...]) 列表，新增 'Non-parametric'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9039"/>
            <a:ext cx="106070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82880" bIns="128016" rtlCol="0" anchor="ctr"/>
          <a:lstStyle/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tab1, tab2, tab3, tab4 = st.tabs(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    ['Paired t-test', 'Mixed ANOVA', 'Correlation', 'Non-parametric']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with tab4: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    w = pg.wilcoxon(wide['congruent'], wide['incongruent'])</a:t>
            </a:r>
          </a:p>
          <a:p>
            <a:pPr algn="l"/>
            <a:r>
              <a:rPr sz="1400">
                <a:solidFill>
                  <a:srgbClr val="ECEFF4"/>
                </a:solidFill>
                <a:latin typeface="Consolas"/>
              </a:rPr>
              <a:t>    st.dataframe(w.round(4))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§5 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三步驟讓全世界看到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3566160" cy="3200400"/>
          </a:xfrm>
          <a:prstGeom prst="roundRect">
            <a:avLst/>
          </a:prstGeom>
          <a:solidFill>
            <a:srgbClr val="F7F8FA"/>
          </a:solidFill>
          <a:ln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" y="2286000"/>
            <a:ext cx="640080" cy="64008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  <a:ea typeface="Microsoft JhengHei"/>
              </a:rPr>
              <a:t>Push to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  <a:ea typeface="Microsoft JhengHei"/>
              </a:rPr>
              <a:t>把 .py 與 requirements.txt 推上 repo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011680"/>
            <a:ext cx="3566160" cy="3200400"/>
          </a:xfrm>
          <a:prstGeom prst="roundRect">
            <a:avLst/>
          </a:prstGeom>
          <a:solidFill>
            <a:srgbClr val="F7F8FA"/>
          </a:solidFill>
          <a:ln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92040" y="2286000"/>
            <a:ext cx="640080" cy="64008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23317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154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  <a:ea typeface="Microsoft JhengHei"/>
              </a:rPr>
              <a:t>share.streamlit.io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61188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  <a:ea typeface="Microsoft JhengHei"/>
              </a:rPr>
              <a:t>New app → 連結 repo → 選 main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011680"/>
            <a:ext cx="3566160" cy="3200400"/>
          </a:xfrm>
          <a:prstGeom prst="roundRect">
            <a:avLst/>
          </a:prstGeom>
          <a:solidFill>
            <a:srgbClr val="F7F8FA"/>
          </a:solidFill>
          <a:ln>
            <a:solidFill>
              <a:srgbClr val="E2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732520" y="2286000"/>
            <a:ext cx="640080" cy="640080"/>
          </a:xfrm>
          <a:prstGeom prst="ellipse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32520" y="23317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154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A2E"/>
                </a:solidFill>
                <a:latin typeface="Calibri"/>
                <a:ea typeface="Microsoft JhengHei"/>
              </a:rPr>
              <a:t>Get a public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611880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F6B83"/>
                </a:solidFill>
                <a:latin typeface="Microsoft JhengHei"/>
                <a:ea typeface="Microsoft JhengHei"/>
              </a:rPr>
              <a:t>貼到 supplementary 或寄給 collaborator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5 個容易踩的雷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  <a:ea typeface="Microsoft JhengHei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Wide format 餵給 rm_anova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Calibri"/>
                <a:ea typeface="Microsoft Jheng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用 df.melt() 轉成 long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  <a:ea typeface="Microsoft JhengHe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06039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只報 p，沒報 effect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603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Calibri"/>
                <a:ea typeface="Microsoft Jheng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606039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務必附上 cohen_d / np2 / hedges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  <a:ea typeface="Microsoft JhengHe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7472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Within-subject 用 paired=False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Calibri"/>
                <a:ea typeface="Microsoft JhengHe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4747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確認 design 後選正確的 paired 參數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  <a:ea typeface="Microsoft JhengHe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43399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Sphericity 違反卻引 p_unc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79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Calibri"/>
                <a:ea typeface="Microsoft Jheng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343399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用 GG 校正後的 p-value (eps &lt; 0.75 時)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D34F4F"/>
                </a:solidFill>
                <a:latin typeface="Calibri"/>
                <a:ea typeface="Microsoft JhengHe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2120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Pairwise 沒做多重比較校正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663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Calibri"/>
                <a:ea typeface="Microsoft Jheng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2120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Microsoft JhengHei"/>
                <a:ea typeface="Microsoft JhengHei"/>
              </a:rPr>
              <a:t>加 padjust='bonf' 或 'fdr_bh'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完整的 Flanker 分析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資料準備：trial-level CSV (subject, group, condition, rt, accuracy)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描述性：pg.normality() + pg.homoscedasticity() 檢查假設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推論：mixed ANOVA (group × condition) + simple effects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Correlation：Flanker effect × accuracy partial corr (控制 age)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Streamlit：擴充 dashboard + 部署到 Streamlit Cloud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D9B9B"/>
                </a:solidFill>
                <a:latin typeface="Calibri"/>
              </a:rPr>
              <a:t>•  </a:t>
            </a:r>
            <a:r>
              <a:rPr sz="1500">
                <a:solidFill>
                  <a:srgbClr val="1A1A2E"/>
                </a:solidFill>
                <a:latin typeface="Calibri"/>
                <a:ea typeface="Microsoft JhengHei"/>
              </a:rPr>
              <a:t>APA-style writeup (≤ 200 字)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349240"/>
            <a:ext cx="1060704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43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  <a:ea typeface="Microsoft JhengHei"/>
              </a:rPr>
              <a:t>繳交：week-14-pingouin-hw.ipynb  +  Streamlit Cloud URL
評分：可執行 (40%) / 分析正確 (40%) / 報告清晰 (20%)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D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9B9B"/>
                </a:solidFill>
                <a:latin typeface="Calibri"/>
                <a:ea typeface="Microsoft JhengHe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Microsoft JhengHei"/>
                <a:ea typeface="Microsoft JhengHei"/>
              </a:rPr>
              <a:t>學完還想多看一點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  <a:ea typeface="Microsoft JhengHei"/>
              </a:rPr>
              <a:t>Vallat, R. (2018). Pingouin: statistics in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Calibri"/>
                <a:ea typeface="Microsoft JhengHei"/>
              </a:rPr>
              <a:t>JOSS, 3(31), 1026.  doi.org/10.21105/joss.01026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  <a:ea typeface="Microsoft JhengHei"/>
              </a:rPr>
              <a:t>Pingouin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39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Calibri"/>
                <a:ea typeface="Microsoft JhengHei"/>
              </a:rPr>
              <a:t>https://pingouin-stats.org/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  <a:ea typeface="Microsoft JhengHei"/>
              </a:rPr>
              <a:t>Lakens, D. (2013). Calculating and reporting effect sizes.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Calibri"/>
                <a:ea typeface="Microsoft JhengHei"/>
              </a:rPr>
              <a:t>Frontiers in Psychology, 4, 863.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  <a:ea typeface="Microsoft JhengHei"/>
              </a:rPr>
              <a:t>Streamlit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035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F6B83"/>
                </a:solidFill>
                <a:latin typeface="Calibri"/>
                <a:ea typeface="Microsoft JhengHei"/>
              </a:rPr>
              <a:t>https://docs.streamlit.io/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Week 14 — Pingouin Statistics  ·  ACL@NCU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922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F6B83"/>
                </a:solidFill>
                <a:latin typeface="Calibri"/>
                <a:ea typeface="Microsoft JhengHei"/>
              </a:rPr>
              <a:t>24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2748</Words>
  <Application>Microsoft Office PowerPoint</Application>
  <PresentationFormat>寬螢幕</PresentationFormat>
  <Paragraphs>344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Erik Chang</cp:lastModifiedBy>
  <cp:revision>4</cp:revision>
  <dcterms:created xsi:type="dcterms:W3CDTF">2013-01-27T09:14:16Z</dcterms:created>
  <dcterms:modified xsi:type="dcterms:W3CDTF">2026-05-21T00:40:03Z</dcterms:modified>
  <cp:category/>
</cp:coreProperties>
</file>