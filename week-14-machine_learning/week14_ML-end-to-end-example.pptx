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71" r:id="rId15"/>
    <p:sldId id="272" r:id="rId16"/>
    <p:sldId id="273" r:id="rId17"/>
    <p:sldId id="274" r:id="rId18"/>
    <p:sldId id="275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5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238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A2238"/>
                </a:solidFill>
                <a:latin typeface="Calibri"/>
              </a:rPr>
              <a:t>CV-RMSE on California Housing (10-fold)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(USD)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47C-4D00-B217-7D0184F96161}"/>
              </c:ext>
            </c:extLst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47C-4D00-B217-7D0184F96161}"/>
              </c:ext>
            </c:extLst>
          </c:dPt>
          <c:dPt>
            <c:idx val="2"/>
            <c:invertIfNegative val="0"/>
            <c:bubble3D val="0"/>
            <c:spPr>
              <a:solidFill>
                <a:srgbClr val="065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47C-4D00-B217-7D0184F9616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2238"/>
                    </a:solidFill>
                    <a:latin typeface="Arial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Linear Reg.</c:v>
                </c:pt>
                <c:pt idx="1">
                  <c:v>Decision Tree</c:v>
                </c:pt>
                <c:pt idx="2">
                  <c:v>Random Forest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68000</c:v>
                </c:pt>
                <c:pt idx="1">
                  <c:v>67000</c:v>
                </c:pt>
                <c:pt idx="2">
                  <c:v>47000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47C-4D00-B217-7D0184F9616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238"/>
                </a:solidFill>
                <a:latin typeface="Arial"/>
              </a:defRPr>
            </a:pPr>
            <a:endParaRPr lang="zh-TW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E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F"/>
                </a:solidFill>
                <a:latin typeface="Arial"/>
              </a:defRPr>
            </a:pPr>
            <a:endParaRPr lang="zh-TW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4239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0"/>
            <a:ext cx="27432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0"/>
            <a:ext cx="2194560" cy="6858000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743200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8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端到端機器學習專案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Machine Learning Project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411480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8AA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教材依據　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Géron (2022) Hands-On ML, Ch. 2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8AA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授課時數　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小時（單堂）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8AA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對象　　　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認知神經科學研究生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8AA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授課者　　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Erik Chang · ACL@NCU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6217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認知神經科學的計算方法系列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學習目標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完成本週課程後，學生應能…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37033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EF4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2011680"/>
            <a:ext cx="54864" cy="1325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1214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39572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理解監督式回歸完整流程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7889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從問題框架、資料探索到模型部署的端到端工作流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43400" y="2011680"/>
            <a:ext cx="37033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EF4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43400" y="2011680"/>
            <a:ext cx="54864" cy="1325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21214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26280" y="239572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建構可重現的 Pipeline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26280" y="27889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活用 Scikit-Learn 的 Pipeline 與 ColumnTransformer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83880" y="2011680"/>
            <a:ext cx="37033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EF4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83880" y="2011680"/>
            <a:ext cx="54864" cy="1325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6760" y="21214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66760" y="239572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正確切分訓練/測試集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66760" y="27889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 data snooping bias 與 stratified sampling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3520440"/>
            <a:ext cx="37033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EF4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3520440"/>
            <a:ext cx="54864" cy="1325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63016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" y="39044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k-fold CV 評估泛化能力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" y="429768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批判性地比較不同模型的預測效能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343400" y="3520440"/>
            <a:ext cx="37033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EF4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43400" y="3520440"/>
            <a:ext cx="54864" cy="1325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363016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26280" y="39044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執行超參數調優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26280" y="429768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vs. Randomized Search 的權衡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183880" y="3520440"/>
            <a:ext cx="37033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EF4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183880" y="3520440"/>
            <a:ext cx="54864" cy="1325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66760" y="363016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66760" y="39044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建立跨領域思維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366760" y="429768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將 ML 工作流類比於 fMRI/MVPA 分析管線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14 · End-to-End Machine Learning · ACL@NCU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8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27889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問題框架與資料探索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97280" y="3794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the problem · Data exploration · Train-test split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4434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– 0:45 　·　 45 min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1.1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端到端 ML 專案的八大步驟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工程實務上，一個完整 ML 專案的標準流程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20116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檢視全局 (Big picture)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468880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4688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取得資料 (Get the data)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926080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29260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探索與視覺化 (Discover &amp; visualize)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3383280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33832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準備資料 (Prepare for algorithms)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3840480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38404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選擇並訓練模型 (Train a model)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" y="4297680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42976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微調模型 (Fine-tune)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2920" y="4754880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51560" y="47548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展示解決方案 (Present)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02920" y="5212080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5212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51560" y="52120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部署、監控、維護 (Launch &amp; monitor)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315200" y="2011680"/>
            <a:ext cx="4389120" cy="3840480"/>
          </a:xfrm>
          <a:prstGeom prst="rect">
            <a:avLst/>
          </a:prstGeom>
          <a:solidFill>
            <a:srgbClr val="FFF4F4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15200" y="2011680"/>
            <a:ext cx="73152" cy="38404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0" y="2103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神經科學類比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498080" y="2423160"/>
            <a:ext cx="41148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此流程與 fMRI 分析高度相似：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・實驗設計 → DICOM 取得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・預處理 (motion correction, normalization)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・一階分析 (GLM)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・二階分析 (group-level)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・結果解讀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・報告與分享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「Pipeline 思維」是兩個領域的共同語彙。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14 · End-to-End Machine Learning · ACL@NCU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1.2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問題框架 (Framing the Problem)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選擇模型前必須回答的四個問題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548640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EF4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2011680"/>
            <a:ext cx="54864" cy="1737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48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　監督式 vs. 非監督式？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本例有標籤 (median house value)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06324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172200" y="2011680"/>
            <a:ext cx="548640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EF4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2011680"/>
            <a:ext cx="54864" cy="1737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148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　回歸 vs. 分類？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0" y="2560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連續目標變數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306324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502920" y="3931920"/>
            <a:ext cx="548640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EF4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931920"/>
            <a:ext cx="54864" cy="1737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069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　批次 vs. 線上學習？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4480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資料量小、不頻繁更新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98348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172200" y="3931920"/>
            <a:ext cx="548640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EF4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72200" y="3931920"/>
            <a:ext cx="54864" cy="1737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4069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　效能指標？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0" y="4480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(L2) vs. MAE (L1)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498348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對大誤差較敏感 (L2 norm)，是回歸任務預設選擇　·　</a:t>
            </a:r>
            <a:r>
              <a:rPr lang="en-US" sz="11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對離群值更穩健 (L1 norm)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14 · End-to-End Machine Learning · ACL@NCU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1.3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取得與快速檢視資料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→ info() → describe() → hist()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6583680" cy="32918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21408"/>
            <a:ext cx="6355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pathlib import Path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load_housing_data():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 = Path("datasets/housing.csv")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pd.read_csv(path)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housing = load_housing_data()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housing.info()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housing.describe()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housing.hist(bins=50, figsize=(12, 8))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0" y="2011680"/>
            <a:ext cx="43891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EF4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0" y="2011680"/>
            <a:ext cx="54864" cy="3291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0" y="2148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直方圖揭示三大問題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98080" y="2606040"/>
            <a:ext cx="4114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尾偏分布 (long-tailed)</a:t>
            </a:r>
            <a:endParaRPr lang="en-US" sz="1250" dirty="0"/>
          </a:p>
          <a:p>
            <a:pPr marL="0" indent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通常需要對數轉換</a:t>
            </a:r>
            <a:endParaRPr lang="en-US" sz="125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不同尺度 (different scales)</a:t>
            </a:r>
            <a:endParaRPr lang="en-US" sz="1250" dirty="0"/>
          </a:p>
          <a:p>
            <a:pPr marL="0" indent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 feature scaling</a:t>
            </a:r>
            <a:endParaRPr lang="en-US" sz="125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封頂效應 (capped values)</a:t>
            </a:r>
            <a:endParaRPr lang="en-US" sz="1250" dirty="0"/>
          </a:p>
          <a:p>
            <a:pPr marL="0" indent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可能影響模型上界預測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5486400"/>
            <a:ext cx="11201400" cy="914400"/>
          </a:xfrm>
          <a:prstGeom prst="rect">
            <a:avLst/>
          </a:prstGeom>
          <a:solidFill>
            <a:srgbClr val="FFF4F4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5486400"/>
            <a:ext cx="73152" cy="9144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5577840"/>
            <a:ext cx="10927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神經科學類比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5897880"/>
            <a:ext cx="10927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info() 看缺失 (total_bedrooms 有缺失)；describe() 顯示 housing_median_age 與 median_house_value 的封頂——類比於 fMRI BOLD signal 的飽和與 saturation artifact。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14 · End-to-End Machine Learning · ACL@NCU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1.4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建立測試集：避免資料窺探偏誤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split vs. Stratified Sampling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5486400" cy="3657600"/>
          </a:xfrm>
          <a:prstGeom prst="rect">
            <a:avLst/>
          </a:prstGeom>
          <a:solidFill>
            <a:srgbClr val="FFF5F5"/>
          </a:solidFill>
          <a:ln w="9525">
            <a:solidFill>
              <a:srgbClr val="E8EEF4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2011680"/>
            <a:ext cx="54864" cy="3657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011680"/>
            <a:ext cx="54864" cy="36576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48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Random split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5146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每次執行結果不同，模型最終會看過全部資料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31520" y="2971800"/>
            <a:ext cx="5074920" cy="26060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081528"/>
            <a:ext cx="48463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\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import train_test_split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train_set, test_set = \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train_test_split(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housing,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test_size=0.2,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random_state=42)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5486400" cy="3657600"/>
          </a:xfrm>
          <a:prstGeom prst="rect">
            <a:avLst/>
          </a:prstGeom>
          <a:solidFill>
            <a:srgbClr val="F0F7FF"/>
          </a:solidFill>
          <a:ln w="9525">
            <a:solidFill>
              <a:srgbClr val="E8EEF4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2011680"/>
            <a:ext cx="54864" cy="3657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2011680"/>
            <a:ext cx="54864" cy="3657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2148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Stratified Sampling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46520" y="25146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保證測試集與整體在關鍵變數分布上一致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46520" y="2971800"/>
            <a:ext cx="5074920" cy="26060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3081528"/>
            <a:ext cx="48463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\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import StratifiedShuffleSplit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housing["income_cat"] = pd.cut(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housing["median_income"],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bins=[0,1.5,3,4.5,6,np.inf],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labels=[1,2,3,4,5])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split on income_cat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5623560"/>
            <a:ext cx="11201400" cy="731520"/>
          </a:xfrm>
          <a:prstGeom prst="rect">
            <a:avLst/>
          </a:prstGeom>
          <a:solidFill>
            <a:srgbClr val="FFF4F4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5623560"/>
            <a:ext cx="73152" cy="7315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5715000"/>
            <a:ext cx="10927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神經科學類比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6035040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等同於在 CV 時依 subject / condition / site 做 stratified 分群——Varoquaux (2018) 對 small-sample neuroimaging CV 的批評正源於此。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14 · End-to-End Machine Learning · ACL@NCU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8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27889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資料前處理與特徵工程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97280" y="3794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· Encoding · Scaling · Pipeline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4434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0:45 – 1:30 　·　 45 min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2.1–2.2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相關性分析與特徵組合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從領域知識衍生新特徵 — 與 connectivity metrics 同源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548640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EF4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2011680"/>
            <a:ext cx="54864" cy="4297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48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相關係數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560320"/>
            <a:ext cx="5074920" cy="15544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67004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 = housing.corr(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numeric_only=True)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corr["median_house_value"]\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.sort_values(ascending=False)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4206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注意事項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572000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</a:rPr>
              <a:t>Pearson 僅捕捉線性關係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</a:rPr>
              <a:t>無法偵測非線性結構 (U-shape)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</a:rPr>
              <a:t>scatter_matrix 可發現異常模式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548640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EF4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2011680"/>
            <a:ext cx="54864" cy="4297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2148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衍生特徵 (Feature Combinations)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46520" y="2560320"/>
            <a:ext cx="5074920" cy="2286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2670048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housing["rooms_per_house"] = 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housing["total_rooms"] 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housing["households"])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housing["bedrooms_ratio"] = 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housing["total_bedrooms"] 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housing["total_rooms"])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46520" y="5029200"/>
            <a:ext cx="5074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類比於從 raw BOLD signal 衍生 graph theory measures (clustering coefficient, path length)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14 · End-to-End Machine Learning · ACL@NCU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2.3–2.4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資料清理與類別編碼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Missing-value strategies · Categorical encoding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缺失值處理：三種策略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423160"/>
            <a:ext cx="37033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EF4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423160"/>
            <a:ext cx="54864" cy="1828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603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8346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刪除有缺失的列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85800" y="32004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housing.dropna(subset=["total_bedrooms"])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85800" y="38404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 — 失去樣本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43400" y="2423160"/>
            <a:ext cx="37033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EF4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43400" y="2423160"/>
            <a:ext cx="54864" cy="1828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25603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26280" y="28346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刪除整欄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26280" y="32004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housing.drop("total_bedrooms", axis=1)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26280" y="38404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 — 失去特徵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83880" y="2423160"/>
            <a:ext cx="37033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EF4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83880" y="2423160"/>
            <a:ext cx="54864" cy="1828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66760" y="25603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66760" y="28346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填補 (imputation) ⭐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366760" y="32004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SimpleImputer(strategy="median")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366760" y="38404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 — 推薦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4526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類別特徵編碼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02920" y="4937760"/>
            <a:ext cx="54864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EF4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4937760"/>
            <a:ext cx="54864" cy="1463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5029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OrdinalEncoder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1520" y="5349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適合有序類別 (e.g. 教育程度)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31520" y="57150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["GOOD", "BAD", "OK"] → [2, 0, 1]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4937760"/>
            <a:ext cx="54864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EF4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17920" y="4937760"/>
            <a:ext cx="54864" cy="1463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5029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OneHotEncoder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46520" y="5349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適合無序類別 (e.g. ocean_proximity)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446520" y="571500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注意稀疏矩陣 (sparse matrix) 儲存效率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14 · End-to-End Machine Learning · ACL@NCU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2.5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特徵縮放與轉換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 scaling · Standardization · 對重尾分布的處理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54864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8EEF4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2011680"/>
            <a:ext cx="54864" cy="2103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48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 Scaling (Normalization)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縮放到 [0, 1]　·　對離群值敏感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2834640"/>
            <a:ext cx="5074920" cy="11887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944368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sklearn.preprocessing \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import MinMaxScaler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 = MinMaxScaler(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feature_range=(0, 1))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2011680"/>
            <a:ext cx="54864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8EEF4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2011680"/>
            <a:ext cx="54864" cy="2103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2148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 (Z-score) ⭐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46520" y="2468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均值 0、變異數 1　·　對離群值較穩健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46520" y="2834640"/>
            <a:ext cx="5074920" cy="11887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2944368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sklearn.preprocessing \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import StandardScaler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 = StandardScaler()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X_s = scaler.fit_transform(X)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4160520"/>
            <a:ext cx="112014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8EEF4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4160520"/>
            <a:ext cx="54864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2519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處理重尾分布的三種方法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46177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對數轉換 </a:t>
            </a: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np.log(x)　·　</a:t>
            </a: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分位數轉換 </a:t>
            </a: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QuantileTransformer　·　</a:t>
            </a: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 kernel similarity </a:t>
            </a: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處理多峰分布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49834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 fMRI 預處理中的 intensity normalization、grand mean scaling 同源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5486400"/>
            <a:ext cx="11201400" cy="868680"/>
          </a:xfrm>
          <a:prstGeom prst="rect">
            <a:avLst/>
          </a:prstGeom>
          <a:solidFill>
            <a:srgbClr val="FFF4F4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5486400"/>
            <a:ext cx="73152" cy="8686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5577840"/>
            <a:ext cx="10927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神經科學類比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" y="589788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MVPA 文獻中對是否進行 feature-wise z-scoring 仍有方法學爭論——選擇 scaling 並非中性，會改變模型 inductive bias。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14 · End-to-End Machine Learning · ACL@NCU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2.6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與 ColumnTransformer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可重現、可維護的前處理工作流核心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6858000" cy="40233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21408"/>
            <a:ext cx="66294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sklearn.pipeline import Pipeline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sklearn.compose import ColumnTransformer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sklearn.preprocessing import 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StandardScaler, OneHotEncoder)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sklearn.impute import SimpleImputer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num_pipeline = Pipeline([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("impute",     SimpleImputer(strategy="median")),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("standardize", StandardScaler()),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preprocessing = ColumnTransformer([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("num", num_pipeline, num_attribs),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("cat", OneHotEncoder(handle_unknown="ignore"),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cat_attribs),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589520" y="2011680"/>
            <a:ext cx="41148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EF4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589520" y="2011680"/>
            <a:ext cx="54864" cy="4023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2148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 Pipeline 重要？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0" y="2560320"/>
            <a:ext cx="3840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前處理參數僅由訓練集估計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（中位數、均值、變異數）</a:t>
            </a:r>
            <a:endParaRPr lang="en-US" sz="1200" dirty="0"/>
          </a:p>
          <a:p>
            <a:pPr marL="0" indent="0">
              <a:buNone/>
            </a:pPr>
            <a:r>
              <a:rPr lang="en-US" sz="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避免 test set 資訊洩漏</a:t>
            </a:r>
            <a:endParaRPr lang="en-US" sz="1200" dirty="0"/>
          </a:p>
          <a:p>
            <a:pPr marL="0" indent="0">
              <a:buNone/>
            </a:pPr>
            <a:r>
              <a:rPr lang="en-US" sz="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保證流程可重現</a:t>
            </a:r>
            <a:endParaRPr lang="en-US" sz="1200" dirty="0"/>
          </a:p>
          <a:p>
            <a:pPr marL="0" indent="0">
              <a:buNone/>
            </a:pPr>
            <a:r>
              <a:rPr lang="en-US" sz="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便於後續 GridSearchCV 串接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5669280"/>
            <a:ext cx="11201400" cy="731520"/>
          </a:xfrm>
          <a:prstGeom prst="rect">
            <a:avLst/>
          </a:prstGeom>
          <a:solidFill>
            <a:srgbClr val="FFF4F4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5669280"/>
            <a:ext cx="73152" cy="7315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5760720"/>
            <a:ext cx="10927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神經科學類比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6080760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與 fair evaluation 的關鍵——等同於 fMRI 中嚴格區分 estimation set 與 inference set。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14 · End-to-End Machine Learning · ACL@NCU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8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27889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模型訓練與交叉驗證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97280" y="3794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· Decision Tree · k-fold CV · Random Forest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4434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1:45 – 2:30 　·　 45 min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3.1–3.4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三種模型的訓練與比較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underfitting 到 overfitting 到 ensemble 的故事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2011680"/>
          <a:ext cx="66751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406640" y="2011680"/>
            <a:ext cx="429768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EF4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406640" y="2011680"/>
            <a:ext cx="54864" cy="1280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21031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589520" y="24231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比中位數還高 → 嚴重 underfitting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406640" y="3429000"/>
            <a:ext cx="429768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EF4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406640" y="3429000"/>
            <a:ext cx="54864" cy="1280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89520" y="35204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589520" y="38404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 RMSE ≈ 0，CV RMSE ≈ 67k → overfitting！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406640" y="4846320"/>
            <a:ext cx="429768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EF4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406640" y="4846320"/>
            <a:ext cx="54864" cy="1280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89520" y="49377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⭐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589520" y="52578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+ 隨機特徵子集 → variance reduction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14 · End-to-End Machine Learning · ACL@NCU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3.3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交叉驗證的方法學要點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揭露真實泛化誤差 — 並避免樂觀偏誤 (optimistic bias)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5943600" cy="14630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21408"/>
            <a:ext cx="5715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\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import cross_val_score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-cross_val_score(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tree_reg, X, y, cv=10,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scoring="neg_root_mean_squared_error")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675120" y="2011680"/>
            <a:ext cx="50292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EF4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75120" y="2011680"/>
            <a:ext cx="54864" cy="1463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2103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為什麼回傳是負 RMSE？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0" y="242316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的 scoring 統一遵循「越大越好」慣例；RMSE 越小越好 → 取負值。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657600"/>
            <a:ext cx="27432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EF4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3657600"/>
            <a:ext cx="54864" cy="1828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840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k-fold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45262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 small-sample 高變異情境更穩健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37560" y="3657600"/>
            <a:ext cx="27432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EF4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37560" y="3657600"/>
            <a:ext cx="54864" cy="1828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0440" y="3840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CV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20440" y="45262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進一步降低 fold 切分的隨機性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3657600"/>
            <a:ext cx="27432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EF4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3657600"/>
            <a:ext cx="54864" cy="1828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3840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Leave-One-Subject-Out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55080" y="45262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神經影像領域的主流選擇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006840" y="3657600"/>
            <a:ext cx="27432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EF4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006840" y="3657600"/>
            <a:ext cx="54864" cy="1828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89720" y="3840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CV ⭐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89720" y="45262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+ 評估的金標準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5623560"/>
            <a:ext cx="11201400" cy="777240"/>
          </a:xfrm>
          <a:prstGeom prst="rect">
            <a:avLst/>
          </a:prstGeom>
          <a:solidFill>
            <a:srgbClr val="FFF4F4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5623560"/>
            <a:ext cx="73152" cy="7772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5715000"/>
            <a:ext cx="10927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神經科學類比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5800" y="603504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Varoquaux et al. (2017) NeuroImage — "Assessing and tuning brain decoders"：small-sample 神經影像 CV 的變異常被低估；nested CV 是規避 optimistic bias 的最低標準。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14 · End-to-End Machine Learning · ACL@NCU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4.1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vs. Randomized Search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超參數調優策略的選擇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548640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EF4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2011680"/>
            <a:ext cx="54864" cy="4297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48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606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枚舉所有超參數組合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017520"/>
            <a:ext cx="5074920" cy="18288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127248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param_grid = [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{'rf__max_features':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[4, 6, 8]},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{'rf__max_features':[6,8,10],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'rf__n_estimators':[3, 10]},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507492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適合小搜索空間 (&lt;100 組合)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高維下組合爆炸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548640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EF4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2011680"/>
            <a:ext cx="54864" cy="4297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2148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 Search ⭐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46520" y="2606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在連續/離散分布上抽樣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46520" y="3017520"/>
            <a:ext cx="5074920" cy="18288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3127248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scipy.stats import randint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param_dist =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'rf__n_estimators':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randint(1, 200),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'rf__max_features':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randint(2, 20)}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46520" y="507492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適合大/連續搜索空間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Bergstra &amp; Bengio (2012) 證明高維下更高效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14 · End-to-End Machine Learning · ACL@NCU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4.2–4.4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測試集評估、信賴區間與部署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最後一哩路 — 並非工程的終點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54864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EF4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2011680"/>
            <a:ext cx="54864" cy="2377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03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信賴區間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468880"/>
            <a:ext cx="5074920" cy="17830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578608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scipy import stats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 = (preds - y_test) ** 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np.sqrt(stats.t.interval(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0.95, len(sq)-1,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loc=sq.mean(),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FD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scale=stats.sem(sq)))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2011680"/>
            <a:ext cx="5486400" cy="2377440"/>
          </a:xfrm>
          <a:prstGeom prst="rect">
            <a:avLst/>
          </a:prstGeom>
          <a:solidFill>
            <a:srgbClr val="FFF5F5"/>
          </a:solidFill>
          <a:ln w="9525">
            <a:solidFill>
              <a:srgbClr val="E8EEF4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2011680"/>
            <a:ext cx="54864" cy="2377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2011680"/>
            <a:ext cx="54864" cy="2377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2103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關鍵警示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2514600"/>
            <a:ext cx="5029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測試集成績通常略差於 CV 估計</a:t>
            </a:r>
            <a:endParaRPr lang="en-US" sz="1200" dirty="0"/>
          </a:p>
          <a:p>
            <a:pPr marL="0" indent="0">
              <a:buNone/>
            </a:pPr>
            <a:r>
              <a:rPr lang="en-US" sz="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不可基於測試結果回頭調超參數</a:t>
            </a:r>
            <a:endParaRPr lang="en-US" sz="1200" dirty="0"/>
          </a:p>
          <a:p>
            <a:pPr marL="0" indent="0">
              <a:buNone/>
            </a:pPr>
            <a:r>
              <a:rPr lang="en-US" sz="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否則會 overfit test set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4572000"/>
            <a:ext cx="112014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EF4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4572000"/>
            <a:ext cx="54864" cy="1828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6817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 (Deployment) 的三個議題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5120640"/>
            <a:ext cx="320040" cy="3200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120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51023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模型持久化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43000" y="54864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joblib.dump(model, ...)　model + preprocessing 須一同保存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34840" y="5120640"/>
            <a:ext cx="320040" cy="3200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34840" y="5120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51023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資料漂移監控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846320" y="54864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監控輸入分布變化 (data drift)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138160" y="5120640"/>
            <a:ext cx="320040" cy="3200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38160" y="5120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549640" y="51023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模型衰退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549640" y="54864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上線後預測力衰減 — 神經影像情境：跨 scanner、跨站點泛化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14 · End-to-End Machine Learning · ACL@NCU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總結與反思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A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Reflective Questions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5943600" cy="777240"/>
          </a:xfrm>
          <a:prstGeom prst="rect">
            <a:avLst/>
          </a:prstGeom>
          <a:solidFill>
            <a:srgbClr val="0E2D4C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920240"/>
            <a:ext cx="54864" cy="7772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011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91640" y="19933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是反覆迭代的工程過程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91640" y="2331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非單次性的演算法套用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2788920"/>
            <a:ext cx="5943600" cy="777240"/>
          </a:xfrm>
          <a:prstGeom prst="rect">
            <a:avLst/>
          </a:prstGeom>
          <a:solidFill>
            <a:srgbClr val="0E2D4C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788920"/>
            <a:ext cx="54864" cy="7772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880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91640" y="28620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資料前處理佔 80% 工作量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91640" y="3200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化是專業實踐的核心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3657600"/>
            <a:ext cx="5943600" cy="777240"/>
          </a:xfrm>
          <a:prstGeom prst="rect">
            <a:avLst/>
          </a:prstGeom>
          <a:solidFill>
            <a:srgbClr val="0E2D4C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3657600"/>
            <a:ext cx="54864" cy="7772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749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91640" y="37307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評估流程比模型選擇更重要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91640" y="4069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CV + held-out test 是底線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" y="4526280"/>
            <a:ext cx="5943600" cy="777240"/>
          </a:xfrm>
          <a:prstGeom prst="rect">
            <a:avLst/>
          </a:prstGeom>
          <a:solidFill>
            <a:srgbClr val="0E2D4C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4526280"/>
            <a:ext cx="54864" cy="7772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4617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691640" y="45994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與神經影像有共享原則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691640" y="4937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跨領域學習互為借鏡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22376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反思題 (供討論)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223760" y="233172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若任務是「預測失智症診斷」而非「房價」，方法學需要調整哪些環節？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為什麼 RMSE 可能不適合用於評估「決策」型 ML 系統？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23760" y="4297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關鍵文獻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223760" y="466344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Géron (2022) Hands-On ML, 3rd ed., Ch. 2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Bergstra &amp; Bengio (2012) JMLR 13:281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Varoquaux et al. (2017) NeuroImage 145:166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Varoquaux &amp; Cheplygina (2022) NPJ Digital Med 5:48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Haufe et al. (2014) NeuroImage 87:96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A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· 謝謝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1791</Words>
  <Application>Microsoft Office PowerPoint</Application>
  <PresentationFormat>寬螢幕</PresentationFormat>
  <Paragraphs>380</Paragraphs>
  <Slides>18</Slides>
  <Notes>18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2" baseType="lpstr">
      <vt:lpstr>Arial</vt:lpstr>
      <vt:lpstr>Calibri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14: End-to-End Machine Learning Project</dc:title>
  <dc:subject>PptxGenJS Presentation</dc:subject>
  <dc:creator>Erik Chang (ACL@NCU)</dc:creator>
  <cp:lastModifiedBy>Erik Chang</cp:lastModifiedBy>
  <cp:revision>2</cp:revision>
  <dcterms:created xsi:type="dcterms:W3CDTF">2026-05-21T00:28:39Z</dcterms:created>
  <dcterms:modified xsi:type="dcterms:W3CDTF">2026-05-21T00:39:53Z</dcterms:modified>
</cp:coreProperties>
</file>