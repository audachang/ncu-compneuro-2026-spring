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356" r:id="rId2"/>
    <p:sldId id="456" r:id="rId3"/>
    <p:sldId id="375" r:id="rId4"/>
    <p:sldId id="360" r:id="rId5"/>
    <p:sldId id="361" r:id="rId6"/>
    <p:sldId id="357" r:id="rId7"/>
    <p:sldId id="358" r:id="rId8"/>
    <p:sldId id="460" r:id="rId9"/>
    <p:sldId id="364" r:id="rId10"/>
    <p:sldId id="365" r:id="rId11"/>
    <p:sldId id="359" r:id="rId12"/>
    <p:sldId id="362" r:id="rId13"/>
    <p:sldId id="459" r:id="rId14"/>
    <p:sldId id="366" r:id="rId15"/>
    <p:sldId id="363" r:id="rId16"/>
    <p:sldId id="367" r:id="rId17"/>
    <p:sldId id="368" r:id="rId18"/>
    <p:sldId id="369" r:id="rId19"/>
    <p:sldId id="372" r:id="rId20"/>
    <p:sldId id="370" r:id="rId21"/>
    <p:sldId id="373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97" r:id="rId32"/>
    <p:sldId id="398" r:id="rId33"/>
    <p:sldId id="399" r:id="rId34"/>
    <p:sldId id="400" r:id="rId35"/>
    <p:sldId id="402" r:id="rId36"/>
    <p:sldId id="470" r:id="rId37"/>
    <p:sldId id="401" r:id="rId38"/>
    <p:sldId id="403" r:id="rId39"/>
  </p:sldIdLst>
  <p:sldSz cx="12192000" cy="6858000"/>
  <p:notesSz cx="7102475" cy="10233025"/>
  <p:custDataLst>
    <p:tags r:id="rId4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7567" autoAdjust="0"/>
  </p:normalViewPr>
  <p:slideViewPr>
    <p:cSldViewPr snapToGrid="0">
      <p:cViewPr varScale="1">
        <p:scale>
          <a:sx n="84" d="100"/>
          <a:sy n="84" d="100"/>
        </p:scale>
        <p:origin x="10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DEF197A6-BE36-4D6D-BBE6-9633BE34F474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E9C74F81-CD54-4030-AC9C-0ED56CF0AA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78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900" dirty="0">
                <a:solidFill>
                  <a:srgbClr val="000000"/>
                </a:solidFill>
                <a:latin typeface="MinionPro-Regular"/>
              </a:rPr>
              <a:t>Another approach to machine learning involves actually generating a fully labeled dataset from a fully unlabeled one. Again, once the whole dataset is labeled, any supervised learning algorithm can be used. This approach is called </a:t>
            </a:r>
            <a:r>
              <a:rPr lang="en-US" altLang="zh-TW" sz="1900" i="1" dirty="0">
                <a:solidFill>
                  <a:srgbClr val="000000"/>
                </a:solidFill>
                <a:latin typeface="MinionPro-It"/>
              </a:rPr>
              <a:t>self-supervised learning</a:t>
            </a:r>
            <a:r>
              <a:rPr lang="en-US" altLang="zh-TW" sz="1900" dirty="0">
                <a:solidFill>
                  <a:srgbClr val="000000"/>
                </a:solidFill>
                <a:latin typeface="MinionPro-Regular"/>
              </a:rPr>
              <a:t>.</a:t>
            </a:r>
          </a:p>
          <a:p>
            <a:r>
              <a:rPr lang="en-US" altLang="zh-TW" sz="1900" dirty="0">
                <a:solidFill>
                  <a:srgbClr val="000000"/>
                </a:solidFill>
                <a:latin typeface="MinionPro-Regular"/>
              </a:rPr>
              <a:t>For example, if you have a large dataset of unlabeled images, you can randomly mask a small part of each image and then train a model to recover the original image (</a:t>
            </a:r>
            <a:r>
              <a:rPr lang="en-US" altLang="zh-TW" sz="1900" dirty="0">
                <a:solidFill>
                  <a:srgbClr val="990000"/>
                </a:solidFill>
                <a:latin typeface="MinionPro-Regular"/>
              </a:rPr>
              <a:t>Figure 1-12</a:t>
            </a:r>
            <a:r>
              <a:rPr lang="en-US" altLang="zh-TW" sz="1900" dirty="0">
                <a:solidFill>
                  <a:srgbClr val="000000"/>
                </a:solidFill>
                <a:latin typeface="MinionPro-Regular"/>
              </a:rPr>
              <a:t>). During training, the masked images are used as the inputs to the model, and the original images are used as the labels.</a:t>
            </a:r>
            <a:r>
              <a:rPr lang="en-US" altLang="zh-TW" dirty="0"/>
              <a:t> 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663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F3A-03C4-4B1C-8AE5-8FD8BC8EDFEC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8886884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10381517" cy="443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FA6-A909-4E15-BD17-37683E4F3322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5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33676-1B6B-4BBE-8D4C-954E38BB0491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4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7526-C717-4892-B54A-A9E2325524B8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7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11820"/>
            <a:ext cx="10096500" cy="9160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66801" y="169640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none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322195"/>
            <a:ext cx="4739628" cy="338964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00330" y="169640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none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322195"/>
            <a:ext cx="4762970" cy="338964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B1B73-38BC-436D-8EE6-E273345841B6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606946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17CB-8512-4BB3-8685-CAA32E7FBC3C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0070-0EA1-4A0D-8F4A-D7975CE73EDC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8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61D9-77D5-4763-AC3C-234694E90E17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8C68-2AD3-4F03-96E0-FA5130A87C35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5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180E-6827-4A87-80C3-07C58CD3A140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9576-551E-420E-B928-DD4922C9618D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329A6EE-4D16-488F-9F14-27146B16CAB9}" type="datetime1">
              <a:rPr lang="en-US" altLang="zh-TW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hyperlink" Target="https://www.youtube.com/playlist?list=PLblh5JKOoLUICTaGLRoHQDuF_7q2GfuJF" TargetMode="External"/><Relationship Id="rId4" Type="http://schemas.openxmlformats.org/officeDocument/2006/relationships/hyperlink" Target="https://homl.info/colab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lcn.org/artificial-intelligence-in-lung-cancer-opening-new-avenues-for-detection-diagnosis-and-prognostication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天空中的彩色圖案">
            <a:extLst>
              <a:ext uri="{FF2B5EF4-FFF2-40B4-BE49-F238E27FC236}">
                <a16:creationId xmlns:a16="http://schemas.microsoft.com/office/drawing/2014/main" id="{ED98725C-038E-6A06-4C58-01CA646C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8" b="1019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4E6BD4-9370-439F-94BB-34169C126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913" y="4906317"/>
            <a:ext cx="9216167" cy="1232744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3200" dirty="0"/>
              <a:t>Machine Learning Overview</a:t>
            </a:r>
            <a:endParaRPr lang="zh-TW" altLang="en-US" sz="3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3D1A53-2BC1-6F24-5CC4-46EA5C26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0281" y="3847907"/>
            <a:ext cx="3129921" cy="1010882"/>
          </a:xfrm>
        </p:spPr>
        <p:txBody>
          <a:bodyPr anchor="b">
            <a:normAutofit fontScale="85000" lnSpcReduction="20000"/>
          </a:bodyPr>
          <a:lstStyle/>
          <a:p>
            <a:pPr algn="ctr"/>
            <a:r>
              <a:rPr lang="en-US" altLang="zh-TW" dirty="0"/>
              <a:t>NS5116</a:t>
            </a:r>
          </a:p>
          <a:p>
            <a:r>
              <a:rPr lang="zh-TW" altLang="zh-TW" b="1" dirty="0"/>
              <a:t>電腦硬體與程式語言在行為科學實驗與大數據分析之應用</a:t>
            </a:r>
            <a:endParaRPr lang="zh-TW" altLang="zh-TW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C6E18B-DBDF-ADE3-AE6C-175FCBE7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59D671-9BE8-890D-315E-3958C17E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59FDAF-84C2-BC99-6F5C-BF3AD618D8DA}"/>
              </a:ext>
            </a:extLst>
          </p:cNvPr>
          <p:cNvSpPr txBox="1"/>
          <p:nvPr/>
        </p:nvSpPr>
        <p:spPr>
          <a:xfrm>
            <a:off x="429935" y="5677396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2026-05-21</a:t>
            </a:r>
          </a:p>
          <a:p>
            <a:r>
              <a:rPr lang="zh-TW" altLang="en-US" dirty="0"/>
              <a:t>講師：</a:t>
            </a:r>
            <a:r>
              <a:rPr lang="en-US" altLang="zh-TW" dirty="0"/>
              <a:t>Erik Chang </a:t>
            </a:r>
            <a:r>
              <a:rPr lang="zh-TW" altLang="en-US" dirty="0"/>
              <a:t>張智宏</a:t>
            </a:r>
            <a:endParaRPr lang="en-US" altLang="zh-TW" dirty="0"/>
          </a:p>
          <a:p>
            <a:r>
              <a:rPr lang="zh-TW" altLang="en-US" dirty="0"/>
              <a:t>教室：S5-Ideabrain</a:t>
            </a:r>
          </a:p>
        </p:txBody>
      </p:sp>
    </p:spTree>
    <p:extLst>
      <p:ext uri="{BB962C8B-B14F-4D97-AF65-F5344CB8AC3E}">
        <p14:creationId xmlns:p14="http://schemas.microsoft.com/office/powerpoint/2010/main" val="174092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E74E1B56-E0C0-92DB-288D-66FF9D91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Textbook &amp; Materials（教材與資源）</a:t>
            </a:r>
            <a:endParaRPr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6B4C37FB-4A5E-417E-1ACC-0CCAB72D91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10741" y="1296858"/>
            <a:ext cx="3595220" cy="4736474"/>
          </a:xfrm>
        </p:spPr>
      </p:pic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84108584-90DB-74BF-124E-A36B46DC49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2288943"/>
            <a:ext cx="5178425" cy="3424257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ABED5C3-C379-0068-E0C8-A7EA7F9D6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EA28FC5-A7CE-EBAC-C4AE-60765BDF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</a:t>
            </a:fld>
            <a:endParaRPr 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3F9E3ED-D2AA-A4E5-F3DD-EC9B33B17EE4}"/>
              </a:ext>
            </a:extLst>
          </p:cNvPr>
          <p:cNvSpPr txBox="1"/>
          <p:nvPr/>
        </p:nvSpPr>
        <p:spPr>
          <a:xfrm>
            <a:off x="1187469" y="6198386"/>
            <a:ext cx="292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dirty="0">
                <a:hlinkClick r:id="rId4"/>
              </a:rPr>
              <a:t>https://homl.info/colab3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1C19070-7D38-28C0-A7A1-328D41018813}"/>
              </a:ext>
            </a:extLst>
          </p:cNvPr>
          <p:cNvSpPr txBox="1"/>
          <p:nvPr/>
        </p:nvSpPr>
        <p:spPr>
          <a:xfrm>
            <a:off x="5872072" y="5736721"/>
            <a:ext cx="6097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5"/>
              </a:rPr>
              <a:t>https://www.youtube.com/playlist?list=PLblh5JKOoLUICTaGLRoHQDuF_7q2GfuJF</a:t>
            </a:r>
            <a:r>
              <a:rPr lang="zh-TW" altLang="en-US" dirty="0"/>
              <a:t> 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E6025481-3130-AB57-EDFC-C9F689B8C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211804"/>
            <a:ext cx="4600609" cy="100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41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3BE8E575-ADD7-D9E7-2B78-0393703D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Machine Learning Landscape（機器學習全貌）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44279D04-CB81-4CA0-6F77-620ACD12E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FC380C7-6A90-7D64-B7FC-ACFE8EFF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67BC53-895B-7B3D-1BE7-048280C8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06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863108-A0E5-34F9-D00F-65BB07B4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什麼是 Machine Learning (ML)？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D4AD85-38BB-DE20-9E37-42BF862EF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Machine learning 是一個研究領域，目標是讓電腦不需要被明確寫死規則，也能從資料中學習。</a:t>
            </a:r>
          </a:p>
          <a:p>
            <a:pPr lvl="1"/>
            <a:r>
              <a:rPr lang="en-US" altLang="zh-TW" dirty="0"/>
              <a:t>Arthur Samuel (1959)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如果一個 computer program 在 task T 上的 performance measure P，會隨著 experience E 增加而改善，我們就說它能從 experience E 中學習。</a:t>
            </a:r>
          </a:p>
          <a:p>
            <a:pPr lvl="1"/>
            <a:r>
              <a:rPr lang="en-US" altLang="zh-TW" dirty="0"/>
              <a:t>Tom Mitchell (1997)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7C6CA6F-9678-78BC-7814-74375EA0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FBF410-C3F1-016F-8369-6068CFB4F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1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62D5BA-3AC6-F383-3C6E-99C44B3C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為什麼要使用 ML？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4B677F-EF41-3D7A-2EA0-CAFF6E59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問題複雜，傳統解法也很複雜</a:t>
            </a:r>
          </a:p>
          <a:p>
            <a:pPr lvl="1"/>
            <a:r>
              <a:rPr lang="en-US" altLang="zh-TW" dirty="0"/>
              <a:t>machine learning model 常能簡化程式碼，並比傳統方法表現更好</a:t>
            </a:r>
          </a:p>
          <a:p>
            <a:r>
              <a:rPr lang="en-US" altLang="zh-TW" dirty="0"/>
              <a:t>問題複雜，而且沒有好的傳統解法</a:t>
            </a:r>
          </a:p>
          <a:p>
            <a:r>
              <a:rPr lang="en-US" altLang="zh-TW" dirty="0"/>
              <a:t>環境會變動</a:t>
            </a:r>
          </a:p>
          <a:p>
            <a:pPr lvl="1"/>
            <a:r>
              <a:rPr lang="zh-TW" altLang="en-US" dirty="0"/>
              <a:t>可以自動更新</a:t>
            </a:r>
          </a:p>
          <a:p>
            <a:r>
              <a:rPr lang="en-US" altLang="zh-TW" dirty="0"/>
              <a:t>從資料中取得 insights</a:t>
            </a:r>
          </a:p>
          <a:p>
            <a:pPr lvl="1"/>
            <a:r>
              <a:rPr lang="en-US" altLang="zh-TW" dirty="0"/>
              <a:t>適合複雜問題與大量資料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9D3F8B9-3924-00DB-95C9-88A29611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C3BDBB-6171-A43A-686C-009547EB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6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977266-F330-6DC8-E866-9A4798EC4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Modeling Approaches: </a:t>
            </a:r>
            <a:br>
              <a:rPr lang="en-US" altLang="zh-TW" dirty="0"/>
            </a:br>
            <a:r>
              <a:rPr lang="en-US" altLang="zh-TW" dirty="0"/>
              <a:t>Traditional vs. Machine Learning</a:t>
            </a:r>
            <a:endParaRPr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3DF96E0B-43B3-ADEA-2D9F-52A6355A1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traditional approach</a:t>
            </a:r>
            <a:endParaRPr lang="zh-TW" altLang="en-US" dirty="0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C79D6564-BE4B-51D6-566D-9BB8E0E92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machine learning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DD77921-B5D1-DDA3-194E-4900E46F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5C75CF-1E37-5F13-C660-E9A09A58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6</a:t>
            </a:fld>
            <a:endParaRPr lang="en-US"/>
          </a:p>
        </p:txBody>
      </p:sp>
      <p:pic>
        <p:nvPicPr>
          <p:cNvPr id="12" name="Picture 2" descr="image_002.png">
            <a:extLst>
              <a:ext uri="{FF2B5EF4-FFF2-40B4-BE49-F238E27FC236}">
                <a16:creationId xmlns:a16="http://schemas.microsoft.com/office/drawing/2014/main" id="{42CD08A4-F0E7-CCAD-4C24-515F6DA3269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00800" y="2755106"/>
            <a:ext cx="4762500" cy="2889250"/>
          </a:xfrm>
          <a:prstGeom prst="rect">
            <a:avLst/>
          </a:prstGeom>
        </p:spPr>
      </p:pic>
      <p:pic>
        <p:nvPicPr>
          <p:cNvPr id="13" name="Picture 2" descr="image_001.png">
            <a:extLst>
              <a:ext uri="{FF2B5EF4-FFF2-40B4-BE49-F238E27FC236}">
                <a16:creationId xmlns:a16="http://schemas.microsoft.com/office/drawing/2014/main" id="{68E41AF3-32DD-634F-80EA-2D14B5BD20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66800" y="2761848"/>
            <a:ext cx="4740275" cy="287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4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5BE31BE6-32AB-8FEE-0D92-76F83505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Automatic Adaptation to Data（自動適應資料）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C1CB4656-B6AC-143C-C446-5415D609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F28FF803-6BE7-DCFE-3566-681A495D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2" descr="image_004.png">
            <a:extLst>
              <a:ext uri="{FF2B5EF4-FFF2-40B4-BE49-F238E27FC236}">
                <a16:creationId xmlns:a16="http://schemas.microsoft.com/office/drawing/2014/main" id="{802B627E-D03E-2583-2668-4AD8C4DA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915" y="2612635"/>
            <a:ext cx="4114800" cy="27432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8633484-1EC6-4006-8AE7-E3CFC85F8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79" y="2612635"/>
            <a:ext cx="5196453" cy="254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6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7B7E63-9364-2CE8-9A45-84D85BCDB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ML Applications（ML 應用）</a:t>
            </a:r>
            <a:endParaRPr lang="zh-TW" altLang="en-US" dirty="0"/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94F376E6-3626-0861-6863-498A20E46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C7F2E9A-C162-74FD-4FF5-B22C75E7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D8C4C5-7410-A875-C3CC-EBB2EE47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3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55CDCFD-63E0-6DB2-6374-9B9086DE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B85BD3-9677-5926-70DB-7E4E609D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9</a:t>
            </a:fld>
            <a:endParaRPr lang="en-US"/>
          </a:p>
        </p:txBody>
      </p:sp>
      <p:pic>
        <p:nvPicPr>
          <p:cNvPr id="6" name="圖片 5" descr="一張含有 文字, 螢幕擷取畫面, 瓶子 的圖片&#10;&#10;AI 產生的內容可能不正確。">
            <a:extLst>
              <a:ext uri="{FF2B5EF4-FFF2-40B4-BE49-F238E27FC236}">
                <a16:creationId xmlns:a16="http://schemas.microsoft.com/office/drawing/2014/main" id="{2C96F5E8-49FA-98EA-4FFB-6DEA87DBD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38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D5E832B8-081F-0528-08B3-7D2AD4C7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Medical Imaging（醫學影像）</a:t>
            </a:r>
            <a:endParaRPr lang="zh-TW" altLang="en-US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D3852040-0027-D587-DDEB-BC1F730C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86A5F81-74D4-DBDC-8461-4301652E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10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7E471AF-CD02-EB4A-CB79-5B21ACC8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242" y="1579723"/>
            <a:ext cx="9308405" cy="43762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C5EA389-E8D5-E1C4-82E6-AADF2BA68DD1}"/>
              </a:ext>
            </a:extLst>
          </p:cNvPr>
          <p:cNvSpPr txBox="1"/>
          <p:nvPr/>
        </p:nvSpPr>
        <p:spPr>
          <a:xfrm>
            <a:off x="451021" y="6112475"/>
            <a:ext cx="8454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3"/>
              </a:rPr>
              <a:t>https://www.ilcn.org/artificial-intelligence-in-lung-cancer-opening-new-avenues-for-detection-diagnosis-and-prognostication/</a:t>
            </a:r>
            <a:r>
              <a:rPr lang="zh-TW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6332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25D1AA-F976-5386-742B-3BD163DA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ML 的應用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64D1480-EC7D-6685-00CA-C4074B3D0A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Image Classification</a:t>
            </a:r>
          </a:p>
          <a:p>
            <a:pPr lvl="1"/>
            <a:r>
              <a:rPr lang="en-US" altLang="zh-TW" dirty="0"/>
              <a:t>自動分類產線上的產品，常使用 convolutional neural networks (CNNs) 或 transformers。</a:t>
            </a:r>
          </a:p>
          <a:p>
            <a:r>
              <a:rPr lang="en-US" altLang="zh-TW" dirty="0"/>
              <a:t>Medical Imaging</a:t>
            </a:r>
          </a:p>
          <a:p>
            <a:pPr lvl="1"/>
            <a:r>
              <a:rPr lang="en-US" altLang="zh-TW" dirty="0"/>
              <a:t>透過 semantic image segmentation 在腦部掃描中偵測腫瘤，常使用 CNNs 或 transformers。</a:t>
            </a:r>
          </a:p>
          <a:p>
            <a:r>
              <a:rPr lang="en-US" altLang="zh-TW" dirty="0"/>
              <a:t>Text Classification</a:t>
            </a:r>
          </a:p>
          <a:p>
            <a:pPr lvl="1"/>
            <a:r>
              <a:rPr lang="en-US" altLang="zh-TW" dirty="0"/>
              <a:t>自動分類新聞文章，或標記論壇中的冒犯性留言；常使用 natural language processing (NLP) 技術，例如 recurrent neural networks (RNNs)、CNNs 或 transformers。</a:t>
            </a:r>
          </a:p>
          <a:p>
            <a:r>
              <a:rPr lang="en-US" altLang="zh-TW" dirty="0"/>
              <a:t>Text Summarization</a:t>
            </a:r>
          </a:p>
          <a:p>
            <a:pPr lvl="1"/>
            <a:r>
              <a:rPr lang="en-US" altLang="zh-TW" dirty="0"/>
              <a:t>自動摘要長文件，屬於 NLP 的應用，也可由類似模型處理。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4D83C51-1790-275F-697A-1D207DAA7E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Chatbots 與 Personal Assistants</a:t>
            </a:r>
          </a:p>
          <a:p>
            <a:pPr lvl="1"/>
            <a:r>
              <a:rPr lang="en-US" altLang="zh-TW" dirty="0"/>
              <a:t>建立包含 natural language understanding 與 question-answering modules 的系統。</a:t>
            </a:r>
          </a:p>
          <a:p>
            <a:r>
              <a:rPr lang="en-US" altLang="zh-TW" dirty="0"/>
              <a:t>Speech Recognition</a:t>
            </a:r>
          </a:p>
          <a:p>
            <a:pPr lvl="1"/>
            <a:r>
              <a:rPr lang="en-US" altLang="zh-TW" dirty="0"/>
              <a:t>讓 app 能回應語音指令；可使用能處理複雜 audio sequences 的模型，例如 RNNs、CNNs 或 transformers。</a:t>
            </a:r>
          </a:p>
          <a:p>
            <a:r>
              <a:rPr lang="en-US" altLang="zh-TW" dirty="0"/>
              <a:t>Anomaly Detection（異常偵測）</a:t>
            </a:r>
          </a:p>
          <a:p>
            <a:pPr lvl="1"/>
            <a:r>
              <a:rPr lang="en-US" altLang="zh-TW" dirty="0"/>
              <a:t>偵測信用卡詐欺或製造瑕疵，可使用 isolation forests、Gaussian mixture models 或 autoencoders。</a:t>
            </a:r>
          </a:p>
          <a:p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1B8C310-56BE-E46F-94A8-DB46A8BE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ACF54B-E22C-07AB-FB87-87512E49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14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A9FDA5-4FB3-DFAE-A3F2-6F40082C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ML 的應用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54DE8-78BF-4D8A-C417-A3275D324A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Clustering</a:t>
            </a:r>
          </a:p>
          <a:p>
            <a:pPr lvl="1"/>
            <a:r>
              <a:rPr lang="en-US" altLang="zh-TW" dirty="0"/>
              <a:t>根據購買紀錄分群客戶，以進行 targeted marketing；常使用 k-means 或 DBSCAN。</a:t>
            </a:r>
          </a:p>
          <a:p>
            <a:r>
              <a:rPr lang="en-US" altLang="zh-TW" dirty="0"/>
              <a:t>Data Visualization</a:t>
            </a:r>
          </a:p>
          <a:p>
            <a:pPr lvl="1"/>
            <a:r>
              <a:rPr lang="en-US" altLang="zh-TW" dirty="0"/>
              <a:t>用清楚的圖形呈現 high-dimensional data，常搭配 dimensionality reduction 技術。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EADE84-582D-CB82-E34E-F2463FE660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Forecasting</a:t>
            </a:r>
          </a:p>
          <a:p>
            <a:pPr lvl="1"/>
            <a:r>
              <a:rPr lang="en-US" altLang="zh-TW" dirty="0"/>
              <a:t>根據多種指標預測公司營收；這是 regression task，可使用 linear regression、support vector machines、random forests 或 neural networks。</a:t>
            </a:r>
          </a:p>
          <a:p>
            <a:r>
              <a:rPr lang="en-US" altLang="zh-TW" dirty="0"/>
              <a:t>Reinforcement Learning</a:t>
            </a:r>
          </a:p>
          <a:p>
            <a:pPr lvl="1"/>
            <a:r>
              <a:rPr lang="en-US" altLang="zh-TW" dirty="0"/>
              <a:t>訓練遊戲中的 intelligent bots；agents 會逐步學習如何最大化 rewards，例如 AlphaGo。</a:t>
            </a:r>
          </a:p>
          <a:p>
            <a:r>
              <a:rPr lang="en-US" altLang="zh-TW" dirty="0"/>
              <a:t>Recommender Systems</a:t>
            </a:r>
          </a:p>
          <a:p>
            <a:pPr lvl="1"/>
            <a:r>
              <a:rPr lang="en-US" altLang="zh-TW" dirty="0"/>
              <a:t>根據過去購買紀錄推薦產品，常使用以 purchase sequences 訓練的 neural networks。</a:t>
            </a:r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6A252E-6F9C-D0CF-09EF-56F82BBD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90E669-22D6-B02C-6A03-D08C65F5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8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7B7E63-9364-2CE8-9A45-84D85BCDB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ML Systems 的類型</a:t>
            </a:r>
            <a:endParaRPr lang="zh-TW" altLang="en-US" dirty="0"/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94F376E6-3626-0861-6863-498A20E46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C7F2E9A-C162-74FD-4FF5-B22C75E7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D8C4C5-7410-A875-C3CC-EBB2EE47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71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9775C4-3466-DB1F-6515-E45D95C2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Machine Learning Systems 的分類標準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C40B3E7B-52AA-8DAA-CFAF-37EC4C705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b="1" dirty="0"/>
              <a:t>Training Supervision</a:t>
            </a:r>
          </a:p>
          <a:p>
            <a:pPr lvl="1"/>
            <a:r>
              <a:rPr lang="en-US" altLang="zh-TW" dirty="0"/>
              <a:t>supervised、unsupervised、semisupervised、self-supervised 等</a:t>
            </a:r>
          </a:p>
          <a:p>
            <a:pPr lvl="1"/>
            <a:r>
              <a:rPr lang="en-US" altLang="zh-TW" dirty="0"/>
              <a:t>訓練時 supervision 的來源與方式</a:t>
            </a:r>
          </a:p>
          <a:p>
            <a:r>
              <a:rPr lang="en-US" altLang="zh-TW" b="1" dirty="0"/>
              <a:t>online learning vs. batch learning</a:t>
            </a:r>
          </a:p>
          <a:p>
            <a:pPr lvl="1"/>
            <a:r>
              <a:rPr lang="en-US" altLang="zh-TW" dirty="0"/>
              <a:t>是否能在資料進來時 incremental learning</a:t>
            </a:r>
          </a:p>
          <a:p>
            <a:r>
              <a:rPr lang="en-US" altLang="zh-TW" b="1" dirty="0"/>
              <a:t>instance-based vs. model-based learning</a:t>
            </a:r>
          </a:p>
          <a:p>
            <a:pPr lvl="1"/>
            <a:r>
              <a:rPr lang="en-US" altLang="zh-TW" dirty="0"/>
              <a:t>Comparing new data points to known data points vs. Detecting patterns in the training data and building a predictive model, much like scientists do </a:t>
            </a:r>
          </a:p>
          <a:p>
            <a:pPr lvl="1"/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63075C-A55E-D1E2-1045-6426DFB6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28C6B0-6837-CF22-1853-0CBC849E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85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15E918-B2EC-F75B-DD49-F92932A1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11820"/>
            <a:ext cx="10096500" cy="916004"/>
          </a:xfrm>
        </p:spPr>
        <p:txBody>
          <a:bodyPr/>
          <a:lstStyle/>
          <a:p>
            <a:r>
              <a:rPr lang="en-US" altLang="zh-TW" dirty="0"/>
              <a:t>Training Supervision: Supervised</a:t>
            </a:r>
            <a:endParaRPr lang="zh-TW" altLang="en-US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ED8DA05B-A093-6125-3421-333962460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696407"/>
            <a:ext cx="4739628" cy="582117"/>
          </a:xfrm>
        </p:spPr>
        <p:txBody>
          <a:bodyPr/>
          <a:lstStyle/>
          <a:p>
            <a:r>
              <a:rPr lang="en-US" altLang="zh-TW" dirty="0"/>
              <a:t>classification（分類）</a:t>
            </a:r>
            <a:endParaRPr lang="zh-TW" altLang="en-US" dirty="0"/>
          </a:p>
        </p:txBody>
      </p:sp>
      <p:pic>
        <p:nvPicPr>
          <p:cNvPr id="7" name="Picture 2" descr="image_005.png">
            <a:extLst>
              <a:ext uri="{FF2B5EF4-FFF2-40B4-BE49-F238E27FC236}">
                <a16:creationId xmlns:a16="http://schemas.microsoft.com/office/drawing/2014/main" id="{A38AE796-AE53-FFAE-03B7-CA55B97FD1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6800" y="3027864"/>
            <a:ext cx="4740275" cy="1978610"/>
          </a:xfrm>
        </p:spPr>
      </p:pic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F30EE30A-1710-0A8D-4DAC-425D8859C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696407"/>
            <a:ext cx="4762970" cy="582117"/>
          </a:xfrm>
        </p:spPr>
        <p:txBody>
          <a:bodyPr/>
          <a:lstStyle/>
          <a:p>
            <a:r>
              <a:rPr lang="en-US" altLang="zh-TW" dirty="0"/>
              <a:t>regression（迴歸）</a:t>
            </a:r>
            <a:endParaRPr lang="zh-TW" altLang="en-US" dirty="0"/>
          </a:p>
        </p:txBody>
      </p:sp>
      <p:pic>
        <p:nvPicPr>
          <p:cNvPr id="8" name="Picture 2" descr="image_007.png">
            <a:extLst>
              <a:ext uri="{FF2B5EF4-FFF2-40B4-BE49-F238E27FC236}">
                <a16:creationId xmlns:a16="http://schemas.microsoft.com/office/drawing/2014/main" id="{CEF5F020-5D01-D88B-0B28-1DACA9E9C26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00800" y="2848646"/>
            <a:ext cx="4762500" cy="2337045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013E94-D321-952F-2AC1-B5E77EB4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79A1AB-53B5-1928-07C9-6ED948A8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fld id="{5A33CB2A-1702-4C1D-9CC4-8D472D39F19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84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6664D-7275-60E4-F5F4-38729FF9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Supervision: Unsupervised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EDB5B4-37CE-F1D5-6F5A-2CE6D77B1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unlabeled dataset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3AA42DB-0FEE-5B86-7EB7-68C4775F9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clustering（分群）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D8980477-BF38-9F21-56C6-64B6E11A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94FC11D-8103-92F7-7BEA-F7B05B63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16</a:t>
            </a:fld>
            <a:endParaRPr lang="en-US"/>
          </a:p>
        </p:txBody>
      </p:sp>
      <p:pic>
        <p:nvPicPr>
          <p:cNvPr id="9" name="Picture 2" descr="image_008.png">
            <a:extLst>
              <a:ext uri="{FF2B5EF4-FFF2-40B4-BE49-F238E27FC236}">
                <a16:creationId xmlns:a16="http://schemas.microsoft.com/office/drawing/2014/main" id="{89BFAB22-B6D7-6464-854E-22382920F1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6800" y="2543840"/>
            <a:ext cx="4740275" cy="2946657"/>
          </a:xfrm>
          <a:prstGeom prst="rect">
            <a:avLst/>
          </a:prstGeom>
        </p:spPr>
      </p:pic>
      <p:pic>
        <p:nvPicPr>
          <p:cNvPr id="10" name="Picture 2" descr="image_009.png">
            <a:extLst>
              <a:ext uri="{FF2B5EF4-FFF2-40B4-BE49-F238E27FC236}">
                <a16:creationId xmlns:a16="http://schemas.microsoft.com/office/drawing/2014/main" id="{1FA3B26D-BC88-9A00-9BAD-E5274DC2D71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00800" y="2874094"/>
            <a:ext cx="4762500" cy="22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23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CFF52806-9586-653A-74C7-C947C1F5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Visualization: t-SNE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1621853F-4E58-8F1E-BA21-6EEBC244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D440D3DD-5F52-A3FB-0471-86522F34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2" descr="image_011.png">
            <a:extLst>
              <a:ext uri="{FF2B5EF4-FFF2-40B4-BE49-F238E27FC236}">
                <a16:creationId xmlns:a16="http://schemas.microsoft.com/office/drawing/2014/main" id="{0F3AA5E9-CF57-07A8-29FD-29771FD31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2448" y="1590675"/>
            <a:ext cx="6729903" cy="44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95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455854-100E-B182-74CF-71628812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Anomaly Detection（異常偵測）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F14F453-9B19-893A-BB0A-645926EF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380B87-22EB-FF07-6293-51FBF6B3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2" descr="image_012.png">
            <a:extLst>
              <a:ext uri="{FF2B5EF4-FFF2-40B4-BE49-F238E27FC236}">
                <a16:creationId xmlns:a16="http://schemas.microsoft.com/office/drawing/2014/main" id="{51EF68B8-F7BB-119B-BD09-86C7A01D3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037" y="1590675"/>
            <a:ext cx="9682726" cy="44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35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59CEC-19DD-FCB5-0A5A-83E1DBF3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 descr="一張含有 文字, 螢幕擷取畫面, 水果, 圖表 的圖片&#10;&#10;AI 產生的內容可能不正確。">
            <a:extLst>
              <a:ext uri="{FF2B5EF4-FFF2-40B4-BE49-F238E27FC236}">
                <a16:creationId xmlns:a16="http://schemas.microsoft.com/office/drawing/2014/main" id="{BF4AFC7F-2AA9-F75A-A495-B37BE255B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75" y="1590675"/>
            <a:ext cx="8827649" cy="4433888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2D17AAA-2DFB-49A4-3D77-660C9C359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CC5E62-4315-659E-D308-7FD0A53A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69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F03BC8-23BD-A1C5-8933-B01ABAE8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Self-supervised Learning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F3F2A2-BE0D-17C3-EA28-89FDF27D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383CC3-E357-0688-6528-EBFE1368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2" descr="image_014.png">
            <a:extLst>
              <a:ext uri="{FF2B5EF4-FFF2-40B4-BE49-F238E27FC236}">
                <a16:creationId xmlns:a16="http://schemas.microsoft.com/office/drawing/2014/main" id="{C8674CF7-90CA-3539-CF54-A4E31B8FF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61311" y="1590675"/>
            <a:ext cx="8812178" cy="44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44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F90F99-E808-5517-20D2-FE780430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Reinforcement Learning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03F0B2-BD8D-777E-1C4E-C2DB6697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7734A36-F088-2142-364A-22E402F9B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2" descr="image_016.png">
            <a:extLst>
              <a:ext uri="{FF2B5EF4-FFF2-40B4-BE49-F238E27FC236}">
                <a16:creationId xmlns:a16="http://schemas.microsoft.com/office/drawing/2014/main" id="{067A66DF-52DA-0949-A321-AD74674D0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0898" y="1498389"/>
            <a:ext cx="6092475" cy="51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20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473332-6352-8166-DE31-78930864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Generalization（泛化）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F3ACE-F09E-3454-5C6D-AA914F916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多數 machine learning tasks 的核心是做 predictions。</a:t>
            </a:r>
          </a:p>
          <a:p>
            <a:pPr lvl="1"/>
            <a:r>
              <a:rPr lang="en-US" altLang="zh-TW" b="1" dirty="0"/>
              <a:t>Generalization（泛化）</a:t>
            </a:r>
          </a:p>
          <a:p>
            <a:pPr lvl="2"/>
            <a:r>
              <a:rPr lang="en-US" altLang="zh-TW" dirty="0"/>
              <a:t>給定一些 training examples，目標是對從未看過的新 examples 做出好 predictions。</a:t>
            </a:r>
          </a:p>
          <a:p>
            <a:r>
              <a:rPr lang="en-US" altLang="zh-TW" dirty="0"/>
              <a:t>training data 上表現好是必要的，但仍然不夠。</a:t>
            </a:r>
          </a:p>
          <a:p>
            <a:r>
              <a:rPr lang="en-US" altLang="zh-TW" dirty="0"/>
              <a:t>真正目標</a:t>
            </a:r>
          </a:p>
          <a:p>
            <a:pPr lvl="1"/>
            <a:r>
              <a:rPr lang="en-US" altLang="zh-TW" dirty="0"/>
              <a:t>在 new instances 上也能表現好。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51FD76-F6F0-0D1D-F051-56EDB265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07EC90-D63E-6631-9EA6-B8A29874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3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DDE1C5-0E76-9425-A7BA-28CDA03C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Instance-based vs. Model-based Learning</a:t>
            </a:r>
            <a:endParaRPr lang="zh-TW" altLang="en-US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0447490A-2B39-BDA6-CF32-A0A5864C4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instance-based</a:t>
            </a:r>
            <a:endParaRPr lang="zh-TW" altLang="en-US" dirty="0"/>
          </a:p>
        </p:txBody>
      </p:sp>
      <p:pic>
        <p:nvPicPr>
          <p:cNvPr id="8" name="Picture 2" descr="image_021.png">
            <a:extLst>
              <a:ext uri="{FF2B5EF4-FFF2-40B4-BE49-F238E27FC236}">
                <a16:creationId xmlns:a16="http://schemas.microsoft.com/office/drawing/2014/main" id="{51372A55-BCD6-3F93-BF94-5974C90391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4414" y="2931842"/>
            <a:ext cx="5522661" cy="2528921"/>
          </a:xfrm>
          <a:prstGeom prst="rect">
            <a:avLst/>
          </a:prstGeom>
        </p:spPr>
      </p:pic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F04C8BE9-6DE1-9C18-1E0B-EDA43F632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model-based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E91D35C-3738-05E2-8A5D-90398D20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309AE8-A023-F872-8F2A-2558C6CF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23</a:t>
            </a:fld>
            <a:endParaRPr lang="en-US"/>
          </a:p>
        </p:txBody>
      </p:sp>
      <p:pic>
        <p:nvPicPr>
          <p:cNvPr id="12" name="Picture 2" descr="image_022.png">
            <a:extLst>
              <a:ext uri="{FF2B5EF4-FFF2-40B4-BE49-F238E27FC236}">
                <a16:creationId xmlns:a16="http://schemas.microsoft.com/office/drawing/2014/main" id="{85D4A2DC-1684-7129-E93C-8A2473D93F0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84927" y="2761380"/>
            <a:ext cx="5700512" cy="269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78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452BB-3BE7-5A74-D2F2-86A39CDA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範例：錢會讓人更快樂嗎？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C9D51983-6334-FC94-675A-B3E978D1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9AD73BE-8467-532B-B4D4-1D0B7CB0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24</a:t>
            </a:fld>
            <a:endParaRPr lang="en-US"/>
          </a:p>
        </p:txBody>
      </p:sp>
      <p:pic>
        <p:nvPicPr>
          <p:cNvPr id="10" name="Picture 2" descr="image_023.png">
            <a:extLst>
              <a:ext uri="{FF2B5EF4-FFF2-40B4-BE49-F238E27FC236}">
                <a16:creationId xmlns:a16="http://schemas.microsoft.com/office/drawing/2014/main" id="{134133F6-D4E0-048B-B74E-D67800063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036" y="1993530"/>
            <a:ext cx="6107404" cy="344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09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452BB-3BE7-5A74-D2F2-86A39CDA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Possible Models（可能模型）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C9D51983-6334-FC94-675A-B3E978D1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9AD73BE-8467-532B-B4D4-1D0B7CB0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25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E80C9BA-C6B9-A2F3-72E8-E94FA5AD8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1717" y="1526536"/>
            <a:ext cx="7476673" cy="4227506"/>
          </a:xfr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DBF1B2C-FBEA-FD2E-5A26-9D6B50A03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216" y="5979728"/>
            <a:ext cx="6412503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14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F661CD-24C9-A8A6-848E-12A48EE6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Best-fit Model（最佳配適模型）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0ACC320-163C-662B-6EFC-C4C9B607C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457" y="1711821"/>
            <a:ext cx="7325533" cy="4142048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5DD747-C816-D7CF-5750-1150124B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843B98-9C5C-1394-FB36-5F295528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40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5072BC-7660-B30F-2176-B4390A26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sklearn 的 model-based learning 範例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C0009B05-D32D-7896-E959-3900885A15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1630" y="2280080"/>
            <a:ext cx="5820022" cy="2514111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E016C9D8-06A5-BF16-A8D9-E099EFF662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90008" y="2779590"/>
            <a:ext cx="5461656" cy="2109882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AF01256-8AD6-D89D-F8ED-771E78E5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E65FD1-ED1D-8119-1338-83968FE4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81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32484B-EA77-9534-4AF3-F383A6DD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Instance-based Learning 範例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B8D762-3C63-7BE6-536B-6FC569398E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Israel 的 GDP per capita 最接近 Cyprus ($38,341)。</a:t>
            </a:r>
          </a:p>
          <a:p>
            <a:pPr lvl="1"/>
            <a:r>
              <a:rPr lang="en-US" altLang="zh-TW" dirty="0"/>
              <a:t>Israel 的 life satisfaction（OECD data）是 7.2。</a:t>
            </a:r>
          </a:p>
          <a:p>
            <a:pPr lvl="1"/>
            <a:r>
              <a:rPr lang="en-US" altLang="zh-TW" dirty="0"/>
              <a:t>因此，模型會預測 Cyprus 為 7.2。</a:t>
            </a:r>
          </a:p>
          <a:p>
            <a:r>
              <a:rPr lang="en-US" altLang="zh-TW" dirty="0"/>
              <a:t>若再看下一批最接近的國家：</a:t>
            </a:r>
          </a:p>
          <a:p>
            <a:pPr lvl="1"/>
            <a:r>
              <a:rPr lang="en-US" altLang="zh-TW" dirty="0"/>
              <a:t>Lithuania 與 Slovenia 的 life satisfaction 都是 5.9。</a:t>
            </a:r>
          </a:p>
          <a:p>
            <a:pPr lvl="1"/>
            <a:r>
              <a:rPr lang="en-US" altLang="zh-TW" dirty="0"/>
              <a:t>取三個最近 neighbors 的平均：</a:t>
            </a:r>
          </a:p>
          <a:p>
            <a:pPr lvl="1"/>
            <a:r>
              <a:rPr lang="en-US" altLang="zh-TW" dirty="0"/>
              <a:t>(7.2 + 5.9 + 5.9) / 3 = 6.33</a:t>
            </a:r>
          </a:p>
          <a:p>
            <a:r>
              <a:rPr lang="en-US" altLang="zh-TW" dirty="0"/>
              <a:t>k-nearest neighbors regression</a:t>
            </a:r>
          </a:p>
          <a:p>
            <a:pPr lvl="1"/>
            <a:r>
              <a:rPr lang="en-US" altLang="zh-TW" dirty="0"/>
              <a:t>此例中 k = 3。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802703-BA3A-0133-2528-395CA342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15ADD8-DF7A-4B02-2429-0EF788EB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28</a:t>
            </a:fld>
            <a:endParaRPr lang="en-US"/>
          </a:p>
        </p:txBody>
      </p:sp>
      <p:pic>
        <p:nvPicPr>
          <p:cNvPr id="13" name="內容版面配置區 12" descr="一張含有 文字, 螢幕擷取畫面, 字型, 鮮豔 的圖片&#10;&#10;AI 產生的內容可能不正確。">
            <a:extLst>
              <a:ext uri="{FF2B5EF4-FFF2-40B4-BE49-F238E27FC236}">
                <a16:creationId xmlns:a16="http://schemas.microsoft.com/office/drawing/2014/main" id="{EED61B76-993A-623E-2214-34FE4C8842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862" y="1363556"/>
            <a:ext cx="5178425" cy="4429344"/>
          </a:xfrm>
        </p:spPr>
      </p:pic>
    </p:spTree>
    <p:extLst>
      <p:ext uri="{BB962C8B-B14F-4D97-AF65-F5344CB8AC3E}">
        <p14:creationId xmlns:p14="http://schemas.microsoft.com/office/powerpoint/2010/main" val="674170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11BE14-8992-0025-0EE4-43DF11FB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測試模型之後...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F314C10-F10C-9C98-6994-4AAD6512A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如果模型表現良好，</a:t>
            </a:r>
          </a:p>
          <a:p>
            <a:pPr lvl="1"/>
            <a:r>
              <a:rPr lang="en-US" altLang="zh-TW" dirty="0"/>
              <a:t>它就能做出較準確的 predictions。</a:t>
            </a:r>
          </a:p>
          <a:p>
            <a:endParaRPr lang="en-US" altLang="zh-TW" dirty="0"/>
          </a:p>
          <a:p>
            <a:r>
              <a:rPr lang="en-US" altLang="zh-TW" dirty="0"/>
              <a:t>如果模型表現不好</a:t>
            </a:r>
          </a:p>
          <a:p>
            <a:pPr lvl="1"/>
            <a:r>
              <a:rPr lang="en-US" altLang="zh-TW" dirty="0"/>
              <a:t>使用更相關的 attributes（例如 employment rate、health、air pollution）。</a:t>
            </a:r>
          </a:p>
          <a:p>
            <a:pPr lvl="1"/>
            <a:r>
              <a:rPr lang="en-US" altLang="zh-TW" dirty="0"/>
              <a:t>取得更多或品質更高的 training data。</a:t>
            </a:r>
          </a:p>
          <a:p>
            <a:pPr lvl="1"/>
            <a:r>
              <a:rPr lang="en-US" altLang="zh-TW" dirty="0"/>
              <a:t>選擇更強的 model（例如 polynomial regression）。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E68BD4-C121-15C6-8FFD-83917893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82DD7E-76AF-347E-EFAC-E4A8CEB8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49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C0021-7A14-A9EA-A169-34921076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ML Project 的典型流程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A79923-2D05-B467-A084-6AFC868B4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你先理解資料。</a:t>
            </a:r>
          </a:p>
          <a:p>
            <a:r>
              <a:rPr lang="en-US" altLang="zh-TW" dirty="0"/>
              <a:t>你選擇一個 model。</a:t>
            </a:r>
          </a:p>
          <a:p>
            <a:r>
              <a:rPr lang="en-US" altLang="zh-TW" dirty="0"/>
              <a:t>你用 training data 訓練它；也就是 learning algorithm 會搜尋能讓 cost function 最小化的 model parameter values。</a:t>
            </a:r>
          </a:p>
          <a:p>
            <a:r>
              <a:rPr lang="en-US" altLang="zh-TW" dirty="0"/>
              <a:t>最後，你把 model 用在 new cases 上產生 predictions；這稱為 inference，目標是讓 model 能良好 generalize。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AD2AB9-4641-AEE0-6CF0-C9485A28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CBD4BF2-A526-7E98-F240-54154DF5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08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7B7E63-9364-2CE8-9A45-84D85BCDB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Testing and Validating</a:t>
            </a:r>
            <a:endParaRPr lang="zh-TW" altLang="en-US" dirty="0"/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94F376E6-3626-0861-6863-498A20E46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C7F2E9A-C162-74FD-4FF5-B22C75E7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D8C4C5-7410-A875-C3CC-EBB2EE47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25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F21BFC-0D1D-0C79-5939-C76FCDE9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Generalization Error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20C997-410E-1E28-92BD-B665E94D9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訓練好的 model 可能在 new data 上表現不好。</a:t>
            </a:r>
          </a:p>
          <a:p>
            <a:r>
              <a:rPr lang="en-US" altLang="zh-TW" dirty="0"/>
              <a:t>切分 training data</a:t>
            </a:r>
          </a:p>
          <a:p>
            <a:pPr lvl="1"/>
            <a:r>
              <a:rPr lang="en-US" altLang="zh-TW" dirty="0"/>
              <a:t>training set</a:t>
            </a:r>
          </a:p>
          <a:p>
            <a:pPr lvl="2"/>
            <a:r>
              <a:rPr lang="en-US" altLang="zh-TW" dirty="0"/>
              <a:t>用來訓練 model 的資料</a:t>
            </a:r>
          </a:p>
          <a:p>
            <a:pPr lvl="3"/>
            <a:r>
              <a:rPr lang="en-US" altLang="zh-TW" dirty="0"/>
              <a:t>training error</a:t>
            </a:r>
          </a:p>
          <a:p>
            <a:pPr lvl="1"/>
            <a:r>
              <a:rPr lang="en-US" altLang="zh-TW" dirty="0"/>
              <a:t>testing set</a:t>
            </a:r>
          </a:p>
          <a:p>
            <a:pPr lvl="2"/>
            <a:r>
              <a:rPr lang="en-US" altLang="zh-TW" dirty="0"/>
              <a:t>用來測試 trained model 的資料</a:t>
            </a:r>
          </a:p>
          <a:p>
            <a:pPr lvl="3"/>
            <a:r>
              <a:rPr lang="en-US" altLang="zh-TW" b="1" dirty="0"/>
              <a:t>generalization error 或 out-of-sample error</a:t>
            </a:r>
          </a:p>
          <a:p>
            <a:r>
              <a:rPr lang="en-US" altLang="zh-TW" dirty="0"/>
              <a:t>training error 低，但 generalization error 高</a:t>
            </a:r>
          </a:p>
          <a:p>
            <a:pPr lvl="1"/>
            <a:r>
              <a:rPr lang="en-US" altLang="zh-TW" dirty="0"/>
              <a:t>model 發生 overfitting。</a:t>
            </a:r>
          </a:p>
          <a:p>
            <a:endParaRPr lang="zh-TW" altLang="en-US" b="1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BA06C9-EA29-2186-0D1B-3720D188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1D2C29-92D5-72B1-1F6E-1E6EF4F0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95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EFCB4-2502-3824-2C3C-88B542D3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9689506" cy="95366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Hyperparameter Tuning 與 Model Selection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207AA7-2287-19E2-B998-BD23F1446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如何決定 regularization parameter 的適當值？</a:t>
            </a:r>
          </a:p>
          <a:p>
            <a:pPr lvl="1"/>
            <a:r>
              <a:rPr lang="en-US" altLang="zh-TW" dirty="0"/>
              <a:t>只把資料切成 training set 與 test set 的問題</a:t>
            </a:r>
          </a:p>
          <a:p>
            <a:pPr lvl="2"/>
            <a:r>
              <a:rPr lang="en-US" altLang="zh-TW" dirty="0"/>
              <a:t>hyperparameters 可能被 training set「套住」</a:t>
            </a:r>
          </a:p>
          <a:p>
            <a:endParaRPr lang="en-US" altLang="zh-TW" dirty="0"/>
          </a:p>
          <a:p>
            <a:r>
              <a:rPr lang="en-US" altLang="zh-TW" dirty="0"/>
              <a:t>holdout validation</a:t>
            </a:r>
          </a:p>
          <a:p>
            <a:pPr lvl="2"/>
            <a:r>
              <a:rPr lang="en-US" altLang="zh-TW" dirty="0"/>
              <a:t>從 training set 保留一部分，用來評估多個 candidate models 並選出最佳模型。</a:t>
            </a:r>
          </a:p>
          <a:p>
            <a:pPr lvl="3"/>
            <a:r>
              <a:rPr lang="en-US" altLang="zh-TW" dirty="0"/>
              <a:t>validation set、development set，或 dev set</a:t>
            </a:r>
          </a:p>
          <a:p>
            <a:pPr lvl="2"/>
            <a:r>
              <a:rPr lang="en-US" altLang="zh-TW" dirty="0"/>
              <a:t>在縮小後的 training set 上，用不同 hyperparameters 訓練多個 models。</a:t>
            </a:r>
          </a:p>
          <a:p>
            <a:pPr lvl="2"/>
            <a:r>
              <a:rPr lang="en-US" altLang="zh-TW" dirty="0"/>
              <a:t>選出最符合 validation set 的 model。</a:t>
            </a:r>
          </a:p>
          <a:p>
            <a:pPr lvl="2"/>
            <a:r>
              <a:rPr lang="en-US" altLang="zh-TW" dirty="0"/>
              <a:t>用完整 training set（包含 validation set）重新訓練最佳 model。</a:t>
            </a:r>
          </a:p>
          <a:p>
            <a:pPr lvl="2"/>
            <a:r>
              <a:rPr lang="en-US" altLang="zh-TW" dirty="0"/>
              <a:t>最後在 test set 上評估此 final model，以估計 generalization error。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3DA42F7-C918-3DDB-173D-CCD0BAA8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FEFD8F-B277-3F23-2F41-975B78AB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034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5022124-DDE6-4718-8DF1-AC72BE2E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Hold-out Validation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31D1084-7551-174E-4668-85C81A9B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C53046-AEEF-A7B0-882E-8F55541E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2" descr="image_034.png">
            <a:extLst>
              <a:ext uri="{FF2B5EF4-FFF2-40B4-BE49-F238E27FC236}">
                <a16:creationId xmlns:a16="http://schemas.microsoft.com/office/drawing/2014/main" id="{E93FE6B3-6139-B3E5-8A0D-DE11A79799B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563869" y="1884558"/>
            <a:ext cx="8924925" cy="44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91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DC6FAD-7CEC-7602-0341-9FBC31E5A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3" y="347181"/>
            <a:ext cx="10490695" cy="953669"/>
          </a:xfrm>
        </p:spPr>
        <p:txBody>
          <a:bodyPr>
            <a:normAutofit/>
          </a:bodyPr>
          <a:lstStyle/>
          <a:p>
            <a:r>
              <a:rPr lang="en-US" altLang="zh-TW" dirty="0"/>
              <a:t>單一 Validation Set 的潛在問題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7FF3BFC-64B9-80B5-AFEB-6491E8306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validation set 的大小</a:t>
            </a:r>
          </a:p>
          <a:p>
            <a:pPr lvl="1"/>
            <a:r>
              <a:rPr lang="en-US" altLang="zh-TW" dirty="0"/>
              <a:t>太小：model evaluation 不精確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太大：training model 與 final model 之間差異過大</a:t>
            </a:r>
          </a:p>
          <a:p>
            <a:r>
              <a:rPr lang="en-US" altLang="zh-TW" b="1" dirty="0">
                <a:sym typeface="Wingdings" panose="05000000000000000000" pitchFamily="2" charset="2"/>
              </a:rPr>
              <a:t>cross-validation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使用多個小型 validation sets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每個 model 在其餘資料訓練後，於每個 validation set 上評估一次。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將所有評估結果平均，得到較準確的 performance measure。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A55D8D-E683-400C-9195-3440AF3C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0A0983-58AC-E04C-3899-6FA97EDF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747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B81D60E-EA28-24E3-6F1B-F3C79D0A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978E45-36DF-993B-E4C4-888F3BF4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36</a:t>
            </a:fld>
            <a:endParaRPr 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C406120-FDB9-FF28-21AA-CCE04BF0EA9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83611" y="3429000"/>
            <a:ext cx="3922520" cy="1540990"/>
          </a:xfr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70D9D48-445A-A364-DFDC-7A7294D0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81" y="1084748"/>
            <a:ext cx="3995933" cy="167437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FB5B74D-DE2F-4F63-85EB-5005FBFA0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325" y="1084748"/>
            <a:ext cx="7422675" cy="483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68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E828FE-41D6-4CC6-6B91-8D0AFE95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Mismatch（資料不匹配）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07B731-6793-39EC-029C-1C01D4C9A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training data 可能無法代表 production 中實際遇到的資料。</a:t>
            </a:r>
          </a:p>
          <a:p>
            <a:r>
              <a:rPr lang="en-US" altLang="zh-TW" b="1" dirty="0"/>
              <a:t>原則：</a:t>
            </a:r>
          </a:p>
          <a:p>
            <a:pPr lvl="1"/>
            <a:r>
              <a:rPr lang="en-US" altLang="zh-TW" dirty="0"/>
              <a:t>validation set 與 test set 都必須盡可能具代表性。</a:t>
            </a:r>
          </a:p>
          <a:p>
            <a:pPr lvl="1"/>
            <a:r>
              <a:rPr lang="en-US" altLang="zh-TW" dirty="0"/>
              <a:t>表現不好</a:t>
            </a:r>
          </a:p>
          <a:p>
            <a:pPr lvl="2"/>
            <a:r>
              <a:rPr lang="en-US" altLang="zh-TW" dirty="0"/>
              <a:t>bad data</a:t>
            </a:r>
          </a:p>
          <a:p>
            <a:pPr lvl="2"/>
            <a:r>
              <a:rPr lang="en-US" altLang="zh-TW" dirty="0"/>
              <a:t>bad model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81BE5EC-57A2-68F7-C19C-6095B3C3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E84F4B-A8D7-72B8-BF4C-C1DA564A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82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7EFF76-EA4F-2AD2-E557-D130B87D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保留部分 training data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2BB345F-8660-6AED-B7B2-6859D8A2B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644" y="1737558"/>
            <a:ext cx="10350258" cy="2825733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A7EFCC1-6A58-754C-DB28-9587E6EC9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682F7E-D52F-C5C7-4415-B4D7C254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38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8FFBD77-5DFB-B894-C034-784789B5DE95}"/>
              </a:ext>
            </a:extLst>
          </p:cNvPr>
          <p:cNvSpPr txBox="1"/>
          <p:nvPr/>
        </p:nvSpPr>
        <p:spPr>
          <a:xfrm>
            <a:off x="4499652" y="4564120"/>
            <a:ext cx="31926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表現不佳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zh-TW" dirty="0">
                <a:sym typeface="Wingdings" panose="05000000000000000000" pitchFamily="2" charset="2"/>
              </a:rPr>
              <a:t>overfit：</a:t>
            </a:r>
          </a:p>
          <a:p>
            <a:pPr marL="285750" indent="-285750">
              <a:buFontTx/>
              <a:buChar char="-"/>
            </a:pPr>
            <a:r>
              <a:rPr lang="en-US" altLang="zh-TW" dirty="0">
                <a:sym typeface="Wingdings" panose="05000000000000000000" pitchFamily="2" charset="2"/>
              </a:rPr>
              <a:t>簡化或 regularize model</a:t>
            </a:r>
          </a:p>
          <a:p>
            <a:pPr marL="285750" indent="-285750">
              <a:buFontTx/>
              <a:buChar char="-"/>
            </a:pPr>
            <a:r>
              <a:rPr lang="en-US" altLang="zh-TW" dirty="0">
                <a:sym typeface="Wingdings" panose="05000000000000000000" pitchFamily="2" charset="2"/>
              </a:rPr>
              <a:t>取得更多資料</a:t>
            </a:r>
          </a:p>
          <a:p>
            <a:pPr marL="285750" indent="-285750">
              <a:buFontTx/>
              <a:buChar char="-"/>
            </a:pPr>
            <a:r>
              <a:rPr lang="en-US" altLang="zh-TW" dirty="0">
                <a:sym typeface="Wingdings" panose="05000000000000000000" pitchFamily="2" charset="2"/>
              </a:rPr>
              <a:t>清理資料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DF22820-87D8-C265-372F-72137C48083E}"/>
              </a:ext>
            </a:extLst>
          </p:cNvPr>
          <p:cNvSpPr txBox="1"/>
          <p:nvPr/>
        </p:nvSpPr>
        <p:spPr>
          <a:xfrm>
            <a:off x="7342999" y="4563291"/>
            <a:ext cx="2304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表現不佳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zh-TW" dirty="0">
                <a:sym typeface="Wingdings" panose="05000000000000000000" pitchFamily="2" charset="2"/>
              </a:rPr>
              <a:t>data mismatch</a:t>
            </a:r>
          </a:p>
        </p:txBody>
      </p:sp>
    </p:spTree>
    <p:extLst>
      <p:ext uri="{BB962C8B-B14F-4D97-AF65-F5344CB8AC3E}">
        <p14:creationId xmlns:p14="http://schemas.microsoft.com/office/powerpoint/2010/main" val="34423439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3.0.5724"/>
  <p:tag name="SLIDO_PRESENTATION_ID" val="3503345f-5125-4760-823f-2e8e2a60e9a1"/>
  <p:tag name="SLIDO_EVENT_UUID" val="9f01878d-775c-475b-a82f-25ec57480eb1"/>
  <p:tag name="SLIDO_EVENT_SECTION_UUID" val="fc18856c-4aaa-4964-b06c-794514368f9e"/>
</p:tagLst>
</file>

<file path=ppt/theme/theme1.xml><?xml version="1.0" encoding="utf-8"?>
<a:theme xmlns:a="http://schemas.openxmlformats.org/drawingml/2006/main" name="Swell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7"/>
      </a:lt2>
      <a:accent1>
        <a:srgbClr val="7DAD88"/>
      </a:accent1>
      <a:accent2>
        <a:srgbClr val="6FAC96"/>
      </a:accent2>
      <a:accent3>
        <a:srgbClr val="7DA9AC"/>
      </a:accent3>
      <a:accent4>
        <a:srgbClr val="7B9EBE"/>
      </a:accent4>
      <a:accent5>
        <a:srgbClr val="9399CA"/>
      </a:accent5>
      <a:accent6>
        <a:srgbClr val="8F7BBE"/>
      </a:accent6>
      <a:hlink>
        <a:srgbClr val="AE699F"/>
      </a:hlink>
      <a:folHlink>
        <a:srgbClr val="7F7F7F"/>
      </a:folHlink>
    </a:clrScheme>
    <a:fontScheme name="自訂 6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B60585-45DD-4756-8BFA-050389CF340D}">
  <we:reference id="wa200004052" version="1.0.0.2" store="zh-TW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documentclass{article}\n\\usepackage{amsmath}\n\\begin{document}\n\n\n\\begin{aligned}\n&amp; \\mathrm{H}_0: \\mu = 30 \\\\\n&amp; \\mathrm{H}_1: \\mu \\neq 30\n\\end{aligned}\n\n\n\\end{document}\n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8506</TotalTime>
  <Words>1540</Words>
  <Application>Microsoft Office PowerPoint</Application>
  <PresentationFormat>寬螢幕</PresentationFormat>
  <Paragraphs>240</Paragraphs>
  <Slides>38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6" baseType="lpstr">
      <vt:lpstr>MinionPro-It</vt:lpstr>
      <vt:lpstr>MinionPro-Regular</vt:lpstr>
      <vt:lpstr>微軟正黑體</vt:lpstr>
      <vt:lpstr>Aptos</vt:lpstr>
      <vt:lpstr>Arial</vt:lpstr>
      <vt:lpstr>Neue Haas Grotesk Text Pro</vt:lpstr>
      <vt:lpstr>Wingdings</vt:lpstr>
      <vt:lpstr>SwellVTI</vt:lpstr>
      <vt:lpstr>Machine Learning Overview</vt:lpstr>
      <vt:lpstr>Textbook &amp; Materials（教材與資源）</vt:lpstr>
      <vt:lpstr>The Machine Learning Landscape（機器學習全貌）</vt:lpstr>
      <vt:lpstr>什麼是 Machine Learning (ML)？</vt:lpstr>
      <vt:lpstr>為什麼要使用 ML？</vt:lpstr>
      <vt:lpstr>Modeling Approaches:  Traditional vs. Machine Learning</vt:lpstr>
      <vt:lpstr>Automatic Adaptation to Data（自動適應資料）</vt:lpstr>
      <vt:lpstr>ML Applications（ML 應用）</vt:lpstr>
      <vt:lpstr>PowerPoint 簡報</vt:lpstr>
      <vt:lpstr>Medical Imaging（醫學影像）</vt:lpstr>
      <vt:lpstr>ML 的應用</vt:lpstr>
      <vt:lpstr>ML 的應用</vt:lpstr>
      <vt:lpstr>ML Systems 的類型</vt:lpstr>
      <vt:lpstr>Machine Learning Systems 的分類標準</vt:lpstr>
      <vt:lpstr>Training Supervision: Supervised</vt:lpstr>
      <vt:lpstr>Training Supervision: Unsupervised</vt:lpstr>
      <vt:lpstr>Visualization: t-SNE</vt:lpstr>
      <vt:lpstr>Anomaly Detection（異常偵測）</vt:lpstr>
      <vt:lpstr>PowerPoint 簡報</vt:lpstr>
      <vt:lpstr>Self-supervised Learning</vt:lpstr>
      <vt:lpstr>Reinforcement Learning</vt:lpstr>
      <vt:lpstr>Generalization（泛化）</vt:lpstr>
      <vt:lpstr>Instance-based vs. Model-based Learning</vt:lpstr>
      <vt:lpstr>範例：錢會讓人更快樂嗎？</vt:lpstr>
      <vt:lpstr>Possible Models（可能模型）</vt:lpstr>
      <vt:lpstr>Best-fit Model（最佳配適模型）</vt:lpstr>
      <vt:lpstr>sklearn 的 model-based learning 範例</vt:lpstr>
      <vt:lpstr>Instance-based Learning 範例</vt:lpstr>
      <vt:lpstr>測試模型之後...</vt:lpstr>
      <vt:lpstr>ML Project 的典型流程</vt:lpstr>
      <vt:lpstr>Testing and Validating</vt:lpstr>
      <vt:lpstr>Generalization Error</vt:lpstr>
      <vt:lpstr>Hyperparameter Tuning 與 Model Selection</vt:lpstr>
      <vt:lpstr>Hold-out Validation</vt:lpstr>
      <vt:lpstr>單一 Validation Set 的潛在問題</vt:lpstr>
      <vt:lpstr>PowerPoint 簡報</vt:lpstr>
      <vt:lpstr>Data Mismatch（資料不匹配）</vt:lpstr>
      <vt:lpstr>保留部分 training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張智宏  (audachang)</dc:creator>
  <cp:lastModifiedBy>Erik Chang</cp:lastModifiedBy>
  <cp:revision>255</cp:revision>
  <cp:lastPrinted>2025-05-08T00:37:39Z</cp:lastPrinted>
  <dcterms:created xsi:type="dcterms:W3CDTF">2024-10-23T10:48:05Z</dcterms:created>
  <dcterms:modified xsi:type="dcterms:W3CDTF">2026-05-20T23:51:33Z</dcterms:modified>
</cp:coreProperties>
</file>