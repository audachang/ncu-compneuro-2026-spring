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2A541"/>
                </a:solidFill>
                <a:latin typeface="Calibri"/>
              </a:rPr>
              <a:t>Week 07 · 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Georgia"/>
              </a:rPr>
              <a:t>NumPy &amp; Data</a:t>
            </a:r>
          </a:p>
          <a:p>
            <a:pPr algn="l"/>
            <a:r>
              <a:rPr sz="5400" b="1">
                <a:solidFill>
                  <a:srgbClr val="FFFFFF"/>
                </a:solidFill>
                <a:latin typeface="Georgia"/>
              </a:rPr>
              <a:t>Manipulation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E0E8EE"/>
                </a:solidFill>
                <a:latin typeface="Calibri"/>
              </a:rPr>
              <a:t>Fast vectorized arrays for behavioral &amp; neural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NS5116 Computational Neuroscience · Spring 2026 · Week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C7293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20040" cy="73152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901952"/>
            <a:ext cx="320040" cy="3200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9280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2880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Georgia"/>
              </a:rPr>
              <a:t>Create &amp; inspect arrays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Build arrays from lists and constructors; check shape, dtype, ndim.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862072"/>
            <a:ext cx="320040" cy="3200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5292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78892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Georgia"/>
              </a:rPr>
              <a:t>Index, slice, and mask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2004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1D/2D indexing, boolean masks, fancy indexing with argsort.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822192"/>
            <a:ext cx="320040" cy="3200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1304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7490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Georgia"/>
              </a:rPr>
              <a:t>Vectorize your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1605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Replace Python loops with broadcasting and ufuncs.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782312"/>
            <a:ext cx="320040" cy="3200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7316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70916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65A82"/>
                </a:solidFill>
                <a:latin typeface="Georgia"/>
              </a:rPr>
              <a:t>Summarize experimental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1206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Descriptive stats, axis-wise aggregation, np.loadtxt for CSVs.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C7293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Georgia"/>
              </a:rPr>
              <a:t>Why NumPy instead of Python lists?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20040" cy="73152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65A82"/>
                </a:solidFill>
                <a:latin typeface="Georgia"/>
              </a:rPr>
              <a:t>Contiguous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Python lists are flexible but slow. NumPy stores numbers in a single block of memory and runs operations in compiled C.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For 10,000 trials, vectorized NumPy is typically 50–100× faster than an explicit Python loop — and the code is shorter.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828800"/>
            <a:ext cx="6035040" cy="4572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920240"/>
            <a:ext cx="57607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import numpy as np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# Python list — slow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rts_list = [320, 415, 280, 510, 390]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doubled = [rt * 2 for rt in rts_list]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# NumPy array — fast, no loop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rts = np.array([320, 415, 280, 510, 390])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doubled = rts * 2   # vectorized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C7293"/>
                </a:solidFill>
                <a:latin typeface="Calibri"/>
              </a:rPr>
              <a:t>TOPIC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Georgia"/>
              </a:rPr>
              <a:t>Creating arrays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20040" cy="73152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65A82"/>
                </a:solidFill>
                <a:latin typeface="Georgia"/>
              </a:rPr>
              <a:t>From lists and constructors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np.array() converts an existing list.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np.zeros / np.ones pre-allocate fixed values.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np.arange uses a step size; np.linspace takes a count of points — use linspace for plotting axes.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np.random.default_rng(seed) is the modern, reproducible RNG.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828800"/>
            <a:ext cx="6035040" cy="4572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920240"/>
            <a:ext cx="57607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rts = np.array([320, 415, 280, 510, 390])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np.zeros(5)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np.ones((3, 4))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np.arange(0, 10, 2)   # [0 2 4 6 8]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np.linspace(0, 1, 5)  # 5 pts 0..1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rng = np.random.default_rng(42)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sim = rng.normal(400, 80, size=100)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C7293"/>
                </a:solidFill>
                <a:latin typeface="Calibri"/>
              </a:rPr>
              <a:t>TOPIC 1 ·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Georgia"/>
              </a:rPr>
              <a:t>arange vs linspace vs range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20040" cy="73152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432907" cy="217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09728" cy="2171700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49757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Georgia"/>
              </a:rPr>
              <a:t>np.arange(start, stop, step)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4975707" cy="1348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Use when you know the step size. Integer by default. Like Python range() but returns an array.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828800"/>
            <a:ext cx="5432907" cy="217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0147" y="1828800"/>
            <a:ext cx="109728" cy="2171700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4467" y="2011680"/>
            <a:ext cx="49757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Georgia"/>
              </a:rPr>
              <a:t>np.linspace(start, stop, num)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4467" y="2514600"/>
            <a:ext cx="4975707" cy="1348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Use when you know how many evenly-spaced points you want. Ideal for plot axes and stimulus timings.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29100"/>
            <a:ext cx="5432907" cy="217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29100"/>
            <a:ext cx="109728" cy="2171700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411980"/>
            <a:ext cx="49757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Georgia"/>
              </a:rPr>
              <a:t>Python range()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14900"/>
            <a:ext cx="4975707" cy="1348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Integer-only loops in for statements. Does NOT produce an array.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0147" y="4229100"/>
            <a:ext cx="5432907" cy="217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0147" y="4229100"/>
            <a:ext cx="109728" cy="2171700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4467" y="4411980"/>
            <a:ext cx="497570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Georgia"/>
              </a:rPr>
              <a:t>np.empty(shape)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4467" y="4914900"/>
            <a:ext cx="4975707" cy="1348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Uninitialized memory — fastest, but contents are garbage. Only use if you fill every element immediately.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C7293"/>
                </a:solidFill>
                <a:latin typeface="Calibri"/>
              </a:rPr>
              <a:t>TOPIC 2 &amp;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Georgia"/>
              </a:rPr>
              <a:t>Array properties, indexing &amp; slicing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20040" cy="73152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65A82"/>
                </a:solidFill>
                <a:latin typeface="Georgia"/>
              </a:rPr>
              <a:t>[row, col] indexing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Every array has .shape, .ndim, .dtype and .size.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1D arrays index like Python lists. 2D arrays use the [row, col] form. A single colon (:) means 'all of this axis'.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Slicing returns a view — modifying it modifies the original array.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828800"/>
            <a:ext cx="6035040" cy="4572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920240"/>
            <a:ext cx="57607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 = np.array([[1,2,3],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          [4,5,6]])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a.shape   # (2, 3)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a.ndim    # 2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a.dtype   # int64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# 2D indexing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a[0, 1]    # 2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a[1, :]    # [4 5 6]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a[:, 2]    # [3 6]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a[0:2, 1:] # [[2,3],[5,6]]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C7293"/>
                </a:solidFill>
                <a:latin typeface="Calibri"/>
              </a:rPr>
              <a:t>TOPIC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Georgia"/>
              </a:rPr>
              <a:t>Vectorized operations &amp; broadcasting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20040" cy="73152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65A82"/>
                </a:solidFill>
                <a:latin typeface="Georgia"/>
              </a:rPr>
              <a:t>No loops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Arithmetic and comparisons apply element-wise.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Broadcasting lets arrays of different shapes combine: a (2, 3) minus a (3,) works — the smaller array is stretched along the missing axis.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Ufuncs (np.log, np.sqrt, np.abs, np.sin, ...) are compiled and much faster than a Python loop.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828800"/>
            <a:ext cx="6035040" cy="4572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920240"/>
            <a:ext cx="57607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rts = np.array([320, 415, 280, 510, 390])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rts_sec = rts / 1000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rts_z   = (rts - rts.mean()) / rts.std()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# Broadcasting (2,3) - (3,)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rts2d    = np.array([[320,415,280],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                 [390,425,310]])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baseline = np.array([350, 400, 290])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centered = rts2d - baseline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C7293"/>
                </a:solidFill>
                <a:latin typeface="Calibri"/>
              </a:rPr>
              <a:t>TOPIC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Georgia"/>
              </a:rPr>
              <a:t>Boolean masking &amp; fancy indexing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20040" cy="73152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65A82"/>
                </a:solidFill>
                <a:latin typeface="Georgia"/>
              </a:rPr>
              <a:t>Filter data without loops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A boolean array can index another array of the same length.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Combine conditions with &amp; (and) and | (or); wrap each in parentheses.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np.where is a vectorized if/else. argmax and argmin return indices, not values — useful for finding the slowest or fastest trial.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828800"/>
            <a:ext cx="6035040" cy="4572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920240"/>
            <a:ext cx="57607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rts = np.array([320, 415, 280, 510, 390])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mask = rts &gt; 400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rts[mask]                 # [415 510]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# Outlier removal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m, s = rts.mean(), rts.std()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clean = rts[np.abs(rts-m) &lt; 2.5*s]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labels = np.where(rts &gt; 400,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              'slow', 'fast')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rts.argmax()   # index of slowest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C7293"/>
                </a:solidFill>
                <a:latin typeface="Calibri"/>
              </a:rPr>
              <a:t>TOPIC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Georgia"/>
              </a:rPr>
              <a:t>Descriptive statistics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20040" cy="73152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65A82"/>
                </a:solidFill>
                <a:latin typeface="Georgia"/>
              </a:rPr>
              <a:t>Summarize per row or per column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Built-in methods: .mean(), .std(), .min(), .max(), .median().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For 2D data, pass axis= to aggregate along a dimension: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   axis=0 → down the rows (one value per column)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   axis=1 → across the columns (one value per row)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Percentile (0–100) and quantile (0–1) are the same function with different conventions.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828800"/>
            <a:ext cx="6035040" cy="4572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920240"/>
            <a:ext cx="57607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rts = np.array([320, 415, 280, 510, 390])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rts.mean(); rts.std()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np.median(rts)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np.percentile(rts, [25, 75])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# 3 subjects × 10 trials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data = rng.normal(400, 80, (3, 10))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data.mean(axis=1)  # per subject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data.mean(axis=0)  # per trial position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C7293"/>
                </a:solidFill>
                <a:latin typeface="Calibri"/>
              </a:rPr>
              <a:t>TOPIC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Georgia"/>
              </a:rPr>
              <a:t>Loading data from a 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20040" cy="73152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65A82"/>
                </a:solidFill>
                <a:latin typeface="Georgia"/>
              </a:rPr>
              <a:t>CSV in, array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4846320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np.loadtxt handles simple numeric files. Use delimiter= and skiprows= for CSVs with headers.</a:t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12121"/>
                </a:solidFill>
                <a:latin typeface="Calibri"/>
              </a:rPr>
              <a:t>For mixed string/number columns, load with pandas and extract a column to NumPy with .to_numpy().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828800"/>
            <a:ext cx="6035040" cy="4572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1920240"/>
            <a:ext cx="576072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# Single column of RTs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rts = np.loadtxt('rts.txt')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# CSV with header row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data = np.loadtxt('results.csv',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              delimiter=',',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                  skiprows=1)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/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# Mixed columns → use pandas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import pandas as pd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df = pd.read_csv('results.csv')</a:t>
            </a:r>
          </a:p>
          <a:p>
            <a:pPr algn="l"/>
            <a:r>
              <a:rPr sz="1200" b="0">
                <a:solidFill>
                  <a:srgbClr val="E8EEF5"/>
                </a:solidFill>
                <a:latin typeface="Consolas"/>
              </a:rPr>
              <a:t>rts = df['rt_ms'].to_numpy()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C7293"/>
                </a:solidFill>
                <a:latin typeface="Calibri"/>
              </a:rPr>
              <a:t>NEUROSCIENCE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65A82"/>
                </a:solidFill>
                <a:latin typeface="Georgia"/>
              </a:rPr>
              <a:t>How each feature shows up in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320040" cy="73152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45738" cy="217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09728" cy="2171700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Georgia"/>
              </a:rPr>
              <a:t>Boolean masking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3088538" cy="1348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Remove invalid trials (RT &lt; 100 ms or &gt; 1500 ms) in a single expression.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2978" y="1828800"/>
            <a:ext cx="3545738" cy="217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2978" y="1828800"/>
            <a:ext cx="109728" cy="2171700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2011680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Georgia"/>
              </a:rPr>
              <a:t>mean() &amp; std()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3088538" cy="1348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Summarize accuracy and RT per condition or per subject for any figure.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7316" y="1828800"/>
            <a:ext cx="3545738" cy="217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7316" y="1828800"/>
            <a:ext cx="109728" cy="2171700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1636" y="2011680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Georgia"/>
              </a:rPr>
              <a:t>axis=1 aggregation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1636" y="2514600"/>
            <a:ext cx="3088538" cy="1348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Compute per-subject or per-block statistics on matrix-shaped data.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29100"/>
            <a:ext cx="3545738" cy="217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229100"/>
            <a:ext cx="109728" cy="2171700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11980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Georgia"/>
              </a:rPr>
              <a:t>z-score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14900"/>
            <a:ext cx="3088538" cy="1348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Normalize RTs across subjects before pooling for a group analysis.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2978" y="4229100"/>
            <a:ext cx="3545738" cy="217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2978" y="4229100"/>
            <a:ext cx="109728" cy="2171700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7298" y="4411980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Georgia"/>
              </a:rPr>
              <a:t>np.random.normal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7298" y="4914900"/>
            <a:ext cx="3088538" cy="1348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Simulate behavior to test and validate an analysis pipeline.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97316" y="4229100"/>
            <a:ext cx="3545738" cy="217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7316" y="4229100"/>
            <a:ext cx="109728" cy="2171700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71636" y="4411980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065A82"/>
                </a:solidFill>
                <a:latin typeface="Georgia"/>
              </a:rPr>
              <a:t>loadtxt / pandas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71636" y="4914900"/>
            <a:ext cx="3088538" cy="1348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Pull PsychoPy output files into Python for re-analysis after the session.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2A541"/>
                </a:solidFill>
                <a:latin typeface="Calibri"/>
              </a:rPr>
              <a:t>Next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Georgia"/>
              </a:rPr>
              <a:t>Assignment · Puzzles 11–20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E0E8EE"/>
                </a:solidFill>
                <a:latin typeface="Calibri"/>
              </a:rPr>
              <a:t>Complete Part 2 of week-07-puzzles.ipynb.</a:t>
            </a:r>
          </a:p>
          <a:p>
            <a:pPr algn="l"/>
            <a:r>
              <a:rPr sz="1800" b="0">
                <a:solidFill>
                  <a:srgbClr val="E0E8EE"/>
                </a:solidFill>
                <a:latin typeface="Calibri"/>
              </a:rPr>
              <a:t/>
            </a:r>
          </a:p>
          <a:p>
            <a:pPr algn="l"/>
            <a:r>
              <a:rPr sz="1800" b="0">
                <a:solidFill>
                  <a:srgbClr val="E0E8EE"/>
                </a:solidFill>
                <a:latin typeface="Calibri"/>
              </a:rPr>
              <a:t>Focus: broadcasting across conditions, outlier removal with masks, and argsort-based ranking.</a:t>
            </a:r>
          </a:p>
          <a:p>
            <a:pPr algn="l"/>
            <a:r>
              <a:rPr sz="1800" b="0">
                <a:solidFill>
                  <a:srgbClr val="E0E8EE"/>
                </a:solidFill>
                <a:latin typeface="Calibri"/>
              </a:rPr>
              <a:t/>
            </a:r>
          </a:p>
          <a:p>
            <a:pPr algn="l"/>
            <a:r>
              <a:rPr sz="1800" b="0">
                <a:solidFill>
                  <a:srgbClr val="E0E8EE"/>
                </a:solidFill>
                <a:latin typeface="Calibri"/>
              </a:rPr>
              <a:t>Push to your GitHub repository before Week 08.</a:t>
            </a:r>
          </a:p>
          <a:p>
            <a:pPr algn="l"/>
            <a:r>
              <a:rPr sz="1800" b="0">
                <a:solidFill>
                  <a:srgbClr val="E0E8EE"/>
                </a:solidFill>
                <a:latin typeface="Calibri"/>
              </a:rPr>
              <a:t>Next week: Midterm — deploy a full experiment to Pavlovia.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