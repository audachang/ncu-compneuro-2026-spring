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9E795"/>
                </a:solidFill>
                <a:latin typeface="Calibri"/>
              </a:rPr>
              <a:t>Week 07 · 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Georgia"/>
              </a:rPr>
              <a:t>Data Visualization</a:t>
            </a:r>
          </a:p>
          <a:p>
            <a:pPr algn="l"/>
            <a:r>
              <a:rPr sz="5400" b="1">
                <a:solidFill>
                  <a:srgbClr val="FFFFFF"/>
                </a:solidFill>
                <a:latin typeface="Georgia"/>
              </a:rPr>
              <a:t>with Matplotlib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E0E8EE"/>
                </a:solidFill>
                <a:latin typeface="Calibri"/>
              </a:rPr>
              <a:t>From quick plots to publication figures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NS5116 Computational Neuroscience · Spring 2026 · Week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F3C7E"/>
                </a:solidFill>
                <a:latin typeface="Calibri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96167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320040" cy="73152"/>
          </a:xfrm>
          <a:prstGeom prst="rect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901952"/>
            <a:ext cx="320040" cy="320040"/>
          </a:xfrm>
          <a:prstGeom prst="ellipse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92808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82880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96167"/>
                </a:solidFill>
                <a:latin typeface="Georgia"/>
              </a:rPr>
              <a:t>Create core plot 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2402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Line, scatter, bar, and histogram — with appropriate customization.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862072"/>
            <a:ext cx="320040" cy="320040"/>
          </a:xfrm>
          <a:prstGeom prst="ellipse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52928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78892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96167"/>
                </a:solidFill>
                <a:latin typeface="Georgia"/>
              </a:rPr>
              <a:t>Use the OO interface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2004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fig, ax = plt.subplots() for everything beyond a single quick plot.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822192"/>
            <a:ext cx="320040" cy="320040"/>
          </a:xfrm>
          <a:prstGeom prst="ellipse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813048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74904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96167"/>
                </a:solidFill>
                <a:latin typeface="Georgia"/>
              </a:rPr>
              <a:t>Build multi-panel figures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1605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Grids, shared axes, figure-level titles, and text annotations.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782312"/>
            <a:ext cx="320040" cy="320040"/>
          </a:xfrm>
          <a:prstGeom prst="ellipse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773168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70916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96167"/>
                </a:solidFill>
                <a:latin typeface="Georgia"/>
              </a:rPr>
              <a:t>Export for papers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1206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PNG for slides, PDF/SVG for papers; always bbox_inches='tight'.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F3C7E"/>
                </a:solidFill>
                <a:latin typeface="Calibri"/>
              </a:rPr>
              <a:t>TOPIC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96167"/>
                </a:solidFill>
                <a:latin typeface="Georgia"/>
              </a:rPr>
              <a:t>The Matplotlib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320040" cy="73152"/>
          </a:xfrm>
          <a:prstGeom prst="rect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96167"/>
                </a:solidFill>
                <a:latin typeface="Georgia"/>
              </a:rPr>
              <a:t>Figures and axes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484632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A Figure is the canvas; an Axes is one individual plot.</a:t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Always prefer the object-oriented interface — plt.subplots() returns a fig and one or more ax objects.</a:t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The stateful plt.plot() interface is fine for a one-off notebook plot but avoid it in scripts; it is hard to predict which figure is active.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828800"/>
            <a:ext cx="6035040" cy="4572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1920240"/>
            <a:ext cx="576072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import matplotlib.pyplot as plt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# 1 panel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fig, ax = plt.subplots()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ax.plot([1,2,3], [4,5,6])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# 2 x 3 grid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fig, axes = plt.subplots(2, 3)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# Unpack directly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fig, (ax1, ax2) = plt.subplots(1, 2)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plt.show()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F3C7E"/>
                </a:solidFill>
                <a:latin typeface="Calibri"/>
              </a:rPr>
              <a:t>TOPIC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96167"/>
                </a:solidFill>
                <a:latin typeface="Georgia"/>
              </a:rPr>
              <a:t>Line plot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320040" cy="73152"/>
          </a:xfrm>
          <a:prstGeom prst="rect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96167"/>
                </a:solidFill>
                <a:latin typeface="Georgia"/>
              </a:rPr>
              <a:t>Time series &amp; trends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484632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Line plots are right for anything that changes over time or trial number — learning curves, EEG traces, RT across trials.</a:t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Customize with color, linewidth, linestyle, marker, and markersize. ax.axhline draws a horizontal reference line (e.g., mean RT).</a:t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Always label your axes and call plt.tight_layout() before show.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828800"/>
            <a:ext cx="6035040" cy="4572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1920240"/>
            <a:ext cx="576072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trials = np.arange(1, 51)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rts = rng.normal(400, 60, 50)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fig, ax = plt.subplots(figsize=(8, 4))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ax.plot(trials, rts,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        color='steelblue', lw=1.5, label='RT')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ax.axhline(rts.mean(), color='red',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           ls='--', label='Mean')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ax.set_xlabel('Trial')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ax.set_ylabel('RT (ms)')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ax.legend()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plt.tight_layout()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F3C7E"/>
                </a:solidFill>
                <a:latin typeface="Calibri"/>
              </a:rPr>
              <a:t>TOPIC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96167"/>
                </a:solidFill>
                <a:latin typeface="Georgia"/>
              </a:rPr>
              <a:t>Scatter plot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320040" cy="73152"/>
          </a:xfrm>
          <a:prstGeom prst="rect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96167"/>
                </a:solidFill>
                <a:latin typeface="Georgia"/>
              </a:rPr>
              <a:t>Relationships between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484632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Use for speed-accuracy trade-offs, firing rate vs stimulus intensity, or any two-variable relationship.</a:t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s sets marker size; alpha sets transparency.</a:t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Encode a third variable with c=column_values and a perceptually uniform colormap like 'viridis'. Add fig.colorbar for a legend.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828800"/>
            <a:ext cx="6035040" cy="4572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1920240"/>
            <a:ext cx="576072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accuracy = rng.uniform(0.6, 1.0, 20)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mean_rt  = rng.normal(400, 80, 20)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n_trials = rng.integers(10, 60, 20)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fig, ax = plt.subplots()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sc = ax.scatter(mean_rt, accuracy,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     c=n_trials, cmap='viridis',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     s=60, alpha=0.8,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     edgecolors='black')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fig.colorbar(sc, ax=ax,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             label='Number of trials')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F3C7E"/>
                </a:solidFill>
                <a:latin typeface="Calibri"/>
              </a:rPr>
              <a:t>TOPIC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96167"/>
                </a:solidFill>
                <a:latin typeface="Georgia"/>
              </a:rPr>
              <a:t>Bar plot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320040" cy="73152"/>
          </a:xfrm>
          <a:prstGeom prst="rect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96167"/>
                </a:solidFill>
                <a:latin typeface="Georgia"/>
              </a:rPr>
              <a:t>Means across conditions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484632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Use for comparing means across a small number of categories.</a:t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yerr= adds error bars; use SEM for scientific figures.</a:t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Control color per bar with a list, and set ylim with a clear headroom so the error bars are not clipped.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828800"/>
            <a:ext cx="6035040" cy="4572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1920240"/>
            <a:ext cx="576072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conditions = ['Congruent', 'Incongruent']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mean_rts   = [380, 460]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sem        = [15, 22]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fig, ax = plt.subplots(figsize=(5, 4))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ax.bar(conditions, mean_rts,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       color=['#4C72B0', '#DD8452'],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       yerr=sem, capsize=5, width=0.5)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ax.set_ylabel('Mean RT (ms)')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ax.set_title('RT by condition')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ax.set_ylim(0, 550)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F3C7E"/>
                </a:solidFill>
                <a:latin typeface="Calibri"/>
              </a:rPr>
              <a:t>TOPIC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96167"/>
                </a:solidFill>
                <a:latin typeface="Georgia"/>
              </a:rPr>
              <a:t>Histogram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320040" cy="73152"/>
          </a:xfrm>
          <a:prstGeom prst="rect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96167"/>
                </a:solidFill>
                <a:latin typeface="Georgia"/>
              </a:rPr>
              <a:t>Distribution of one variable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484632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Shows the distribution of a single variable.</a:t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Choose bins based on data size: 15–30 bins for 100–500 points, or bins='auto'.</a:t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Compare two distributions with alpha&lt;1 and density=True so the areas are comparable regardless of sample size.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828800"/>
            <a:ext cx="6035040" cy="4572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1920240"/>
            <a:ext cx="576072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rts = rng.normal(400, 80, 200)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fig, ax = plt.subplots()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ax.hist(rts, bins=20, color='steelblue',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        edgecolor='white', alpha=0.8)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ax.axvline(rts.mean(), color='red',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           ls='--',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           label=f'Mean={rts.mean():.0f}')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ax.set_xlabel('RT (ms)')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ax.set_ylabel('Count')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ax.legend()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F3C7E"/>
                </a:solidFill>
                <a:latin typeface="Calibri"/>
              </a:rPr>
              <a:t>TOPIC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96167"/>
                </a:solidFill>
                <a:latin typeface="Georgia"/>
              </a:rPr>
              <a:t>Multi-panel figures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320040" cy="73152"/>
          </a:xfrm>
          <a:prstGeom prst="rect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96167"/>
                </a:solidFill>
                <a:latin typeface="Georgia"/>
              </a:rPr>
              <a:t>plt.subplots(rows, cols)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484632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Use subplots for grids. Index with axes[row, col].</a:t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sharex=True and sharey=True lock the axis limits across panels for a fair comparison.</a:t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Use fig.suptitle for a figure-level title. If plt.tight_layout clips the suptitle, pass rect=[0, 0, 1, 0.95].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828800"/>
            <a:ext cx="6035040" cy="4572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1920240"/>
            <a:ext cx="576072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fig, axes = plt.subplots(2, 2, figsize=(10,8))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axes[0,0].plot(trials, rts)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axes[0,0].set_title('RT over trials')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axes[0,1].hist(rts, bins=15)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axes[0,1].set_title('RT distribution')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axes[1,0].bar(conditions, mean_rts)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axes[1,1].scatter(mean_rt, accuracy)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fig.suptitle('Experiment Summary',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             fontsize=14, fontweight='bold')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plt.tight_layout()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F3C7E"/>
                </a:solidFill>
                <a:latin typeface="Calibri"/>
              </a:rPr>
              <a:t>TOPIC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96167"/>
                </a:solidFill>
                <a:latin typeface="Georgia"/>
              </a:rPr>
              <a:t>Annotations &amp; saving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320040" cy="73152"/>
          </a:xfrm>
          <a:prstGeom prst="rect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96167"/>
                </a:solidFill>
                <a:latin typeface="Georgia"/>
              </a:rPr>
              <a:t>Publication-quality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484632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ax.annotate attaches text to a data point with an optional arrow.</a:t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Always call fig.savefig() on the Figure object — not plt.savefig — so you know which figure is saved.</a:t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Use PDF or SVG for papers (vector) and PNG for slides. bbox_inches='tight' prevents labels from being cut off.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828800"/>
            <a:ext cx="6035040" cy="4572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1920240"/>
            <a:ext cx="576072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ax.annotate('Slowest trial',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    xy=(trials[rts.argmax()], rts.max()),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    xytext=(30, 550),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    arrowprops=dict(arrowstyle='-&gt;'))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fig.savefig('summary.png',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    dpi=150, bbox_inches='tight')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fig.savefig('summary.pdf',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    bbox_inches='tight')   # vector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F3C7E"/>
                </a:solidFill>
                <a:latin typeface="Calibri"/>
              </a:rPr>
              <a:t>CHOOSING THE RIGHT PLOT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96167"/>
                </a:solidFill>
                <a:latin typeface="Georgia"/>
              </a:rPr>
              <a:t>Data type → plot 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320040" cy="73152"/>
          </a:xfrm>
          <a:prstGeom prst="rect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545738" cy="217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109728" cy="2171700"/>
          </a:xfrm>
          <a:prstGeom prst="rect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30885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96167"/>
                </a:solidFill>
                <a:latin typeface="Georgia"/>
              </a:rPr>
              <a:t>Variable over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3088538" cy="1348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</a:rPr>
              <a:t>Line plot. EEG/ERP traces, learning curves, RT across trials.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2978" y="1828800"/>
            <a:ext cx="3545738" cy="217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2978" y="1828800"/>
            <a:ext cx="109728" cy="2171700"/>
          </a:xfrm>
          <a:prstGeom prst="rect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2011680"/>
            <a:ext cx="30885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96167"/>
                </a:solidFill>
                <a:latin typeface="Georgia"/>
              </a:rPr>
              <a:t>Two variables' relationship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3088538" cy="1348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</a:rPr>
              <a:t>Scatter plot. Speed-accuracy, firing rate vs stimulus intensity.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7316" y="1828800"/>
            <a:ext cx="3545738" cy="217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7316" y="1828800"/>
            <a:ext cx="109728" cy="2171700"/>
          </a:xfrm>
          <a:prstGeom prst="rect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71636" y="2011680"/>
            <a:ext cx="30885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96167"/>
                </a:solidFill>
                <a:latin typeface="Georgia"/>
              </a:rPr>
              <a:t>Means across groups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1636" y="2514600"/>
            <a:ext cx="3088538" cy="1348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</a:rPr>
              <a:t>Bar plot with error bars. Always include SEM or CI for science.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229100"/>
            <a:ext cx="3545738" cy="217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229100"/>
            <a:ext cx="109728" cy="2171700"/>
          </a:xfrm>
          <a:prstGeom prst="rect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411980"/>
            <a:ext cx="30885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96167"/>
                </a:solidFill>
                <a:latin typeface="Georgia"/>
              </a:rPr>
              <a:t>Distribution of one variable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914900"/>
            <a:ext cx="3088538" cy="1348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</a:rPr>
              <a:t>Histogram. 15–30 bins for 100–500 points; density=True for comparison.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2978" y="4229100"/>
            <a:ext cx="3545738" cy="217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22978" y="4229100"/>
            <a:ext cx="109728" cy="2171700"/>
          </a:xfrm>
          <a:prstGeom prst="rect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7298" y="4411980"/>
            <a:ext cx="30885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96167"/>
                </a:solidFill>
                <a:latin typeface="Georgia"/>
              </a:rPr>
              <a:t>Everything at once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7298" y="4914900"/>
            <a:ext cx="3088538" cy="1348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</a:rPr>
              <a:t>Multi-panel figure. 2x2 grid of the four above — a publication-ready summary.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97316" y="4229100"/>
            <a:ext cx="3545738" cy="217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7316" y="4229100"/>
            <a:ext cx="109728" cy="2171700"/>
          </a:xfrm>
          <a:prstGeom prst="rect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71636" y="4411980"/>
            <a:ext cx="30885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96167"/>
                </a:solidFill>
                <a:latin typeface="Georgia"/>
              </a:rPr>
              <a:t>File format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71636" y="4914900"/>
            <a:ext cx="3088538" cy="1348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</a:rPr>
              <a:t>PDF/SVG (vector) for papers, PNG for slides, always bbox_inches='tight'.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9E795"/>
                </a:solidFill>
                <a:latin typeface="Calibri"/>
              </a:rPr>
              <a:t>Next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Georgia"/>
              </a:rPr>
              <a:t>Assignment · Puzzles 19–20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7472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E0E8EE"/>
                </a:solidFill>
                <a:latin typeface="Calibri"/>
              </a:rPr>
              <a:t>Puzzle 19: scatter plot with conditional coloring and annotation.</a:t>
            </a:r>
          </a:p>
          <a:p>
            <a:pPr algn="l"/>
            <a:r>
              <a:rPr sz="1800" b="0">
                <a:solidFill>
                  <a:srgbClr val="E0E8EE"/>
                </a:solidFill>
                <a:latin typeface="Calibri"/>
              </a:rPr>
              <a:t>Puzzle 20: full 2×2 summary figure built from pandas groupby results.</a:t>
            </a:r>
          </a:p>
          <a:p>
            <a:pPr algn="l"/>
            <a:r>
              <a:rPr sz="1800" b="0">
                <a:solidFill>
                  <a:srgbClr val="E0E8EE"/>
                </a:solidFill>
                <a:latin typeface="Calibri"/>
              </a:rPr>
              <a:t/>
            </a:r>
          </a:p>
          <a:p>
            <a:pPr algn="l"/>
            <a:r>
              <a:rPr sz="1800" b="0">
                <a:solidFill>
                  <a:srgbClr val="E0E8EE"/>
                </a:solidFill>
                <a:latin typeface="Calibri"/>
              </a:rPr>
              <a:t>Push to your GitHub repository before Week 08.</a:t>
            </a:r>
          </a:p>
          <a:p>
            <a:pPr algn="l"/>
            <a:r>
              <a:rPr sz="1800" b="0">
                <a:solidFill>
                  <a:srgbClr val="E0E8EE"/>
                </a:solidFill>
                <a:latin typeface="Calibri"/>
              </a:rPr>
              <a:t>Next week: Midterm — deploy a full experiment to Pavlovia.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