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B85042"/>
                </a:solidFill>
                <a:latin typeface="Calibri"/>
              </a:rPr>
              <a:t>Week 07 · 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Georgia"/>
              </a:rPr>
              <a:t>Pandas &amp;</a:t>
            </a:r>
          </a:p>
          <a:p>
            <a:pPr algn="l"/>
            <a:r>
              <a:rPr sz="5400" b="1">
                <a:solidFill>
                  <a:srgbClr val="FFFFFF"/>
                </a:solidFill>
                <a:latin typeface="Georgia"/>
              </a:rPr>
              <a:t>DataFrames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E0E8EE"/>
                </a:solidFill>
                <a:latin typeface="Calibri"/>
              </a:rPr>
              <a:t>Labeled tables for behavioral experiments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NS5116 Computational Neuroscience · Spring 2026 · Week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97BC62"/>
                </a:solidFill>
                <a:latin typeface="Calibri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2C5F2D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320040" cy="73152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901952"/>
            <a:ext cx="320040" cy="32004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92808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82880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C5F2D"/>
                </a:solidFill>
                <a:latin typeface="Georgia"/>
              </a:rPr>
              <a:t>Build and inspect DataFrames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2402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From dictionaries or row-by-row; check shape, dtypes, head, describe.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862072"/>
            <a:ext cx="320040" cy="32004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52928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78892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C5F2D"/>
                </a:solidFill>
                <a:latin typeface="Georgia"/>
              </a:rPr>
              <a:t>Select rows and columns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2004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With .loc, .iloc, and boolean filters — the most common operation.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822192"/>
            <a:ext cx="320040" cy="32004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813048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74904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C5F2D"/>
                </a:solidFill>
                <a:latin typeface="Georgia"/>
              </a:rPr>
              <a:t>Transform and summarize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1605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Derived columns, groupby aggregates, pivot tables, apply.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4782312"/>
            <a:ext cx="320040" cy="32004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773168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70916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C5F2D"/>
                </a:solidFill>
                <a:latin typeface="Georgia"/>
              </a:rPr>
              <a:t>Read, write, and plot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1206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pd.read_csv / df.to_csv, and pipe results straight into Matplotlib.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97BC62"/>
                </a:solidFill>
                <a:latin typeface="Calibri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2C5F2D"/>
                </a:solidFill>
                <a:latin typeface="Georgia"/>
              </a:rPr>
              <a:t>Why Pandas after NumPy?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320040" cy="73152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C5F2D"/>
                </a:solidFill>
                <a:latin typeface="Georgia"/>
              </a:rPr>
              <a:t>Columns have names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484632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NumPy indexing is positional — you must remember that column 2 is RT and column 3 is accuracy.</a:t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A pandas DataFrame is a table with named columns and labeled rows. For multi-subject, multi-condition experiments, labeled columns are far less error-prone.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828800"/>
            <a:ext cx="6035040" cy="4572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1920240"/>
            <a:ext cx="576072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import numpy as np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import pandas as pd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# NumPy: positional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data = np.array([[1, 320, 1],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                 [2, 450, 0]])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rt = data[:, 1]  # which col is RT?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# Pandas: self-documenting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df = pd.DataFrame(data,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       columns=['trial','rt_ms','correct'])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rt = df['rt_ms']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97BC62"/>
                </a:solidFill>
                <a:latin typeface="Calibri"/>
              </a:rPr>
              <a:t>TOPIC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2C5F2D"/>
                </a:solidFill>
                <a:latin typeface="Georgia"/>
              </a:rPr>
              <a:t>Creating DataFrames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320040" cy="73152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C5F2D"/>
                </a:solidFill>
                <a:latin typeface="Georgia"/>
              </a:rPr>
              <a:t>From a dict or row by row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484632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Most experiment code builds a DataFrame from a dictionary where each key is a column name and each value is a list.</a:t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Key attributes: .shape, .dtypes, .columns, .head(), .describe(), .info().</a:t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You can also append dicts to a list and call pd.DataFrame(rows).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828800"/>
            <a:ext cx="6035040" cy="4572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1920240"/>
            <a:ext cx="576072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df = pd.DataFrame({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   'subject'  : ['P01','P01','P02','P02'],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   'condition': ['cong','incong',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                 'cong','incong'],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   'rt_ms'    : [320, 450, 340, 470],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   'correct'  : [1, 1, 1, 0],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})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df.shape      # (4, 4)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df.dtypes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df.describe()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97BC62"/>
                </a:solidFill>
                <a:latin typeface="Calibri"/>
              </a:rPr>
              <a:t>TOPIC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2C5F2D"/>
                </a:solidFill>
                <a:latin typeface="Georgia"/>
              </a:rPr>
              <a:t>Selecting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320040" cy="73152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C5F2D"/>
                </a:solidFill>
                <a:latin typeface="Georgia"/>
              </a:rPr>
              <a:t>.loc, .iloc and boolean filters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484632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.loc is label-based; .iloc is position-based.</a:t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Boolean filters are the most common in practice: df[df['correct']==1].</a:t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Combine conditions with &amp; and | (not Python's and/or) and wrap each condition in parentheses.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828800"/>
            <a:ext cx="6035040" cy="4572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1920240"/>
            <a:ext cx="576072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# Columns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df['rt_ms']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df[['subject','rt_ms']]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# Rows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df.loc[0]       # by label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df.iloc[0]      # by position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# Boolean filtering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df[df['correct'] == 1]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df[(df['correct']==1) &amp;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   (df['rt_ms'] &lt; 400)]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97BC62"/>
                </a:solidFill>
                <a:latin typeface="Calibri"/>
              </a:rPr>
              <a:t>TOPIC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2C5F2D"/>
                </a:solidFill>
                <a:latin typeface="Georgia"/>
              </a:rPr>
              <a:t>Adding and modifying columns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320040" cy="73152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C5F2D"/>
                </a:solidFill>
                <a:latin typeface="Georgia"/>
              </a:rPr>
              <a:t>Vectorized assignment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484632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Assign to a new column with a vectorized expression — no loop.</a:t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np.where is a fast vectorized if/else for two outcomes.</a:t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Use .apply() only when your logic is too complex for a one-liner; vectorized expressions are significantly faster on large DataFrames.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828800"/>
            <a:ext cx="6035040" cy="4572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1920240"/>
            <a:ext cx="576072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# Derived column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df['rt_sec'] = df['rt_ms'] / 1000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# Vectorized if/else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import numpy as np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med = df['rt_ms'].median()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df['speed'] = np.where(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    df['rt_ms'] &lt; med, 'fast', 'slow')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# Custom function per row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def classify(rt):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    return 'slow' if rt&gt;500 else 'ok'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df['cls'] = df['rt_ms'].apply(classify)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97BC62"/>
                </a:solidFill>
                <a:latin typeface="Calibri"/>
              </a:rPr>
              <a:t>TOPIC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2C5F2D"/>
                </a:solidFill>
                <a:latin typeface="Georgia"/>
              </a:rPr>
              <a:t>Groupby and aggregation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320040" cy="73152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C5F2D"/>
                </a:solidFill>
                <a:latin typeface="Georgia"/>
              </a:rPr>
              <a:t>Split · apply · combine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484632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groupby splits the DataFrame by the values in one or more columns, then applies an aggregate to each group.</a:t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Pass a list of strings to .agg() to compute several stats at once.</a:t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Proportion-correct trick: mean of a 0/1 column is the accuracy.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828800"/>
            <a:ext cx="6035040" cy="4572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1920240"/>
            <a:ext cx="576072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# Mean RT per condition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df.groupby('condition')['rt_ms'].mean()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# Multiple stats at once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(df.groupby('condition')['rt_ms']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   .agg(['mean','std','count']))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# Two grouping variables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df.groupby(['subject','condition']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          )['rt_ms'].mean()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# Accuracy pattern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df.groupby('condition')['correct'].mean()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97BC62"/>
                </a:solidFill>
                <a:latin typeface="Calibri"/>
              </a:rPr>
              <a:t>TOPIC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2C5F2D"/>
                </a:solidFill>
                <a:latin typeface="Georgia"/>
              </a:rPr>
              <a:t>Pivot tables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320040" cy="73152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C5F2D"/>
                </a:solidFill>
                <a:latin typeface="Georgia"/>
              </a:rPr>
              <a:t>Long → wide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484632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pivot_table reshapes long-format data (one row per trial) into wide format where conditions become columns.</a:t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The result is a regular DataFrame — you can subtract columns to compute derived measures like the interference cost.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828800"/>
            <a:ext cx="6035040" cy="4572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1920240"/>
            <a:ext cx="576072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summary = pd.pivot_table(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    df,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    values='rt_ms',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    index='subject',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    columns='condition',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    aggfunc='mean',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summary['interference_cost'] = (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    summary['incongruent']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  - summary['congruent'])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97BC62"/>
                </a:solidFill>
                <a:latin typeface="Calibri"/>
              </a:rPr>
              <a:t>TOPIC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2C5F2D"/>
                </a:solidFill>
                <a:latin typeface="Georgia"/>
              </a:rPr>
              <a:t>Reading and writing CSV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320040" cy="73152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C5F2D"/>
                </a:solidFill>
                <a:latin typeface="Georgia"/>
              </a:rPr>
              <a:t>Load PsychoPy outputs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484632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Always pass index=False when writing, otherwise you save row numbers as an unnamed first column.</a:t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After loading, check .info(), .describe(), and .isna().sum() to catch bad columns and missing values before analysis.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828800"/>
            <a:ext cx="6035040" cy="4572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1920240"/>
            <a:ext cx="576072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# Write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df.to_csv('stroop_results.csv', index=False)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# Read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df = pd.read_csv('stroop_results.csv')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# Inspect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df.info()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df.describe()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df.isna().sum()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97BC62"/>
                </a:solidFill>
                <a:latin typeface="Calibri"/>
              </a:rPr>
              <a:t>TOPIC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2C5F2D"/>
                </a:solidFill>
                <a:latin typeface="Georgia"/>
              </a:rPr>
              <a:t>Pandas → Matplotlib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320040" cy="73152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C5F2D"/>
                </a:solidFill>
                <a:latin typeface="Georgia"/>
              </a:rPr>
              <a:t>Pass Series straight to plt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484632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pandas Series and DataFrames can be passed directly to Matplotlib.</a:t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Typical pattern: filter to correct trials, groupby condition, take mean and sem, then draw a bar chart with error bars.</a:t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For per-subject lines, iterate over groupby.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828800"/>
            <a:ext cx="6035040" cy="4572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1920240"/>
            <a:ext cx="576072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import matplotlib.pyplot as plt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ok = df[df['correct']==1]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means = ok.groupby('condition')['rt_ms'].mean()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sems  = ok.groupby('condition')['rt_ms'].sem()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fig, ax = plt.subplots(figsize=(5,4))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ax.bar(means.index, means.values,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       yerr=sems.values, capsize=5)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ax.set_ylabel('Mean RT (ms)')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ax.set_title('Stroop Effect')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97BC62"/>
                </a:solidFill>
                <a:latin typeface="Calibri"/>
              </a:rPr>
              <a:t>NEUROSCIENCE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2C5F2D"/>
                </a:solidFill>
                <a:latin typeface="Georgia"/>
              </a:rPr>
              <a:t>Pandas features in experiment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320040" cy="73152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545738" cy="217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109728" cy="217170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30885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2C5F2D"/>
                </a:solidFill>
                <a:latin typeface="Georgia"/>
              </a:rPr>
              <a:t>groupby + mean()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3088538" cy="1348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</a:rPr>
              <a:t>Mean RT / accuracy per condition and per subject.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2978" y="1828800"/>
            <a:ext cx="3545738" cy="217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2978" y="1828800"/>
            <a:ext cx="109728" cy="217170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2011680"/>
            <a:ext cx="30885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2C5F2D"/>
                </a:solidFill>
                <a:latin typeface="Georgia"/>
              </a:rPr>
              <a:t>groupby + sem()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3088538" cy="1348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</a:rPr>
              <a:t>Error bars for bar charts and line plots.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7316" y="1828800"/>
            <a:ext cx="3545738" cy="217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7316" y="1828800"/>
            <a:ext cx="109728" cy="217170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71636" y="2011680"/>
            <a:ext cx="30885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2C5F2D"/>
                </a:solidFill>
                <a:latin typeface="Georgia"/>
              </a:rPr>
              <a:t>pivot_table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1636" y="2514600"/>
            <a:ext cx="3088538" cy="1348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</a:rPr>
              <a:t>Interference cost: incongruent − congruent in one expression.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229100"/>
            <a:ext cx="3545738" cy="217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229100"/>
            <a:ext cx="109728" cy="217170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411980"/>
            <a:ext cx="30885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2C5F2D"/>
                </a:solidFill>
                <a:latin typeface="Georgia"/>
              </a:rPr>
              <a:t>Boolean filters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914900"/>
            <a:ext cx="3088538" cy="1348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</a:rPr>
              <a:t>Remove incorrect trials and outliers before computing summaries.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2978" y="4229100"/>
            <a:ext cx="3545738" cy="217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22978" y="4229100"/>
            <a:ext cx="109728" cy="217170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7298" y="4411980"/>
            <a:ext cx="30885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2C5F2D"/>
                </a:solidFill>
                <a:latin typeface="Georgia"/>
              </a:rPr>
              <a:t>read_csv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7298" y="4914900"/>
            <a:ext cx="3088538" cy="1348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</a:rPr>
              <a:t>Load PsychoPy output files directly into a DataFrame.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97316" y="4229100"/>
            <a:ext cx="3545738" cy="217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7316" y="4229100"/>
            <a:ext cx="109728" cy="217170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71636" y="4411980"/>
            <a:ext cx="30885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2C5F2D"/>
                </a:solidFill>
                <a:latin typeface="Georgia"/>
              </a:rPr>
              <a:t>to_numpy()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71636" y="4914900"/>
            <a:ext cx="3088538" cy="1348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</a:rPr>
              <a:t>Pass a single column to scipy, sklearn, or NumPy routines.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B85042"/>
                </a:solidFill>
                <a:latin typeface="Calibri"/>
              </a:rPr>
              <a:t>Next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Georgia"/>
              </a:rPr>
              <a:t>Assignment · Puzzles 15–18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7472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E0E8EE"/>
                </a:solidFill>
                <a:latin typeface="Calibri"/>
              </a:rPr>
              <a:t>Derived columns and filtering, pivot table of mean RT, interference cost with apply or subtraction, and a metadata DataFrame merge.</a:t>
            </a:r>
          </a:p>
          <a:p>
            <a:pPr algn="l"/>
            <a:r>
              <a:rPr sz="1800" b="0">
                <a:solidFill>
                  <a:srgbClr val="E0E8EE"/>
                </a:solidFill>
                <a:latin typeface="Calibri"/>
              </a:rPr>
              <a:t/>
            </a:r>
          </a:p>
          <a:p>
            <a:pPr algn="l"/>
            <a:r>
              <a:rPr sz="1800" b="0">
                <a:solidFill>
                  <a:srgbClr val="E0E8EE"/>
                </a:solidFill>
                <a:latin typeface="Calibri"/>
              </a:rPr>
              <a:t>Push to your GitHub repository before Week 08.</a:t>
            </a:r>
          </a:p>
          <a:p>
            <a:pPr algn="l"/>
            <a:r>
              <a:rPr sz="1800" b="0">
                <a:solidFill>
                  <a:srgbClr val="E0E8EE"/>
                </a:solidFill>
                <a:latin typeface="Calibri"/>
              </a:rPr>
              <a:t>Next week: Midterm — deploy a full experiment to Pavlovia.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