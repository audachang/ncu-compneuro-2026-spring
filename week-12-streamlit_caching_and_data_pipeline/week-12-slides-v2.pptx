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2286000"/>
            <a:ext cx="164592" cy="23774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945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WEEK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97480"/>
            <a:ext cx="10972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A1A2E"/>
                </a:solidFill>
                <a:latin typeface="Calibri"/>
              </a:rPr>
              <a:t>Streamlit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2044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 i="0">
                <a:solidFill>
                  <a:srgbClr val="0D9B9B"/>
                </a:solidFill>
                <a:latin typeface="Calibri"/>
              </a:rPr>
              <a:t>&amp; The Data Analysis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348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5F6B83"/>
                </a:solidFill>
                <a:latin typeface="Microsoft JhengHei"/>
              </a:rPr>
              <a:t>從 dashboard 走向「資料是可信的」data 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4864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Calibri"/>
              </a:rPr>
              <a:t>NS5116 · Programming &amp; AI Applications in Behavioral Science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Calibri"/>
              </a:rPr>
              <a:t>ACL@NCU  ·  Spring 2026  ·  2026-05-14  ·  張智宏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TODAY'S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為什麼今天要回頭講 app.py？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上週介紹了 demo01–demo14 與整合 dashboard app.py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但因為時間關係，沒有逐段拆解整合範例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同時 app.py 用了一個關鍵元件我們還沒解釋：@st.cache_data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5212080" cy="1828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931920"/>
            <a:ext cx="54864" cy="18288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D9B9B"/>
                </a:solidFill>
                <a:latin typeface="Microsoft JhengHei"/>
              </a:rPr>
              <a:t>Part 1 · 60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091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把 app.py 與 caching 講清楚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3931920"/>
            <a:ext cx="5212080" cy="1828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3931920"/>
            <a:ext cx="54864" cy="18288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1148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D9B9B"/>
                </a:solidFill>
                <a:latin typeface="Microsoft JhengHei"/>
              </a:rPr>
              <a:t>Part 2 · 90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7091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把視角拉開，談一般化的資料分析流程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 / 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LEARNING OBJECTIVES · 1 /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本週前半 — 你將能夠⋯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解讀 app.py 的七大區塊與 Streamlit rerun model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正確使用 @st.cache_data（ttl, max_entries, show_spinner）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區分 @st.cache_data vs @st.cache_resource</a:t>
            </a:r>
          </a:p>
          <a:p>
            <a:pPr algn="l">
              <a:lnSpc>
                <a:spcPct val="125000"/>
              </a:lnSpc>
              <a:spcBef>
                <a:spcPts val="990"/>
              </a:spcBef>
            </a:pPr>
            <a:r>
              <a:rPr sz="2200" b="1">
                <a:solidFill>
                  <a:srgbClr val="0D9B9B"/>
                </a:solidFill>
                <a:latin typeface="Calibri"/>
              </a:rPr>
              <a:t>▸  </a:t>
            </a:r>
            <a:r>
              <a:rPr sz="2200">
                <a:solidFill>
                  <a:srgbClr val="1A1A2E"/>
                </a:solidFill>
                <a:latin typeface="Microsoft JhengHei"/>
              </a:rPr>
              <a:t>診斷 UnhashableParamError 等典型錯誤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 / 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LEARNING OBJECTIVES · 2 /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本週後半 — 你將能夠⋯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描繪通用 pipeline：load → inspect → describe → fix → re-describe → analyse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用 descriptive statistics 診斷資料品質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以 observation-driven 方式修補資料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區分 cleaning vs analysis 的邊界</a:t>
            </a:r>
          </a:p>
          <a:p>
            <a:pPr algn="l">
              <a:lnSpc>
                <a:spcPct val="125000"/>
              </a:lnSpc>
              <a:spcBef>
                <a:spcPts val="900"/>
              </a:spcBef>
            </a:pPr>
            <a:r>
              <a:rPr sz="2000" b="1">
                <a:solidFill>
                  <a:srgbClr val="0D9B9B"/>
                </a:solidFill>
                <a:latin typeface="Calibri"/>
              </a:rPr>
              <a:t>▸  </a:t>
            </a:r>
            <a:r>
              <a:rPr sz="2000">
                <a:solidFill>
                  <a:srgbClr val="1A1A2E"/>
                </a:solidFill>
                <a:latin typeface="Microsoft JhengHei"/>
              </a:rPr>
              <a:t>把流程拆成 pure functions（為 final project 鋪路）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 / 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TODAY'S 170 MINUTES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Schedule at a Glance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1828800"/>
          <a:ext cx="94183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6858000"/>
                <a:gridCol w="1645920"/>
              </a:tblGrid>
              <a:tr h="330590"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主題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app.py 整體結構導覽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1.1b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Sidebar — widget → boolean mask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5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Streamlit 執行模型 — 為什麼 rerun 是關鍵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1.3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◆  @st.cache_data 深入解析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25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@st.cache_resource &amp; 兩種快取比較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Break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10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資料分析流程總覽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2.2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Descriptive statistics 作為健康檢查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25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◆  Observation-driven fixing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2.4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完整走一遍 — Stroop demo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15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33059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Cleaning vs analysis 邊界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5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0600"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—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Recap &amp; Homework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10 min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722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總計 170 min（含 10 min break）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5 / 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1  ·  60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Streamlit App &amp;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app.py × @st.cache_data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6 / 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1.1 APP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app.py 整體結構導覽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4325C"/>
                </a:solidFill>
                <a:latin typeface="Microsoft JhengHei"/>
              </a:rPr>
              <a:t>情境：Cognitive Aging Dashboard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231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n = 400，lifespan 認知測驗（RT / WM / processing speed / MoCA / Stroop）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Sidebar 篩 age × sex × education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四個 tabs：Age trajectory · Distributions · By group · Raw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434840"/>
            <a:ext cx="5120640" cy="1783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4434840"/>
            <a:ext cx="54864" cy="1783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46177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Microsoft JhengHei"/>
              </a:rPr>
              <a:t>Dashboard 主視覺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5029200"/>
            <a:ext cx="47548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Sidebar (左) · KPI metrics (上) · 4 tabs (主視覺) · Filtered DataFrame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434840"/>
            <a:ext cx="5394960" cy="17830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4434840"/>
            <a:ext cx="91440" cy="178308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617720"/>
            <a:ext cx="484632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325C"/>
                </a:solidFill>
                <a:latin typeface="Microsoft JhengHei"/>
              </a:rPr>
              <a:t>Streamlit app 通常由七個區塊組成 — 下一頁逐一拆解。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跟著拆解 7 個區塊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streamlit run demo/00_week11_app/app.py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7 /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1.1 SEVEN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一個典型 Streamlit app 的七大區塊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23774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Page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828800"/>
            <a:ext cx="7772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st.set_page_config()  — 必須最先呼叫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95728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95728"/>
            <a:ext cx="23774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Constants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2395728"/>
            <a:ext cx="7772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DATA_PATH, MEASURES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62656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62656"/>
            <a:ext cx="23774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Data loading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962656"/>
            <a:ext cx="7772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@st.cache_data + load_data()   ◆ 今天重點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29584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529584"/>
            <a:ext cx="23774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Sidebar widgets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529584"/>
            <a:ext cx="7772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st.slider, st.multiselect, st.selectbox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096512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96512"/>
            <a:ext cx="23774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Filtering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4096512"/>
            <a:ext cx="7772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boolean mask on DataFrame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663440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663440"/>
            <a:ext cx="23774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Header + KPI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663440"/>
            <a:ext cx="7772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st.title, st.metric ×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230368"/>
            <a:ext cx="4572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230368"/>
            <a:ext cx="23774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Tabs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230368"/>
            <a:ext cx="77724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st.tabs(...)  ×  4   ← 主視覺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264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D34F4F"/>
                </a:solidFill>
                <a:latin typeface="Microsoft JhengHei"/>
              </a:rPr>
              <a:t>▲  注意：st.set_page_config() 必須是第一個 Streamlit 呼叫；否則 raise StreamlitAPIException。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打開檔案找出每一個區塊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demo/00_week11_app/app.py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8 /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1.1b  SIDEBAR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Sidebar 的角色 — 把 widget 值接到 filtering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D9B9B"/>
                </a:solidFill>
                <a:latin typeface="Microsoft JhengHei"/>
              </a:rPr>
              <a:t>app.py 的 5 個 sidebar widgets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325C"/>
                </a:solidFill>
                <a:latin typeface="Consolas"/>
              </a:rPr>
              <a:t>st.slider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194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Age range  →  tuple (age_min, age_max)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325C"/>
                </a:solidFill>
                <a:latin typeface="Consolas"/>
              </a:rPr>
              <a:t>st.multiselect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5786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Sex        →  list["F", "M"]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96265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325C"/>
                </a:solidFill>
                <a:latin typeface="Consolas"/>
              </a:rPr>
              <a:t>st.slider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9626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Education  →  tuple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34670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325C"/>
                </a:solidFill>
                <a:latin typeface="Consolas"/>
              </a:rPr>
              <a:t>st.selectbox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3467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Measure    →  單值 (with format_func)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3075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4325C"/>
                </a:solidFill>
                <a:latin typeface="Consolas"/>
              </a:rPr>
              <a:t>st.checkbox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37307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Regression line  →  bool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783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D9B9B"/>
                </a:solidFill>
                <a:latin typeface="Microsoft JhengHei"/>
              </a:rPr>
              <a:t>Widget → boolean mask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2194560"/>
            <a:ext cx="4846320" cy="23317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with st.sidebar: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age_min, age_max = st.slider(...)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sex_choices      = st.multiselect(...)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mask = (df_all["age"].between(age_min, age_max)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&amp; df_all["sex"].isin(sex_choices))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df = df_all[mask].copy()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262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8A12A"/>
                </a:solidFill>
                <a:latin typeface="Microsoft JhengHei"/>
              </a:rPr>
              <a:t>三條 sidebar 設計紀律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3703320" cy="13258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54864" cy="132588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502920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A12A"/>
                </a:solidFill>
                <a:latin typeface="Calibri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502920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Microsoft JhengHei"/>
              </a:rPr>
              <a:t>with st.sidebar: 的 scope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" y="548640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widgets 寫在 sidebar；篩選 logic 寫在主程式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4937760"/>
            <a:ext cx="3703320" cy="13258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17720" y="4937760"/>
            <a:ext cx="54864" cy="132588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502920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A12A"/>
                </a:solidFill>
                <a:latin typeface="Calibr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502920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Microsoft JhengHei"/>
              </a:rPr>
              <a:t>default= / value= 寫死合理初值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548640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否則使用者打開 app 看到空白會困惑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4937760"/>
            <a:ext cx="3703320" cy="132588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58200" y="4937760"/>
            <a:ext cx="54864" cy="132588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22792" y="5029200"/>
            <a:ext cx="457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A12A"/>
                </a:solidFill>
                <a:latin typeface="Calibri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502920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  <a:latin typeface="Microsoft JhengHei"/>
              </a:rPr>
              <a:t>format_func 分離顯示與 key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22792" y="5486400"/>
            <a:ext cx="34290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F6B83"/>
                </a:solidFill>
                <a:latin typeface="Microsoft JhengHei"/>
              </a:rPr>
              <a:t>selectbox 顯示中文、回傳英文 key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14325C"/>
                </a:solidFill>
                <a:latin typeface="Microsoft JhengHei"/>
              </a:rPr>
              <a:t>與 caching 的連結：sidebar widget 是觸發 rerun 的最常見來源 → load_data() 必須要 cache。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9 / 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HANDS-ON  ·  Hands-on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把 app 跑起來、改一個參數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streamlit run app.py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把 "Reaction Time (ms)" 改成 "Simple RT (ms)"，存檔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觀察「Source file changed. Rerun.」提示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572000"/>
            <a:ext cx="54864" cy="9144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45152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8A12A"/>
                </a:solidFill>
                <a:latin typeface="Microsoft JhengHei"/>
              </a:rPr>
              <a:t>思考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956048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為什麼整支程式重新執行？對 load_data() 開銷意味著什麼？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demo/00_week11_app/app.py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10 / 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1.2 EXECUTION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Streamlit 的核心執行模型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91440" cy="14630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86000"/>
            <a:ext cx="9966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325C"/>
                </a:solidFill>
                <a:latin typeface="Microsoft JhengHei"/>
              </a:rPr>
              <a:t>每當使用者操作任何 widget，Streamlit 都會從頭到尾重新執行整支 app.py。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158087" y="4206240"/>
            <a:ext cx="301752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58087" y="4206240"/>
            <a:ext cx="54864" cy="1005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8087" y="44805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  <a:latin typeface="Microsoft JhengHei"/>
              </a:rPr>
              <a:t>Widget interaction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21327" y="4599432"/>
            <a:ext cx="320040" cy="228600"/>
          </a:xfrm>
          <a:prstGeom prst="rightArrow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87087" y="4206240"/>
            <a:ext cx="301752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87087" y="4206240"/>
            <a:ext cx="54864" cy="1005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7087" y="44805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  <a:latin typeface="Microsoft JhengHei"/>
              </a:rPr>
              <a:t>Full script rerun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50327" y="4599432"/>
            <a:ext cx="320040" cy="228600"/>
          </a:xfrm>
          <a:prstGeom prst="rightArrow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16087" y="4206240"/>
            <a:ext cx="301752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6087" y="4206240"/>
            <a:ext cx="54864" cy="1005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16087" y="44805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1A1A2E"/>
                </a:solidFill>
                <a:latin typeface="Microsoft JhengHei"/>
              </a:rPr>
              <a:t>New UI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5486400"/>
            <a:ext cx="121916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5F6B83"/>
                </a:solidFill>
                <a:latin typeface="Microsoft JhengHei"/>
              </a:rPr>
              <a:t>↻  迴圈 — 每次互動都觸發整輪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34F4F"/>
                </a:solidFill>
                <a:latin typeface="Calibri"/>
              </a:rPr>
              <a:t>▶ DEMO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並排對比：有 vs 無 @st.cache_data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streamlit run demo/00_week11_app/app_no_cache.py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11 / 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1.2 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Rerun 模型的兩個重大後果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28800"/>
            <a:ext cx="5440680" cy="30175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54864" cy="30175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1168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2E8B57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60604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State management 變簡單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246120"/>
            <a:ext cx="4983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Widget 值自動傳入下一次 rerun；不需要手動處理「更新狀態 → 重繪 UI」的邏輯。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28800"/>
            <a:ext cx="5440680" cy="30175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828800"/>
            <a:ext cx="54864" cy="301752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011680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D34F4F"/>
                </a:solidFill>
                <a:latin typeface="Calibri"/>
              </a:rPr>
              <a:t>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606040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昂貴計算被反覆執行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246120"/>
            <a:ext cx="49834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load_data() 每 rerun 都會重讀一次 CSV。換成 API 或 fMRI volume → app 完全不能用。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120640"/>
            <a:ext cx="10515600" cy="9601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5120640"/>
            <a:ext cx="91440" cy="9601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303520"/>
            <a:ext cx="99669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 i="0">
                <a:solidFill>
                  <a:srgbClr val="14325C"/>
                </a:solidFill>
                <a:latin typeface="Microsoft JhengHei"/>
              </a:rPr>
              <a:t>→ 這就是為什麼需要 @st.cache_data；它是 functools.lru_cache 的 Streamlit 強化版。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12 / 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  ◆  @st.cache_data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@st.cache_data — 核心範例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6858000" cy="32918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def load_data(path: Path) -&gt; pd.DataFrame: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df = pd.read_csv(path)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df["group"] = pd.Categorical(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    df["group"],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    categories=["young","middle","older"],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    ordered=True,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return df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0" y="2011680"/>
            <a:ext cx="32004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0" y="2011680"/>
            <a:ext cx="54864" cy="12801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0" y="214884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34F4F"/>
                </a:solidFill>
                <a:latin typeface="Microsoft JhengHei"/>
              </a:rPr>
              <a:t>Without cache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2E"/>
                </a:solidFill>
                <a:latin typeface="Calibri"/>
              </a:rPr>
              <a:t>≈ 80 ms / rerun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3474720"/>
            <a:ext cx="32004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3474720"/>
            <a:ext cx="54864" cy="128016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36118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8B57"/>
                </a:solidFill>
                <a:latin typeface="Microsoft JhengHei"/>
              </a:rPr>
              <a:t>With @st.cache_data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97764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2E"/>
                </a:solidFill>
                <a:latin typeface="Calibri"/>
              </a:rPr>
              <a:t>≈  0 ms (cache hit)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14325C"/>
                </a:solidFill>
                <a:latin typeface="Microsoft JhengHei"/>
              </a:rPr>
              <a:t>一個裝飾器 — 避免 rerun 時重讀 CSV。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2E8B57"/>
                </a:solidFill>
                <a:latin typeface="Calibri"/>
              </a:rPr>
              <a:t>▶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看 cache hit 的威力（頁內計時器）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streamlit run demo/00_week11_app/app_with_cache.py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13 / 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CACHE KEY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Cache key 是怎麼算出來的？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352044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54864" cy="3200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880360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函式名稱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747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load_data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07992" y="1920240"/>
            <a:ext cx="352044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7992" y="1920240"/>
            <a:ext cx="54864" cy="3200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36592" y="214884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2880360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參數的 hash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34747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Path 物件 → 字串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4" y="1920240"/>
            <a:ext cx="352044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1920240"/>
            <a:ext cx="54864" cy="3200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1624" y="2148840"/>
            <a:ext cx="1371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1624" y="2880360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Microsoft JhengHei"/>
              </a:rPr>
              <a:t>函式原始碼 hash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1624" y="347472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修改函式內容 → 舊 cache 自動失效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74920"/>
            <a:ext cx="10515600" cy="6858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74920"/>
            <a:ext cx="91440" cy="6858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25780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4325C"/>
                </a:solidFill>
                <a:latin typeface="Microsoft JhengHei"/>
              </a:rPr>
              <a:t>同一個 path 第二次傳入 → 整個函式被跳過，直接回傳上次結果。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改 load_data 內容後重啟，cache 自動失效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demo/01_cache_data/cache_demo.py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14 / 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COPY SEMANTICS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為什麼回傳的是 copy 而不是 reference？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底層做 serialize → deserialize → 等同 deep copy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保證：使用者下游怎麼亂改 DataFrame 都不會污染 cache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代價：序列化開銷；&gt; 100 MB 的物件 → 改用 @st.cache_resource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023360"/>
            <a:ext cx="10515600" cy="20116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df  = load_data(p)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df["age"] = -999          # 你愛怎麼改怎麼改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df2 = load_data(p)</a:t>
            </a:r>
          </a:p>
          <a:p>
            <a:pPr algn="l">
              <a:lnSpc>
                <a:spcPct val="115000"/>
              </a:lnSpc>
            </a:pPr>
            <a:r>
              <a:rPr sz="1600">
                <a:solidFill>
                  <a:srgbClr val="FFFFFF"/>
                </a:solidFill>
                <a:latin typeface="Consolas"/>
              </a:rPr>
              <a:t>print(df2["age"].head())  # 仍然是原始值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看 deep copy vs reference 的實際差異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demo/02_cache_vs_resource/compare.py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15 / 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KEY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@st.cache_data 重要參數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920240"/>
          <a:ext cx="103327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657600"/>
                <a:gridCol w="4389120"/>
              </a:tblGrid>
              <a:tr h="658368"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參數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用途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何時用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</a:tr>
              <a:tr h="658368">
                <a:tc>
                  <a:txBody>
                    <a:bodyPr tIns="27432" bIns="27432"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ttl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time-to-live（秒）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API 資料每小時刷新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tIns="27432" bIns="27432"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max_entries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LRU 上限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函式被多種 input 呼叫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658368">
                <a:tc>
                  <a:txBody>
                    <a:bodyPr tIns="27432" bIns="27432"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show_spinner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第一次計算的提示文字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計算 &gt; 1 秒，給使用者回饋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tIns="27432" bIns="27432"/>
                    <a:lstStyle/>
                    <a:p>
                      <a:r>
                        <a:rPr sz="1400" b="1">
                          <a:solidFill>
                            <a:srgbClr val="1A1A2E"/>
                          </a:solidFill>
                          <a:latin typeface="Microsoft JhengHei"/>
                        </a:rPr>
                        <a:t>persist="disk"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cache 寫到磁碟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400">
                          <a:solidFill>
                            <a:srgbClr val="1A1A2E"/>
                          </a:solidFill>
                          <a:latin typeface="Microsoft JhengHei"/>
                        </a:rPr>
                        <a:t>重啟 app 也保留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937760"/>
            <a:ext cx="10332720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@st.cache_data(ttl=3600, max_entries=10,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       show_spinner="Loading...", persist="disk")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def load_data(path):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改 TTL=None → 10 觀察 spinner 行為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demo/01_cache_data/cache_demo.py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16 / 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PITFALL #1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▲  常見錯誤 1 — Widget 寫在 cached function 內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440680" cy="502920"/>
          </a:xfrm>
          <a:prstGeom prst="rect">
            <a:avLst/>
          </a:prstGeom>
          <a:solidFill>
            <a:srgbClr val="D34F4F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4864" cy="50292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385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JhengHei"/>
              </a:rPr>
              <a:t>✗  錯誤示範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2316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bad_load():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n = st.slider("rows", 10, 100)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    # slider 改動後仍回舊結果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return df.sample(n)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874519"/>
            <a:ext cx="5440680" cy="502920"/>
          </a:xfrm>
          <a:prstGeom prst="rect">
            <a:avLst/>
          </a:prstGeom>
          <a:solidFill>
            <a:srgbClr val="2E8B57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4864" cy="50292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9385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icrosoft JhengHei"/>
              </a:rPr>
              <a:t>✓  正確寫法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2423160"/>
            <a:ext cx="5440680" cy="23774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n  = st.slider("rows", 10, 100)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df = good_load(n)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8B9DB8"/>
                </a:solidFill>
                <a:latin typeface="Consolas"/>
              </a:rPr>
              <a:t># widget 在外面讀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good_load(n): 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11018520" cy="914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5074920"/>
            <a:ext cx="91440" cy="914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257800"/>
            <a:ext cx="10469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4325C"/>
                </a:solidFill>
                <a:latin typeface="Microsoft JhengHei"/>
              </a:rPr>
              <a:t>原因：cache key 不包含 widget 的當前值 — slider 改動後仍回傳舊結果。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demo/01_cache_data/pitfalls.py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17 / 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1.3 PITFALL #2 &amp; #3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▲  常見錯誤 2 &amp; 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34F4F"/>
                </a:solidFill>
                <a:latin typeface="Microsoft JhengHei"/>
              </a:rPr>
              <a:t>錯誤 2  ·  UnhashableParamError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傳了 dict / DataFrame 進 cached function。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971800"/>
            <a:ext cx="5166360" cy="13716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def f(df, _params):   # _ → 跳過 hash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52120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底線參數不參與 key — 你必須自己保證它不影響輸出。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01168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D34F4F"/>
                </a:solidFill>
                <a:latin typeface="Microsoft JhengHei"/>
              </a:rPr>
              <a:t>錯誤 3  ·  Side effect 被略過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4688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cached function 第二次以同 input 呼叫時被「跳過」。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97180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@st.cache_data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def fetch(url):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print(f"Fetching {url}")  # 第二次不會印！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return requests.get(url).json()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93776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不要把 logging / 寫檔等 side effect 放在 cached function 內。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D34F4F"/>
                </a:solidFill>
                <a:latin typeface="Calibri"/>
              </a:rPr>
              <a:t>▶ DEMO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三個 pitfalls 並列示範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streamlit run demo/01_cache_data/pitfalls.py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18 / 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HANDS-ON  ·  Hands-on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觀察 cache 行為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在 load_data() 內加 print("DEBUG: reading CSV")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情境 A：有 @st.cache_data → 只印一次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情境 B：拿掉裝飾器 → 每次 slider 都印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情境 C：@st.cache_data(ttl=10) → 10 秒後再觸發重讀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demo/01_cache_data/cache_demo.py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19 / 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1.4   ◆  CACHE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@st.cache_data vs @st.cache_resource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828800"/>
          <a:ext cx="105155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977639"/>
                <a:gridCol w="3977639"/>
              </a:tblGrid>
              <a:tr h="457200">
                <a:tc>
                  <a:txBody>
                    <a:bodyPr tIns="36576" bIns="36576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@st.cache_data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@st.cache_resource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</a:tr>
              <a:tr h="457200">
                <a:tc>
                  <a:txBody>
                    <a:bodyPr tIns="27432" bIns="27432"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回傳值處理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Serialize → deep 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回傳同一個 reference（singleton）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tIns="27432" bIns="27432"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適用場景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DataFrame · array · JSON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DB conn · ML model · LLM client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tIns="27432" bIns="27432"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跨 user session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各自快取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共享同一個物件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tIns="27432" bIns="27432"/>
                    <a:lstStyle/>
                    <a:p>
                      <a:r>
                        <a:rPr sz="1300" b="1">
                          <a:solidFill>
                            <a:srgbClr val="1A1A2E"/>
                          </a:solidFill>
                          <a:latin typeface="Microsoft JhengHei"/>
                        </a:rPr>
                        <a:t>副作用風險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低（每人都是 copy）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300">
                          <a:solidFill>
                            <a:srgbClr val="1A1A2E"/>
                          </a:solidFill>
                          <a:latin typeface="Microsoft JhengHei"/>
                        </a:rPr>
                        <a:t>高 — 多人改同物件互相影響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434840"/>
            <a:ext cx="10515600" cy="1554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@st.cache_resource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get_anthropic_client():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from anthropic import Anthropic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return Anthropic(api_key=st.secrets["ANTHROPIC_API_KEY"])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05332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F6B83"/>
                </a:solidFill>
                <a:latin typeface="Microsoft JhengHei"/>
              </a:rPr>
              <a:t>範例：Week 14 的 Anthropic client 應該用 cache_resource。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264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demo/02_cache_vs_resource/compare.py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20 / 43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1 · 1.4 DECISION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Decision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91440" cy="12801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56032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325C"/>
                </a:solidFill>
                <a:latin typeface="Microsoft JhengHei"/>
              </a:rPr>
              <a:t>要的是「資料」？  →  @st.cache_data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931920"/>
            <a:ext cx="105156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931920"/>
            <a:ext cx="91440" cy="128016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4114800"/>
            <a:ext cx="9966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要的是「資源 / 連線 / 物件」？  →  @st.cache_resource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21 / 43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EA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468880"/>
            <a:ext cx="12191695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0" b="1" i="0">
                <a:solidFill>
                  <a:srgbClr val="14325C"/>
                </a:solidFill>
                <a:latin typeface="Calibri"/>
              </a:rPr>
              <a:t>BREAK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749039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0" i="0">
                <a:solidFill>
                  <a:srgbClr val="1A1A2E"/>
                </a:solidFill>
                <a:latin typeface="Microsoft JhengHei"/>
              </a:rPr>
              <a:t>10 分鐘休息  ·  回來繼續 Data Analysis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22 / 43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0D9B9B"/>
                </a:solidFill>
                <a:latin typeface="Calibri"/>
              </a:rPr>
              <a:t>PART 2  ·  90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26080"/>
            <a:ext cx="114300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Data Analysis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1430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D9B9B"/>
                </a:solidFill>
                <a:latin typeface="Microsoft JhengHei"/>
              </a:rPr>
              <a:t>descriptive statistics × observation-driven fixing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0D9B9B"/>
                </a:solidFill>
                <a:latin typeface="Calibri"/>
              </a:rPr>
              <a:t>23 / 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2.1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為什麼今天先講通用流程？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資料可能來自 CSV、API、PsychoPy log、SQL、fMRI volume ⋯⋯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raw data → analysable data 永遠隔著相同的中間幾步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跳過 → 結論與資料的雜訊綁在一起，未來 reviewer 會挑剔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434840"/>
            <a:ext cx="1554480" cy="914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434840"/>
            <a:ext cx="54864" cy="914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0D9B9B"/>
                </a:solidFill>
                <a:latin typeface="Microsoft JhengHei"/>
              </a:rPr>
              <a:t>CSV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42032" y="4434840"/>
            <a:ext cx="1554480" cy="914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42032" y="4434840"/>
            <a:ext cx="54864" cy="9144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466344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E8A12A"/>
                </a:solidFill>
                <a:latin typeface="Microsoft JhengHei"/>
              </a:rPr>
              <a:t>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1104" y="4434840"/>
            <a:ext cx="1554480" cy="914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61104" y="4434840"/>
            <a:ext cx="54864" cy="9144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466344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2E8B57"/>
                </a:solidFill>
                <a:latin typeface="Microsoft JhengHei"/>
              </a:rPr>
              <a:t>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0176" y="4434840"/>
            <a:ext cx="1554480" cy="914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80176" y="4434840"/>
            <a:ext cx="54864" cy="9144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0176" y="466344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D34F4F"/>
                </a:solidFill>
                <a:latin typeface="Microsoft JhengHei"/>
              </a:rPr>
              <a:t>Brain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818120" y="4754880"/>
            <a:ext cx="731520" cy="274320"/>
          </a:xfrm>
          <a:prstGeom prst="rightArrow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32520" y="4434840"/>
            <a:ext cx="2560320" cy="914400"/>
          </a:xfrm>
          <a:prstGeom prst="rect">
            <a:avLst/>
          </a:prstGeom>
          <a:solidFill>
            <a:srgbClr val="14325C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46634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JhengHei"/>
              </a:rPr>
              <a:t>通用 pipeline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跑一遍完整 pipeline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python demo/03_pipeline/pipeline.py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24 / 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2.1   ◆ 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完整 Pipeline — 六個步驟</a:t>
            </a:r>
          </a:p>
        </p:txBody>
      </p:sp>
      <p:sp>
        <p:nvSpPr>
          <p:cNvPr id="6" name="Oval 5"/>
          <p:cNvSpPr/>
          <p:nvPr/>
        </p:nvSpPr>
        <p:spPr>
          <a:xfrm>
            <a:off x="1005840" y="1856232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0195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89280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load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94767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I/O only, no transform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43584" y="2359152"/>
            <a:ext cx="36576" cy="164592"/>
          </a:xfrm>
          <a:prstGeom prst="rect">
            <a:avLst/>
          </a:prstGeom>
          <a:solidFill>
            <a:srgbClr val="E2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05840" y="2514600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6032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551176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inspect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0604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shape · dtypes · head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43584" y="3017520"/>
            <a:ext cx="36576" cy="164592"/>
          </a:xfrm>
          <a:prstGeom prst="rect">
            <a:avLst/>
          </a:prstGeom>
          <a:solidFill>
            <a:srgbClr val="E2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3172968"/>
            <a:ext cx="502920" cy="502920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21868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209544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describe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26440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descriptive statistics（診斷）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326440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Microsoft JhengHei"/>
              </a:rPr>
              <a:t>◆  今天重點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43584" y="3675888"/>
            <a:ext cx="36576" cy="164592"/>
          </a:xfrm>
          <a:prstGeom prst="rect">
            <a:avLst/>
          </a:prstGeom>
          <a:solidFill>
            <a:srgbClr val="E2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5840" y="3831336"/>
            <a:ext cx="502920" cy="502920"/>
          </a:xfrm>
          <a:prstGeom prst="ellipse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87705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3867912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fix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392277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observation-driven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392277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Microsoft JhengHei"/>
              </a:rPr>
              <a:t>◆  今天重點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43584" y="4334256"/>
            <a:ext cx="36576" cy="164592"/>
          </a:xfrm>
          <a:prstGeom prst="rect">
            <a:avLst/>
          </a:prstGeom>
          <a:solidFill>
            <a:srgbClr val="E2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5840" y="4489704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53542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452628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re-describe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58114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驗證 fix 沒引入新問題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243584" y="4992624"/>
            <a:ext cx="36576" cy="164592"/>
          </a:xfrm>
          <a:prstGeom prst="rect">
            <a:avLst/>
          </a:prstGeom>
          <a:solidFill>
            <a:srgbClr val="E2E6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5840" y="5148072"/>
            <a:ext cx="502920" cy="502920"/>
          </a:xfrm>
          <a:prstGeom prst="ellipse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193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5184648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Calibri"/>
              </a:rPr>
              <a:t>analyse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52395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回答研究問題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pipeline.py 6 步對應這張圖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demo/03_pipeline/pipeline.py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25 / 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2.1 COMMON TRAPS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兩個常見誤區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057399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D34F4F"/>
                </a:solidFill>
                <a:latin typeface="Calibri"/>
              </a:rPr>
              <a:t>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88919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跳過 describe 直接畫圖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566159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F6B83"/>
                </a:solidFill>
                <a:latin typeface="Microsoft JhengHei"/>
              </a:rPr>
              <a:t>你只看到「眼睛能掃到的前幾行」。第 32 row 的 RT = 99999 永遠不會被發現。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4652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2057399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D34F4F"/>
                </a:solidFill>
                <a:latin typeface="Calibri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788919"/>
            <a:ext cx="4983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先 df.dropna() 再說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3566159"/>
            <a:ext cx="49834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5F6B83"/>
                </a:solidFill>
                <a:latin typeface="Microsoft JhengHei"/>
              </a:rPr>
              <a:t>沒看缺值樣態（隨機？系統？某 condition 集中？） → 容易引入 selection bias。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26 / 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HANDS-ON  ·  Hands-on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替 app.py 標出 pipeline 位置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1) 哪一行對應 load？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2) 哪一段對應 analyse / visualise？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3) 缺少哪幾步？對合成資料 vs 真實資料合理嗎？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2E8B57"/>
                </a:solidFill>
                <a:latin typeface="Microsoft JhengHei"/>
              </a:rPr>
              <a:t>預期觀察：load_data() 在第 56 行；tabs 內畫圖；缺 inspect / describe / fix / re-describe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27 / 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2.2   ◆ 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Descriptive Statistics 作為「健康檢查」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重新定位：不是「論文 Table 1」，而是資料品質的診斷儀器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0D9B9B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五件每次都做的事 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00400"/>
            <a:ext cx="10515600" cy="228600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print(df.shape)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print(df.dtypes)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print(df.isnull().sum())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print(df.describe(include="all"))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for col in df.select_dtypes("object"):</a:t>
            </a:r>
          </a:p>
          <a:p>
            <a:pPr algn="l">
              <a:lnSpc>
                <a:spcPct val="115000"/>
              </a:lnSpc>
            </a:pPr>
            <a:r>
              <a:rPr sz="1500">
                <a:solidFill>
                  <a:srgbClr val="FFFFFF"/>
                </a:solidFill>
                <a:latin typeface="Consolas"/>
              </a:rPr>
              <a:t>    print(df[col].value_counts(dropna=False).head(10))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5303520"/>
            <a:ext cx="10515600" cy="50292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5303520"/>
            <a:ext cx="91440" cy="50292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5486400"/>
            <a:ext cx="99669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 i="0">
                <a:solidFill>
                  <a:srgbClr val="14325C"/>
                </a:solidFill>
                <a:latin typeface="Microsoft JhengHei"/>
              </a:rPr>
              <a:t>關鍵：每個指令不只是看數字 — 跑完後問「這合不合理？」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▶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用這 5 個指令掃過 messy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demo/data/messy_stroop.csv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28 / 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2.2   ◆  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從 summary 讀出問題 — 速查表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280160" y="1828800"/>
          <a:ext cx="96012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/>
                <a:gridCol w="4754880"/>
              </a:tblGrid>
              <a:tr h="436880">
                <a:tc>
                  <a:txBody>
                    <a:bodyPr tIns="36576" bIns="36576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觀察到的現象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Microsoft JhengHei"/>
                        </a:rPr>
                        <a:t>可能的問題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</a:tr>
              <a:tr h="43688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某欄 count 較少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大量缺值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dtype 是 object，但內容像數字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混入 "NA" / "-" / 空字串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3688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min / max 物理上不可能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sentinel value 或編碼錯誤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mean ≠ median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分佈偏斜或極端 outlier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3688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std 異常大 / ≈ 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outlier 或近常數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value_counts 出現 "NA","-","",999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缺值偽裝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43688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level 重複（M / male / Male）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編碼不一致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某 condition trial 數遠少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不平衡設計或 logging 失敗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在 messy_stroop.csv 上練習找問題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demo/data/messy_stroop.csv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29 / 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2.2 VISUAL DIAGNOSTIC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視覺化也是 descriptive statistics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361188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920240"/>
            <a:ext cx="54864" cy="32004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86000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0D9B9B"/>
                </a:solidFill>
                <a:latin typeface="Consolas"/>
              </a:rPr>
              <a:t>df.hist()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3108960"/>
            <a:ext cx="288036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47472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5F6B83"/>
                </a:solidFill>
                <a:latin typeface="Calibri"/>
              </a:rPr>
              <a:t>[ plot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5262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每個 numeric 欄位的分佈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1920240"/>
            <a:ext cx="361188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17720" y="1920240"/>
            <a:ext cx="54864" cy="32004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2286000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E8A12A"/>
                </a:solidFill>
                <a:latin typeface="Consolas"/>
              </a:rPr>
              <a:t>df.plot.box()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83480" y="3108960"/>
            <a:ext cx="288036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80" y="347472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5F6B83"/>
                </a:solidFill>
                <a:latin typeface="Calibri"/>
              </a:rPr>
              <a:t>[ plot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5262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outlier 一目了然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1920240"/>
            <a:ext cx="3611880" cy="32004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1920240"/>
            <a:ext cx="54864" cy="320040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41080" y="2286000"/>
            <a:ext cx="32461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D34F4F"/>
                </a:solidFill>
                <a:latin typeface="Consolas"/>
              </a:rPr>
              <a:t>df.isnull().sum()</a:t>
            </a:r>
          </a:p>
          <a:p>
            <a:pPr algn="l"/>
            <a:r>
              <a:rPr sz="1500" b="1">
                <a:solidFill>
                  <a:srgbClr val="D34F4F"/>
                </a:solidFill>
                <a:latin typeface="Consolas"/>
              </a:rPr>
              <a:t>  .plot.bar()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0" y="3108960"/>
            <a:ext cx="288036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3474720"/>
            <a:ext cx="2880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5F6B83"/>
                </a:solidFill>
                <a:latin typeface="Calibri"/>
              </a:rPr>
              <a:t>[ plot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4526280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缺值集中在哪幾欄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5321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700" b="0" i="1">
                <a:solidFill>
                  <a:srgbClr val="14325C"/>
                </a:solidFill>
                <a:latin typeface="Microsoft JhengHei"/>
              </a:rPr>
              <a:t>數字摘要會 average-out 結構性問題；圖才看得到。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30 / 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HANDS-ON  ·  Hands-on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從 summary 讀出三個問題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情境：n=200 Stroop-like dataset（刻意 messy）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工具：info() / describe(include="all") / isnull().sum() / value_counts(dropna=False)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任務：列出至少三個資料品質問題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2E8B57"/>
                </a:solidFill>
                <a:latin typeface="Microsoft JhengHei"/>
              </a:rPr>
              <a:t>預期觀察：rt_ms object dtype；max=99999 sentinel；condition 大小寫不一致；age 含 -999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demo/data/messy_stroop.csv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31 / 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2.3   ◆  CORE PRINCIPLE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Observation-Driven Fixing — 核心原則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10515600" cy="1463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91440" cy="14630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9966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每一個 cleaning 動作都應該對應到 §2.2 的具體觀察，且你能說出它的代價。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0927" y="4434840"/>
            <a:ext cx="32004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20927" y="4434840"/>
            <a:ext cx="54864" cy="12801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9527" y="461772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0D9B9B"/>
                </a:solidFill>
                <a:latin typeface="Microsoft JhengHei"/>
              </a:rPr>
              <a:t>觀察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9527" y="507492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從 descriptive statistics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21327" y="4937760"/>
            <a:ext cx="274320" cy="274320"/>
          </a:xfrm>
          <a:prstGeom prst="rightArrow">
            <a:avLst/>
          </a:prstGeom>
          <a:solidFill>
            <a:srgbClr val="5F6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95647" y="4434840"/>
            <a:ext cx="32004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95647" y="4434840"/>
            <a:ext cx="54864" cy="1280160"/>
          </a:xfrm>
          <a:prstGeom prst="rect">
            <a:avLst/>
          </a:prstGeom>
          <a:solidFill>
            <a:srgbClr val="143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24247" y="461772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4325C"/>
                </a:solidFill>
                <a:latin typeface="Microsoft JhengHei"/>
              </a:rPr>
              <a:t>動作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24247" y="507492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對應的 fix（coerce / drop / fill ...）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96047" y="4937760"/>
            <a:ext cx="274320" cy="274320"/>
          </a:xfrm>
          <a:prstGeom prst="rightArrow">
            <a:avLst/>
          </a:prstGeom>
          <a:solidFill>
            <a:srgbClr val="5F6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0367" y="4434840"/>
            <a:ext cx="3200400" cy="12801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70367" y="4434840"/>
            <a:ext cx="54864" cy="128016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98967" y="4617720"/>
            <a:ext cx="2834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E8A12A"/>
                </a:solidFill>
                <a:latin typeface="Microsoft JhengHei"/>
              </a:rPr>
              <a:t>代價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98967" y="507492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Microsoft JhengHei"/>
              </a:rPr>
              <a:t>你必須能說出這個決定犧牲了什麼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clean() docstring 寫出對應關係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demo/03_pipeline/pipeline.py::clean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32 / 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2.3   ◆  MAPPING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觀察 → 動作 → 代價 對應表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927079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977639"/>
                <a:gridCol w="3657600"/>
              </a:tblGrid>
              <a:tr h="537210"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觀察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動作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代價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object dtype 像數字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pd.to_numeric(errors="coerce")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無法解析 → NaN 悄悄發生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sentinel 偽裝缺值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replace(...) → to_numeric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漏掉 sentinel 就污染分析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缺值少且隨機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dropna(subset=...)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損失 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缺值多 / 系統性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fillna(策略)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填補本身是一個假設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物理不可能值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between(...) filter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範圍錯 → 剔除真實 outlier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categorical 不一致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str.lower() + replace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合併不該合的 level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time 非 datetime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pd.to_datetime(errors="coerce")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format 不對整欄變 NaT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33 / 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2.3 DISCIPLINE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三條 cleaning 紀律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D9B9B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659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每步留 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201168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onsolas"/>
              </a:rPr>
              <a:t>print(f"dropna: {before} → {len(df)}")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578608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D9B9B"/>
                </a:solidFill>
                <a:latin typeface="Calibri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624328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改完再跑一次 describe()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670048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onsolas"/>
              </a:rPr>
              <a:t>沒驗證 = 沒做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36976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0D9B9B"/>
                </a:solidFill>
                <a:latin typeface="Calibri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282696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不要 chain method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328416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Consolas"/>
              </a:rPr>
              <a:t>一行一動作，error 才追得到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D34F4F"/>
                </a:solidFill>
                <a:latin typeface="Microsoft JhengHei"/>
              </a:rPr>
              <a:t>✗ Chain method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572000"/>
            <a:ext cx="5440680" cy="1554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df = (df.replace(-999, np.nan)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.dropna()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.query("rt_ms.between(150, 3000)")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.reset_index(drop=True))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062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E8B57"/>
                </a:solidFill>
                <a:latin typeface="Microsoft JhengHei"/>
              </a:rPr>
              <a:t>✓ Step-by-step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572000"/>
            <a:ext cx="5349240" cy="15544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df = df.replace(-999, np.nan)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print(df.isnull().sum())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df = df.dropna(subset=["age"])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df = df[df["rt_ms"].between(150, 3000)]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5852160"/>
            <a:ext cx="73152" cy="4572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5943600"/>
            <a:ext cx="960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A12A"/>
                </a:solidFill>
                <a:latin typeface="Calibri"/>
              </a:rPr>
              <a:t>▶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943600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Microsoft JhengHei"/>
              </a:rPr>
              <a:t>每步都有 print log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59" y="5943600"/>
            <a:ext cx="44805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4325C"/>
                </a:solidFill>
                <a:latin typeface="Consolas"/>
              </a:rPr>
              <a:t>demo/03_pipeline/pipeline.py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34 / 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2.3 ERROR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▲  兩種錯誤模式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D34F4F"/>
                </a:solidFill>
                <a:latin typeface="Microsoft JhengHei"/>
              </a:rPr>
              <a:t>錯誤 A  ·  無腦 dropna()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606040"/>
            <a:ext cx="5166360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df = df.dropna()  # 我不在乎 bias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611880"/>
            <a:ext cx="5212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若 age 缺值集中在年長者（他們較不填寫）→ 系統性低估 cognitive aging 效應。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874519"/>
            <a:ext cx="5440680" cy="40233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874519"/>
            <a:ext cx="54864" cy="4023360"/>
          </a:xfrm>
          <a:prstGeom prst="rect">
            <a:avLst/>
          </a:prstGeom>
          <a:solidFill>
            <a:srgbClr val="D34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1168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D34F4F"/>
                </a:solidFill>
                <a:latin typeface="Microsoft JhengHei"/>
              </a:rPr>
              <a:t>錯誤 B  ·  把 analysis 偽裝成 cleaning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2606040"/>
            <a:ext cx="5166360" cy="11887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df = df[df["rt_ms"] &lt;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FFFFFF"/>
                </a:solidFill>
                <a:latin typeface="Consolas"/>
              </a:rPr>
              <a:t>        df["rt_ms"].mean() + 3*df["rt_ms"].std()]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023360"/>
            <a:ext cx="52120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F6B83"/>
                </a:solidFill>
                <a:latin typeface="Microsoft JhengHei"/>
              </a:rPr>
              <a:t>這條 outlier rule 直接影響 condition mean → 屬於 analysis decision，應放在 analyse() 並暴露閾值。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35 / 43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HANDS-ON  ·  Hands-on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把觀察寫成 clean_stroop(df)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105156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根據 Practice 4 觀察到的問題寫 cleaning function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註解必須寫出「觀察 → 動作 → 代價」</a:t>
            </a:r>
          </a:p>
          <a:p>
            <a:pPr algn="l">
              <a:lnSpc>
                <a:spcPct val="125000"/>
              </a:lnSpc>
              <a:spcBef>
                <a:spcPts val="810"/>
              </a:spcBef>
            </a:pPr>
            <a:r>
              <a:rPr sz="1800" b="1">
                <a:solidFill>
                  <a:srgbClr val="14325C"/>
                </a:solidFill>
                <a:latin typeface="Calibri"/>
              </a:rPr>
              <a:t>▸  </a:t>
            </a:r>
            <a:r>
              <a:rPr sz="1800">
                <a:solidFill>
                  <a:srgbClr val="1A1A2E"/>
                </a:solidFill>
                <a:latin typeface="Microsoft JhengHei"/>
              </a:rPr>
              <a:t>cleaning 前後跑 describe(include="all") 對照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2E8B57"/>
                </a:solidFill>
                <a:latin typeface="Microsoft JhengHei"/>
              </a:rPr>
              <a:t>預期觀察：4 步：to_numeric / between(150,3000) / replace(-999) / lower+replace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demo/03_pipeline/pipeline.py::clean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36 / 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2.4   ◆  END-TO-END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完整走一遍 — Stroop-like RT 流程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6949440" cy="44805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1. load — 生成 messy raw data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raw = pd.DataFrame({...})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2. inspect — shape / dtypes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3. describe — 找出問題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raw.describe(include="all")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4. fix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def clean_stroop(df):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df = df.copy()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df["rt_ms"]     = pd.to_numeric(df["rt_ms"], errors="coerce")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df               = df[df["rt_ms"].between(150, 3000)]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df["age"]       = df["age"].replace({-999: np.nan})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df["condition"] = (df["condition"].str.lower()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                      .replace({"incong": "incongruent"}))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   return df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8B9DB8"/>
                </a:solidFill>
                <a:latin typeface="Consolas"/>
              </a:rPr>
              <a:t># 5. re-describe → 6. analyse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FFFFFF"/>
                </a:solidFill>
                <a:latin typeface="Consolas"/>
              </a:rPr>
              <a:t>clean.groupby("condition")["rt_ms"].agg(["mean","std","count"])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960" y="1783080"/>
            <a:ext cx="4114800" cy="448056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80960" y="1783080"/>
            <a:ext cx="54864" cy="448056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192024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D9B9B"/>
                </a:solidFill>
                <a:latin typeface="Microsoft JhengHei"/>
              </a:rPr>
              <a:t>預期觀察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468880"/>
            <a:ext cx="3840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D9B9B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condition 從看似 4 個 → 真正 2 個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0D9B9B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mean RT 從被 99999 拉高的數千 ms → 約 500 ms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0D9B9B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n 損失需在 report 聲明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0D9B9B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若要看 Stroop effect，生成資料需讓 incongruent +50–80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demo/03_pipeline/pipeline.py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37 / 43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2.5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Cleaning vs Analysis 的邊界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7132320" cy="4206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182880" tIns="164592" bIns="164592" wrap="square"/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load_raw(path):              # I/O only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return pd.read_csv(path)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clean(df):                   # 不可爭議的修補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...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describe(df):                # 健康檢查報表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...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def analyse(df, *, outlier_sd=3.0):   # 可爭議閾值 → parameter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FFFFFF"/>
                </a:solidFill>
                <a:latin typeface="Consolas"/>
              </a:rPr>
              <a:t>   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38160" y="1828800"/>
            <a:ext cx="3611880" cy="42062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138160" y="1828800"/>
            <a:ext cx="54864" cy="420624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1965960"/>
            <a:ext cx="3383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8A12A"/>
                </a:solidFill>
                <a:latin typeface="Microsoft JhengHei"/>
              </a:rPr>
              <a:t>為什麼這樣分？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468880"/>
            <a:ext cx="3383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A12A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clean() 可用 pytest 直接驗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E8A12A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analyse() 的參數寫進 paper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E8A12A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兩者混在一起 → 結論依賴沒被檢視的清理決定</a:t>
            </a:r>
          </a:p>
          <a:p>
            <a:pPr algn="l">
              <a:lnSpc>
                <a:spcPct val="125000"/>
              </a:lnSpc>
              <a:spcBef>
                <a:spcPts val="585"/>
              </a:spcBef>
            </a:pPr>
            <a:r>
              <a:rPr sz="1300" b="1">
                <a:solidFill>
                  <a:srgbClr val="E8A12A"/>
                </a:solidFill>
                <a:latin typeface="Calibri"/>
              </a:rPr>
              <a:t>▸  </a:t>
            </a:r>
            <a:r>
              <a:rPr sz="1300">
                <a:solidFill>
                  <a:srgbClr val="1A1A2E"/>
                </a:solidFill>
                <a:latin typeface="Microsoft JhengHei"/>
              </a:rPr>
              <a:t>對 reproducibility / pre-registration 至關重要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080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0D9B9B"/>
                </a:solidFill>
                <a:latin typeface="Consolas"/>
              </a:rPr>
              <a:t>demo: demo/03_pipeline/pipeline.py + test_clean.py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38 / 43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PART 2 · 2.5 LITMUS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一個檢驗問題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91440" cy="14630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560320"/>
            <a:ext cx="996696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400" b="1" i="0">
                <a:solidFill>
                  <a:srgbClr val="14325C"/>
                </a:solidFill>
                <a:latin typeface="Microsoft JhengHei"/>
              </a:rPr>
              <a:t>「如果換另一位研究者，這個操作會做同一個決定嗎？」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297680"/>
            <a:ext cx="5394960" cy="13716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297680"/>
            <a:ext cx="54864" cy="137160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4805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Microsoft JhengHei"/>
              </a:rPr>
              <a:t>✓ 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0292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→  clean()  · 不可爭議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46520" y="4297680"/>
            <a:ext cx="5394960" cy="13716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46520" y="4297680"/>
            <a:ext cx="54864" cy="137160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44805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E8A12A"/>
                </a:solidFill>
                <a:latin typeface="Microsoft JhengHei"/>
              </a:rPr>
              <a:t>▲ 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5029200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2E"/>
                </a:solidFill>
                <a:latin typeface="Microsoft JhengHei"/>
              </a:rPr>
              <a:t>→  analyse() · 把決定寫進 report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39 / 43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一句話總結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91440" cy="100584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@st.cache_data 讓 dashboard 跑得動；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383280"/>
            <a:ext cx="1051560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3383280"/>
            <a:ext cx="91440" cy="1005840"/>
          </a:xfrm>
          <a:prstGeom prst="rect">
            <a:avLst/>
          </a:prstGeom>
          <a:solidFill>
            <a:srgbClr val="E8A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56616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descriptive statistics 讓 dashboard 背後的資料站得住。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4572000"/>
            <a:ext cx="91440" cy="1005840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475488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200" b="1" i="0">
                <a:solidFill>
                  <a:srgbClr val="14325C"/>
                </a:solidFill>
                <a:latin typeface="Microsoft JhengHei"/>
              </a:rPr>
              <a:t>任何 cleaning 動作都應對應到一個可觀察的現象，並能說出代價。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40 / 43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RECAP · CHEAT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常見錯誤 cheat sheet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82880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6766560"/>
              </a:tblGrid>
              <a:tr h="537210"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症狀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  <a:tc>
                  <a:txBody>
                    <a:bodyPr tIns="36576" bIns="36576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Microsoft JhengHei"/>
                        </a:rPr>
                        <a:t>修法</a:t>
                      </a:r>
                    </a:p>
                  </a:txBody>
                  <a:tcPr>
                    <a:solidFill>
                      <a:srgbClr val="14325C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Slider 動了 dashboard 沒變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Widget 寫在 @st.cache_data 內 → 拿到函式外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UnhashableParamError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在參數前加底線 _ 跳過 hash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describe() 看不到關鍵問題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先 pd.to_numeric(errors="coerce") 再 describe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value_counts() 沒顯示缺值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永遠用 value_counts(dropna=False)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結論隨 cleaning 一改就變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把可爭議閾值提到 analyse() 並暴露參數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to_datetime 整欄變 NaT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format 不對 — 用 errors="coerce" 並印幾筆原值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</a:tr>
              <a:tr h="537210">
                <a:tc>
                  <a:txBody>
                    <a:bodyPr tIns="27432" bIns="27432"/>
                    <a:lstStyle/>
                    <a:p>
                      <a:r>
                        <a:rPr sz="1200" b="1">
                          <a:solidFill>
                            <a:srgbClr val="1A1A2E"/>
                          </a:solidFill>
                          <a:latin typeface="Microsoft JhengHei"/>
                        </a:rPr>
                        <a:t>st.set_page_config 報錯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tIns="27432" bIns="27432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Microsoft JhengHei"/>
                        </a:rPr>
                        <a:t>把它移到所有 st.* 之前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41 / 43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HOMEWORK · DUE 2026-05-20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用 pipeline 處理 messy Stroop-like 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2024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onsolas"/>
              </a:rPr>
              <a:t>pipeline.py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96596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load_raw / describe / clean / analyse — 四個 pure functions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9260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onsolas"/>
              </a:rPr>
              <a:t>report.ipynb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97180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前後對照 + 觀察→修補對應 + 為何 outlier 放 analyse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319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D9B9B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9319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onsolas"/>
              </a:rPr>
              <a:t>tests/test_clean.py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97764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F6B83"/>
                </a:solidFill>
                <a:latin typeface="Microsoft JhengHei"/>
              </a:rPr>
              <a:t>至少一個 pytest — 餵 sentinel 或 "NA" 驗證輸出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1">
                <a:solidFill>
                  <a:srgbClr val="5F6B83"/>
                </a:solidFill>
                <a:latin typeface="Microsoft JhengHei"/>
              </a:rPr>
              <a:t>詳見講義 §Homework 的 Rubric。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0D9B9B"/>
                </a:solidFill>
                <a:latin typeface="Consolas"/>
              </a:rPr>
              <a:t>可參考：demo/03_pipeline/ 的 pipeline.py + test_clean.py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42 / 43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D9B9B"/>
                </a:solidFill>
                <a:latin typeface="Calibri"/>
              </a:rPr>
              <a:t>WHAT COMES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Microsoft JhengHei"/>
              </a:rPr>
              <a:t>後續週次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2743200" cy="22860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011680"/>
            <a:ext cx="54864" cy="22860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WEEK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060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Plotly Express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4612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Interactive dashboards &amp; 資料敘事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0" y="2011680"/>
            <a:ext cx="2743200" cy="22860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2011680"/>
            <a:ext cx="54864" cy="22860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0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WEEK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6060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Anthropic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24612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在 Streamlit app 中呼叫 Claude API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2011680"/>
            <a:ext cx="2743200" cy="22860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60" y="2011680"/>
            <a:ext cx="54864" cy="22860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20840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WEEK 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6060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Workshop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24612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Final project 同儕互評 &amp; UI polish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2011680"/>
            <a:ext cx="2743200" cy="2286000"/>
          </a:xfrm>
          <a:prstGeom prst="rect">
            <a:avLst/>
          </a:prstGeom>
          <a:solidFill>
            <a:srgbClr val="F7F8FA"/>
          </a:solidFill>
          <a:ln w="6350">
            <a:solidFill>
              <a:srgbClr val="E2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418320" y="2011680"/>
            <a:ext cx="54864" cy="2286000"/>
          </a:xfrm>
          <a:prstGeom prst="rect">
            <a:avLst/>
          </a:prstGeom>
          <a:solidFill>
            <a:srgbClr val="0D9B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0" y="21945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0D9B9B"/>
                </a:solidFill>
                <a:latin typeface="Calibri"/>
              </a:rPr>
              <a:t>WEEK 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60604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1A2E"/>
                </a:solidFill>
                <a:latin typeface="Microsoft JhengHei"/>
              </a:rPr>
              <a:t>Final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3246120"/>
            <a:ext cx="23774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F6B83"/>
                </a:solidFill>
                <a:latin typeface="Microsoft JhengHei"/>
              </a:rPr>
              <a:t>Live app 簡報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E8A12A"/>
                </a:solidFill>
                <a:latin typeface="Microsoft JhengHei"/>
              </a:rPr>
              <a:t>註：Open data API 將在 final project workshop 按需引入。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0" y="553212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 b="1" i="0">
                <a:solidFill>
                  <a:srgbClr val="14325C"/>
                </a:solidFill>
                <a:latin typeface="Microsoft JhengHei"/>
              </a:rPr>
              <a:t>Thank you  ·  Questions?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465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F6B83"/>
                </a:solidFill>
                <a:latin typeface="Calibri"/>
              </a:rPr>
              <a:t>Week 12 — Caching × Data Analysis Pipeline  ·  ACL@NCU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446520"/>
            <a:ext cx="1371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5F6B83"/>
                </a:solidFill>
                <a:latin typeface="Calibri"/>
              </a:rPr>
              <a:t>43 / 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